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309" r:id="rId4"/>
    <p:sldId id="337" r:id="rId5"/>
    <p:sldId id="341" r:id="rId6"/>
    <p:sldId id="342" r:id="rId7"/>
    <p:sldId id="372" r:id="rId8"/>
    <p:sldId id="345" r:id="rId9"/>
    <p:sldId id="347" r:id="rId10"/>
    <p:sldId id="374" r:id="rId11"/>
    <p:sldId id="375" r:id="rId12"/>
    <p:sldId id="339" r:id="rId13"/>
    <p:sldId id="350" r:id="rId14"/>
    <p:sldId id="376" r:id="rId15"/>
    <p:sldId id="351" r:id="rId16"/>
    <p:sldId id="359" r:id="rId17"/>
    <p:sldId id="354" r:id="rId18"/>
    <p:sldId id="369" r:id="rId19"/>
    <p:sldId id="356" r:id="rId20"/>
    <p:sldId id="358" r:id="rId21"/>
    <p:sldId id="360" r:id="rId22"/>
    <p:sldId id="362" r:id="rId23"/>
    <p:sldId id="368" r:id="rId24"/>
    <p:sldId id="363" r:id="rId25"/>
    <p:sldId id="366" r:id="rId26"/>
    <p:sldId id="367" r:id="rId27"/>
    <p:sldId id="364" r:id="rId28"/>
    <p:sldId id="365" r:id="rId29"/>
    <p:sldId id="370" r:id="rId30"/>
    <p:sldId id="371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613148122" name="宋航" initials="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80" y="1002"/>
      </p:cViewPr>
      <p:guideLst>
        <p:guide orient="horz" pos="2160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6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【公众号：阿拉丁PPT】_11"/>
          <p:cNvSpPr txBox="1"/>
          <p:nvPr userDrawn="1"/>
        </p:nvSpPr>
        <p:spPr>
          <a:xfrm>
            <a:off x="1556968" y="1637854"/>
            <a:ext cx="3041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D4B296">
                    <a:alpha val="45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CONTENTS</a:t>
            </a:r>
            <a:endParaRPr lang="zh-CN" altLang="en-US" sz="3200" b="1" dirty="0">
              <a:solidFill>
                <a:srgbClr val="D4B296">
                  <a:alpha val="45000"/>
                </a:srgb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6" name="【公众号：阿拉丁PPT】_12"/>
          <p:cNvSpPr txBox="1"/>
          <p:nvPr userDrawn="1"/>
        </p:nvSpPr>
        <p:spPr>
          <a:xfrm>
            <a:off x="1994619" y="1849130"/>
            <a:ext cx="2213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3A466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目录</a:t>
            </a:r>
            <a:endParaRPr lang="zh-CN" altLang="en-US" sz="4000" b="1" spc="600" dirty="0">
              <a:solidFill>
                <a:srgbClr val="3A466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7" name="【公众号：阿拉丁PPT】_13"/>
          <p:cNvSpPr/>
          <p:nvPr userDrawn="1"/>
        </p:nvSpPr>
        <p:spPr>
          <a:xfrm>
            <a:off x="2353362" y="3336169"/>
            <a:ext cx="2129987" cy="2207079"/>
          </a:xfrm>
          <a:prstGeom prst="rect">
            <a:avLst/>
          </a:prstGeom>
          <a:noFill/>
          <a:ln w="28575">
            <a:solidFill>
              <a:srgbClr val="D4B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8" name="【公众号：阿拉丁PPT】_14"/>
          <p:cNvSpPr/>
          <p:nvPr userDrawn="1"/>
        </p:nvSpPr>
        <p:spPr>
          <a:xfrm>
            <a:off x="1830774" y="2813002"/>
            <a:ext cx="2435750" cy="25394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215900" dist="889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56527" y="856527"/>
            <a:ext cx="4213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请在此处输入标题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AD17-DF23-4E4F-B1AC-211F2AB303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9CA4E-7FAC-4C93-8709-9A77590A06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【公众号：阿拉丁PPT】_2"/>
          <p:cNvSpPr txBox="1"/>
          <p:nvPr/>
        </p:nvSpPr>
        <p:spPr>
          <a:xfrm>
            <a:off x="541655" y="2522220"/>
            <a:ext cx="113372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ConvNeXt</a:t>
            </a:r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、</a:t>
            </a:r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SSD </a:t>
            </a:r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、</a:t>
            </a:r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RetinaNet</a:t>
            </a:r>
            <a:endParaRPr lang="en-US" altLang="zh-CN" sz="6000" b="1" spc="300" dirty="0">
              <a:solidFill>
                <a:srgbClr val="3A466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370" y="2522855"/>
            <a:ext cx="613981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A ConvNet for the 2020s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ConvNeXt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0550" y="5303520"/>
            <a:ext cx="6932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ResNet50                </a:t>
            </a:r>
            <a:r>
              <a:rPr lang="zh-CN" altLang="en-US" sz="2400">
                <a:sym typeface="+mn-ea"/>
              </a:rPr>
              <a:t>ConvNeXt</a:t>
            </a:r>
            <a:endParaRPr lang="en-US" altLang="zh-CN" sz="2400"/>
          </a:p>
        </p:txBody>
      </p:sp>
      <p:sp>
        <p:nvSpPr>
          <p:cNvPr id="3" name="右箭头 2"/>
          <p:cNvSpPr/>
          <p:nvPr/>
        </p:nvSpPr>
        <p:spPr>
          <a:xfrm>
            <a:off x="4591685" y="5358130"/>
            <a:ext cx="2270760" cy="3448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32200" y="57638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现代卷积网络的重新设计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636270"/>
            <a:ext cx="4667250" cy="29216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55665" y="2214245"/>
            <a:ext cx="5553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CNN 已经过时，Transformer 才是未来？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7177405" y="16021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CNN </a:t>
            </a:r>
            <a:r>
              <a:rPr lang="zh-CN" altLang="en-US" sz="2400"/>
              <a:t>&lt;</a:t>
            </a:r>
            <a:r>
              <a:rPr lang="en-US" altLang="zh-CN" sz="2400"/>
              <a:t> A</a:t>
            </a:r>
            <a:r>
              <a:rPr lang="zh-CN" altLang="en-US" sz="2400"/>
              <a:t>ttention</a:t>
            </a:r>
            <a:endParaRPr lang="zh-CN" altLang="en-US" sz="2400"/>
          </a:p>
        </p:txBody>
      </p:sp>
      <p:sp>
        <p:nvSpPr>
          <p:cNvPr id="10" name="文本框 9"/>
          <p:cNvSpPr txBox="1"/>
          <p:nvPr/>
        </p:nvSpPr>
        <p:spPr>
          <a:xfrm>
            <a:off x="2306955" y="4086860"/>
            <a:ext cx="6809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性能差距，是来源于卷积本身的限制，还是传统</a:t>
            </a:r>
            <a:r>
              <a:rPr lang="en-US" altLang="zh-CN" sz="2400"/>
              <a:t>CNN</a:t>
            </a:r>
            <a:r>
              <a:rPr lang="zh-CN" altLang="en-US" sz="2400"/>
              <a:t>的网络设计落后于</a:t>
            </a:r>
            <a:r>
              <a:rPr lang="en-US" altLang="zh-CN" sz="2400"/>
              <a:t>Transformer</a:t>
            </a:r>
            <a:r>
              <a:rPr lang="zh-CN" altLang="en-US" sz="2400"/>
              <a:t>？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4761865" y="5101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模仿</a:t>
            </a:r>
            <a:r>
              <a:rPr lang="en-US" altLang="zh-CN"/>
              <a:t>VIT</a:t>
            </a:r>
            <a:r>
              <a:rPr lang="zh-CN" altLang="en-US"/>
              <a:t>、</a:t>
            </a:r>
            <a:r>
              <a:rPr lang="en-US" altLang="zh-CN"/>
              <a:t>S</a:t>
            </a:r>
            <a:r>
              <a:rPr lang="en-US" altLang="zh-CN"/>
              <a:t>winT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1391" b="36669"/>
          <a:stretch>
            <a:fillRect/>
          </a:stretch>
        </p:blipFill>
        <p:spPr>
          <a:xfrm>
            <a:off x="1697355" y="4029075"/>
            <a:ext cx="3706495" cy="16948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46655" y="3154680"/>
            <a:ext cx="1866900" cy="609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20144" r="48332"/>
          <a:stretch>
            <a:fillRect/>
          </a:stretch>
        </p:blipFill>
        <p:spPr>
          <a:xfrm>
            <a:off x="1706880" y="1433195"/>
            <a:ext cx="3696970" cy="16916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69768"/>
          <a:stretch>
            <a:fillRect/>
          </a:stretch>
        </p:blipFill>
        <p:spPr>
          <a:xfrm>
            <a:off x="1787525" y="5917565"/>
            <a:ext cx="3705860" cy="55499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7"/>
          <a:stretch>
            <a:fillRect/>
          </a:stretch>
        </p:blipFill>
        <p:spPr>
          <a:xfrm>
            <a:off x="6885305" y="1731645"/>
            <a:ext cx="4441825" cy="293687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16280" y="2057400"/>
            <a:ext cx="919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</a:t>
            </a:r>
            <a:r>
              <a:rPr lang="en-US" altLang="zh-CN"/>
              <a:t>ixup</a:t>
            </a:r>
            <a:endParaRPr lang="en-US" altLang="zh-CN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16280" y="4668520"/>
            <a:ext cx="980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en-US" altLang="zh-CN"/>
              <a:t>utmix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8255000" y="1377950"/>
            <a:ext cx="2042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Random Erasing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1838960"/>
            <a:ext cx="5012690" cy="929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56120" y="1156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Stochastic Depth</a:t>
            </a:r>
            <a:r>
              <a:rPr lang="zh-CN" altLang="en-US"/>
              <a:t>：随机丢弃网络层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6465" y="1064260"/>
            <a:ext cx="579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Label Smoothing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防止模型过度自信</a:t>
            </a:r>
            <a:r>
              <a:rPr lang="en-US" altLang="zh-CN">
                <a:sym typeface="+mn-ea"/>
              </a:rPr>
              <a:t>     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68655" y="3225800"/>
          <a:ext cx="5302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450"/>
                <a:gridCol w="1060450"/>
                <a:gridCol w="1060450"/>
                <a:gridCol w="1060450"/>
                <a:gridCol w="10604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668655" y="4772660"/>
          <a:ext cx="5302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450"/>
                <a:gridCol w="1060450"/>
                <a:gridCol w="1060450"/>
                <a:gridCol w="1060450"/>
                <a:gridCol w="10604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0.02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0.02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0.02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0.02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下箭头 8"/>
          <p:cNvSpPr/>
          <p:nvPr/>
        </p:nvSpPr>
        <p:spPr>
          <a:xfrm>
            <a:off x="2763520" y="3773805"/>
            <a:ext cx="660400" cy="8331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32200" y="3898900"/>
          <a:ext cx="1050290" cy="40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57200" imgH="177165" progId="Equation.KSEE3">
                  <p:embed/>
                </p:oleObj>
              </mc:Choice>
              <mc:Fallback>
                <p:oleObj name="" r:id="rId2" imgW="457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2200" y="3898900"/>
                        <a:ext cx="1050290" cy="40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452245" y="5354955"/>
            <a:ext cx="3587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Mixup</a:t>
            </a:r>
            <a:r>
              <a:rPr lang="zh-CN" altLang="en-US"/>
              <a:t>和</a:t>
            </a:r>
            <a:r>
              <a:rPr lang="en-US" altLang="zh-CN"/>
              <a:t>Cutmix</a:t>
            </a:r>
            <a:r>
              <a:rPr lang="zh-CN" altLang="en-US"/>
              <a:t>也能起到类似</a:t>
            </a:r>
            <a:r>
              <a:rPr lang="zh-CN" altLang="en-US"/>
              <a:t>作用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680" y="1644650"/>
            <a:ext cx="4366260" cy="2499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l="54483"/>
          <a:stretch>
            <a:fillRect/>
          </a:stretch>
        </p:blipFill>
        <p:spPr>
          <a:xfrm>
            <a:off x="7712075" y="4510405"/>
            <a:ext cx="2617470" cy="19710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139940" y="4211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浅层网络较重要，更大概率</a:t>
            </a:r>
            <a:r>
              <a:rPr lang="zh-CN" altLang="en-US"/>
              <a:t>保存下来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50155" y="854710"/>
            <a:ext cx="2553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76.1%--&gt;78.8%</a:t>
            </a:r>
            <a:endParaRPr lang="en-US" altLang="zh-CN" sz="2400"/>
          </a:p>
        </p:txBody>
      </p:sp>
      <p:sp>
        <p:nvSpPr>
          <p:cNvPr id="12" name="文本框 11"/>
          <p:cNvSpPr txBox="1"/>
          <p:nvPr/>
        </p:nvSpPr>
        <p:spPr>
          <a:xfrm>
            <a:off x="2466975" y="1408430"/>
            <a:ext cx="7258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表明传统卷积神经网络与</a:t>
            </a:r>
            <a:r>
              <a:rPr lang="en-US" altLang="zh-CN" sz="2000"/>
              <a:t>VIT</a:t>
            </a:r>
            <a:r>
              <a:rPr lang="zh-CN" altLang="en-US" sz="2000"/>
              <a:t>的差距</a:t>
            </a:r>
            <a:r>
              <a:rPr lang="en-US" altLang="zh-CN" sz="2000"/>
              <a:t>,</a:t>
            </a:r>
            <a:r>
              <a:rPr lang="zh-CN" altLang="en-US" sz="2000"/>
              <a:t>部分来源于训练技术</a:t>
            </a:r>
            <a:endParaRPr lang="zh-CN" altLang="en-US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170" y="1900555"/>
            <a:ext cx="6624955" cy="26219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212590" y="4559300"/>
            <a:ext cx="596582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/>
              <a:t>stage</a:t>
            </a:r>
            <a:r>
              <a:rPr lang="zh-CN" altLang="en-US" sz="2000"/>
              <a:t>如何设置？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/>
              <a:t>卷积策略？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/>
              <a:t>卷积核大小？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/>
              <a:t>用</a:t>
            </a:r>
            <a:r>
              <a:rPr lang="zh-CN" altLang="en-US" sz="2000"/>
              <a:t>什么激活函数和归一化？放在哪？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753235" y="5412105"/>
            <a:ext cx="231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其他设计能否</a:t>
            </a:r>
            <a:r>
              <a:rPr lang="zh-CN" altLang="en-US"/>
              <a:t>优化？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3578225"/>
            <a:ext cx="7276465" cy="28797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1845" y="669925"/>
            <a:ext cx="6090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Swin-T</a:t>
            </a:r>
            <a:r>
              <a:rPr lang="zh-CN" altLang="en-US"/>
              <a:t>的比例是（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pPr algn="l"/>
            <a:r>
              <a:rPr lang="zh-CN" altLang="en-US"/>
              <a:t>将</a:t>
            </a:r>
            <a:r>
              <a:rPr lang="en-US" altLang="zh-CN"/>
              <a:t>resnet50</a:t>
            </a:r>
            <a:r>
              <a:rPr lang="zh-CN" altLang="en-US"/>
              <a:t>中的比例由（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4</a:t>
            </a:r>
            <a:r>
              <a:rPr lang="zh-CN" altLang="en-US"/>
              <a:t>，</a:t>
            </a:r>
            <a:r>
              <a:rPr lang="en-US" altLang="zh-CN"/>
              <a:t>6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）改为（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9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812" r="6192"/>
          <a:stretch>
            <a:fillRect/>
          </a:stretch>
        </p:blipFill>
        <p:spPr>
          <a:xfrm>
            <a:off x="7927340" y="1169670"/>
            <a:ext cx="3889375" cy="516382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4150360" y="3561080"/>
            <a:ext cx="1229360" cy="2814320"/>
          </a:xfrm>
          <a:prstGeom prst="roundRect">
            <a:avLst/>
          </a:prstGeom>
          <a:ln w="28575" cmpd="sng">
            <a:solidFill>
              <a:srgbClr val="D4B296"/>
            </a:solidFill>
            <a:prstDash val="soli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91845" y="1484630"/>
            <a:ext cx="5567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</a:t>
            </a:r>
            <a:r>
              <a:rPr lang="en-US" altLang="zh-CN"/>
              <a:t>stem</a:t>
            </a:r>
            <a:r>
              <a:rPr lang="zh-CN" altLang="en-US"/>
              <a:t>换成卷积核大小为</a:t>
            </a:r>
            <a:r>
              <a:rPr lang="en-US" altLang="zh-CN"/>
              <a:t>4</a:t>
            </a:r>
            <a:r>
              <a:rPr lang="zh-CN" altLang="en-US"/>
              <a:t>，步长为</a:t>
            </a:r>
            <a:r>
              <a:rPr lang="en-US" altLang="zh-CN"/>
              <a:t>4</a:t>
            </a:r>
            <a:r>
              <a:rPr lang="zh-CN" altLang="en-US"/>
              <a:t>的</a:t>
            </a:r>
            <a:r>
              <a:rPr lang="zh-CN" altLang="en-US"/>
              <a:t>卷积层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" y="1852930"/>
            <a:ext cx="4919345" cy="1575435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6964680" y="909320"/>
            <a:ext cx="568960" cy="2844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15555" y="825500"/>
            <a:ext cx="4234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只是借鉴</a:t>
            </a:r>
            <a:r>
              <a:rPr lang="en-US" altLang="zh-CN">
                <a:sym typeface="+mn-ea"/>
              </a:rPr>
              <a:t>Swin-T</a:t>
            </a:r>
            <a:r>
              <a:rPr lang="zh-CN" altLang="en-US">
                <a:sym typeface="+mn-ea"/>
              </a:rPr>
              <a:t>经验，</a:t>
            </a:r>
            <a:r>
              <a:rPr lang="zh-CN" altLang="en-US"/>
              <a:t>不一定是最优解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6460" y="693420"/>
            <a:ext cx="1050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resnext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6418" t="5100" r="1685"/>
          <a:stretch>
            <a:fillRect/>
          </a:stretch>
        </p:blipFill>
        <p:spPr>
          <a:xfrm>
            <a:off x="6813550" y="947420"/>
            <a:ext cx="2444750" cy="31019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0" y="1201420"/>
            <a:ext cx="4373245" cy="23012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064000" y="421068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inception</a:t>
            </a:r>
            <a:r>
              <a:rPr lang="zh-CN" altLang="en-US"/>
              <a:t>通过并行不同大小卷积核提取不同</a:t>
            </a:r>
            <a:r>
              <a:rPr lang="zh-CN" altLang="en-US"/>
              <a:t>特征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resnext</a:t>
            </a:r>
            <a:r>
              <a:rPr lang="zh-CN" altLang="en-US"/>
              <a:t>通过并行卷积不同通道提取不同</a:t>
            </a:r>
            <a:r>
              <a:rPr lang="zh-CN" altLang="en-US"/>
              <a:t>特征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下箭头 6"/>
          <p:cNvSpPr/>
          <p:nvPr/>
        </p:nvSpPr>
        <p:spPr>
          <a:xfrm>
            <a:off x="8198485" y="1393825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182870" y="19958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256,1*1,1</a:t>
            </a:r>
            <a:endParaRPr lang="en-US" altLang="zh-CN"/>
          </a:p>
        </p:txBody>
      </p:sp>
      <p:sp>
        <p:nvSpPr>
          <p:cNvPr id="10" name="下箭头 9"/>
          <p:cNvSpPr/>
          <p:nvPr/>
        </p:nvSpPr>
        <p:spPr>
          <a:xfrm>
            <a:off x="5758180" y="2846705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786880" y="19958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256,1*1,1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9994900" y="19958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256,1*1,1</a:t>
            </a:r>
            <a:endParaRPr lang="en-US" altLang="zh-CN"/>
          </a:p>
        </p:txBody>
      </p:sp>
      <p:sp>
        <p:nvSpPr>
          <p:cNvPr id="15" name="圆角矩形 14"/>
          <p:cNvSpPr/>
          <p:nvPr/>
        </p:nvSpPr>
        <p:spPr>
          <a:xfrm>
            <a:off x="8390890" y="19958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(total 128)</a:t>
            </a:r>
            <a:endParaRPr lang="en-US" altLang="zh-CN"/>
          </a:p>
        </p:txBody>
      </p:sp>
      <p:sp>
        <p:nvSpPr>
          <p:cNvPr id="16" name="下箭头 15"/>
          <p:cNvSpPr/>
          <p:nvPr/>
        </p:nvSpPr>
        <p:spPr>
          <a:xfrm>
            <a:off x="7362190" y="2846705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8966200" y="2846705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10570210" y="2846705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182870" y="352361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1,3*3,1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6786880" y="35325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1,3*3,1</a:t>
            </a:r>
            <a:endParaRPr lang="en-US" altLang="zh-CN"/>
          </a:p>
        </p:txBody>
      </p:sp>
      <p:sp>
        <p:nvSpPr>
          <p:cNvPr id="21" name="圆角矩形 20"/>
          <p:cNvSpPr/>
          <p:nvPr/>
        </p:nvSpPr>
        <p:spPr>
          <a:xfrm>
            <a:off x="8390890" y="35325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(total 128)</a:t>
            </a:r>
            <a:endParaRPr lang="en-US" altLang="zh-CN"/>
          </a:p>
        </p:txBody>
      </p:sp>
      <p:sp>
        <p:nvSpPr>
          <p:cNvPr id="22" name="圆角矩形 21"/>
          <p:cNvSpPr/>
          <p:nvPr/>
        </p:nvSpPr>
        <p:spPr>
          <a:xfrm>
            <a:off x="9994900" y="3507105"/>
            <a:ext cx="1505585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1,3*3,1</a:t>
            </a:r>
            <a:endParaRPr lang="en-US" altLang="zh-CN"/>
          </a:p>
        </p:txBody>
      </p:sp>
      <p:sp>
        <p:nvSpPr>
          <p:cNvPr id="24" name="圆角矩形 23"/>
          <p:cNvSpPr/>
          <p:nvPr/>
        </p:nvSpPr>
        <p:spPr>
          <a:xfrm>
            <a:off x="7526655" y="4366895"/>
            <a:ext cx="1701800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concatenate</a:t>
            </a:r>
            <a:endParaRPr lang="en-US" altLang="zh-CN"/>
          </a:p>
        </p:txBody>
      </p:sp>
      <p:sp>
        <p:nvSpPr>
          <p:cNvPr id="25" name="圆角矩形 24"/>
          <p:cNvSpPr/>
          <p:nvPr/>
        </p:nvSpPr>
        <p:spPr>
          <a:xfrm>
            <a:off x="7526655" y="5547995"/>
            <a:ext cx="1701800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128,1*1,256</a:t>
            </a:r>
            <a:endParaRPr lang="en-US" altLang="zh-CN"/>
          </a:p>
        </p:txBody>
      </p:sp>
      <p:sp>
        <p:nvSpPr>
          <p:cNvPr id="26" name="下箭头 25"/>
          <p:cNvSpPr/>
          <p:nvPr/>
        </p:nvSpPr>
        <p:spPr>
          <a:xfrm>
            <a:off x="8198485" y="4964430"/>
            <a:ext cx="331470" cy="5022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7526655" y="748665"/>
            <a:ext cx="1701800" cy="542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256-d in</a:t>
            </a:r>
            <a:endParaRPr lang="en-US" altLang="zh-CN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896110"/>
            <a:ext cx="4170045" cy="149987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02335" y="854710"/>
            <a:ext cx="4064000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VIT</a:t>
            </a:r>
            <a:r>
              <a:rPr lang="zh-CN" altLang="en-US"/>
              <a:t>：每个操作要么在空间维度上混合信息，要么在通道维度上混合信息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346835" y="3395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depthwise </a:t>
            </a:r>
            <a:r>
              <a:rPr lang="en-US" altLang="zh-CN"/>
              <a:t>conv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76418" t="5100" r="1685"/>
          <a:stretch>
            <a:fillRect/>
          </a:stretch>
        </p:blipFill>
        <p:spPr>
          <a:xfrm>
            <a:off x="902335" y="3764280"/>
            <a:ext cx="2119630" cy="26898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97060" y="4964430"/>
            <a:ext cx="2098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并行</a:t>
            </a:r>
            <a:r>
              <a:rPr lang="zh-CN" altLang="en-US"/>
              <a:t>学习不同通道之间的独立特征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2846705"/>
            <a:ext cx="7157085" cy="283273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4150360" y="2829560"/>
            <a:ext cx="1209675" cy="2708275"/>
          </a:xfrm>
          <a:prstGeom prst="roundRect">
            <a:avLst/>
          </a:prstGeom>
          <a:ln w="28575" cmpd="sng">
            <a:solidFill>
              <a:srgbClr val="D4B296"/>
            </a:solidFill>
            <a:prstDash val="soli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97810" y="5895340"/>
            <a:ext cx="2359025" cy="354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输入</a:t>
            </a:r>
            <a:r>
              <a:rPr lang="zh-CN" altLang="en-US"/>
              <a:t>通道从</a:t>
            </a:r>
            <a:r>
              <a:rPr lang="en-US" altLang="zh-CN"/>
              <a:t>64</a:t>
            </a:r>
            <a:r>
              <a:rPr lang="zh-CN" altLang="en-US"/>
              <a:t>改为</a:t>
            </a:r>
            <a:r>
              <a:rPr lang="en-US" altLang="zh-CN"/>
              <a:t>96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812" r="6192"/>
          <a:stretch>
            <a:fillRect/>
          </a:stretch>
        </p:blipFill>
        <p:spPr>
          <a:xfrm>
            <a:off x="7901305" y="586740"/>
            <a:ext cx="3889375" cy="5163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873760"/>
            <a:ext cx="4170045" cy="14998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19675" y="1450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降低</a:t>
            </a:r>
            <a:r>
              <a:rPr lang="zh-CN" altLang="en-US"/>
              <a:t>计算量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81430" y="4916170"/>
            <a:ext cx="4531360" cy="126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VIT</a:t>
            </a:r>
            <a:r>
              <a:rPr lang="zh-CN" altLang="en-US"/>
              <a:t>的注意力机制导致网络每一层都有图像的全局视野</a:t>
            </a:r>
            <a:endParaRPr lang="zh-CN" altLang="en-US"/>
          </a:p>
          <a:p>
            <a:r>
              <a:rPr lang="en-US" altLang="zh-CN"/>
              <a:t>SwinT</a:t>
            </a:r>
            <a:r>
              <a:rPr lang="zh-CN" altLang="en-US"/>
              <a:t>尽管也是局部窗口的注意力，但感受野也是</a:t>
            </a:r>
            <a:r>
              <a:rPr lang="en-US" altLang="zh-CN"/>
              <a:t>7*7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20" y="1508760"/>
            <a:ext cx="5135880" cy="1920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81430" y="4086860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800" b="0" i="0"/>
              <a:t>为了减少计算以探究大卷积核，模仿Transformer上移卷积层。</a:t>
            </a:r>
            <a:endParaRPr lang="zh-CN" altLang="en-US" sz="1800" b="0" i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2812" r="6192"/>
          <a:stretch>
            <a:fillRect/>
          </a:stretch>
        </p:blipFill>
        <p:spPr>
          <a:xfrm>
            <a:off x="7147560" y="1021715"/>
            <a:ext cx="3889375" cy="51638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81430" y="35655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VIT</a:t>
            </a:r>
            <a:r>
              <a:rPr lang="zh-CN" altLang="en-US"/>
              <a:t>的</a:t>
            </a:r>
            <a:r>
              <a:rPr lang="zh-CN" altLang="en-US">
                <a:sym typeface="+mn-ea"/>
              </a:rPr>
              <a:t>隐藏维度比输入维度宽四倍</a:t>
            </a:r>
            <a:endParaRPr lang="zh-CN" altLang="en-US" b="0" i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070" y="951230"/>
            <a:ext cx="4166235" cy="42887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415" y="4147820"/>
            <a:ext cx="2961005" cy="5899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90" y="1685925"/>
            <a:ext cx="3387090" cy="25406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20570" y="5417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更少的激活函数与</a:t>
            </a:r>
            <a:r>
              <a:rPr lang="zh-CN" altLang="en-US"/>
              <a:t>归一化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93025" y="49714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保留</a:t>
            </a:r>
            <a:r>
              <a:rPr lang="en-US" altLang="zh-CN"/>
              <a:t>relu</a:t>
            </a:r>
            <a:r>
              <a:rPr lang="zh-CN" altLang="en-US"/>
              <a:t>的特性</a:t>
            </a:r>
            <a:r>
              <a:rPr lang="zh-CN" altLang="en-US"/>
              <a:t>同时</a:t>
            </a:r>
            <a:endParaRPr lang="zh-CN" altLang="en-US"/>
          </a:p>
          <a:p>
            <a:r>
              <a:rPr lang="zh-CN" altLang="en-US"/>
              <a:t>防止神经元死亡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812" r="6192"/>
          <a:stretch>
            <a:fillRect/>
          </a:stretch>
        </p:blipFill>
        <p:spPr>
          <a:xfrm>
            <a:off x="8538210" y="1158875"/>
            <a:ext cx="3206750" cy="425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50674"/>
          <a:stretch>
            <a:fillRect/>
          </a:stretch>
        </p:blipFill>
        <p:spPr>
          <a:xfrm>
            <a:off x="2398395" y="4055110"/>
            <a:ext cx="2836545" cy="19710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6075" y="5857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单独的下采样</a:t>
            </a:r>
            <a:r>
              <a:rPr lang="zh-CN" altLang="en-US"/>
              <a:t>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95" y="1031240"/>
            <a:ext cx="7157085" cy="283273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rcRect l="60361" t="61854" r="10234" b="15620"/>
          <a:stretch>
            <a:fillRect/>
          </a:stretch>
        </p:blipFill>
        <p:spPr>
          <a:xfrm>
            <a:off x="5327650" y="4031615"/>
            <a:ext cx="1684020" cy="18262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rcRect b="2855"/>
          <a:stretch>
            <a:fillRect/>
          </a:stretch>
        </p:blipFill>
        <p:spPr>
          <a:xfrm>
            <a:off x="1526540" y="518160"/>
            <a:ext cx="4319270" cy="5908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2812" r="6192"/>
          <a:stretch>
            <a:fillRect/>
          </a:stretch>
        </p:blipFill>
        <p:spPr>
          <a:xfrm>
            <a:off x="6658610" y="1076960"/>
            <a:ext cx="3543300" cy="47047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370" y="2522855"/>
            <a:ext cx="613981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Single Shot MultiBox Detector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SSD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90" y="1414145"/>
            <a:ext cx="3997325" cy="40297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63795" y="2656840"/>
            <a:ext cx="5465445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FasterRcnn</a:t>
            </a:r>
            <a:r>
              <a:rPr lang="zh-CN" altLang="en-US" sz="2800"/>
              <a:t>的问题</a:t>
            </a:r>
            <a:endParaRPr lang="zh-CN" altLang="en-US" sz="2800"/>
          </a:p>
          <a:p>
            <a:pPr algn="ctr"/>
            <a:endParaRPr lang="zh-CN" altLang="en-US" sz="2800"/>
          </a:p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55690" y="322961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检测速度较慢</a:t>
            </a:r>
            <a:endParaRPr lang="zh-CN" altLang="en-US"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对小目标检测效果差</a:t>
            </a:r>
            <a:endParaRPr lang="zh-CN" altLang="en-US">
              <a:sym typeface="+mn-ea"/>
            </a:endParaRPr>
          </a:p>
          <a:p>
            <a:pPr algn="l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92370" y="3774440"/>
            <a:ext cx="613600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default boxes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单阶段同时找出框和分类结果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在多个尺度的特征图上同时进行检测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140" y="786765"/>
            <a:ext cx="10029825" cy="2903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3774440"/>
            <a:ext cx="2421890" cy="2441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910" y="706120"/>
            <a:ext cx="7078980" cy="28041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9320" y="767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Default Boxes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62305" y="16471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对每一个特征图的每一个空间位置设定多个尺度，宽高比不一的</a:t>
            </a:r>
            <a:r>
              <a:rPr lang="en-US" altLang="zh-CN"/>
              <a:t>default box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70" y="3510280"/>
            <a:ext cx="8699500" cy="29762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72115" y="4721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8732</a:t>
            </a:r>
            <a:r>
              <a:rPr lang="zh-CN" altLang="en-US"/>
              <a:t>个</a:t>
            </a:r>
            <a:r>
              <a:rPr lang="zh-CN" altLang="en-US"/>
              <a:t>框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1400" y="878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正负样本选取和</a:t>
            </a:r>
            <a:r>
              <a:rPr lang="en-US" altLang="zh-CN"/>
              <a:t>GT</a:t>
            </a:r>
            <a:r>
              <a:rPr lang="zh-CN" altLang="en-US"/>
              <a:t>匹配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45285" y="37299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分类：正样本</a:t>
            </a:r>
            <a:r>
              <a:rPr lang="en-US" altLang="zh-CN"/>
              <a:t> + </a:t>
            </a:r>
            <a:r>
              <a:rPr lang="zh-CN" altLang="en-US"/>
              <a:t>负样本</a:t>
            </a:r>
            <a:endParaRPr lang="zh-CN" altLang="en-US"/>
          </a:p>
          <a:p>
            <a:r>
              <a:rPr lang="zh-CN" altLang="en-US"/>
              <a:t>回归：只对正样本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1247140"/>
            <a:ext cx="5918200" cy="2344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9045" y="4650740"/>
            <a:ext cx="2640330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/>
              <a:t>对</a:t>
            </a:r>
            <a:r>
              <a:rPr lang="en-US" altLang="zh-CN"/>
              <a:t>default </a:t>
            </a:r>
            <a:r>
              <a:rPr lang="en-US" altLang="zh-CN"/>
              <a:t>box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/>
              <a:t>iou&gt;0.5:</a:t>
            </a:r>
            <a:r>
              <a:rPr lang="zh-CN" altLang="en-US"/>
              <a:t>正样本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/>
              <a:t>iou&lt;0.4:</a:t>
            </a:r>
            <a:r>
              <a:rPr lang="zh-CN" altLang="en-US"/>
              <a:t>负样本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/>
              <a:t>0.4-0.5</a:t>
            </a:r>
            <a:r>
              <a:rPr lang="zh-CN" altLang="en-US"/>
              <a:t>：</a:t>
            </a:r>
            <a:r>
              <a:rPr lang="zh-CN" altLang="en-US"/>
              <a:t>舍弃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889375" y="4650740"/>
            <a:ext cx="342265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/>
              <a:t>对</a:t>
            </a:r>
            <a:r>
              <a:rPr lang="en-US" altLang="zh-CN"/>
              <a:t>GT</a:t>
            </a:r>
            <a:r>
              <a:rPr lang="zh-CN" altLang="en-US"/>
              <a:t>真实框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找对</a:t>
            </a:r>
            <a:r>
              <a:rPr lang="en-US" altLang="zh-CN"/>
              <a:t>iou</a:t>
            </a:r>
            <a:r>
              <a:rPr lang="zh-CN" altLang="en-US"/>
              <a:t>最大的</a:t>
            </a:r>
            <a:r>
              <a:rPr lang="en-US" altLang="zh-CN"/>
              <a:t>box</a:t>
            </a:r>
            <a:r>
              <a:rPr lang="zh-CN" altLang="en-US"/>
              <a:t>进行</a:t>
            </a:r>
            <a:r>
              <a:rPr lang="zh-CN" altLang="en-US"/>
              <a:t>匹配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无论这个</a:t>
            </a:r>
            <a:r>
              <a:rPr lang="en-US" altLang="zh-CN"/>
              <a:t>box</a:t>
            </a:r>
            <a:r>
              <a:rPr lang="zh-CN" altLang="en-US"/>
              <a:t>的</a:t>
            </a:r>
            <a:r>
              <a:rPr lang="en-US" altLang="zh-CN"/>
              <a:t>iou</a:t>
            </a:r>
            <a:r>
              <a:rPr lang="zh-CN" altLang="en-US"/>
              <a:t>多小，都标记为</a:t>
            </a:r>
            <a:r>
              <a:rPr lang="zh-CN" altLang="en-US"/>
              <a:t>正样本</a:t>
            </a:r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236460" y="5584825"/>
            <a:ext cx="652145" cy="3803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92770" y="5412740"/>
            <a:ext cx="2901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防止真实框被</a:t>
            </a:r>
            <a:r>
              <a:rPr lang="zh-CN" altLang="en-US"/>
              <a:t>忽略</a:t>
            </a:r>
            <a:endParaRPr lang="zh-CN" altLang="en-US"/>
          </a:p>
          <a:p>
            <a:r>
              <a:rPr lang="zh-CN" altLang="en-US"/>
              <a:t>尤其是小目标和特殊</a:t>
            </a:r>
            <a:r>
              <a:rPr lang="zh-CN" altLang="en-US"/>
              <a:t>形状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33216" t="6939" r="34312" b="11636"/>
          <a:stretch>
            <a:fillRect/>
          </a:stretch>
        </p:blipFill>
        <p:spPr>
          <a:xfrm>
            <a:off x="7888605" y="794385"/>
            <a:ext cx="3404235" cy="3381375"/>
          </a:xfrm>
          <a:prstGeom prst="rect">
            <a:avLst/>
          </a:prstGeom>
        </p:spPr>
      </p:pic>
      <p:sp>
        <p:nvSpPr>
          <p:cNvPr id="16" name="弧形 15"/>
          <p:cNvSpPr/>
          <p:nvPr/>
        </p:nvSpPr>
        <p:spPr>
          <a:xfrm>
            <a:off x="8865870" y="1806575"/>
            <a:ext cx="1608455" cy="2465070"/>
          </a:xfrm>
          <a:prstGeom prst="arc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9054465" y="3070225"/>
            <a:ext cx="97790" cy="977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10310"/>
            <a:ext cx="5044440" cy="731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57730"/>
            <a:ext cx="5753100" cy="1905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78630"/>
            <a:ext cx="7368540" cy="9448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64045" y="2357755"/>
            <a:ext cx="259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定位损失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76640" y="4566920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分类损失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89800" y="12026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zh-CN" altLang="en-US"/>
              <a:t>防止由于图片目标数量差距大的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en-US" altLang="zh-CN"/>
              <a:t>α</a:t>
            </a:r>
            <a:r>
              <a:rPr lang="zh-CN" altLang="en-US"/>
              <a:t>用于平衡两个</a:t>
            </a:r>
            <a:r>
              <a:rPr lang="zh-CN" altLang="en-US"/>
              <a:t>任务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4555" y="850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Hard Negative Mining</a:t>
            </a:r>
            <a:r>
              <a:rPr lang="zh-CN" altLang="en-US"/>
              <a:t>难负样本挖掘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80" y="1399540"/>
            <a:ext cx="7368540" cy="944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1375" y="2613660"/>
            <a:ext cx="7789545" cy="586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Neg</a:t>
            </a:r>
            <a:r>
              <a:rPr lang="zh-CN" altLang="en-US" sz="2000"/>
              <a:t>样本太多，模型全部预测为</a:t>
            </a:r>
            <a:r>
              <a:rPr lang="en-US" altLang="zh-CN" sz="2000"/>
              <a:t>Neg</a:t>
            </a:r>
            <a:r>
              <a:rPr lang="zh-CN" altLang="en-US" sz="2000"/>
              <a:t>，</a:t>
            </a:r>
            <a:r>
              <a:rPr lang="en-US" altLang="zh-CN" sz="2000"/>
              <a:t>loss</a:t>
            </a:r>
            <a:r>
              <a:rPr lang="zh-CN" altLang="en-US" sz="2000"/>
              <a:t>也会很低，难以有效训练。</a:t>
            </a:r>
            <a:endParaRPr lang="zh-CN" altLang="en-US" sz="2000"/>
          </a:p>
        </p:txBody>
      </p:sp>
      <p:sp>
        <p:nvSpPr>
          <p:cNvPr id="6" name="下箭头 5"/>
          <p:cNvSpPr/>
          <p:nvPr/>
        </p:nvSpPr>
        <p:spPr>
          <a:xfrm>
            <a:off x="3911600" y="3211195"/>
            <a:ext cx="510540" cy="46736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35655" y="3787140"/>
            <a:ext cx="2054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减少负样本数量</a:t>
            </a:r>
            <a:endParaRPr lang="zh-CN" altLang="en-US" sz="2000"/>
          </a:p>
        </p:txBody>
      </p:sp>
      <p:sp>
        <p:nvSpPr>
          <p:cNvPr id="8" name="下箭头 7"/>
          <p:cNvSpPr/>
          <p:nvPr/>
        </p:nvSpPr>
        <p:spPr>
          <a:xfrm>
            <a:off x="3911600" y="4264025"/>
            <a:ext cx="510540" cy="46736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33750" y="47980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留下</a:t>
            </a:r>
            <a:r>
              <a:rPr lang="zh-CN" altLang="en-US" sz="2000"/>
              <a:t>困难负样本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7127875" y="3397250"/>
            <a:ext cx="3531870" cy="3199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200"/>
              <a:t>每一轮</a:t>
            </a:r>
            <a:endParaRPr lang="zh-CN" altLang="en-US" sz="22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/>
              <a:t>正向传播得到置信度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逐样本计算损失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保留损失较大负样本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参数更新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370" y="2522855"/>
            <a:ext cx="6139815" cy="861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ea"/>
              </a:rPr>
              <a:t>Focal Loss for Dense Object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Detection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</a:t>
            </a:r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etinaNet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6665" y="822325"/>
            <a:ext cx="9601200" cy="46228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Two stage VS One stage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055" y="2009140"/>
            <a:ext cx="2475230" cy="24752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00" y="2009775"/>
            <a:ext cx="2474595" cy="24745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76145" y="4599940"/>
            <a:ext cx="1450340" cy="161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stage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64500" y="4599940"/>
            <a:ext cx="1465580" cy="161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 stage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45025" y="3789680"/>
            <a:ext cx="2192020" cy="386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6600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endParaRPr lang="zh-CN" altLang="en-US" sz="6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461770" y="5127625"/>
            <a:ext cx="3028950" cy="161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 but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acurrate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55155" y="5127625"/>
            <a:ext cx="4074795" cy="161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Faster but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 accurate enough</a:t>
            </a:r>
            <a:endParaRPr lang="en-US" altLang="zh-CN" sz="2400" b="0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7250" y="6000115"/>
            <a:ext cx="6539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2stage</a:t>
            </a:r>
            <a:r>
              <a:rPr lang="zh-CN" altLang="en-US" sz="2400"/>
              <a:t>提前删掉了一些影响训练的</a:t>
            </a:r>
            <a:r>
              <a:rPr lang="zh-CN" altLang="en-US" sz="2400"/>
              <a:t>框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270" y="1116330"/>
            <a:ext cx="5209540" cy="1191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170" y="869315"/>
            <a:ext cx="3830955" cy="2482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0" y="4134485"/>
            <a:ext cx="2945130" cy="6565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43014" y="4306339"/>
            <a:ext cx="780639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参数通常设置为类别出现频次的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倒数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9285" y="2497455"/>
            <a:ext cx="619125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无法处理类别不平衡：模型会偏向预测</a:t>
            </a:r>
            <a:r>
              <a:rPr lang="zh-CN" altLang="en-US"/>
              <a:t>样本量多的</a:t>
            </a:r>
            <a:r>
              <a:rPr lang="zh-CN" altLang="en-US"/>
              <a:t>类别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无法</a:t>
            </a:r>
            <a:r>
              <a:rPr lang="zh-CN" altLang="en-US"/>
              <a:t>分辨难易样本：简单但数量多的样本主导</a:t>
            </a:r>
            <a:r>
              <a:rPr lang="en-US" altLang="zh-CN"/>
              <a:t>loss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63270" y="5010150"/>
            <a:ext cx="63773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/>
              <a:t>通过给少类样本赋予大权重，解决类别不平衡问题</a:t>
            </a:r>
            <a:endParaRPr lang="zh-CN" altLang="en-US"/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/>
              <a:t>仍然没有解决简单样本</a:t>
            </a:r>
            <a:r>
              <a:rPr lang="zh-CN" altLang="en-US"/>
              <a:t>loss占主导问题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8360" y="619125"/>
            <a:ext cx="10038080" cy="98044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Focal Loss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：重点训练困难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样本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0" y="2982595"/>
            <a:ext cx="4839970" cy="31362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1783715"/>
            <a:ext cx="4491990" cy="6388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02680" y="2144395"/>
            <a:ext cx="5566410" cy="3583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200"/>
              <a:t>当样本被分类错误且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</a:t>
            </a:r>
            <a:r>
              <a:rPr lang="en-US" altLang="zh-CN" sz="2200" baseline="-250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2200"/>
              <a:t>较小时，调制因子接近</a:t>
            </a:r>
            <a:r>
              <a:rPr lang="en-US" altLang="zh-CN" sz="2200"/>
              <a:t> 1</a:t>
            </a:r>
            <a:r>
              <a:rPr lang="zh-CN" altLang="en-US" sz="2200"/>
              <a:t>，损失不会受到影响。</a:t>
            </a: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200"/>
              <a:t>当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</a:t>
            </a:r>
            <a:r>
              <a:rPr lang="en-US" altLang="zh-CN" sz="2200" baseline="-250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2200"/>
              <a:t>趋近于</a:t>
            </a:r>
            <a:r>
              <a:rPr lang="en-US" altLang="zh-CN" sz="2200"/>
              <a:t> 1 </a:t>
            </a:r>
            <a:r>
              <a:rPr lang="zh-CN" altLang="en-US" sz="2200"/>
              <a:t>时，这个因子会趋近于</a:t>
            </a:r>
            <a:r>
              <a:rPr lang="en-US" altLang="zh-CN" sz="2200"/>
              <a:t> 0</a:t>
            </a:r>
            <a:r>
              <a:rPr lang="zh-CN" altLang="en-US" sz="2200"/>
              <a:t>，分类良好的样本对应的损失会被降低权重。</a:t>
            </a: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200"/>
              <a:t>聚焦参数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γ </a:t>
            </a:r>
            <a:r>
              <a:rPr lang="zh-CN" altLang="en-US" sz="2200"/>
              <a:t>调整简单样本的</a:t>
            </a:r>
            <a:r>
              <a:rPr lang="en-US" altLang="zh-CN" sz="2200"/>
              <a:t>loss</a:t>
            </a:r>
            <a:r>
              <a:rPr lang="zh-CN" altLang="en-US" sz="2200"/>
              <a:t>占比</a:t>
            </a: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2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200"/>
              <a:t>在我们的实验中，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γ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取 </a:t>
            </a:r>
            <a:r>
              <a:rPr lang="en-US" altLang="zh-CN" sz="2200"/>
              <a:t>2 </a:t>
            </a:r>
            <a:r>
              <a:rPr lang="zh-CN" altLang="en-US" sz="2200"/>
              <a:t>时效果最佳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5280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类别不平衡和模型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初始化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2475" y="2425065"/>
            <a:ext cx="10601325" cy="3261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二元分类模型在默认情况下会被初始化为：输出 y = −1 或 y = 1 的概率是相等的。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charset="0"/>
              <a:buChar char="Ø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在目标检测时，由于大部分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都是背景，如果仍然使用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p=0.5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，会使得初始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非常大。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charset="0"/>
              <a:buNone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我们用 π 表示先验概率，并将其设置为：让模型对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前景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样本的预估概率 p 保持较低水平（例如 0.01）。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165860"/>
            <a:ext cx="3086735" cy="21831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3462020"/>
            <a:ext cx="4366895" cy="2120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510" y="1416685"/>
            <a:ext cx="4542790" cy="36493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85" y="616916"/>
            <a:ext cx="10229850" cy="27107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" y="3429000"/>
            <a:ext cx="10029825" cy="29038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96205" y="2675890"/>
            <a:ext cx="163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特征图的融合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06765" y="424180"/>
            <a:ext cx="1728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多层卷积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57535" y="1559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权重共享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81810" y="2428875"/>
            <a:ext cx="8801735" cy="203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0"/>
              <a:t>THANK YOU</a:t>
            </a:r>
            <a:endParaRPr lang="en-US" altLang="zh-CN" sz="8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7.85,&quot;left&quot;:56.4,&quot;top&quot;:112.85,&quot;width&quot;:369.1}"/>
</p:tagLst>
</file>

<file path=ppt/tags/tag2.xml><?xml version="1.0" encoding="utf-8"?>
<p:tagLst xmlns:p="http://schemas.openxmlformats.org/presentationml/2006/main">
  <p:tag name="KSO_WM_DIAGRAM_VIRTUALLY_FRAME" val="{&quot;height&quot;:337.85,&quot;left&quot;:56.4,&quot;top&quot;:112.85,&quot;width&quot;:369.1}"/>
</p:tagLst>
</file>

<file path=ppt/tags/tag3.xml><?xml version="1.0" encoding="utf-8"?>
<p:tagLst xmlns:p="http://schemas.openxmlformats.org/presentationml/2006/main">
  <p:tag name="KSO_WM_DIAGRAM_VIRTUALLY_FRAME" val="{&quot;height&quot;:337.85,&quot;left&quot;:56.4,&quot;top&quot;:112.85,&quot;width&quot;:369.1}"/>
</p:tagLst>
</file>

<file path=ppt/tags/tag4.xml><?xml version="1.0" encoding="utf-8"?>
<p:tagLst xmlns:p="http://schemas.openxmlformats.org/presentationml/2006/main">
  <p:tag name="KSO_WM_DIAGRAM_VIRTUALLY_FRAME" val="{&quot;height&quot;:337.85,&quot;left&quot;:56.4,&quot;top&quot;:112.85,&quot;width&quot;:369.1}"/>
</p:tagLst>
</file>

<file path=ppt/tags/tag5.xml><?xml version="1.0" encoding="utf-8"?>
<p:tagLst xmlns:p="http://schemas.openxmlformats.org/presentationml/2006/main">
  <p:tag name="KSO_WM_DIAGRAM_VIRTUALLY_FRAME" val="{&quot;height&quot;:337.85,&quot;left&quot;:56.4,&quot;top&quot;:112.85,&quot;width&quot;:369.1}"/>
</p:tagLst>
</file>

<file path=ppt/tags/tag6.xml><?xml version="1.0" encoding="utf-8"?>
<p:tagLst xmlns:p="http://schemas.openxmlformats.org/presentationml/2006/main">
  <p:tag name="COMMONDATA" val="eyJoZGlkIjoiODA2NGM4M2Q0MTk3ZmNiZjdiODk3MzMwMTRmZjYwOTIifQ=="/>
  <p:tag name="KSO_WPP_MARK_KEY" val="1166db0c-4b7c-41cc-b0a4-0dfb7ed5b7d7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14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4B296"/>
      </a:accent1>
      <a:accent2>
        <a:srgbClr val="D4B29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1900</Words>
  <Application>WPS 演示</Application>
  <PresentationFormat>宽屏</PresentationFormat>
  <Paragraphs>254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宋体</vt:lpstr>
      <vt:lpstr>Wingdings</vt:lpstr>
      <vt:lpstr>思源黑体</vt:lpstr>
      <vt:lpstr>黑体</vt:lpstr>
      <vt:lpstr>思源黑体 CN Medium</vt:lpstr>
      <vt:lpstr>Wingdings</vt:lpstr>
      <vt:lpstr>微软雅黑</vt:lpstr>
      <vt:lpstr>Arial Unicode MS</vt:lpstr>
      <vt:lpstr>Calibri</vt:lpstr>
      <vt:lpstr>思源黑体 CN Medium</vt:lpstr>
      <vt:lpstr>Office 主题​​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Two stage VS One stage</vt:lpstr>
      <vt:lpstr>PowerPoint 演示文稿</vt:lpstr>
      <vt:lpstr>Focal Loss：重点训练困难样本</vt:lpstr>
      <vt:lpstr>类别不平衡和模型初始化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宋航</cp:lastModifiedBy>
  <cp:revision>39</cp:revision>
  <dcterms:created xsi:type="dcterms:W3CDTF">2024-03-22T13:03:00Z</dcterms:created>
  <dcterms:modified xsi:type="dcterms:W3CDTF">2025-12-25T07:08:43Z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AFD5C178861C42509AEB73D327E69044_11</vt:lpwstr>
  </property>
  <property fmtid="{D5CDD505-2E9C-101B-9397-08002B2CF9AE}" pid="3" name="KSOProductBuildVer">
    <vt:lpwstr>2052-12.1.0.21541</vt:lpwstr>
  </property>
</Properties>
</file>