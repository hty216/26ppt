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handoutMasters/handoutMaster1.xml" ContentType="application/vnd.openxmlformats-officedocument.presentationml.handout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handoutMasterIdLst>
    <p:handoutMasterId r:id="rId35"/>
  </p:handoutMasterIdLst>
  <p:sldIdLst>
    <p:sldId id="256" r:id="rId3"/>
    <p:sldId id="305" r:id="rId4"/>
    <p:sldId id="307" r:id="rId5"/>
    <p:sldId id="336" r:id="rId6"/>
    <p:sldId id="309" r:id="rId7"/>
    <p:sldId id="321" r:id="rId8"/>
    <p:sldId id="311" r:id="rId9"/>
    <p:sldId id="350" r:id="rId10"/>
    <p:sldId id="337" r:id="rId11"/>
    <p:sldId id="338" r:id="rId12"/>
    <p:sldId id="312" r:id="rId13"/>
    <p:sldId id="315" r:id="rId14"/>
    <p:sldId id="316" r:id="rId15"/>
    <p:sldId id="339" r:id="rId16"/>
    <p:sldId id="340" r:id="rId17"/>
    <p:sldId id="341" r:id="rId18"/>
    <p:sldId id="317" r:id="rId19"/>
    <p:sldId id="347" r:id="rId20"/>
    <p:sldId id="342" r:id="rId21"/>
    <p:sldId id="349" r:id="rId22"/>
    <p:sldId id="333" r:id="rId23"/>
    <p:sldId id="334" r:id="rId24"/>
    <p:sldId id="322" r:id="rId25"/>
    <p:sldId id="348" r:id="rId26"/>
    <p:sldId id="326" r:id="rId27"/>
    <p:sldId id="323" r:id="rId28"/>
    <p:sldId id="324" r:id="rId29"/>
    <p:sldId id="325" r:id="rId30"/>
    <p:sldId id="343" r:id="rId31"/>
    <p:sldId id="329" r:id="rId32"/>
    <p:sldId id="330" r:id="rId33"/>
    <p:sldId id="351" r:id="rId34"/>
  </p:sldIdLst>
  <p:sldSz cx="12192000" cy="6858000"/>
  <p:notesSz cx="6858000" cy="9144000"/>
  <p:embeddedFontLst>
    <p:embeddedFont>
      <p:font typeface="等线" panose="02010600030101010101" charset="-122"/>
      <p:regular r:id="rId39"/>
    </p:embeddedFont>
  </p:embeddedFontLst>
  <p:custDataLst>
    <p:tags r:id="rId4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5" orient="horz" pos="3870" userDrawn="1">
          <p15:clr>
            <a:srgbClr val="A4A3A4"/>
          </p15:clr>
        </p15:guide>
        <p15:guide id="7"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56389"/>
    <a:srgbClr val="E6E6E6"/>
    <a:srgbClr val="D5A86F"/>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p:scale>
          <a:sx n="75" d="100"/>
          <a:sy n="75" d="100"/>
        </p:scale>
        <p:origin x="54" y="750"/>
      </p:cViewPr>
      <p:guideLst>
        <p:guide orient="horz" pos="3870"/>
        <p:guide pos="3840"/>
      </p:guideLst>
    </p:cSldViewPr>
  </p:slideViewPr>
  <p:notesTextViewPr>
    <p:cViewPr>
      <p:scale>
        <a:sx n="1" d="1"/>
        <a:sy n="1" d="1"/>
      </p:scale>
      <p:origin x="0" y="0"/>
    </p:cViewPr>
  </p:notesTextViewPr>
  <p:sorterViewPr>
    <p:cViewPr varScale="1">
      <p:scale>
        <a:sx n="1" d="1"/>
        <a:sy n="1" d="1"/>
      </p:scale>
      <p:origin x="0" y="-6990"/>
    </p:cViewPr>
  </p:sorterViewPr>
  <p:notesViewPr>
    <p:cSldViewPr snapToGrid="0">
      <p:cViewPr varScale="1">
        <p:scale>
          <a:sx n="75" d="100"/>
          <a:sy n="75" d="100"/>
        </p:scale>
        <p:origin x="3300" y="54"/>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0" Type="http://schemas.openxmlformats.org/officeDocument/2006/relationships/tags" Target="tags/tag2.xml"/><Relationship Id="rId4" Type="http://schemas.openxmlformats.org/officeDocument/2006/relationships/slide" Target="slides/slide2.xml"/><Relationship Id="rId39" Type="http://schemas.openxmlformats.org/officeDocument/2006/relationships/font" Target="fonts/font1.fntdata"/><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handoutMaster" Target="handoutMasters/handoutMaster1.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ADED53D-5900-4692-B30E-AEFD90DE758F}"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76F731E-E4EE-48C2-8E2E-8649318C6E69}"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stretch>
            <a:fillRect/>
          </a:stretch>
        </p:blipFill>
        <p:spPr>
          <a:xfrm>
            <a:off x="0" y="0"/>
            <a:ext cx="12192000" cy="6858000"/>
          </a:xfrm>
          <a:prstGeom prst="rect">
            <a:avLst/>
          </a:prstGeom>
        </p:spPr>
      </p:pic>
      <p:sp>
        <p:nvSpPr>
          <p:cNvPr id="5" name="文本框 4"/>
          <p:cNvSpPr txBox="1"/>
          <p:nvPr userDrawn="1"/>
        </p:nvSpPr>
        <p:spPr>
          <a:xfrm>
            <a:off x="5172671" y="2427923"/>
            <a:ext cx="1846659" cy="369332"/>
          </a:xfrm>
          <a:prstGeom prst="rect">
            <a:avLst/>
          </a:prstGeom>
          <a:noFill/>
        </p:spPr>
        <p:txBody>
          <a:bodyPr wrap="none" lIns="0" tIns="0" rIns="0" bIns="0" rtlCol="0" anchor="t">
            <a:spAutoFit/>
          </a:bodyPr>
          <a:lstStyle/>
          <a:p>
            <a:pPr algn="ctr"/>
            <a:r>
              <a:rPr lang="zh-CN" altLang="en-US" sz="2400" dirty="0">
                <a:solidFill>
                  <a:srgbClr val="156389"/>
                </a:solidFill>
                <a:latin typeface="+mn-ea"/>
              </a:rPr>
              <a:t>绿金色商务风</a:t>
            </a:r>
            <a:endParaRPr lang="zh-CN" altLang="en-US" sz="2400" dirty="0">
              <a:solidFill>
                <a:srgbClr val="156389"/>
              </a:solidFill>
              <a:latin typeface="+mn-ea"/>
            </a:endParaRPr>
          </a:p>
        </p:txBody>
      </p:sp>
      <p:cxnSp>
        <p:nvCxnSpPr>
          <p:cNvPr id="6" name="直接连接符 5"/>
          <p:cNvCxnSpPr/>
          <p:nvPr userDrawn="1"/>
        </p:nvCxnSpPr>
        <p:spPr>
          <a:xfrm flipH="1">
            <a:off x="2429750" y="2618375"/>
            <a:ext cx="1901952" cy="0"/>
          </a:xfrm>
          <a:prstGeom prst="line">
            <a:avLst/>
          </a:prstGeom>
          <a:ln w="19050">
            <a:solidFill>
              <a:schemeClr val="accent1">
                <a:lumMod val="100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userDrawn="1"/>
        </p:nvCxnSpPr>
        <p:spPr>
          <a:xfrm flipH="1">
            <a:off x="7860299" y="2618375"/>
            <a:ext cx="1901952" cy="0"/>
          </a:xfrm>
          <a:prstGeom prst="line">
            <a:avLst/>
          </a:prstGeom>
          <a:ln w="19050">
            <a:solidFill>
              <a:schemeClr val="accent1">
                <a:lumMod val="100000"/>
              </a:schemeClr>
            </a:solidFill>
          </a:ln>
        </p:spPr>
        <p:style>
          <a:lnRef idx="1">
            <a:schemeClr val="accent1"/>
          </a:lnRef>
          <a:fillRef idx="0">
            <a:schemeClr val="accent1"/>
          </a:fillRef>
          <a:effectRef idx="0">
            <a:schemeClr val="accent1"/>
          </a:effectRef>
          <a:fontRef idx="minor">
            <a:schemeClr val="tx1"/>
          </a:fontRef>
        </p:style>
      </p:cxnSp>
      <p:sp>
        <p:nvSpPr>
          <p:cNvPr id="14" name="矩形 13"/>
          <p:cNvSpPr/>
          <p:nvPr userDrawn="1"/>
        </p:nvSpPr>
        <p:spPr>
          <a:xfrm>
            <a:off x="1648968" y="1990344"/>
            <a:ext cx="8894064" cy="2249424"/>
          </a:xfrm>
          <a:prstGeom prst="rect">
            <a:avLst/>
          </a:prstGeom>
          <a:noFill/>
          <a:ln w="19050">
            <a:solidFill>
              <a:schemeClr val="accent1">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dirty="0">
              <a:solidFill>
                <a:srgbClr val="156389"/>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stretch>
            <a:fillRect/>
          </a:stretch>
        </p:blipFill>
        <p:spPr>
          <a:xfrm>
            <a:off x="0" y="0"/>
            <a:ext cx="12192000" cy="6858000"/>
          </a:xfrm>
          <a:prstGeom prst="rect">
            <a:avLst/>
          </a:prstGeom>
        </p:spPr>
      </p:pic>
      <p:sp>
        <p:nvSpPr>
          <p:cNvPr id="5" name="文本框 4"/>
          <p:cNvSpPr txBox="1"/>
          <p:nvPr userDrawn="1"/>
        </p:nvSpPr>
        <p:spPr>
          <a:xfrm>
            <a:off x="4759151" y="511705"/>
            <a:ext cx="2673698" cy="1354217"/>
          </a:xfrm>
          <a:prstGeom prst="rect">
            <a:avLst/>
          </a:prstGeom>
          <a:noFill/>
        </p:spPr>
        <p:txBody>
          <a:bodyPr wrap="square" lIns="0" tIns="0" rIns="0" bIns="0" rtlCol="0" anchor="t">
            <a:spAutoFit/>
          </a:bodyPr>
          <a:lstStyle/>
          <a:p>
            <a:pPr algn="dist"/>
            <a:r>
              <a:rPr lang="zh-CN" altLang="en-US" sz="8800" dirty="0">
                <a:solidFill>
                  <a:schemeClr val="accent1"/>
                </a:solidFill>
                <a:latin typeface="+mj-ea"/>
                <a:ea typeface="+mj-ea"/>
              </a:rPr>
              <a:t>目录</a:t>
            </a:r>
            <a:endParaRPr lang="zh-CN" altLang="en-US" sz="8800" dirty="0">
              <a:solidFill>
                <a:schemeClr val="accent1"/>
              </a:solidFill>
              <a:latin typeface="+mj-ea"/>
              <a:ea typeface="+mj-ea"/>
            </a:endParaRPr>
          </a:p>
        </p:txBody>
      </p:sp>
      <p:sp>
        <p:nvSpPr>
          <p:cNvPr id="6" name="文本框 5"/>
          <p:cNvSpPr txBox="1"/>
          <p:nvPr userDrawn="1"/>
        </p:nvSpPr>
        <p:spPr>
          <a:xfrm>
            <a:off x="4895849" y="1984607"/>
            <a:ext cx="2531437" cy="276999"/>
          </a:xfrm>
          <a:prstGeom prst="rect">
            <a:avLst/>
          </a:prstGeom>
          <a:noFill/>
        </p:spPr>
        <p:txBody>
          <a:bodyPr wrap="square" lIns="0" tIns="0" rIns="0" bIns="0" rtlCol="0" anchor="t">
            <a:spAutoFit/>
          </a:bodyPr>
          <a:lstStyle/>
          <a:p>
            <a:pPr algn="dist"/>
            <a:r>
              <a:rPr lang="en-US" altLang="zh-CN" dirty="0">
                <a:solidFill>
                  <a:schemeClr val="accent1"/>
                </a:solidFill>
              </a:rPr>
              <a:t>CONTENTS</a:t>
            </a:r>
            <a:endParaRPr lang="zh-CN" altLang="en-US" dirty="0">
              <a:solidFill>
                <a:schemeClr val="accent1"/>
              </a:solidFill>
            </a:endParaRPr>
          </a:p>
        </p:txBody>
      </p:sp>
      <p:sp>
        <p:nvSpPr>
          <p:cNvPr id="7" name="矩形: 圆角 6"/>
          <p:cNvSpPr/>
          <p:nvPr userDrawn="1"/>
        </p:nvSpPr>
        <p:spPr>
          <a:xfrm>
            <a:off x="673102" y="2659169"/>
            <a:ext cx="10845798" cy="3009900"/>
          </a:xfrm>
          <a:prstGeom prst="roundRect">
            <a:avLst>
              <a:gd name="adj" fmla="val 854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mj-ea"/>
              <a:ea typeface="+mj-ea"/>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stretch>
            <a:fillRect/>
          </a:stretch>
        </p:blipFill>
        <p:spPr>
          <a:xfrm>
            <a:off x="0" y="0"/>
            <a:ext cx="12192000" cy="6858000"/>
          </a:xfrm>
          <a:prstGeom prst="rect">
            <a:avLst/>
          </a:prstGeom>
        </p:spPr>
      </p:pic>
      <p:sp>
        <p:nvSpPr>
          <p:cNvPr id="4" name="同心圆 6"/>
          <p:cNvSpPr/>
          <p:nvPr userDrawn="1"/>
        </p:nvSpPr>
        <p:spPr>
          <a:xfrm>
            <a:off x="9652019" y="2474702"/>
            <a:ext cx="698992" cy="698992"/>
          </a:xfrm>
          <a:prstGeom prst="donut">
            <a:avLst>
              <a:gd name="adj" fmla="val 17790"/>
            </a:avLst>
          </a:prstGeom>
          <a:solidFill>
            <a:schemeClr val="accent1">
              <a:lumMod val="20000"/>
              <a:lumOff val="80000"/>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5" name="同心圆 1"/>
          <p:cNvSpPr/>
          <p:nvPr userDrawn="1"/>
        </p:nvSpPr>
        <p:spPr>
          <a:xfrm rot="5400000">
            <a:off x="-2026763" y="1402237"/>
            <a:ext cx="4053526" cy="4053526"/>
          </a:xfrm>
          <a:prstGeom prst="blockArc">
            <a:avLst/>
          </a:pr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cxnSp>
        <p:nvCxnSpPr>
          <p:cNvPr id="9" name="直线连接符 8"/>
          <p:cNvCxnSpPr/>
          <p:nvPr userDrawn="1"/>
        </p:nvCxnSpPr>
        <p:spPr>
          <a:xfrm>
            <a:off x="5441750" y="3840680"/>
            <a:ext cx="4477502" cy="0"/>
          </a:xfrm>
          <a:prstGeom prst="line">
            <a:avLst/>
          </a:prstGeom>
          <a:ln w="19050">
            <a:headEnd type="oval"/>
            <a:tailEnd type="ova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stretch>
            <a:fillRect/>
          </a:stretch>
        </p:blipFill>
        <p:spPr>
          <a:xfrm>
            <a:off x="0" y="0"/>
            <a:ext cx="12192000" cy="6858000"/>
          </a:xfrm>
          <a:prstGeom prst="rect">
            <a:avLst/>
          </a:prstGeom>
        </p:spPr>
      </p:pic>
      <p:sp>
        <p:nvSpPr>
          <p:cNvPr id="4" name="梯形 3"/>
          <p:cNvSpPr/>
          <p:nvPr userDrawn="1"/>
        </p:nvSpPr>
        <p:spPr>
          <a:xfrm>
            <a:off x="4102100" y="935903"/>
            <a:ext cx="3987800" cy="190500"/>
          </a:xfrm>
          <a:prstGeom prst="trapezoid">
            <a:avLst>
              <a:gd name="adj" fmla="val 183222"/>
            </a:avLst>
          </a:prstGeom>
          <a:gradFill>
            <a:gsLst>
              <a:gs pos="100000">
                <a:schemeClr val="accent1">
                  <a:alpha val="42000"/>
                </a:schemeClr>
              </a:gs>
              <a:gs pos="0">
                <a:schemeClr val="accent1">
                  <a:alpha val="0"/>
                </a:schemeClr>
              </a:gs>
            </a:gsLst>
            <a:lin ang="5400000" scaled="1"/>
          </a:gradFill>
          <a:ln cap="rnd">
            <a:gradFill>
              <a:gsLst>
                <a:gs pos="100000">
                  <a:schemeClr val="accent1"/>
                </a:gs>
                <a:gs pos="1000">
                  <a:schemeClr val="accent1">
                    <a:alpha val="0"/>
                  </a:schemeClr>
                </a:gs>
              </a:gsLst>
              <a:lin ang="5400000" scaled="1"/>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6" name="梯形 5"/>
          <p:cNvSpPr/>
          <p:nvPr userDrawn="1"/>
        </p:nvSpPr>
        <p:spPr>
          <a:xfrm>
            <a:off x="4546600" y="1086926"/>
            <a:ext cx="3098800" cy="190500"/>
          </a:xfrm>
          <a:prstGeom prst="trapezoid">
            <a:avLst>
              <a:gd name="adj" fmla="val 183222"/>
            </a:avLst>
          </a:prstGeom>
          <a:gradFill>
            <a:gsLst>
              <a:gs pos="100000">
                <a:schemeClr val="accent1">
                  <a:alpha val="42000"/>
                </a:schemeClr>
              </a:gs>
              <a:gs pos="0">
                <a:schemeClr val="accent1">
                  <a:alpha val="0"/>
                </a:schemeClr>
              </a:gs>
            </a:gsLst>
            <a:lin ang="5400000" scaled="1"/>
          </a:gra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4.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6.png"/><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6.png"/><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8.png"/><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2.png"/><Relationship Id="rId1" Type="http://schemas.openxmlformats.org/officeDocument/2006/relationships/image" Target="../media/image11.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2.png"/><Relationship Id="rId1"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2.png"/><Relationship Id="rId1"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5.png"/><Relationship Id="rId1"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5.png"/><Relationship Id="rId1" Type="http://schemas.openxmlformats.org/officeDocument/2006/relationships/image" Target="../media/image14.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0.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0.png"/></Relationships>
</file>

<file path=ppt/slides/_rels/slide23.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4.png"/></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23.png"/><Relationship Id="rId1" Type="http://schemas.openxmlformats.org/officeDocument/2006/relationships/image" Target="../media/image22.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4.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5.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6.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28.png"/><Relationship Id="rId1" Type="http://schemas.openxmlformats.org/officeDocument/2006/relationships/image" Target="../media/image27.png"/></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7.png"/><Relationship Id="rId2" Type="http://schemas.openxmlformats.org/officeDocument/2006/relationships/image" Target="../media/image28.png"/><Relationship Id="rId1" Type="http://schemas.openxmlformats.org/officeDocument/2006/relationships/image" Target="../media/image29.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968875" y="2286000"/>
            <a:ext cx="2109470" cy="52514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文本框 16"/>
          <p:cNvSpPr txBox="1"/>
          <p:nvPr/>
        </p:nvSpPr>
        <p:spPr>
          <a:xfrm>
            <a:off x="1726889" y="2690257"/>
            <a:ext cx="8819515" cy="1477010"/>
          </a:xfrm>
          <a:prstGeom prst="rect">
            <a:avLst/>
          </a:prstGeom>
          <a:noFill/>
        </p:spPr>
        <p:txBody>
          <a:bodyPr wrap="none" lIns="0" tIns="0" rIns="0" bIns="0" rtlCol="0" anchor="t">
            <a:spAutoFit/>
          </a:bodyPr>
          <a:lstStyle/>
          <a:p>
            <a:pPr algn="ctr"/>
            <a:r>
              <a:rPr lang="en-US" altLang="zh-CN" sz="3200" b="1" dirty="0">
                <a:solidFill>
                  <a:srgbClr val="156389"/>
                </a:solidFill>
                <a:latin typeface="+mj-ea"/>
                <a:ea typeface="+mj-ea"/>
              </a:rPr>
              <a:t>MSFMamba: Multi-Scale Feature Fusion State</a:t>
            </a:r>
            <a:endParaRPr lang="en-US" altLang="zh-CN" sz="3200" b="1" dirty="0">
              <a:solidFill>
                <a:srgbClr val="156389"/>
              </a:solidFill>
              <a:latin typeface="+mj-ea"/>
              <a:ea typeface="+mj-ea"/>
            </a:endParaRPr>
          </a:p>
          <a:p>
            <a:pPr algn="ctr"/>
            <a:r>
              <a:rPr lang="en-US" altLang="zh-CN" sz="3200" b="1" dirty="0">
                <a:solidFill>
                  <a:srgbClr val="156389"/>
                </a:solidFill>
                <a:latin typeface="+mj-ea"/>
                <a:ea typeface="+mj-ea"/>
              </a:rPr>
              <a:t>Space Model for Multi-Source Remote Sensing</a:t>
            </a:r>
            <a:endParaRPr lang="en-US" altLang="zh-CN" sz="3200" b="1" dirty="0">
              <a:solidFill>
                <a:srgbClr val="156389"/>
              </a:solidFill>
              <a:latin typeface="+mj-ea"/>
              <a:ea typeface="+mj-ea"/>
            </a:endParaRPr>
          </a:p>
          <a:p>
            <a:pPr algn="ctr"/>
            <a:r>
              <a:rPr lang="en-US" altLang="zh-CN" sz="3200" b="1" dirty="0">
                <a:solidFill>
                  <a:srgbClr val="156389"/>
                </a:solidFill>
                <a:latin typeface="+mj-ea"/>
                <a:ea typeface="+mj-ea"/>
              </a:rPr>
              <a:t>Image Classification</a:t>
            </a:r>
            <a:endParaRPr lang="en-US" altLang="zh-CN" sz="3200" b="1" dirty="0">
              <a:solidFill>
                <a:srgbClr val="156389"/>
              </a:solidFill>
              <a:latin typeface="+mj-ea"/>
              <a:ea typeface="+mj-ea"/>
            </a:endParaRPr>
          </a:p>
        </p:txBody>
      </p:sp>
      <p:grpSp>
        <p:nvGrpSpPr>
          <p:cNvPr id="18" name="组合 17"/>
          <p:cNvGrpSpPr/>
          <p:nvPr/>
        </p:nvGrpSpPr>
        <p:grpSpPr>
          <a:xfrm>
            <a:off x="8570962" y="5057774"/>
            <a:ext cx="1735436" cy="245745"/>
            <a:chOff x="4095451" y="4640913"/>
            <a:chExt cx="1735436" cy="245745"/>
          </a:xfrm>
        </p:grpSpPr>
        <p:sp>
          <p:nvSpPr>
            <p:cNvPr id="19" name="矩形 18"/>
            <p:cNvSpPr/>
            <p:nvPr/>
          </p:nvSpPr>
          <p:spPr>
            <a:xfrm>
              <a:off x="4095451" y="4672584"/>
              <a:ext cx="164592" cy="164592"/>
            </a:xfrm>
            <a:prstGeom prst="rect">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dirty="0">
                <a:solidFill>
                  <a:srgbClr val="156389"/>
                </a:solidFill>
              </a:endParaRPr>
            </a:p>
          </p:txBody>
        </p:sp>
        <p:sp>
          <p:nvSpPr>
            <p:cNvPr id="20" name="文本框 19"/>
            <p:cNvSpPr txBox="1"/>
            <p:nvPr/>
          </p:nvSpPr>
          <p:spPr>
            <a:xfrm>
              <a:off x="4408487" y="4640913"/>
              <a:ext cx="1422400" cy="245745"/>
            </a:xfrm>
            <a:prstGeom prst="rect">
              <a:avLst/>
            </a:prstGeom>
            <a:noFill/>
          </p:spPr>
          <p:txBody>
            <a:bodyPr wrap="none" lIns="0" tIns="0" rIns="0" bIns="0" rtlCol="0" anchor="t">
              <a:spAutoFit/>
            </a:bodyPr>
            <a:lstStyle/>
            <a:p>
              <a:r>
                <a:rPr lang="zh-CN" altLang="en-US" sz="1600" dirty="0">
                  <a:solidFill>
                    <a:srgbClr val="156389"/>
                  </a:solidFill>
                  <a:latin typeface="+mn-ea"/>
                </a:rPr>
                <a:t>指导老师：</a:t>
              </a:r>
              <a:r>
                <a:rPr lang="zh-CN" altLang="en-US" sz="1600" dirty="0">
                  <a:solidFill>
                    <a:srgbClr val="156389"/>
                  </a:solidFill>
                  <a:latin typeface="+mn-ea"/>
                </a:rPr>
                <a:t>刘芳</a:t>
              </a:r>
              <a:endParaRPr lang="zh-CN" altLang="en-US" sz="1600" dirty="0">
                <a:solidFill>
                  <a:srgbClr val="156389"/>
                </a:solidFill>
                <a:latin typeface="+mn-ea"/>
              </a:endParaRPr>
            </a:p>
          </p:txBody>
        </p:sp>
      </p:grpSp>
      <p:sp>
        <p:nvSpPr>
          <p:cNvPr id="3" name="文本框 2"/>
          <p:cNvSpPr txBox="1"/>
          <p:nvPr/>
        </p:nvSpPr>
        <p:spPr>
          <a:xfrm>
            <a:off x="1727200" y="4312920"/>
            <a:ext cx="8820150" cy="368300"/>
          </a:xfrm>
          <a:prstGeom prst="rect">
            <a:avLst/>
          </a:prstGeom>
          <a:noFill/>
        </p:spPr>
        <p:txBody>
          <a:bodyPr wrap="square" rtlCol="0">
            <a:spAutoFit/>
          </a:bodyPr>
          <a:p>
            <a:pPr algn="ctr"/>
            <a:r>
              <a:rPr lang="zh-CN" altLang="en-US"/>
              <a:t>用于多源遥感图像分类的多尺度特征融合状态空间模型</a:t>
            </a:r>
            <a:endParaRPr lang="zh-CN" altLang="en-US"/>
          </a:p>
        </p:txBody>
      </p:sp>
      <p:grpSp>
        <p:nvGrpSpPr>
          <p:cNvPr id="4" name="组合 3"/>
          <p:cNvGrpSpPr/>
          <p:nvPr/>
        </p:nvGrpSpPr>
        <p:grpSpPr>
          <a:xfrm>
            <a:off x="6788517" y="5053964"/>
            <a:ext cx="1532236" cy="245745"/>
            <a:chOff x="4095451" y="4640913"/>
            <a:chExt cx="1532236" cy="245745"/>
          </a:xfrm>
        </p:grpSpPr>
        <p:sp>
          <p:nvSpPr>
            <p:cNvPr id="5" name="矩形 4"/>
            <p:cNvSpPr/>
            <p:nvPr/>
          </p:nvSpPr>
          <p:spPr>
            <a:xfrm>
              <a:off x="4095451" y="4672584"/>
              <a:ext cx="164592" cy="164592"/>
            </a:xfrm>
            <a:prstGeom prst="rect">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6000" dirty="0">
                <a:solidFill>
                  <a:srgbClr val="156389"/>
                </a:solidFill>
              </a:endParaRPr>
            </a:p>
          </p:txBody>
        </p:sp>
        <p:sp>
          <p:nvSpPr>
            <p:cNvPr id="6" name="文本框 5"/>
            <p:cNvSpPr txBox="1"/>
            <p:nvPr/>
          </p:nvSpPr>
          <p:spPr>
            <a:xfrm>
              <a:off x="4408487" y="4640913"/>
              <a:ext cx="1219200" cy="245745"/>
            </a:xfrm>
            <a:prstGeom prst="rect">
              <a:avLst/>
            </a:prstGeom>
            <a:noFill/>
          </p:spPr>
          <p:txBody>
            <a:bodyPr wrap="none" lIns="0" tIns="0" rIns="0" bIns="0" rtlCol="0" anchor="t">
              <a:spAutoFit/>
            </a:bodyPr>
            <a:p>
              <a:r>
                <a:rPr lang="zh-CN" altLang="en-US" sz="1600" dirty="0">
                  <a:solidFill>
                    <a:srgbClr val="156389"/>
                  </a:solidFill>
                  <a:latin typeface="+mn-ea"/>
                </a:rPr>
                <a:t>汇报人：</a:t>
              </a:r>
              <a:r>
                <a:rPr lang="zh-CN" altLang="en-US" sz="1600" dirty="0">
                  <a:solidFill>
                    <a:srgbClr val="156389"/>
                  </a:solidFill>
                  <a:latin typeface="+mn-ea"/>
                </a:rPr>
                <a:t>宋航</a:t>
              </a:r>
              <a:endParaRPr lang="zh-CN" altLang="en-US" sz="1600" dirty="0">
                <a:solidFill>
                  <a:srgbClr val="156389"/>
                </a:solidFill>
                <a:latin typeface="+mn-ea"/>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486166" y="2271965"/>
            <a:ext cx="2762902" cy="2762906"/>
          </a:xfrm>
          <a:prstGeom prst="ellipse">
            <a:avLst/>
          </a:prstGeom>
          <a:noFill/>
          <a:ln>
            <a:gradFill flip="none" rotWithShape="1">
              <a:gsLst>
                <a:gs pos="0">
                  <a:schemeClr val="accent1">
                    <a:lumMod val="15000"/>
                    <a:lumOff val="85000"/>
                    <a:alpha val="0"/>
                  </a:schemeClr>
                </a:gs>
                <a:gs pos="100000">
                  <a:schemeClr val="accent1">
                    <a:alpha val="80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20000"/>
              </a:lnSpc>
            </a:pPr>
            <a:endParaRPr lang="zh-CN" altLang="en-US" sz="2800" b="1" dirty="0">
              <a:solidFill>
                <a:srgbClr val="FF0000"/>
              </a:solidFill>
              <a:cs typeface="+mn-ea"/>
              <a:sym typeface="+mn-lt"/>
            </a:endParaRPr>
          </a:p>
        </p:txBody>
      </p:sp>
      <p:sp>
        <p:nvSpPr>
          <p:cNvPr id="3" name="椭圆 2"/>
          <p:cNvSpPr/>
          <p:nvPr/>
        </p:nvSpPr>
        <p:spPr>
          <a:xfrm>
            <a:off x="-1108720" y="1678055"/>
            <a:ext cx="3964774" cy="3964780"/>
          </a:xfrm>
          <a:prstGeom prst="ellipse">
            <a:avLst/>
          </a:prstGeom>
          <a:noFill/>
          <a:ln>
            <a:gradFill flip="none" rotWithShape="1">
              <a:gsLst>
                <a:gs pos="0">
                  <a:schemeClr val="accent1">
                    <a:lumMod val="15000"/>
                    <a:lumOff val="85000"/>
                    <a:alpha val="0"/>
                  </a:schemeClr>
                </a:gs>
                <a:gs pos="100000">
                  <a:schemeClr val="accent1">
                    <a:alpha val="75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20000"/>
              </a:lnSpc>
            </a:pPr>
            <a:endParaRPr lang="zh-CN" altLang="en-US" sz="2800" b="1" dirty="0">
              <a:solidFill>
                <a:srgbClr val="FF0000"/>
              </a:solidFill>
              <a:cs typeface="+mn-ea"/>
              <a:sym typeface="+mn-lt"/>
            </a:endParaRPr>
          </a:p>
        </p:txBody>
      </p:sp>
      <p:sp>
        <p:nvSpPr>
          <p:cNvPr id="4" name="椭圆 3"/>
          <p:cNvSpPr/>
          <p:nvPr/>
        </p:nvSpPr>
        <p:spPr>
          <a:xfrm flipV="1">
            <a:off x="111399" y="2797194"/>
            <a:ext cx="1635174" cy="1635176"/>
          </a:xfrm>
          <a:prstGeom prst="ellipse">
            <a:avLst/>
          </a:prstGeom>
          <a:noFill/>
          <a:ln>
            <a:gradFill flip="none" rotWithShape="1">
              <a:gsLst>
                <a:gs pos="0">
                  <a:schemeClr val="accent1">
                    <a:lumMod val="15000"/>
                    <a:lumOff val="85000"/>
                    <a:alpha val="0"/>
                  </a:schemeClr>
                </a:gs>
                <a:gs pos="100000">
                  <a:schemeClr val="accent1"/>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20000"/>
              </a:lnSpc>
            </a:pPr>
            <a:endParaRPr lang="zh-CN" altLang="en-US" sz="2800" b="1" dirty="0">
              <a:solidFill>
                <a:srgbClr val="FF0000"/>
              </a:solidFill>
              <a:cs typeface="+mn-ea"/>
              <a:sym typeface="+mn-lt"/>
            </a:endParaRPr>
          </a:p>
        </p:txBody>
      </p:sp>
      <p:sp>
        <p:nvSpPr>
          <p:cNvPr id="20" name="文本框 19"/>
          <p:cNvSpPr txBox="1"/>
          <p:nvPr/>
        </p:nvSpPr>
        <p:spPr>
          <a:xfrm>
            <a:off x="2962910" y="1678305"/>
            <a:ext cx="8423275" cy="4167505"/>
          </a:xfrm>
          <a:prstGeom prst="rect">
            <a:avLst/>
          </a:prstGeom>
          <a:noFill/>
        </p:spPr>
        <p:txBody>
          <a:bodyPr wrap="square" rtlCol="0">
            <a:noAutofit/>
          </a:bodyPr>
          <a:p>
            <a:pPr algn="l"/>
            <a:r>
              <a:rPr lang="zh-CN" altLang="en-US" sz="2200" b="1" dirty="0">
                <a:solidFill>
                  <a:schemeClr val="tx1"/>
                </a:solidFill>
                <a:latin typeface="+mj-ea"/>
                <a:ea typeface="+mj-ea"/>
                <a:sym typeface="+mn-ea"/>
              </a:rPr>
              <a:t>标题：</a:t>
            </a:r>
            <a:r>
              <a:rPr lang="en-US" altLang="zh-CN" sz="2200" b="1" dirty="0">
                <a:solidFill>
                  <a:schemeClr val="tx1"/>
                </a:solidFill>
                <a:latin typeface="+mj-ea"/>
                <a:ea typeface="+mj-ea"/>
                <a:sym typeface="+mn-ea"/>
              </a:rPr>
              <a:t>MSFMamba: Multi-Scale Feature Fusion State Space Model for Multi-Source Remote Sensing Image Classification</a:t>
            </a:r>
            <a:endParaRPr lang="en-US" altLang="zh-CN" sz="2200" b="1" dirty="0">
              <a:solidFill>
                <a:schemeClr val="tx1"/>
              </a:solidFill>
              <a:latin typeface="+mj-ea"/>
              <a:ea typeface="+mj-ea"/>
              <a:sym typeface="+mn-ea"/>
            </a:endParaRPr>
          </a:p>
          <a:p>
            <a:pPr algn="l"/>
            <a:endParaRPr lang="en-US" altLang="zh-CN" sz="2200" b="1" dirty="0">
              <a:solidFill>
                <a:schemeClr val="tx1"/>
              </a:solidFill>
              <a:latin typeface="+mj-ea"/>
              <a:ea typeface="+mj-ea"/>
              <a:sym typeface="+mn-ea"/>
            </a:endParaRPr>
          </a:p>
          <a:p>
            <a:pPr algn="l"/>
            <a:r>
              <a:rPr lang="zh-CN" altLang="en-US" sz="2200" b="1" dirty="0">
                <a:solidFill>
                  <a:schemeClr val="tx1"/>
                </a:solidFill>
                <a:latin typeface="+mj-ea"/>
                <a:ea typeface="+mj-ea"/>
                <a:sym typeface="+mn-ea"/>
              </a:rPr>
              <a:t>作者：</a:t>
            </a:r>
            <a:r>
              <a:rPr lang="en-US" altLang="zh-CN" sz="2200" b="1" dirty="0">
                <a:solidFill>
                  <a:schemeClr val="tx1"/>
                </a:solidFill>
                <a:latin typeface="+mj-ea"/>
                <a:ea typeface="+mj-ea"/>
              </a:rPr>
              <a:t>Feng Gao</a:t>
            </a:r>
            <a:r>
              <a:rPr lang="zh-CN" altLang="en-US" sz="2200" b="1" dirty="0">
                <a:solidFill>
                  <a:schemeClr val="tx1"/>
                </a:solidFill>
                <a:latin typeface="+mj-ea"/>
                <a:ea typeface="+mj-ea"/>
              </a:rPr>
              <a:t>、</a:t>
            </a:r>
            <a:r>
              <a:rPr lang="en-US" altLang="zh-CN" sz="2200" b="1" dirty="0">
                <a:solidFill>
                  <a:schemeClr val="tx1"/>
                </a:solidFill>
                <a:latin typeface="+mj-ea"/>
                <a:ea typeface="+mj-ea"/>
              </a:rPr>
              <a:t>Xuepeng Jin</a:t>
            </a:r>
            <a:r>
              <a:rPr lang="zh-CN" altLang="en-US" sz="2200" b="1" dirty="0">
                <a:solidFill>
                  <a:schemeClr val="tx1"/>
                </a:solidFill>
                <a:latin typeface="+mj-ea"/>
                <a:ea typeface="+mj-ea"/>
              </a:rPr>
              <a:t>、</a:t>
            </a:r>
            <a:r>
              <a:rPr lang="en-US" altLang="zh-CN" sz="2200" b="1" dirty="0">
                <a:solidFill>
                  <a:schemeClr val="tx1"/>
                </a:solidFill>
                <a:latin typeface="+mj-ea"/>
                <a:ea typeface="+mj-ea"/>
              </a:rPr>
              <a:t>Xiaowei Zhou</a:t>
            </a:r>
            <a:r>
              <a:rPr lang="zh-CN" altLang="en-US" sz="2200" b="1" dirty="0">
                <a:solidFill>
                  <a:schemeClr val="tx1"/>
                </a:solidFill>
                <a:latin typeface="+mj-ea"/>
                <a:ea typeface="+mj-ea"/>
              </a:rPr>
              <a:t>、</a:t>
            </a:r>
            <a:r>
              <a:rPr lang="en-US" altLang="zh-CN" sz="2200" b="1" dirty="0">
                <a:solidFill>
                  <a:schemeClr val="tx1"/>
                </a:solidFill>
                <a:latin typeface="+mj-ea"/>
                <a:ea typeface="+mj-ea"/>
              </a:rPr>
              <a:t>Junyu Dong</a:t>
            </a:r>
            <a:r>
              <a:rPr lang="zh-CN" altLang="en-US" sz="2200" b="1" dirty="0">
                <a:solidFill>
                  <a:schemeClr val="tx1"/>
                </a:solidFill>
                <a:latin typeface="+mj-ea"/>
                <a:ea typeface="+mj-ea"/>
              </a:rPr>
              <a:t>、</a:t>
            </a:r>
            <a:r>
              <a:rPr lang="en-US" altLang="zh-CN" sz="2200" b="1" dirty="0">
                <a:solidFill>
                  <a:schemeClr val="tx1"/>
                </a:solidFill>
                <a:latin typeface="+mj-ea"/>
                <a:ea typeface="+mj-ea"/>
              </a:rPr>
              <a:t>Qian Du</a:t>
            </a:r>
            <a:endParaRPr lang="en-US" altLang="zh-CN" sz="2200" b="1" dirty="0">
              <a:solidFill>
                <a:schemeClr val="tx1"/>
              </a:solidFill>
              <a:latin typeface="+mj-ea"/>
              <a:ea typeface="+mj-ea"/>
            </a:endParaRPr>
          </a:p>
          <a:p>
            <a:pPr algn="l"/>
            <a:endParaRPr lang="en-US" altLang="zh-CN" sz="2200" b="1" dirty="0">
              <a:solidFill>
                <a:schemeClr val="tx1"/>
              </a:solidFill>
              <a:latin typeface="+mj-ea"/>
              <a:ea typeface="+mj-ea"/>
            </a:endParaRPr>
          </a:p>
          <a:p>
            <a:pPr algn="l"/>
            <a:r>
              <a:rPr lang="zh-CN" altLang="en-US" sz="2200" b="1" dirty="0">
                <a:solidFill>
                  <a:schemeClr val="tx1"/>
                </a:solidFill>
                <a:latin typeface="+mj-ea"/>
                <a:ea typeface="+mj-ea"/>
              </a:rPr>
              <a:t>单位：中国海洋大学、密西西比州立大学</a:t>
            </a:r>
            <a:endParaRPr lang="zh-CN" altLang="en-US" sz="2200" b="1" dirty="0">
              <a:solidFill>
                <a:schemeClr val="tx1"/>
              </a:solidFill>
              <a:latin typeface="+mj-ea"/>
              <a:ea typeface="+mj-ea"/>
            </a:endParaRPr>
          </a:p>
          <a:p>
            <a:pPr algn="l"/>
            <a:endParaRPr lang="zh-CN" altLang="en-US" sz="2200" b="1" dirty="0">
              <a:solidFill>
                <a:schemeClr val="tx1"/>
              </a:solidFill>
              <a:latin typeface="+mj-ea"/>
              <a:ea typeface="+mj-ea"/>
            </a:endParaRPr>
          </a:p>
          <a:p>
            <a:pPr algn="l"/>
            <a:r>
              <a:rPr lang="zh-CN" altLang="en-US" sz="2200" b="1" dirty="0">
                <a:solidFill>
                  <a:schemeClr val="tx1"/>
                </a:solidFill>
                <a:latin typeface="+mj-ea"/>
                <a:ea typeface="+mj-ea"/>
              </a:rPr>
              <a:t>期刊：</a:t>
            </a:r>
            <a:r>
              <a:rPr lang="en-US" altLang="zh-CN" sz="2200" b="1" dirty="0">
                <a:solidFill>
                  <a:schemeClr val="tx1"/>
                </a:solidFill>
                <a:latin typeface="+mj-ea"/>
                <a:ea typeface="+mj-ea"/>
              </a:rPr>
              <a:t>IEEE </a:t>
            </a:r>
            <a:r>
              <a:rPr lang="zh-CN" altLang="en-US" sz="2200" b="1" dirty="0">
                <a:solidFill>
                  <a:schemeClr val="tx1"/>
                </a:solidFill>
                <a:latin typeface="+mj-ea"/>
                <a:ea typeface="+mj-ea"/>
              </a:rPr>
              <a:t>地球科学与遥感汇刊</a:t>
            </a:r>
            <a:endParaRPr lang="zh-CN" altLang="en-US" sz="2200" b="1" dirty="0">
              <a:solidFill>
                <a:schemeClr val="tx1"/>
              </a:solidFill>
              <a:latin typeface="+mj-ea"/>
              <a:ea typeface="+mj-ea"/>
            </a:endParaRPr>
          </a:p>
          <a:p>
            <a:pPr algn="l"/>
            <a:endParaRPr lang="zh-CN" altLang="en-US" sz="2200" b="1" dirty="0">
              <a:solidFill>
                <a:schemeClr val="tx1"/>
              </a:solidFill>
              <a:latin typeface="+mj-ea"/>
              <a:ea typeface="+mj-ea"/>
            </a:endParaRPr>
          </a:p>
          <a:p>
            <a:pPr algn="l"/>
            <a:r>
              <a:rPr lang="zh-CN" altLang="en-US" sz="2200" b="1" dirty="0">
                <a:solidFill>
                  <a:schemeClr val="tx1"/>
                </a:solidFill>
                <a:latin typeface="+mj-ea"/>
                <a:ea typeface="+mj-ea"/>
              </a:rPr>
              <a:t>年份：</a:t>
            </a:r>
            <a:r>
              <a:rPr lang="en-US" altLang="zh-CN" sz="2200" b="1" dirty="0">
                <a:solidFill>
                  <a:schemeClr val="tx1"/>
                </a:solidFill>
                <a:latin typeface="+mj-ea"/>
                <a:ea typeface="+mj-ea"/>
              </a:rPr>
              <a:t>2025</a:t>
            </a:r>
            <a:r>
              <a:rPr lang="zh-CN" altLang="en-US" sz="2200" b="1" dirty="0">
                <a:solidFill>
                  <a:schemeClr val="tx1"/>
                </a:solidFill>
                <a:latin typeface="+mj-ea"/>
                <a:ea typeface="+mj-ea"/>
              </a:rPr>
              <a:t>年</a:t>
            </a:r>
            <a:endParaRPr lang="zh-CN" altLang="en-US" sz="2200" b="1" dirty="0">
              <a:solidFill>
                <a:schemeClr val="tx1"/>
              </a:solidFill>
              <a:latin typeface="+mj-ea"/>
              <a:ea typeface="+mj-ea"/>
            </a:endParaRPr>
          </a:p>
        </p:txBody>
      </p:sp>
      <p:sp>
        <p:nvSpPr>
          <p:cNvPr id="32" name="文本框 31"/>
          <p:cNvSpPr txBox="1"/>
          <p:nvPr/>
        </p:nvSpPr>
        <p:spPr>
          <a:xfrm>
            <a:off x="5320665" y="636905"/>
            <a:ext cx="4064000" cy="521970"/>
          </a:xfrm>
          <a:prstGeom prst="rect">
            <a:avLst/>
          </a:prstGeom>
          <a:noFill/>
        </p:spPr>
        <p:txBody>
          <a:bodyPr wrap="square" rtlCol="0">
            <a:spAutoFit/>
          </a:bodyPr>
          <a:p>
            <a:r>
              <a:rPr kumimoji="1" lang="zh-CN" altLang="en-US" sz="2800" b="1" dirty="0">
                <a:solidFill>
                  <a:schemeClr val="accent1"/>
                </a:solidFill>
                <a:latin typeface="+mj-ea"/>
                <a:ea typeface="+mj-ea"/>
              </a:rPr>
              <a:t>基本情况</a:t>
            </a:r>
            <a:endParaRPr kumimoji="1" lang="zh-CN" altLang="en-US" sz="2800" b="1" dirty="0">
              <a:solidFill>
                <a:schemeClr val="accent1"/>
              </a:solidFill>
              <a:latin typeface="+mj-ea"/>
              <a:ea typeface="+mj-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382484" y="603183"/>
            <a:ext cx="3427031" cy="521970"/>
          </a:xfrm>
          <a:prstGeom prst="rect">
            <a:avLst/>
          </a:prstGeom>
          <a:noFill/>
        </p:spPr>
        <p:txBody>
          <a:bodyPr wrap="square" rtlCol="0">
            <a:spAutoFit/>
          </a:bodyPr>
          <a:lstStyle/>
          <a:p>
            <a:pPr algn="ctr"/>
            <a:r>
              <a:rPr kumimoji="1" lang="en-US" altLang="zh-CN" sz="2800" b="1" dirty="0">
                <a:solidFill>
                  <a:schemeClr val="accent1"/>
                </a:solidFill>
                <a:latin typeface="+mj-ea"/>
                <a:ea typeface="+mj-ea"/>
              </a:rPr>
              <a:t>T</a:t>
            </a:r>
            <a:r>
              <a:rPr kumimoji="1" lang="en-US" altLang="zh-CN" sz="2800" b="1" dirty="0">
                <a:solidFill>
                  <a:schemeClr val="accent1"/>
                </a:solidFill>
                <a:latin typeface="+mj-ea"/>
                <a:ea typeface="+mj-ea"/>
              </a:rPr>
              <a:t>ask</a:t>
            </a:r>
            <a:endParaRPr kumimoji="1" lang="en-US" altLang="zh-CN" sz="2800" b="1" dirty="0">
              <a:solidFill>
                <a:schemeClr val="accent1"/>
              </a:solidFill>
              <a:latin typeface="+mj-ea"/>
              <a:ea typeface="+mj-ea"/>
            </a:endParaRPr>
          </a:p>
        </p:txBody>
      </p:sp>
      <p:sp>
        <p:nvSpPr>
          <p:cNvPr id="2" name="文本框 1"/>
          <p:cNvSpPr txBox="1"/>
          <p:nvPr/>
        </p:nvSpPr>
        <p:spPr>
          <a:xfrm>
            <a:off x="1792605" y="1972310"/>
            <a:ext cx="6986270" cy="2306955"/>
          </a:xfrm>
          <a:prstGeom prst="rect">
            <a:avLst/>
          </a:prstGeom>
          <a:noFill/>
        </p:spPr>
        <p:txBody>
          <a:bodyPr wrap="square" rtlCol="0">
            <a:spAutoFit/>
          </a:bodyPr>
          <a:p>
            <a:r>
              <a:rPr lang="zh-CN" altLang="en-US"/>
              <a:t>多源遥感图像的像素级分类（</a:t>
            </a:r>
            <a:r>
              <a:rPr lang="en-US" altLang="zh-CN"/>
              <a:t>Pixel-wise Multi-source Classification</a:t>
            </a:r>
            <a:r>
              <a:rPr lang="zh-CN" altLang="en-US"/>
              <a:t>）</a:t>
            </a:r>
            <a:endParaRPr lang="zh-CN" altLang="en-US"/>
          </a:p>
          <a:p>
            <a:endParaRPr lang="en-US" altLang="zh-CN"/>
          </a:p>
          <a:p>
            <a:r>
              <a:rPr lang="zh-CN" altLang="en-US"/>
              <a:t>输入：高光谱图像</a:t>
            </a:r>
            <a:r>
              <a:rPr lang="en-US" altLang="zh-CN"/>
              <a:t>+ </a:t>
            </a:r>
            <a:r>
              <a:rPr lang="zh-CN" altLang="en-US"/>
              <a:t>激光雷达</a:t>
            </a:r>
            <a:r>
              <a:rPr lang="en-US" altLang="zh-CN"/>
              <a:t>/</a:t>
            </a:r>
            <a:r>
              <a:rPr lang="zh-CN" altLang="en-US"/>
              <a:t>合成孔径雷达图像</a:t>
            </a:r>
            <a:endParaRPr lang="zh-CN" altLang="en-US"/>
          </a:p>
          <a:p>
            <a:endParaRPr lang="en-US" altLang="zh-CN"/>
          </a:p>
          <a:p>
            <a:r>
              <a:rPr lang="zh-CN" altLang="en-US"/>
              <a:t>输出：每个像素的地物类别（建筑、水体、道路、植被等）</a:t>
            </a:r>
            <a:endParaRPr lang="zh-CN" altLang="en-US"/>
          </a:p>
          <a:p>
            <a:endParaRPr lang="en-US" altLang="zh-CN"/>
          </a:p>
          <a:p>
            <a:endParaRPr lang="zh-CN" altLang="en-US"/>
          </a:p>
        </p:txBody>
      </p:sp>
      <p:pic>
        <p:nvPicPr>
          <p:cNvPr id="3" name="图片 2"/>
          <p:cNvPicPr>
            <a:picLocks noChangeAspect="1"/>
          </p:cNvPicPr>
          <p:nvPr/>
        </p:nvPicPr>
        <p:blipFill>
          <a:blip r:embed="rId1"/>
          <a:stretch>
            <a:fillRect/>
          </a:stretch>
        </p:blipFill>
        <p:spPr>
          <a:xfrm>
            <a:off x="8524875" y="814705"/>
            <a:ext cx="3078480" cy="3810000"/>
          </a:xfrm>
          <a:prstGeom prst="rect">
            <a:avLst/>
          </a:prstGeom>
        </p:spPr>
      </p:pic>
      <p:pic>
        <p:nvPicPr>
          <p:cNvPr id="4" name="图片 3"/>
          <p:cNvPicPr>
            <a:picLocks noChangeAspect="1"/>
          </p:cNvPicPr>
          <p:nvPr/>
        </p:nvPicPr>
        <p:blipFill>
          <a:blip r:embed="rId2"/>
          <a:stretch>
            <a:fillRect/>
          </a:stretch>
        </p:blipFill>
        <p:spPr>
          <a:xfrm rot="16200000">
            <a:off x="5757545" y="3620135"/>
            <a:ext cx="2468880" cy="37871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382484" y="603183"/>
            <a:ext cx="3427031" cy="521970"/>
          </a:xfrm>
          <a:prstGeom prst="rect">
            <a:avLst/>
          </a:prstGeom>
          <a:noFill/>
        </p:spPr>
        <p:txBody>
          <a:bodyPr wrap="square" rtlCol="0">
            <a:spAutoFit/>
          </a:bodyPr>
          <a:lstStyle/>
          <a:p>
            <a:pPr algn="ctr"/>
            <a:r>
              <a:rPr kumimoji="1" lang="zh-CN" altLang="en-US" sz="2800" b="1" dirty="0">
                <a:solidFill>
                  <a:schemeClr val="accent1"/>
                </a:solidFill>
                <a:latin typeface="+mj-ea"/>
                <a:ea typeface="+mj-ea"/>
              </a:rPr>
              <a:t>遥感</a:t>
            </a:r>
            <a:r>
              <a:rPr kumimoji="1" lang="zh-CN" altLang="en-US" sz="2800" b="1" dirty="0">
                <a:solidFill>
                  <a:schemeClr val="accent1"/>
                </a:solidFill>
                <a:latin typeface="+mj-ea"/>
                <a:ea typeface="+mj-ea"/>
              </a:rPr>
              <a:t>数据类型</a:t>
            </a:r>
            <a:endParaRPr kumimoji="1" lang="zh-CN" altLang="en-US" sz="2800" b="1" dirty="0">
              <a:solidFill>
                <a:schemeClr val="accent1"/>
              </a:solidFill>
              <a:latin typeface="+mj-ea"/>
              <a:ea typeface="+mj-ea"/>
            </a:endParaRPr>
          </a:p>
        </p:txBody>
      </p:sp>
      <p:graphicFrame>
        <p:nvGraphicFramePr>
          <p:cNvPr id="29" name="表格 28"/>
          <p:cNvGraphicFramePr>
            <a:graphicFrameLocks noGrp="1"/>
          </p:cNvGraphicFramePr>
          <p:nvPr>
            <p:custDataLst>
              <p:tags r:id="rId1"/>
            </p:custDataLst>
          </p:nvPr>
        </p:nvGraphicFramePr>
        <p:xfrm>
          <a:off x="977655" y="1241739"/>
          <a:ext cx="9707245" cy="4554220"/>
        </p:xfrm>
        <a:graphic>
          <a:graphicData uri="http://schemas.openxmlformats.org/drawingml/2006/table">
            <a:tbl>
              <a:tblPr firstRow="1" bandRow="1">
                <a:tableStyleId>{5C22544A-7EE6-4342-B048-85BDC9FD1C3A}</a:tableStyleId>
              </a:tblPr>
              <a:tblGrid>
                <a:gridCol w="1616075"/>
                <a:gridCol w="2456558"/>
                <a:gridCol w="2817233"/>
                <a:gridCol w="2817233"/>
              </a:tblGrid>
              <a:tr h="1090295">
                <a:tc>
                  <a:txBody>
                    <a:bodyPr/>
                    <a:p>
                      <a:pPr algn="ctr" fontAlgn="auto">
                        <a:lnSpc>
                          <a:spcPct val="120000"/>
                        </a:lnSpc>
                      </a:pPr>
                      <a:r>
                        <a:rPr lang="zh-CN" altLang="en-US" sz="1500" b="1" spc="120" baseline="0" dirty="0">
                          <a:solidFill>
                            <a:schemeClr val="bg1"/>
                          </a:solidFill>
                          <a:latin typeface="Arial" panose="020B0604020202020204" pitchFamily="34" charset="0"/>
                          <a:ea typeface="汉仪旗黑-50S" panose="00020600040101010101" charset="-122"/>
                        </a:rPr>
                        <a:t>类型</a:t>
                      </a:r>
                      <a:endParaRPr lang="zh-CN" altLang="en-US" sz="1500" b="1" spc="120" baseline="0" dirty="0">
                        <a:solidFill>
                          <a:schemeClr val="bg1"/>
                        </a:solidFill>
                        <a:latin typeface="Arial" panose="020B0604020202020204" pitchFamily="34" charset="0"/>
                        <a:ea typeface="汉仪旗黑-50S" panose="00020600040101010101" charset="-122"/>
                      </a:endParaRPr>
                    </a:p>
                  </a:txBody>
                  <a:tcPr marL="88900" marR="88900" marT="47625" marB="4762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solidFill>
                  </a:tcPr>
                </a:tc>
                <a:tc>
                  <a:txBody>
                    <a:bodyPr/>
                    <a:p>
                      <a:pPr algn="ctr" fontAlgn="auto">
                        <a:lnSpc>
                          <a:spcPct val="120000"/>
                        </a:lnSpc>
                      </a:pPr>
                      <a:r>
                        <a:rPr lang="zh-CN" altLang="en-US" sz="1500" b="1" spc="120" baseline="0" dirty="0">
                          <a:solidFill>
                            <a:schemeClr val="accent1"/>
                          </a:solidFill>
                          <a:latin typeface="Arial" panose="020B0604020202020204" pitchFamily="34" charset="0"/>
                          <a:ea typeface="汉仪旗黑-50S" panose="00020600040101010101" charset="-122"/>
                        </a:rPr>
                        <a:t>特点</a:t>
                      </a:r>
                      <a:endParaRPr lang="zh-CN" altLang="en-US" sz="1500" b="1" spc="120" baseline="0" dirty="0">
                        <a:solidFill>
                          <a:schemeClr val="accent1"/>
                        </a:solidFill>
                        <a:latin typeface="Arial" panose="020B0604020202020204" pitchFamily="34" charset="0"/>
                        <a:ea typeface="汉仪旗黑-50S" panose="00020600040101010101" charset="-122"/>
                      </a:endParaRPr>
                    </a:p>
                  </a:txBody>
                  <a:tcPr marL="88900" marR="88900" marT="47625" marB="4762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95000"/>
                      </a:schemeClr>
                    </a:solidFill>
                  </a:tcPr>
                </a:tc>
                <a:tc>
                  <a:txBody>
                    <a:bodyPr/>
                    <a:p>
                      <a:pPr algn="ctr" fontAlgn="auto">
                        <a:lnSpc>
                          <a:spcPct val="120000"/>
                        </a:lnSpc>
                      </a:pPr>
                      <a:r>
                        <a:rPr lang="zh-CN" altLang="en-US" sz="1500" b="1" spc="120" baseline="0" dirty="0">
                          <a:solidFill>
                            <a:schemeClr val="accent1"/>
                          </a:solidFill>
                          <a:latin typeface="Arial" panose="020B0604020202020204" pitchFamily="34" charset="0"/>
                          <a:ea typeface="汉仪旗黑-50S" panose="00020600040101010101" charset="-122"/>
                        </a:rPr>
                        <a:t>优点</a:t>
                      </a:r>
                      <a:endParaRPr lang="zh-CN" altLang="en-US" sz="1500" b="1" spc="120" baseline="0" dirty="0">
                        <a:solidFill>
                          <a:schemeClr val="accent1"/>
                        </a:solidFill>
                        <a:latin typeface="Arial" panose="020B0604020202020204" pitchFamily="34" charset="0"/>
                        <a:ea typeface="汉仪旗黑-50S" panose="00020600040101010101" charset="-122"/>
                      </a:endParaRPr>
                    </a:p>
                  </a:txBody>
                  <a:tcPr marL="88900" marR="88900" marT="47625" marB="4762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p>
                      <a:pPr algn="ctr" fontAlgn="auto">
                        <a:lnSpc>
                          <a:spcPct val="120000"/>
                        </a:lnSpc>
                        <a:buNone/>
                      </a:pPr>
                      <a:r>
                        <a:rPr lang="zh-CN" altLang="en-US" sz="1500" b="1" spc="120" baseline="0" dirty="0">
                          <a:solidFill>
                            <a:schemeClr val="accent1"/>
                          </a:solidFill>
                          <a:latin typeface="Arial" panose="020B0604020202020204" pitchFamily="34" charset="0"/>
                          <a:ea typeface="汉仪旗黑-50S" panose="00020600040101010101" charset="-122"/>
                        </a:rPr>
                        <a:t>局限</a:t>
                      </a:r>
                      <a:endParaRPr lang="zh-CN" altLang="en-US" sz="1500" b="1" spc="120" baseline="0" dirty="0">
                        <a:solidFill>
                          <a:schemeClr val="accent1"/>
                        </a:solidFill>
                        <a:latin typeface="Arial" panose="020B0604020202020204" pitchFamily="34" charset="0"/>
                        <a:ea typeface="汉仪旗黑-50S" panose="00020600040101010101" charset="-122"/>
                      </a:endParaRPr>
                    </a:p>
                  </a:txBody>
                  <a:tcPr marL="88900" marR="88900" marT="47625" marB="4762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r>
              <a:tr h="906780">
                <a:tc>
                  <a:txBody>
                    <a:bodyPr/>
                    <a:p>
                      <a:pPr algn="ctr" fontAlgn="auto">
                        <a:lnSpc>
                          <a:spcPct val="120000"/>
                        </a:lnSpc>
                      </a:pPr>
                      <a:r>
                        <a:rPr lang="zh-CN" altLang="en-US" sz="1500" b="1" spc="120" baseline="0" dirty="0">
                          <a:solidFill>
                            <a:schemeClr val="bg1"/>
                          </a:solidFill>
                          <a:latin typeface="Arial" panose="020B0604020202020204" pitchFamily="34" charset="0"/>
                          <a:ea typeface="汉仪旗黑-50S" panose="00020600040101010101" charset="-122"/>
                        </a:rPr>
                        <a:t>高光谱</a:t>
                      </a:r>
                      <a:endParaRPr lang="zh-CN" altLang="en-US" sz="1500" b="1" spc="120" baseline="0" dirty="0">
                        <a:solidFill>
                          <a:schemeClr val="bg1"/>
                        </a:solidFill>
                        <a:latin typeface="Arial" panose="020B0604020202020204" pitchFamily="34" charset="0"/>
                        <a:ea typeface="汉仪旗黑-50S" panose="00020600040101010101" charset="-122"/>
                      </a:endParaRPr>
                    </a:p>
                    <a:p>
                      <a:pPr algn="ctr" fontAlgn="auto">
                        <a:lnSpc>
                          <a:spcPct val="120000"/>
                        </a:lnSpc>
                      </a:pPr>
                      <a:r>
                        <a:rPr lang="zh-CN" altLang="en-US" sz="1500" b="1" spc="120" baseline="0" dirty="0">
                          <a:solidFill>
                            <a:schemeClr val="bg1"/>
                          </a:solidFill>
                          <a:latin typeface="Arial" panose="020B0604020202020204" pitchFamily="34" charset="0"/>
                          <a:ea typeface="汉仪旗黑-50S" panose="00020600040101010101" charset="-122"/>
                        </a:rPr>
                        <a:t>（</a:t>
                      </a:r>
                      <a:r>
                        <a:rPr lang="en-US" altLang="zh-CN" sz="1500" b="1" spc="120" baseline="0" dirty="0">
                          <a:solidFill>
                            <a:schemeClr val="bg1"/>
                          </a:solidFill>
                          <a:latin typeface="Arial" panose="020B0604020202020204" pitchFamily="34" charset="0"/>
                          <a:ea typeface="汉仪旗黑-50S" panose="00020600040101010101" charset="-122"/>
                        </a:rPr>
                        <a:t>HSI</a:t>
                      </a:r>
                      <a:r>
                        <a:rPr lang="zh-CN" altLang="en-US" sz="1500" b="1" spc="120" baseline="0" dirty="0">
                          <a:solidFill>
                            <a:schemeClr val="bg1"/>
                          </a:solidFill>
                          <a:latin typeface="Arial" panose="020B0604020202020204" pitchFamily="34" charset="0"/>
                          <a:ea typeface="汉仪旗黑-50S" panose="00020600040101010101" charset="-122"/>
                        </a:rPr>
                        <a:t>）</a:t>
                      </a:r>
                      <a:endParaRPr lang="zh-CN" altLang="en-US" sz="1500" b="1" spc="120" baseline="0" dirty="0">
                        <a:solidFill>
                          <a:schemeClr val="bg1"/>
                        </a:solidFill>
                        <a:latin typeface="Arial" panose="020B0604020202020204" pitchFamily="34" charset="0"/>
                        <a:ea typeface="汉仪旗黑-50S" panose="00020600040101010101" charset="-122"/>
                      </a:endParaRPr>
                    </a:p>
                  </a:txBody>
                  <a:tcPr marL="88900" marR="88900" marT="47625" marB="4762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solidFill>
                  </a:tcPr>
                </a:tc>
                <a:tc>
                  <a:txBody>
                    <a:bodyPr/>
                    <a:p>
                      <a:pPr algn="ctr" fontAlgn="auto">
                        <a:lnSpc>
                          <a:spcPct val="120000"/>
                        </a:lnSpc>
                      </a:pPr>
                      <a:r>
                        <a:rPr lang="zh-CN" altLang="en-US" sz="1400" b="0" spc="120" baseline="0" dirty="0">
                          <a:solidFill>
                            <a:schemeClr val="tx1"/>
                          </a:solidFill>
                          <a:uFillTx/>
                          <a:latin typeface="Arial" panose="020B0604020202020204" pitchFamily="34" charset="0"/>
                          <a:ea typeface="汉仪旗黑-50S" panose="00020600040101010101" charset="-122"/>
                        </a:rPr>
                        <a:t>每个波段记录不同波长下的反射率，能看出物质成分差异。</a:t>
                      </a:r>
                      <a:endParaRPr lang="zh-CN" altLang="en-US" sz="1400" b="0" spc="120" baseline="0" dirty="0">
                        <a:solidFill>
                          <a:schemeClr val="tx1"/>
                        </a:solidFill>
                        <a:uFillTx/>
                        <a:latin typeface="Arial" panose="020B0604020202020204" pitchFamily="34" charset="0"/>
                        <a:ea typeface="汉仪旗黑-50S" panose="00020600040101010101" charset="-122"/>
                      </a:endParaRPr>
                    </a:p>
                  </a:txBody>
                  <a:tcPr marL="88900" marR="88900" marT="47625" marB="4762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95000"/>
                      </a:schemeClr>
                    </a:solidFill>
                  </a:tcPr>
                </a:tc>
                <a:tc>
                  <a:txBody>
                    <a:bodyPr/>
                    <a:p>
                      <a:pPr algn="ctr" fontAlgn="auto">
                        <a:lnSpc>
                          <a:spcPct val="120000"/>
                        </a:lnSpc>
                      </a:pPr>
                      <a:r>
                        <a:rPr lang="zh-CN" altLang="en-US" sz="1400" b="0" spc="120" baseline="0" dirty="0">
                          <a:solidFill>
                            <a:schemeClr val="tx1"/>
                          </a:solidFill>
                          <a:uFillTx/>
                          <a:latin typeface="Arial" panose="020B0604020202020204" pitchFamily="34" charset="0"/>
                          <a:ea typeface="汉仪旗黑-50S" panose="00020600040101010101" charset="-122"/>
                        </a:rPr>
                        <a:t>材质识别能力强</a:t>
                      </a:r>
                      <a:endParaRPr lang="zh-CN" altLang="en-US" sz="1400" b="0" spc="120" baseline="0" dirty="0">
                        <a:solidFill>
                          <a:schemeClr val="tx1"/>
                        </a:solidFill>
                        <a:uFillTx/>
                        <a:latin typeface="Arial" panose="020B0604020202020204" pitchFamily="34" charset="0"/>
                        <a:ea typeface="汉仪旗黑-50S" panose="00020600040101010101" charset="-122"/>
                      </a:endParaRPr>
                    </a:p>
                  </a:txBody>
                  <a:tcPr marL="88900" marR="88900" marT="47625" marB="4762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p>
                      <a:pPr algn="ctr" fontAlgn="auto">
                        <a:lnSpc>
                          <a:spcPct val="120000"/>
                        </a:lnSpc>
                        <a:buNone/>
                      </a:pPr>
                      <a:r>
                        <a:rPr lang="zh-CN" altLang="en-US" sz="1400" b="0" spc="120" baseline="0" dirty="0">
                          <a:solidFill>
                            <a:schemeClr val="tx1"/>
                          </a:solidFill>
                          <a:uFillTx/>
                          <a:latin typeface="Arial" panose="020B0604020202020204" pitchFamily="34" charset="0"/>
                          <a:ea typeface="汉仪旗黑-50S" panose="00020600040101010101" charset="-122"/>
                        </a:rPr>
                        <a:t>无三维信息，且受天气光照</a:t>
                      </a:r>
                      <a:r>
                        <a:rPr lang="zh-CN" altLang="en-US" sz="1400" b="0" spc="120" baseline="0" dirty="0">
                          <a:solidFill>
                            <a:schemeClr val="tx1"/>
                          </a:solidFill>
                          <a:uFillTx/>
                          <a:latin typeface="Arial" panose="020B0604020202020204" pitchFamily="34" charset="0"/>
                          <a:ea typeface="汉仪旗黑-50S" panose="00020600040101010101" charset="-122"/>
                        </a:rPr>
                        <a:t>影响</a:t>
                      </a:r>
                      <a:endParaRPr lang="zh-CN" altLang="en-US" sz="1400" b="0" spc="120" baseline="0" dirty="0">
                        <a:solidFill>
                          <a:schemeClr val="tx1"/>
                        </a:solidFill>
                        <a:uFillTx/>
                        <a:latin typeface="Arial" panose="020B0604020202020204" pitchFamily="34" charset="0"/>
                        <a:ea typeface="汉仪旗黑-50S" panose="00020600040101010101" charset="-122"/>
                      </a:endParaRPr>
                    </a:p>
                  </a:txBody>
                  <a:tcPr marL="88900" marR="88900" marT="47625" marB="4762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r>
              <a:tr h="1047750">
                <a:tc>
                  <a:txBody>
                    <a:bodyPr/>
                    <a:p>
                      <a:pPr algn="ctr" fontAlgn="auto">
                        <a:lnSpc>
                          <a:spcPct val="120000"/>
                        </a:lnSpc>
                      </a:pPr>
                      <a:r>
                        <a:rPr lang="zh-CN" altLang="en-US" sz="1500" b="1" spc="120" baseline="0" dirty="0">
                          <a:solidFill>
                            <a:schemeClr val="bg1"/>
                          </a:solidFill>
                          <a:latin typeface="Arial" panose="020B0604020202020204" pitchFamily="34" charset="0"/>
                          <a:ea typeface="汉仪旗黑-50S" panose="00020600040101010101" charset="-122"/>
                        </a:rPr>
                        <a:t>激光雷达</a:t>
                      </a:r>
                      <a:endParaRPr lang="zh-CN" altLang="en-US" sz="1500" b="1" spc="120" baseline="0" dirty="0">
                        <a:solidFill>
                          <a:schemeClr val="bg1"/>
                        </a:solidFill>
                        <a:latin typeface="Arial" panose="020B0604020202020204" pitchFamily="34" charset="0"/>
                        <a:ea typeface="汉仪旗黑-50S" panose="00020600040101010101" charset="-122"/>
                      </a:endParaRPr>
                    </a:p>
                    <a:p>
                      <a:pPr algn="ctr" fontAlgn="auto">
                        <a:lnSpc>
                          <a:spcPct val="120000"/>
                        </a:lnSpc>
                      </a:pPr>
                      <a:r>
                        <a:rPr lang="zh-CN" altLang="en-US" sz="1500" b="1" spc="120" baseline="0" dirty="0">
                          <a:solidFill>
                            <a:schemeClr val="bg1"/>
                          </a:solidFill>
                          <a:latin typeface="Arial" panose="020B0604020202020204" pitchFamily="34" charset="0"/>
                          <a:ea typeface="汉仪旗黑-50S" panose="00020600040101010101" charset="-122"/>
                        </a:rPr>
                        <a:t>（</a:t>
                      </a:r>
                      <a:r>
                        <a:rPr lang="en-US" altLang="zh-CN" sz="1500" b="1" spc="120" baseline="0" dirty="0">
                          <a:solidFill>
                            <a:schemeClr val="bg1"/>
                          </a:solidFill>
                          <a:latin typeface="Arial" panose="020B0604020202020204" pitchFamily="34" charset="0"/>
                          <a:ea typeface="汉仪旗黑-50S" panose="00020600040101010101" charset="-122"/>
                        </a:rPr>
                        <a:t>LiDAR</a:t>
                      </a:r>
                      <a:r>
                        <a:rPr lang="zh-CN" altLang="en-US" sz="1500" b="1" spc="120" baseline="0" dirty="0">
                          <a:solidFill>
                            <a:schemeClr val="bg1"/>
                          </a:solidFill>
                          <a:latin typeface="Arial" panose="020B0604020202020204" pitchFamily="34" charset="0"/>
                          <a:ea typeface="汉仪旗黑-50S" panose="00020600040101010101" charset="-122"/>
                        </a:rPr>
                        <a:t>）</a:t>
                      </a:r>
                      <a:endParaRPr lang="zh-CN" altLang="en-US" sz="1500" b="1" spc="120" baseline="0" dirty="0">
                        <a:solidFill>
                          <a:schemeClr val="bg1"/>
                        </a:solidFill>
                        <a:latin typeface="Arial" panose="020B0604020202020204" pitchFamily="34" charset="0"/>
                        <a:ea typeface="汉仪旗黑-50S" panose="00020600040101010101" charset="-122"/>
                      </a:endParaRPr>
                    </a:p>
                  </a:txBody>
                  <a:tcPr marL="88900" marR="88900" marT="47625" marB="4762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solidFill>
                  </a:tcPr>
                </a:tc>
                <a:tc>
                  <a:txBody>
                    <a:bodyPr/>
                    <a:p>
                      <a:pPr algn="ctr" fontAlgn="auto">
                        <a:lnSpc>
                          <a:spcPct val="120000"/>
                        </a:lnSpc>
                      </a:pPr>
                      <a:r>
                        <a:rPr lang="zh-CN" altLang="en-US" sz="1400" b="0" spc="120" baseline="0" dirty="0">
                          <a:solidFill>
                            <a:schemeClr val="tx1"/>
                          </a:solidFill>
                          <a:uFillTx/>
                          <a:latin typeface="Arial" panose="020B0604020202020204" pitchFamily="34" charset="0"/>
                          <a:ea typeface="汉仪旗黑-50S" panose="00020600040101010101" charset="-122"/>
                        </a:rPr>
                        <a:t>有高精度高程信息</a:t>
                      </a:r>
                      <a:endParaRPr lang="zh-CN" altLang="en-US" sz="1400" b="0" spc="120" baseline="0" dirty="0">
                        <a:solidFill>
                          <a:schemeClr val="tx1"/>
                        </a:solidFill>
                        <a:uFillTx/>
                        <a:latin typeface="Arial" panose="020B0604020202020204" pitchFamily="34" charset="0"/>
                        <a:ea typeface="汉仪旗黑-50S" panose="00020600040101010101" charset="-122"/>
                      </a:endParaRPr>
                    </a:p>
                  </a:txBody>
                  <a:tcPr marL="88900" marR="88900" marT="47625" marB="4762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95000"/>
                      </a:schemeClr>
                    </a:solidFill>
                  </a:tcPr>
                </a:tc>
                <a:tc>
                  <a:txBody>
                    <a:bodyPr/>
                    <a:p>
                      <a:pPr algn="ctr" fontAlgn="auto">
                        <a:lnSpc>
                          <a:spcPct val="120000"/>
                        </a:lnSpc>
                      </a:pPr>
                      <a:r>
                        <a:rPr lang="zh-CN" altLang="en-US" sz="1400" b="0" spc="120" baseline="0" dirty="0">
                          <a:solidFill>
                            <a:schemeClr val="tx1"/>
                          </a:solidFill>
                          <a:uFillTx/>
                          <a:latin typeface="Arial" panose="020B0604020202020204" pitchFamily="34" charset="0"/>
                          <a:ea typeface="汉仪旗黑-50S" panose="00020600040101010101" charset="-122"/>
                        </a:rPr>
                        <a:t>提供地形与高度</a:t>
                      </a:r>
                      <a:endParaRPr lang="zh-CN" altLang="en-US" sz="1400" b="0" spc="120" baseline="0" dirty="0">
                        <a:solidFill>
                          <a:schemeClr val="tx1"/>
                        </a:solidFill>
                        <a:uFillTx/>
                        <a:latin typeface="Arial" panose="020B0604020202020204" pitchFamily="34" charset="0"/>
                        <a:ea typeface="汉仪旗黑-50S" panose="00020600040101010101" charset="-122"/>
                      </a:endParaRPr>
                    </a:p>
                  </a:txBody>
                  <a:tcPr marL="88900" marR="88900" marT="47625" marB="4762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p>
                      <a:pPr algn="ctr" fontAlgn="auto">
                        <a:lnSpc>
                          <a:spcPct val="120000"/>
                        </a:lnSpc>
                        <a:buNone/>
                      </a:pPr>
                      <a:r>
                        <a:rPr lang="zh-CN" altLang="en-US" sz="1400" b="0" spc="120" baseline="0" dirty="0">
                          <a:solidFill>
                            <a:schemeClr val="tx1"/>
                          </a:solidFill>
                          <a:uFillTx/>
                          <a:latin typeface="Arial" panose="020B0604020202020204" pitchFamily="34" charset="0"/>
                          <a:ea typeface="汉仪旗黑-50S" panose="00020600040101010101" charset="-122"/>
                        </a:rPr>
                        <a:t>光谱信息缺失</a:t>
                      </a:r>
                      <a:endParaRPr lang="zh-CN" altLang="en-US" sz="1400" b="0" spc="120" baseline="0" dirty="0">
                        <a:solidFill>
                          <a:schemeClr val="tx1"/>
                        </a:solidFill>
                        <a:uFillTx/>
                        <a:latin typeface="Arial" panose="020B0604020202020204" pitchFamily="34" charset="0"/>
                        <a:ea typeface="汉仪旗黑-50S" panose="00020600040101010101" charset="-122"/>
                      </a:endParaRPr>
                    </a:p>
                  </a:txBody>
                  <a:tcPr marL="88900" marR="88900" marT="47625" marB="4762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r>
              <a:tr h="961390">
                <a:tc>
                  <a:txBody>
                    <a:bodyPr/>
                    <a:p>
                      <a:pPr algn="ctr" fontAlgn="auto">
                        <a:lnSpc>
                          <a:spcPct val="120000"/>
                        </a:lnSpc>
                      </a:pPr>
                      <a:r>
                        <a:rPr lang="zh-CN" altLang="en-US" sz="1500" b="1" spc="120" baseline="0" dirty="0">
                          <a:solidFill>
                            <a:schemeClr val="bg1"/>
                          </a:solidFill>
                          <a:latin typeface="Arial" panose="020B0604020202020204" pitchFamily="34" charset="0"/>
                          <a:ea typeface="汉仪旗黑-50S" panose="00020600040101010101" charset="-122"/>
                        </a:rPr>
                        <a:t>合成孔径</a:t>
                      </a:r>
                      <a:r>
                        <a:rPr lang="zh-CN" altLang="en-US" sz="1500" b="1" spc="120" baseline="0" dirty="0">
                          <a:solidFill>
                            <a:schemeClr val="bg1"/>
                          </a:solidFill>
                          <a:latin typeface="Arial" panose="020B0604020202020204" pitchFamily="34" charset="0"/>
                          <a:ea typeface="汉仪旗黑-50S" panose="00020600040101010101" charset="-122"/>
                        </a:rPr>
                        <a:t>雷达</a:t>
                      </a:r>
                      <a:endParaRPr lang="zh-CN" altLang="en-US" sz="1500" b="1" spc="120" baseline="0" dirty="0">
                        <a:solidFill>
                          <a:schemeClr val="bg1"/>
                        </a:solidFill>
                        <a:latin typeface="Arial" panose="020B0604020202020204" pitchFamily="34" charset="0"/>
                        <a:ea typeface="汉仪旗黑-50S" panose="00020600040101010101" charset="-122"/>
                      </a:endParaRPr>
                    </a:p>
                    <a:p>
                      <a:pPr algn="ctr" fontAlgn="auto">
                        <a:lnSpc>
                          <a:spcPct val="120000"/>
                        </a:lnSpc>
                      </a:pPr>
                      <a:r>
                        <a:rPr lang="en-US" altLang="zh-CN" sz="1500" b="1" spc="120" baseline="0" dirty="0">
                          <a:solidFill>
                            <a:schemeClr val="bg1"/>
                          </a:solidFill>
                          <a:latin typeface="Arial" panose="020B0604020202020204" pitchFamily="34" charset="0"/>
                          <a:ea typeface="汉仪旗黑-50S" panose="00020600040101010101" charset="-122"/>
                        </a:rPr>
                        <a:t>(SAR)</a:t>
                      </a:r>
                      <a:endParaRPr lang="en-US" altLang="zh-CN" sz="1500" b="1" spc="120" baseline="0" dirty="0">
                        <a:solidFill>
                          <a:schemeClr val="bg1"/>
                        </a:solidFill>
                        <a:latin typeface="Arial" panose="020B0604020202020204" pitchFamily="34" charset="0"/>
                        <a:ea typeface="汉仪旗黑-50S" panose="00020600040101010101" charset="-122"/>
                      </a:endParaRPr>
                    </a:p>
                  </a:txBody>
                  <a:tcPr marL="88900" marR="88900" marT="47625" marB="4762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solidFill>
                  </a:tcPr>
                </a:tc>
                <a:tc>
                  <a:txBody>
                    <a:bodyPr/>
                    <a:p>
                      <a:pPr algn="ctr" fontAlgn="auto">
                        <a:lnSpc>
                          <a:spcPct val="120000"/>
                        </a:lnSpc>
                      </a:pPr>
                      <a:r>
                        <a:rPr lang="zh-CN" altLang="en-US" sz="1400" b="0" spc="120" baseline="0" dirty="0">
                          <a:solidFill>
                            <a:schemeClr val="tx1"/>
                          </a:solidFill>
                          <a:uFillTx/>
                          <a:latin typeface="Arial" panose="020B0604020202020204" pitchFamily="34" charset="0"/>
                          <a:ea typeface="汉仪旗黑-50S" panose="00020600040101010101" charset="-122"/>
                        </a:rPr>
                        <a:t>云多、夜间也能成像</a:t>
                      </a:r>
                      <a:endParaRPr lang="zh-CN" altLang="en-US" sz="1400" b="0" spc="120" baseline="0" dirty="0">
                        <a:solidFill>
                          <a:schemeClr val="tx1"/>
                        </a:solidFill>
                        <a:uFillTx/>
                        <a:latin typeface="Arial" panose="020B0604020202020204" pitchFamily="34" charset="0"/>
                        <a:ea typeface="汉仪旗黑-50S" panose="00020600040101010101" charset="-122"/>
                      </a:endParaRPr>
                    </a:p>
                  </a:txBody>
                  <a:tcPr marL="88900" marR="88900" marT="47625" marB="4762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95000"/>
                      </a:schemeClr>
                    </a:solidFill>
                  </a:tcPr>
                </a:tc>
                <a:tc>
                  <a:txBody>
                    <a:bodyPr/>
                    <a:p>
                      <a:pPr algn="ctr" fontAlgn="auto">
                        <a:lnSpc>
                          <a:spcPct val="120000"/>
                        </a:lnSpc>
                      </a:pPr>
                      <a:r>
                        <a:rPr lang="zh-CN" altLang="en-US" sz="1400" b="0" spc="120" baseline="0" dirty="0">
                          <a:solidFill>
                            <a:schemeClr val="tx1"/>
                          </a:solidFill>
                          <a:uFillTx/>
                          <a:latin typeface="Arial" panose="020B0604020202020204" pitchFamily="34" charset="0"/>
                          <a:ea typeface="汉仪旗黑-50S" panose="00020600040101010101" charset="-122"/>
                        </a:rPr>
                        <a:t>提供三维</a:t>
                      </a:r>
                      <a:r>
                        <a:rPr lang="zh-CN" altLang="en-US" sz="1400" b="0" spc="120" baseline="0" dirty="0">
                          <a:solidFill>
                            <a:schemeClr val="tx1"/>
                          </a:solidFill>
                          <a:uFillTx/>
                          <a:latin typeface="Arial" panose="020B0604020202020204" pitchFamily="34" charset="0"/>
                          <a:ea typeface="汉仪旗黑-50S" panose="00020600040101010101" charset="-122"/>
                        </a:rPr>
                        <a:t>信息，全天候可用</a:t>
                      </a:r>
                      <a:endParaRPr lang="zh-CN" altLang="en-US" sz="1400" b="0" spc="120" baseline="0" dirty="0">
                        <a:solidFill>
                          <a:schemeClr val="tx1"/>
                        </a:solidFill>
                        <a:uFillTx/>
                        <a:latin typeface="Arial" panose="020B0604020202020204" pitchFamily="34" charset="0"/>
                        <a:ea typeface="汉仪旗黑-50S" panose="00020600040101010101" charset="-122"/>
                      </a:endParaRPr>
                    </a:p>
                  </a:txBody>
                  <a:tcPr marL="88900" marR="88900" marT="47625" marB="4762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p>
                      <a:pPr algn="ctr" fontAlgn="auto">
                        <a:lnSpc>
                          <a:spcPct val="120000"/>
                        </a:lnSpc>
                        <a:buNone/>
                      </a:pPr>
                      <a:r>
                        <a:rPr lang="zh-CN" altLang="en-US" sz="1400" b="0" spc="120" baseline="0" dirty="0">
                          <a:solidFill>
                            <a:schemeClr val="tx1"/>
                          </a:solidFill>
                          <a:uFillTx/>
                          <a:latin typeface="Arial" panose="020B0604020202020204" pitchFamily="34" charset="0"/>
                          <a:ea typeface="汉仪旗黑-50S" panose="00020600040101010101" charset="-122"/>
                        </a:rPr>
                        <a:t>噪声强</a:t>
                      </a:r>
                      <a:endParaRPr lang="zh-CN" altLang="en-US" sz="1400" b="0" spc="120" baseline="0" dirty="0">
                        <a:solidFill>
                          <a:schemeClr val="tx1"/>
                        </a:solidFill>
                        <a:uFillTx/>
                        <a:latin typeface="Arial" panose="020B0604020202020204" pitchFamily="34" charset="0"/>
                        <a:ea typeface="汉仪旗黑-50S" panose="00020600040101010101" charset="-122"/>
                      </a:endParaRPr>
                    </a:p>
                  </a:txBody>
                  <a:tcPr marL="88900" marR="88900" marT="47625" marB="4762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r>
            </a:tbl>
          </a:graphicData>
        </a:graphic>
      </p:graphicFrame>
      <p:sp>
        <p:nvSpPr>
          <p:cNvPr id="30" name="文本框 29"/>
          <p:cNvSpPr txBox="1"/>
          <p:nvPr/>
        </p:nvSpPr>
        <p:spPr>
          <a:xfrm>
            <a:off x="1381760" y="5451475"/>
            <a:ext cx="9464675" cy="645160"/>
          </a:xfrm>
          <a:prstGeom prst="rect">
            <a:avLst/>
          </a:prstGeom>
          <a:noFill/>
        </p:spPr>
        <p:txBody>
          <a:bodyPr wrap="square" rtlCol="0">
            <a:spAutoFit/>
          </a:bodyPr>
          <a:p>
            <a:r>
              <a:rPr lang="zh-CN" altLang="en-US"/>
              <a:t>多源融合的优势：信息互补：</a:t>
            </a:r>
            <a:r>
              <a:rPr lang="en-US" altLang="zh-CN"/>
              <a:t>HSI</a:t>
            </a:r>
            <a:r>
              <a:rPr lang="zh-CN" altLang="en-US"/>
              <a:t>负责材质识别，</a:t>
            </a:r>
            <a:r>
              <a:rPr lang="en-US" altLang="zh-CN"/>
              <a:t>LiDAR</a:t>
            </a:r>
            <a:r>
              <a:rPr lang="zh-CN" altLang="en-US"/>
              <a:t>、</a:t>
            </a:r>
            <a:r>
              <a:rPr lang="en-US" altLang="zh-CN">
                <a:sym typeface="+mn-ea"/>
              </a:rPr>
              <a:t>SAR</a:t>
            </a:r>
            <a:r>
              <a:rPr lang="zh-CN" altLang="en-US"/>
              <a:t>提供精准地形结构，补充地表粗糙度信息。能够</a:t>
            </a:r>
            <a:r>
              <a:rPr lang="zh-CN" altLang="en-US"/>
              <a:t>支持在不同天气、不同时间下工作，实现全天候监测。</a:t>
            </a: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382484" y="603183"/>
            <a:ext cx="3427031" cy="521970"/>
          </a:xfrm>
          <a:prstGeom prst="rect">
            <a:avLst/>
          </a:prstGeom>
          <a:noFill/>
        </p:spPr>
        <p:txBody>
          <a:bodyPr wrap="square" rtlCol="0">
            <a:spAutoFit/>
          </a:bodyPr>
          <a:lstStyle/>
          <a:p>
            <a:pPr algn="ctr"/>
            <a:r>
              <a:rPr kumimoji="1" lang="en-US" altLang="zh-CN" sz="2800" b="1" dirty="0">
                <a:solidFill>
                  <a:schemeClr val="accent1"/>
                </a:solidFill>
                <a:latin typeface="+mj-ea"/>
                <a:ea typeface="+mj-ea"/>
              </a:rPr>
              <a:t>T</a:t>
            </a:r>
            <a:r>
              <a:rPr kumimoji="1" lang="en-US" altLang="zh-CN" sz="2800" b="1" dirty="0">
                <a:solidFill>
                  <a:schemeClr val="accent1"/>
                </a:solidFill>
                <a:latin typeface="+mj-ea"/>
                <a:ea typeface="+mj-ea"/>
              </a:rPr>
              <a:t>ask</a:t>
            </a:r>
            <a:endParaRPr kumimoji="1" lang="en-US" altLang="zh-CN" sz="2800" b="1" dirty="0">
              <a:solidFill>
                <a:schemeClr val="accent1"/>
              </a:solidFill>
              <a:latin typeface="+mj-ea"/>
              <a:ea typeface="+mj-ea"/>
            </a:endParaRPr>
          </a:p>
        </p:txBody>
      </p:sp>
      <p:sp>
        <p:nvSpPr>
          <p:cNvPr id="2" name="文本框 1"/>
          <p:cNvSpPr txBox="1"/>
          <p:nvPr/>
        </p:nvSpPr>
        <p:spPr>
          <a:xfrm>
            <a:off x="1781810" y="1961515"/>
            <a:ext cx="8487410" cy="3145790"/>
          </a:xfrm>
          <a:prstGeom prst="rect">
            <a:avLst/>
          </a:prstGeom>
          <a:noFill/>
        </p:spPr>
        <p:txBody>
          <a:bodyPr wrap="square" rtlCol="0">
            <a:noAutofit/>
          </a:bodyPr>
          <a:p>
            <a:r>
              <a:rPr lang="zh-CN" altLang="en-US"/>
              <a:t>共同点：</a:t>
            </a:r>
            <a:r>
              <a:rPr lang="zh-CN" altLang="en-US"/>
              <a:t>本文和常规遥感像素级分类任务都通过对图像进行逐像素分类，为每个像素分配一个类别标签。</a:t>
            </a:r>
            <a:endParaRPr lang="zh-CN" altLang="en-US"/>
          </a:p>
          <a:p>
            <a:endParaRPr lang="zh-CN" altLang="en-US"/>
          </a:p>
          <a:p>
            <a:endParaRPr lang="zh-CN" altLang="en-US"/>
          </a:p>
          <a:p>
            <a:r>
              <a:rPr lang="zh-CN" altLang="en-US"/>
              <a:t>不同点</a:t>
            </a:r>
            <a:r>
              <a:rPr lang="en-US" altLang="zh-CN"/>
              <a:t>:</a:t>
            </a:r>
            <a:endParaRPr lang="en-US" altLang="zh-CN"/>
          </a:p>
          <a:p>
            <a:r>
              <a:rPr lang="en-US" altLang="zh-CN"/>
              <a:t>1.</a:t>
            </a:r>
            <a:r>
              <a:rPr lang="zh-CN" altLang="en-US"/>
              <a:t>常规像素级分类方法通常使用</a:t>
            </a:r>
            <a:r>
              <a:rPr lang="en-US" altLang="zh-CN"/>
              <a:t>CNN</a:t>
            </a:r>
            <a:r>
              <a:rPr lang="zh-CN" altLang="en-US"/>
              <a:t>等方法进行像素级分类，而</a:t>
            </a:r>
            <a:r>
              <a:rPr lang="zh-CN" altLang="en-US"/>
              <a:t>本文引入了</a:t>
            </a:r>
            <a:r>
              <a:rPr lang="en-US" altLang="zh-CN"/>
              <a:t>Mamba</a:t>
            </a:r>
            <a:r>
              <a:rPr lang="zh-CN" altLang="en-US"/>
              <a:t>模型。</a:t>
            </a:r>
            <a:endParaRPr lang="zh-CN" altLang="en-US"/>
          </a:p>
          <a:p>
            <a:endParaRPr lang="zh-CN" altLang="en-US"/>
          </a:p>
          <a:p>
            <a:r>
              <a:rPr lang="en-US" altLang="zh-CN"/>
              <a:t>2.</a:t>
            </a:r>
            <a:r>
              <a:rPr lang="zh-CN" altLang="en-US"/>
              <a:t>本文引入高光谱和激光雷</a:t>
            </a:r>
            <a:r>
              <a:rPr lang="zh-CN" altLang="en-US"/>
              <a:t>达等多源数据进行融合，结合了光谱信息和空间几何信息，相比常规像素级分类只使用单一数据源，显著提升了模型的准确性。</a:t>
            </a:r>
            <a:endParaRPr lang="zh-CN" altLang="en-US"/>
          </a:p>
          <a:p>
            <a:endParaRPr lang="zh-CN" altLang="en-US"/>
          </a:p>
          <a:p>
            <a:endParaRPr lang="zh-CN" altLang="en-US"/>
          </a:p>
          <a:p>
            <a:endParaRPr lang="zh-CN" altLang="en-US"/>
          </a:p>
          <a:p>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382484" y="603183"/>
            <a:ext cx="3427031" cy="521970"/>
          </a:xfrm>
          <a:prstGeom prst="rect">
            <a:avLst/>
          </a:prstGeom>
          <a:noFill/>
        </p:spPr>
        <p:txBody>
          <a:bodyPr wrap="square" rtlCol="0">
            <a:spAutoFit/>
          </a:bodyPr>
          <a:lstStyle/>
          <a:p>
            <a:pPr algn="ctr"/>
            <a:r>
              <a:rPr kumimoji="1" lang="en-US" altLang="zh-CN" sz="2800" b="1" dirty="0">
                <a:solidFill>
                  <a:schemeClr val="accent1"/>
                </a:solidFill>
                <a:latin typeface="+mj-ea"/>
                <a:ea typeface="+mj-ea"/>
              </a:rPr>
              <a:t>M</a:t>
            </a:r>
            <a:r>
              <a:rPr kumimoji="1" lang="en-US" altLang="zh-CN" sz="2800" b="1" dirty="0">
                <a:solidFill>
                  <a:schemeClr val="accent1"/>
                </a:solidFill>
                <a:latin typeface="+mj-ea"/>
                <a:ea typeface="+mj-ea"/>
              </a:rPr>
              <a:t>otivation</a:t>
            </a:r>
            <a:endParaRPr kumimoji="1" lang="en-US" altLang="zh-CN" sz="2800" b="1" dirty="0">
              <a:solidFill>
                <a:schemeClr val="accent1"/>
              </a:solidFill>
              <a:latin typeface="+mj-ea"/>
              <a:ea typeface="+mj-ea"/>
            </a:endParaRPr>
          </a:p>
        </p:txBody>
      </p:sp>
      <p:sp>
        <p:nvSpPr>
          <p:cNvPr id="2" name="文本框 1"/>
          <p:cNvSpPr txBox="1"/>
          <p:nvPr/>
        </p:nvSpPr>
        <p:spPr>
          <a:xfrm>
            <a:off x="2075180" y="1507490"/>
            <a:ext cx="8160385" cy="1920875"/>
          </a:xfrm>
          <a:prstGeom prst="rect">
            <a:avLst/>
          </a:prstGeom>
          <a:noFill/>
        </p:spPr>
        <p:txBody>
          <a:bodyPr wrap="square" rtlCol="0">
            <a:noAutofit/>
          </a:bodyPr>
          <a:p>
            <a:r>
              <a:rPr lang="zh-CN" altLang="en-US"/>
              <a:t>长距离依赖难捕捉：</a:t>
            </a:r>
            <a:r>
              <a:rPr lang="en-US" altLang="zh-CN"/>
              <a:t>CNN </a:t>
            </a:r>
            <a:r>
              <a:rPr lang="zh-CN" altLang="en-US"/>
              <a:t>只能看局部区域，</a:t>
            </a:r>
            <a:r>
              <a:rPr lang="en-US" altLang="zh-CN"/>
              <a:t>Transformer </a:t>
            </a:r>
            <a:r>
              <a:rPr lang="zh-CN" altLang="en-US"/>
              <a:t>虽能建模全局关系但计算复杂度太高（</a:t>
            </a:r>
            <a:r>
              <a:rPr lang="en-US" altLang="zh-CN"/>
              <a:t>O(n</a:t>
            </a:r>
            <a:r>
              <a:rPr lang="en-US" altLang="en-US"/>
              <a:t>²</a:t>
            </a:r>
            <a:r>
              <a:rPr lang="en-US" altLang="zh-CN"/>
              <a:t>)</a:t>
            </a:r>
            <a:r>
              <a:rPr lang="zh-CN" altLang="en-US"/>
              <a:t>）。而</a:t>
            </a:r>
            <a:r>
              <a:rPr lang="en-US" altLang="zh-CN"/>
              <a:t>Mamba</a:t>
            </a:r>
            <a:r>
              <a:rPr lang="zh-CN" altLang="en-US"/>
              <a:t>在保证全局建模的同时有较低的时间</a:t>
            </a:r>
            <a:r>
              <a:rPr lang="zh-CN" altLang="en-US"/>
              <a:t>复杂度。</a:t>
            </a:r>
            <a:endParaRPr lang="zh-CN" altLang="en-US"/>
          </a:p>
          <a:p>
            <a:endParaRPr lang="zh-CN" altLang="en-US"/>
          </a:p>
          <a:p>
            <a:r>
              <a:rPr lang="zh-CN" altLang="en-US"/>
              <a:t>在传统的遥感图像分类中，使用单一的数据源会面临信息不足的问题。多源数据会信息互补提高分类</a:t>
            </a:r>
            <a:r>
              <a:rPr lang="zh-CN" altLang="en-US"/>
              <a:t>准确率。</a:t>
            </a:r>
            <a:endParaRPr lang="zh-CN" altLang="en-US"/>
          </a:p>
          <a:p>
            <a:endParaRPr lang="zh-CN" altLang="en-US"/>
          </a:p>
          <a:p>
            <a:r>
              <a:rPr lang="zh-CN" altLang="en-US"/>
              <a:t>由于光谱不同通道之间可能有较大的关联性，会有较多信息冗余。且</a:t>
            </a:r>
            <a:r>
              <a:rPr lang="en-US" altLang="zh-CN"/>
              <a:t>SSM</a:t>
            </a:r>
            <a:r>
              <a:rPr lang="zh-CN" altLang="en-US"/>
              <a:t>的多扫描策略想要确保图像每个部分与其他部分都建立联系，会产生很多的</a:t>
            </a:r>
            <a:r>
              <a:rPr lang="zh-CN" altLang="en-US"/>
              <a:t>信息冗余。</a:t>
            </a:r>
            <a:endParaRPr lang="zh-CN" altLang="en-US"/>
          </a:p>
          <a:p>
            <a:endParaRPr lang="zh-CN" altLang="en-US"/>
          </a:p>
          <a:p>
            <a:endParaRPr lang="zh-CN" altLang="en-US"/>
          </a:p>
          <a:p>
            <a:endParaRPr lang="zh-CN" altLang="en-US"/>
          </a:p>
        </p:txBody>
      </p:sp>
      <p:graphicFrame>
        <p:nvGraphicFramePr>
          <p:cNvPr id="3" name="表格 2"/>
          <p:cNvGraphicFramePr/>
          <p:nvPr/>
        </p:nvGraphicFramePr>
        <p:xfrm>
          <a:off x="2009140" y="3936365"/>
          <a:ext cx="8533765" cy="1524000"/>
        </p:xfrm>
        <a:graphic>
          <a:graphicData uri="http://schemas.openxmlformats.org/drawingml/2006/table">
            <a:tbl>
              <a:tblPr firstRow="1" bandRow="1">
                <a:tableStyleId>{5C22544A-7EE6-4342-B048-85BDC9FD1C3A}</a:tableStyleId>
              </a:tblPr>
              <a:tblGrid>
                <a:gridCol w="4266565"/>
                <a:gridCol w="4266565"/>
              </a:tblGrid>
              <a:tr h="381000">
                <a:tc>
                  <a:txBody>
                    <a:bodyPr/>
                    <a:p>
                      <a:pPr>
                        <a:buNone/>
                      </a:pPr>
                      <a:r>
                        <a:rPr lang="en-US" altLang="zh-CN"/>
                        <a:t>challenge</a:t>
                      </a:r>
                      <a:endParaRPr lang="en-US" altLang="zh-CN"/>
                    </a:p>
                  </a:txBody>
                  <a:tcPr/>
                </a:tc>
                <a:tc>
                  <a:txBody>
                    <a:bodyPr/>
                    <a:p>
                      <a:pPr>
                        <a:buNone/>
                      </a:pPr>
                      <a:r>
                        <a:rPr lang="en-US" altLang="zh-CN"/>
                        <a:t>novelty</a:t>
                      </a:r>
                      <a:endParaRPr lang="en-US" altLang="zh-CN"/>
                    </a:p>
                  </a:txBody>
                  <a:tcPr/>
                </a:tc>
              </a:tr>
              <a:tr h="381000">
                <a:tc>
                  <a:txBody>
                    <a:bodyPr/>
                    <a:p>
                      <a:pPr>
                        <a:buNone/>
                      </a:pPr>
                      <a:r>
                        <a:rPr lang="zh-CN" altLang="en-US"/>
                        <a:t>长依赖建模难或复杂度</a:t>
                      </a:r>
                      <a:r>
                        <a:rPr lang="zh-CN" altLang="en-US"/>
                        <a:t>高</a:t>
                      </a:r>
                      <a:endParaRPr lang="zh-CN" altLang="en-US"/>
                    </a:p>
                  </a:txBody>
                  <a:tcPr/>
                </a:tc>
                <a:tc>
                  <a:txBody>
                    <a:bodyPr/>
                    <a:p>
                      <a:pPr>
                        <a:buNone/>
                      </a:pPr>
                      <a:r>
                        <a:rPr lang="zh-CN" altLang="en-US"/>
                        <a:t>利用</a:t>
                      </a:r>
                      <a:r>
                        <a:rPr lang="en-US" altLang="zh-CN"/>
                        <a:t>Mamba</a:t>
                      </a:r>
                      <a:r>
                        <a:rPr lang="zh-CN" altLang="en-US"/>
                        <a:t>替代</a:t>
                      </a:r>
                      <a:r>
                        <a:rPr lang="en-US" altLang="zh-CN"/>
                        <a:t>Transformer,</a:t>
                      </a:r>
                      <a:r>
                        <a:rPr lang="zh-CN" altLang="en-US"/>
                        <a:t>线性复杂度全局</a:t>
                      </a:r>
                      <a:r>
                        <a:rPr lang="zh-CN" altLang="en-US"/>
                        <a:t>建模。</a:t>
                      </a:r>
                      <a:endParaRPr lang="zh-CN" altLang="en-US"/>
                    </a:p>
                  </a:txBody>
                  <a:tcPr/>
                </a:tc>
              </a:tr>
              <a:tr h="381000">
                <a:tc>
                  <a:txBody>
                    <a:bodyPr/>
                    <a:p>
                      <a:pPr>
                        <a:buNone/>
                      </a:pPr>
                      <a:r>
                        <a:rPr lang="zh-CN" altLang="en-US"/>
                        <a:t>数据融合</a:t>
                      </a:r>
                      <a:r>
                        <a:rPr lang="zh-CN" altLang="en-US"/>
                        <a:t>困难</a:t>
                      </a:r>
                      <a:endParaRPr lang="zh-CN" altLang="en-US"/>
                    </a:p>
                  </a:txBody>
                  <a:tcPr/>
                </a:tc>
                <a:tc>
                  <a:txBody>
                    <a:bodyPr/>
                    <a:p>
                      <a:pPr>
                        <a:buNone/>
                      </a:pPr>
                      <a:r>
                        <a:rPr lang="zh-CN" altLang="en-US"/>
                        <a:t>设计</a:t>
                      </a:r>
                      <a:r>
                        <a:rPr lang="en-US" altLang="zh-CN"/>
                        <a:t>Fus-Mamba</a:t>
                      </a:r>
                      <a:r>
                        <a:rPr lang="zh-CN" altLang="en-US"/>
                        <a:t>模块融合</a:t>
                      </a:r>
                      <a:r>
                        <a:rPr lang="zh-CN" altLang="en-US"/>
                        <a:t>数据，实现空间与光谱特征信息</a:t>
                      </a:r>
                      <a:r>
                        <a:rPr lang="zh-CN" altLang="en-US"/>
                        <a:t>互补。</a:t>
                      </a:r>
                      <a:endParaRPr lang="zh-CN" altLang="en-US"/>
                    </a:p>
                  </a:txBody>
                  <a:tcPr/>
                </a:tc>
              </a:tr>
              <a:tr h="381000">
                <a:tc>
                  <a:txBody>
                    <a:bodyPr/>
                    <a:p>
                      <a:pPr>
                        <a:buNone/>
                      </a:pPr>
                      <a:r>
                        <a:rPr lang="zh-CN" altLang="en-US" sz="1800">
                          <a:sym typeface="+mn-ea"/>
                        </a:rPr>
                        <a:t>特征维度高、信息冗余</a:t>
                      </a:r>
                      <a:endParaRPr lang="zh-CN" altLang="en-US" sz="1800"/>
                    </a:p>
                    <a:p>
                      <a:pPr>
                        <a:buNone/>
                      </a:pPr>
                      <a:endParaRPr lang="zh-CN" altLang="en-US"/>
                    </a:p>
                  </a:txBody>
                  <a:tcPr/>
                </a:tc>
                <a:tc>
                  <a:txBody>
                    <a:bodyPr/>
                    <a:p>
                      <a:pPr>
                        <a:buNone/>
                      </a:pPr>
                      <a:r>
                        <a:rPr lang="zh-CN" altLang="en-US" sz="1800">
                          <a:sym typeface="+mn-ea"/>
                        </a:rPr>
                        <a:t>使用</a:t>
                      </a:r>
                      <a:r>
                        <a:rPr lang="en-US" altLang="zh-CN" sz="1800">
                          <a:sym typeface="+mn-ea"/>
                        </a:rPr>
                        <a:t>Spe-Mamba</a:t>
                      </a:r>
                      <a:r>
                        <a:rPr lang="zh-CN" altLang="en-US" sz="1800">
                          <a:sym typeface="+mn-ea"/>
                        </a:rPr>
                        <a:t>对光谱进行状态建模，代替简单降维。多尺度，</a:t>
                      </a:r>
                      <a:r>
                        <a:rPr lang="zh-CN" altLang="en-US" sz="1800">
                          <a:sym typeface="+mn-ea"/>
                        </a:rPr>
                        <a:t>减少扫描</a:t>
                      </a:r>
                      <a:r>
                        <a:rPr lang="zh-CN" altLang="en-US" sz="1800">
                          <a:sym typeface="+mn-ea"/>
                        </a:rPr>
                        <a:t>策略</a:t>
                      </a:r>
                      <a:endParaRPr lang="zh-CN" altLang="en-US" sz="1800">
                        <a:sym typeface="+mn-ea"/>
                      </a:endParaRPr>
                    </a:p>
                  </a:txBody>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382484" y="603183"/>
            <a:ext cx="3427031" cy="521970"/>
          </a:xfrm>
          <a:prstGeom prst="rect">
            <a:avLst/>
          </a:prstGeom>
          <a:noFill/>
        </p:spPr>
        <p:txBody>
          <a:bodyPr wrap="square" rtlCol="0">
            <a:spAutoFit/>
          </a:bodyPr>
          <a:lstStyle/>
          <a:p>
            <a:pPr algn="ctr"/>
            <a:r>
              <a:rPr kumimoji="1" lang="en-US" altLang="zh-CN" sz="2800" b="1" dirty="0">
                <a:solidFill>
                  <a:schemeClr val="accent1"/>
                </a:solidFill>
                <a:latin typeface="+mj-ea"/>
                <a:ea typeface="+mj-ea"/>
              </a:rPr>
              <a:t>SSM</a:t>
            </a:r>
            <a:endParaRPr kumimoji="1" lang="en-US" altLang="zh-CN" sz="2800" b="1" dirty="0">
              <a:solidFill>
                <a:schemeClr val="accent1"/>
              </a:solidFill>
              <a:latin typeface="+mj-ea"/>
              <a:ea typeface="+mj-ea"/>
            </a:endParaRPr>
          </a:p>
        </p:txBody>
      </p:sp>
      <p:sp>
        <p:nvSpPr>
          <p:cNvPr id="2" name="文本框 1"/>
          <p:cNvSpPr txBox="1"/>
          <p:nvPr/>
        </p:nvSpPr>
        <p:spPr>
          <a:xfrm>
            <a:off x="833120" y="1504315"/>
            <a:ext cx="5262880" cy="922020"/>
          </a:xfrm>
          <a:prstGeom prst="rect">
            <a:avLst/>
          </a:prstGeom>
          <a:noFill/>
        </p:spPr>
        <p:txBody>
          <a:bodyPr wrap="square" rtlCol="0">
            <a:spAutoFit/>
          </a:bodyPr>
          <a:p>
            <a:r>
              <a:rPr lang="zh-CN" altLang="en-US"/>
              <a:t>状态空间模型在计算和存储方面的复杂度是与输入序列的长度呈线性关系的。随着输入序列变长，状态空间模型的效率比</a:t>
            </a:r>
            <a:r>
              <a:rPr lang="en-US" altLang="zh-CN"/>
              <a:t> Transformer </a:t>
            </a:r>
            <a:r>
              <a:rPr lang="zh-CN" altLang="en-US"/>
              <a:t>更高。</a:t>
            </a:r>
            <a:endParaRPr lang="zh-CN" altLang="en-US"/>
          </a:p>
        </p:txBody>
      </p:sp>
      <p:pic>
        <p:nvPicPr>
          <p:cNvPr id="4" name="图片 3"/>
          <p:cNvPicPr>
            <a:picLocks noChangeAspect="1"/>
          </p:cNvPicPr>
          <p:nvPr/>
        </p:nvPicPr>
        <p:blipFill>
          <a:blip r:embed="rId1"/>
          <a:stretch>
            <a:fillRect/>
          </a:stretch>
        </p:blipFill>
        <p:spPr>
          <a:xfrm>
            <a:off x="2020570" y="3035935"/>
            <a:ext cx="2362200" cy="830580"/>
          </a:xfrm>
          <a:prstGeom prst="rect">
            <a:avLst/>
          </a:prstGeom>
        </p:spPr>
      </p:pic>
      <p:sp>
        <p:nvSpPr>
          <p:cNvPr id="5" name="文本框 4"/>
          <p:cNvSpPr txBox="1"/>
          <p:nvPr/>
        </p:nvSpPr>
        <p:spPr>
          <a:xfrm>
            <a:off x="6892925" y="2377440"/>
            <a:ext cx="4064000" cy="3969385"/>
          </a:xfrm>
          <a:prstGeom prst="rect">
            <a:avLst/>
          </a:prstGeom>
          <a:noFill/>
        </p:spPr>
        <p:txBody>
          <a:bodyPr wrap="square" rtlCol="0">
            <a:spAutoFit/>
          </a:bodyPr>
          <a:p>
            <a:r>
              <a:rPr lang="en-US" altLang="zh-CN"/>
              <a:t>h(t)</a:t>
            </a:r>
            <a:r>
              <a:rPr lang="zh-CN" altLang="en-US"/>
              <a:t>是系统的状态，表示当前的内部信息。</a:t>
            </a:r>
            <a:endParaRPr lang="zh-CN" altLang="en-US"/>
          </a:p>
          <a:p>
            <a:r>
              <a:rPr lang="en-US" altLang="zh-CN"/>
              <a:t>x(t) </a:t>
            </a:r>
            <a:r>
              <a:rPr lang="zh-CN" altLang="en-US"/>
              <a:t>是输入序列，表示外部输入的信息。</a:t>
            </a:r>
            <a:endParaRPr lang="zh-CN" altLang="en-US"/>
          </a:p>
          <a:p>
            <a:r>
              <a:rPr lang="en-US" altLang="zh-CN"/>
              <a:t>A </a:t>
            </a:r>
            <a:r>
              <a:rPr lang="zh-CN" altLang="en-US"/>
              <a:t>是状态转移矩阵，控制状态如何随时间变化。</a:t>
            </a:r>
            <a:endParaRPr lang="zh-CN" altLang="en-US"/>
          </a:p>
          <a:p>
            <a:r>
              <a:rPr lang="en-US" altLang="zh-CN"/>
              <a:t>B </a:t>
            </a:r>
            <a:r>
              <a:rPr lang="zh-CN" altLang="en-US"/>
              <a:t>是控制矩阵，描述输入对状态的影响。</a:t>
            </a:r>
            <a:endParaRPr lang="zh-CN" altLang="en-US"/>
          </a:p>
          <a:p>
            <a:r>
              <a:rPr lang="en-US" altLang="zh-CN"/>
              <a:t>C</a:t>
            </a:r>
            <a:r>
              <a:rPr lang="zh-CN" altLang="en-US"/>
              <a:t>是输出矩阵，描述状态对输出的影响。</a:t>
            </a:r>
            <a:endParaRPr lang="zh-CN" altLang="en-US"/>
          </a:p>
          <a:p>
            <a:r>
              <a:rPr lang="en-US" altLang="zh-CN"/>
              <a:t>D </a:t>
            </a:r>
            <a:r>
              <a:rPr lang="zh-CN" altLang="en-US"/>
              <a:t>是直接影响矩阵，表示输入直接对输出的影响。</a:t>
            </a:r>
            <a:endParaRPr lang="zh-CN" altLang="en-US"/>
          </a:p>
          <a:p>
            <a:endParaRPr lang="zh-CN" altLang="en-US"/>
          </a:p>
          <a:p>
            <a:r>
              <a:rPr lang="zh-CN" altLang="en-US"/>
              <a:t>这四个矩阵（</a:t>
            </a:r>
            <a:r>
              <a:rPr lang="en-US" altLang="zh-CN"/>
              <a:t>A, B, C, D</a:t>
            </a:r>
            <a:r>
              <a:rPr lang="zh-CN" altLang="en-US"/>
              <a:t>）是可学习的参数</a:t>
            </a:r>
            <a:endParaRPr lang="zh-CN" altLang="en-US"/>
          </a:p>
        </p:txBody>
      </p:sp>
      <p:pic>
        <p:nvPicPr>
          <p:cNvPr id="9" name="图片 8"/>
          <p:cNvPicPr/>
          <p:nvPr/>
        </p:nvPicPr>
        <p:blipFill>
          <a:blip r:embed="rId2"/>
          <a:stretch>
            <a:fillRect/>
          </a:stretch>
        </p:blipFill>
        <p:spPr>
          <a:xfrm>
            <a:off x="832803" y="4199573"/>
            <a:ext cx="4867275" cy="21240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382484" y="603183"/>
            <a:ext cx="3427031" cy="521970"/>
          </a:xfrm>
          <a:prstGeom prst="rect">
            <a:avLst/>
          </a:prstGeom>
          <a:noFill/>
        </p:spPr>
        <p:txBody>
          <a:bodyPr wrap="square" rtlCol="0">
            <a:spAutoFit/>
          </a:bodyPr>
          <a:lstStyle/>
          <a:p>
            <a:pPr algn="ctr"/>
            <a:r>
              <a:rPr kumimoji="1" lang="en-US" altLang="zh-CN" sz="2800" b="1" dirty="0">
                <a:solidFill>
                  <a:schemeClr val="accent1"/>
                </a:solidFill>
                <a:latin typeface="+mj-ea"/>
                <a:ea typeface="+mj-ea"/>
              </a:rPr>
              <a:t>SSM</a:t>
            </a:r>
            <a:endParaRPr kumimoji="1" lang="en-US" altLang="zh-CN" sz="2800" b="1" dirty="0">
              <a:solidFill>
                <a:schemeClr val="accent1"/>
              </a:solidFill>
              <a:latin typeface="+mj-ea"/>
              <a:ea typeface="+mj-ea"/>
            </a:endParaRPr>
          </a:p>
        </p:txBody>
      </p:sp>
      <p:sp>
        <p:nvSpPr>
          <p:cNvPr id="2" name="文本框 1"/>
          <p:cNvSpPr txBox="1"/>
          <p:nvPr/>
        </p:nvSpPr>
        <p:spPr>
          <a:xfrm>
            <a:off x="833120" y="1504315"/>
            <a:ext cx="5262880" cy="922020"/>
          </a:xfrm>
          <a:prstGeom prst="rect">
            <a:avLst/>
          </a:prstGeom>
          <a:noFill/>
        </p:spPr>
        <p:txBody>
          <a:bodyPr wrap="square" rtlCol="0">
            <a:spAutoFit/>
          </a:bodyPr>
          <a:p>
            <a:r>
              <a:rPr lang="zh-CN" altLang="en-US"/>
              <a:t>状态空间模型在计算和存储方面的复杂度是与输入序列的长度呈线性关系的。随着输入序列变长，状态空间模型的效率比</a:t>
            </a:r>
            <a:r>
              <a:rPr lang="en-US" altLang="zh-CN"/>
              <a:t> Transformer </a:t>
            </a:r>
            <a:r>
              <a:rPr lang="zh-CN" altLang="en-US"/>
              <a:t>更高。</a:t>
            </a:r>
            <a:endParaRPr lang="zh-CN" altLang="en-US"/>
          </a:p>
        </p:txBody>
      </p:sp>
      <p:pic>
        <p:nvPicPr>
          <p:cNvPr id="4" name="图片 3"/>
          <p:cNvPicPr>
            <a:picLocks noChangeAspect="1"/>
          </p:cNvPicPr>
          <p:nvPr/>
        </p:nvPicPr>
        <p:blipFill>
          <a:blip r:embed="rId1"/>
          <a:stretch>
            <a:fillRect/>
          </a:stretch>
        </p:blipFill>
        <p:spPr>
          <a:xfrm>
            <a:off x="2020570" y="3035935"/>
            <a:ext cx="2362200" cy="830580"/>
          </a:xfrm>
          <a:prstGeom prst="rect">
            <a:avLst/>
          </a:prstGeom>
        </p:spPr>
      </p:pic>
      <p:sp>
        <p:nvSpPr>
          <p:cNvPr id="5" name="文本框 4"/>
          <p:cNvSpPr txBox="1"/>
          <p:nvPr/>
        </p:nvSpPr>
        <p:spPr>
          <a:xfrm>
            <a:off x="6892925" y="2377440"/>
            <a:ext cx="4064000" cy="2584450"/>
          </a:xfrm>
          <a:prstGeom prst="rect">
            <a:avLst/>
          </a:prstGeom>
          <a:noFill/>
        </p:spPr>
        <p:txBody>
          <a:bodyPr wrap="square" rtlCol="0">
            <a:spAutoFit/>
          </a:bodyPr>
          <a:p>
            <a:r>
              <a:rPr lang="en-US" altLang="zh-CN"/>
              <a:t>h’(t)</a:t>
            </a:r>
            <a:r>
              <a:rPr lang="zh-CN" altLang="en-US"/>
              <a:t>是下一步的状态，下一步的状态由当前状态</a:t>
            </a:r>
            <a:r>
              <a:rPr lang="en-US" altLang="zh-CN"/>
              <a:t>ht</a:t>
            </a:r>
            <a:r>
              <a:rPr lang="zh-CN" altLang="en-US"/>
              <a:t>、输入</a:t>
            </a:r>
            <a:r>
              <a:rPr lang="en-US" altLang="zh-CN"/>
              <a:t>xt</a:t>
            </a:r>
            <a:r>
              <a:rPr lang="zh-CN" altLang="en-US"/>
              <a:t>和状态转移矩阵</a:t>
            </a:r>
            <a:r>
              <a:rPr lang="en-US" altLang="zh-CN"/>
              <a:t>A</a:t>
            </a:r>
            <a:r>
              <a:rPr lang="zh-CN" altLang="en-US"/>
              <a:t>、控制矩阵</a:t>
            </a:r>
            <a:r>
              <a:rPr lang="en-US" altLang="zh-CN"/>
              <a:t>B</a:t>
            </a:r>
            <a:r>
              <a:rPr lang="zh-CN" altLang="en-US"/>
              <a:t>决定</a:t>
            </a:r>
            <a:r>
              <a:rPr lang="zh-CN" altLang="en-US"/>
              <a:t>的。</a:t>
            </a:r>
            <a:endParaRPr lang="zh-CN" altLang="en-US"/>
          </a:p>
          <a:p>
            <a:endParaRPr lang="zh-CN" altLang="en-US"/>
          </a:p>
          <a:p>
            <a:r>
              <a:rPr lang="zh-CN" altLang="en-US"/>
              <a:t>输出</a:t>
            </a:r>
            <a:r>
              <a:rPr lang="en-US" altLang="zh-CN"/>
              <a:t>yt</a:t>
            </a:r>
            <a:r>
              <a:rPr lang="zh-CN" altLang="en-US"/>
              <a:t>是由当前状态</a:t>
            </a:r>
            <a:r>
              <a:rPr lang="en-US" altLang="zh-CN"/>
              <a:t>ht</a:t>
            </a:r>
            <a:r>
              <a:rPr lang="zh-CN" altLang="en-US"/>
              <a:t>、输入</a:t>
            </a:r>
            <a:r>
              <a:rPr lang="en-US" altLang="zh-CN"/>
              <a:t>xt</a:t>
            </a:r>
            <a:r>
              <a:rPr lang="zh-CN" altLang="en-US"/>
              <a:t>和输出矩阵</a:t>
            </a:r>
            <a:r>
              <a:rPr lang="en-US" altLang="zh-CN"/>
              <a:t>C</a:t>
            </a:r>
            <a:r>
              <a:rPr lang="zh-CN" altLang="en-US"/>
              <a:t>、直接影响矩阵</a:t>
            </a:r>
            <a:r>
              <a:rPr lang="en-US" altLang="zh-CN"/>
              <a:t>D</a:t>
            </a:r>
            <a:r>
              <a:rPr lang="zh-CN" altLang="en-US"/>
              <a:t>决定</a:t>
            </a:r>
            <a:r>
              <a:rPr lang="zh-CN" altLang="en-US"/>
              <a:t>的。</a:t>
            </a:r>
            <a:endParaRPr lang="zh-CN" altLang="en-US"/>
          </a:p>
          <a:p>
            <a:endParaRPr lang="zh-CN" altLang="en-US"/>
          </a:p>
          <a:p>
            <a:r>
              <a:rPr lang="zh-CN" altLang="en-US"/>
              <a:t>当前状态</a:t>
            </a:r>
            <a:r>
              <a:rPr lang="en-US" altLang="zh-CN"/>
              <a:t>ht</a:t>
            </a:r>
            <a:r>
              <a:rPr lang="zh-CN" altLang="en-US"/>
              <a:t>作为一个桥梁，连接了所有的参数、下一</a:t>
            </a:r>
            <a:r>
              <a:rPr lang="zh-CN" altLang="en-US"/>
              <a:t>状态和输入、</a:t>
            </a:r>
            <a:r>
              <a:rPr lang="zh-CN" altLang="en-US"/>
              <a:t>输出。</a:t>
            </a:r>
            <a:endParaRPr lang="zh-CN" altLang="en-US"/>
          </a:p>
        </p:txBody>
      </p:sp>
      <p:pic>
        <p:nvPicPr>
          <p:cNvPr id="9" name="图片 8"/>
          <p:cNvPicPr/>
          <p:nvPr/>
        </p:nvPicPr>
        <p:blipFill>
          <a:blip r:embed="rId2"/>
          <a:stretch>
            <a:fillRect/>
          </a:stretch>
        </p:blipFill>
        <p:spPr>
          <a:xfrm>
            <a:off x="832803" y="4199573"/>
            <a:ext cx="4867275" cy="21240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382484" y="603183"/>
            <a:ext cx="3427031" cy="521970"/>
          </a:xfrm>
          <a:prstGeom prst="rect">
            <a:avLst/>
          </a:prstGeom>
          <a:noFill/>
        </p:spPr>
        <p:txBody>
          <a:bodyPr wrap="square" rtlCol="0">
            <a:spAutoFit/>
          </a:bodyPr>
          <a:lstStyle/>
          <a:p>
            <a:pPr algn="ctr"/>
            <a:r>
              <a:rPr kumimoji="1" lang="en-US" altLang="zh-CN" sz="2800" b="1" dirty="0">
                <a:solidFill>
                  <a:schemeClr val="accent1"/>
                </a:solidFill>
                <a:latin typeface="+mj-ea"/>
                <a:ea typeface="+mj-ea"/>
              </a:rPr>
              <a:t>SSM</a:t>
            </a:r>
            <a:endParaRPr kumimoji="1" lang="en-US" altLang="zh-CN" sz="2800" b="1" dirty="0">
              <a:solidFill>
                <a:schemeClr val="accent1"/>
              </a:solidFill>
              <a:latin typeface="+mj-ea"/>
              <a:ea typeface="+mj-ea"/>
            </a:endParaRPr>
          </a:p>
        </p:txBody>
      </p:sp>
      <p:sp>
        <p:nvSpPr>
          <p:cNvPr id="2" name="文本框 1"/>
          <p:cNvSpPr txBox="1"/>
          <p:nvPr/>
        </p:nvSpPr>
        <p:spPr>
          <a:xfrm>
            <a:off x="1216025" y="1807210"/>
            <a:ext cx="4064000" cy="1198880"/>
          </a:xfrm>
          <a:prstGeom prst="rect">
            <a:avLst/>
          </a:prstGeom>
          <a:noFill/>
        </p:spPr>
        <p:txBody>
          <a:bodyPr wrap="square" rtlCol="0">
            <a:spAutoFit/>
          </a:bodyPr>
          <a:p>
            <a:r>
              <a:rPr lang="zh-CN" altLang="en-US"/>
              <a:t>模型把二维图像拆成一个有顺序的一维序列，然后让</a:t>
            </a:r>
            <a:r>
              <a:rPr lang="en-US" altLang="zh-CN"/>
              <a:t> SSM </a:t>
            </a:r>
            <a:r>
              <a:rPr lang="zh-CN" altLang="en-US"/>
              <a:t>在这个序列上逐步传播状态。模拟出一个传播的时间线（</a:t>
            </a:r>
            <a:r>
              <a:rPr lang="en-US" altLang="zh-CN"/>
              <a:t>t</a:t>
            </a:r>
            <a:r>
              <a:rPr lang="zh-CN" altLang="en-US"/>
              <a:t>）。</a:t>
            </a:r>
            <a:endParaRPr lang="en-US" altLang="zh-CN"/>
          </a:p>
        </p:txBody>
      </p:sp>
      <p:sp>
        <p:nvSpPr>
          <p:cNvPr id="3" name="文本框 2"/>
          <p:cNvSpPr txBox="1"/>
          <p:nvPr/>
        </p:nvSpPr>
        <p:spPr>
          <a:xfrm>
            <a:off x="921385" y="3212465"/>
            <a:ext cx="4619625" cy="2861310"/>
          </a:xfrm>
          <a:prstGeom prst="rect">
            <a:avLst/>
          </a:prstGeom>
          <a:noFill/>
        </p:spPr>
        <p:txBody>
          <a:bodyPr wrap="square" rtlCol="0">
            <a:spAutoFit/>
          </a:bodyPr>
          <a:p>
            <a:pPr marL="285750" indent="-285750">
              <a:buFont typeface="Arial" panose="020B0604020202020204" pitchFamily="34" charset="0"/>
              <a:buChar char="•"/>
            </a:pPr>
            <a:r>
              <a:rPr lang="en-US" altLang="zh-CN"/>
              <a:t>step1-</a:t>
            </a:r>
            <a:r>
              <a:rPr lang="zh-CN" altLang="en-US"/>
              <a:t>将图像</a:t>
            </a:r>
            <a:r>
              <a:rPr lang="en-US" altLang="zh-CN"/>
              <a:t>unfold</a:t>
            </a:r>
            <a:r>
              <a:rPr lang="zh-CN" altLang="en-US"/>
              <a:t>多个</a:t>
            </a:r>
            <a:r>
              <a:rPr lang="en-US" altLang="zh-CN"/>
              <a:t>patch</a:t>
            </a:r>
            <a:r>
              <a:rPr lang="zh-CN" altLang="en-US"/>
              <a:t>，每个</a:t>
            </a:r>
            <a:r>
              <a:rPr lang="en-US" altLang="zh-CN"/>
              <a:t>patch</a:t>
            </a:r>
            <a:r>
              <a:rPr lang="zh-CN" altLang="en-US"/>
              <a:t>作为一个时间步（</a:t>
            </a:r>
            <a:r>
              <a:rPr lang="en-US" altLang="zh-CN"/>
              <a:t>t</a:t>
            </a:r>
            <a:r>
              <a:rPr lang="zh-CN" altLang="en-US"/>
              <a:t>）。</a:t>
            </a:r>
            <a:endParaRPr lang="zh-CN" altLang="en-US"/>
          </a:p>
          <a:p>
            <a:pPr marL="285750" indent="-285750">
              <a:buFont typeface="Arial" panose="020B0604020202020204" pitchFamily="34" charset="0"/>
              <a:buChar char="•"/>
            </a:pPr>
            <a:endParaRPr lang="en-US" altLang="zh-CN"/>
          </a:p>
          <a:p>
            <a:pPr marL="285750" indent="-285750">
              <a:buFont typeface="Arial" panose="020B0604020202020204" pitchFamily="34" charset="0"/>
              <a:buChar char="•"/>
            </a:pPr>
            <a:r>
              <a:rPr lang="en-US" altLang="zh-CN"/>
              <a:t>step2-</a:t>
            </a:r>
            <a:r>
              <a:rPr lang="zh-CN" altLang="en-US"/>
              <a:t>把这些</a:t>
            </a:r>
            <a:r>
              <a:rPr lang="en-US" altLang="zh-CN"/>
              <a:t> patch </a:t>
            </a:r>
            <a:r>
              <a:rPr lang="zh-CN" altLang="en-US"/>
              <a:t>按空间顺序排成一维序列。（可以不同</a:t>
            </a:r>
            <a:r>
              <a:rPr lang="zh-CN" altLang="en-US"/>
              <a:t>路径）</a:t>
            </a:r>
            <a:endParaRPr lang="zh-CN" altLang="en-US"/>
          </a:p>
          <a:p>
            <a:pPr marL="285750" indent="-285750">
              <a:buFont typeface="Arial" panose="020B0604020202020204" pitchFamily="34" charset="0"/>
              <a:buChar char="•"/>
            </a:pPr>
            <a:endParaRPr lang="zh-CN" altLang="en-US"/>
          </a:p>
          <a:p>
            <a:pPr marL="285750" indent="-285750">
              <a:buFont typeface="Arial" panose="020B0604020202020204" pitchFamily="34" charset="0"/>
              <a:buChar char="•"/>
            </a:pPr>
            <a:r>
              <a:rPr lang="en-US" altLang="zh-CN"/>
              <a:t>step3-</a:t>
            </a:r>
            <a:r>
              <a:rPr lang="zh-CN" altLang="en-US"/>
              <a:t>模型在空间维度上逐步传播特征，捕捉长距离依赖。</a:t>
            </a:r>
            <a:endParaRPr lang="zh-CN" altLang="en-US"/>
          </a:p>
          <a:p>
            <a:pPr marL="285750" indent="-285750">
              <a:buFont typeface="Arial" panose="020B0604020202020204" pitchFamily="34" charset="0"/>
              <a:buChar char="•"/>
            </a:pPr>
            <a:endParaRPr lang="zh-CN" altLang="en-US"/>
          </a:p>
          <a:p>
            <a:pPr marL="285750" indent="-285750">
              <a:buFont typeface="Arial" panose="020B0604020202020204" pitchFamily="34" charset="0"/>
              <a:buChar char="•"/>
            </a:pPr>
            <a:r>
              <a:rPr lang="en-US" altLang="zh-CN"/>
              <a:t>step4-</a:t>
            </a:r>
            <a:r>
              <a:rPr lang="zh-CN" altLang="en-US"/>
              <a:t>把输出序列重新</a:t>
            </a:r>
            <a:r>
              <a:rPr lang="en-US" altLang="zh-CN"/>
              <a:t>fold</a:t>
            </a:r>
            <a:r>
              <a:rPr lang="zh-CN" altLang="en-US"/>
              <a:t>回图像结构。</a:t>
            </a:r>
            <a:endParaRPr lang="zh-CN" altLang="en-US"/>
          </a:p>
        </p:txBody>
      </p:sp>
      <p:pic>
        <p:nvPicPr>
          <p:cNvPr id="4" name="图片 3"/>
          <p:cNvPicPr>
            <a:picLocks noChangeAspect="1"/>
          </p:cNvPicPr>
          <p:nvPr/>
        </p:nvPicPr>
        <p:blipFill>
          <a:blip r:embed="rId1"/>
          <a:srcRect l="5262"/>
          <a:stretch>
            <a:fillRect/>
          </a:stretch>
        </p:blipFill>
        <p:spPr>
          <a:xfrm>
            <a:off x="6880860" y="3322955"/>
            <a:ext cx="3482340" cy="2390775"/>
          </a:xfrm>
          <a:prstGeom prst="rect">
            <a:avLst/>
          </a:prstGeom>
        </p:spPr>
      </p:pic>
      <p:pic>
        <p:nvPicPr>
          <p:cNvPr id="9" name="图片 8"/>
          <p:cNvPicPr>
            <a:picLocks noChangeAspect="1"/>
          </p:cNvPicPr>
          <p:nvPr/>
        </p:nvPicPr>
        <p:blipFill>
          <a:blip r:embed="rId2"/>
          <a:stretch>
            <a:fillRect/>
          </a:stretch>
        </p:blipFill>
        <p:spPr>
          <a:xfrm>
            <a:off x="6880860" y="1807210"/>
            <a:ext cx="3198495" cy="1179830"/>
          </a:xfrm>
          <a:prstGeom prst="rect">
            <a:avLst/>
          </a:prstGeom>
        </p:spPr>
      </p:pic>
      <p:sp>
        <p:nvSpPr>
          <p:cNvPr id="5" name="文本框 4"/>
          <p:cNvSpPr txBox="1"/>
          <p:nvPr/>
        </p:nvSpPr>
        <p:spPr>
          <a:xfrm>
            <a:off x="6781800" y="5895340"/>
            <a:ext cx="4258945" cy="368300"/>
          </a:xfrm>
          <a:prstGeom prst="rect">
            <a:avLst/>
          </a:prstGeom>
          <a:noFill/>
        </p:spPr>
        <p:txBody>
          <a:bodyPr wrap="square" rtlCol="0">
            <a:spAutoFit/>
          </a:bodyPr>
          <a:p>
            <a:r>
              <a:rPr lang="zh-CN" altLang="en-US"/>
              <a:t>扫描策略越丰富，空间各部分联系</a:t>
            </a:r>
            <a:r>
              <a:rPr lang="zh-CN" altLang="en-US"/>
              <a:t>越好。</a:t>
            </a: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382484" y="603183"/>
            <a:ext cx="3427031" cy="521970"/>
          </a:xfrm>
          <a:prstGeom prst="rect">
            <a:avLst/>
          </a:prstGeom>
          <a:noFill/>
        </p:spPr>
        <p:txBody>
          <a:bodyPr wrap="square" rtlCol="0">
            <a:spAutoFit/>
          </a:bodyPr>
          <a:lstStyle/>
          <a:p>
            <a:pPr algn="ctr"/>
            <a:r>
              <a:rPr kumimoji="1" lang="en-US" altLang="zh-CN" sz="2800" b="1" dirty="0">
                <a:solidFill>
                  <a:schemeClr val="accent1"/>
                </a:solidFill>
                <a:latin typeface="+mj-ea"/>
                <a:ea typeface="+mj-ea"/>
              </a:rPr>
              <a:t>M</a:t>
            </a:r>
            <a:r>
              <a:rPr kumimoji="1" lang="en-US" altLang="zh-CN" sz="2800" b="1" dirty="0">
                <a:solidFill>
                  <a:schemeClr val="accent1"/>
                </a:solidFill>
                <a:latin typeface="+mj-ea"/>
                <a:ea typeface="+mj-ea"/>
              </a:rPr>
              <a:t>amba</a:t>
            </a:r>
            <a:endParaRPr kumimoji="1" lang="en-US" altLang="zh-CN" sz="2800" b="1" dirty="0">
              <a:solidFill>
                <a:schemeClr val="accent1"/>
              </a:solidFill>
              <a:latin typeface="+mj-ea"/>
              <a:ea typeface="+mj-ea"/>
            </a:endParaRPr>
          </a:p>
        </p:txBody>
      </p:sp>
      <p:sp>
        <p:nvSpPr>
          <p:cNvPr id="5" name="文本框 4"/>
          <p:cNvSpPr txBox="1"/>
          <p:nvPr/>
        </p:nvSpPr>
        <p:spPr>
          <a:xfrm>
            <a:off x="2172970" y="2074545"/>
            <a:ext cx="7400290" cy="1198880"/>
          </a:xfrm>
          <a:prstGeom prst="rect">
            <a:avLst/>
          </a:prstGeom>
          <a:noFill/>
        </p:spPr>
        <p:txBody>
          <a:bodyPr wrap="square" rtlCol="0">
            <a:spAutoFit/>
          </a:bodyPr>
          <a:p>
            <a:r>
              <a:rPr lang="zh-CN" altLang="en-US"/>
              <a:t>在</a:t>
            </a:r>
            <a:r>
              <a:rPr lang="en-US" altLang="zh-CN"/>
              <a:t>SSM </a:t>
            </a:r>
            <a:r>
              <a:rPr lang="zh-CN" altLang="en-US"/>
              <a:t>中，参数矩阵是固定的，模型学完一次传播规则后，无论输入什么样的图像都用同一套规则</a:t>
            </a:r>
            <a:r>
              <a:rPr lang="zh-CN" altLang="en-US"/>
              <a:t>参数。</a:t>
            </a:r>
            <a:endParaRPr lang="zh-CN" altLang="en-US"/>
          </a:p>
          <a:p>
            <a:r>
              <a:rPr lang="zh-CN" altLang="en-US"/>
              <a:t>而</a:t>
            </a:r>
            <a:r>
              <a:rPr lang="en-US" altLang="zh-CN"/>
              <a:t> Mamba </a:t>
            </a:r>
            <a:r>
              <a:rPr lang="zh-CN" altLang="en-US"/>
              <a:t>不直接学得参数</a:t>
            </a:r>
            <a:r>
              <a:rPr lang="zh-CN" altLang="en-US"/>
              <a:t>矩阵，而是学会一个生成器，在推理阶段根据输入动态生成传播权重。</a:t>
            </a:r>
            <a:endParaRPr lang="zh-CN" altLang="en-US"/>
          </a:p>
        </p:txBody>
      </p:sp>
      <p:pic>
        <p:nvPicPr>
          <p:cNvPr id="6" name="图片 5"/>
          <p:cNvPicPr>
            <a:picLocks noChangeAspect="1"/>
          </p:cNvPicPr>
          <p:nvPr/>
        </p:nvPicPr>
        <p:blipFill>
          <a:blip r:embed="rId1"/>
          <a:stretch>
            <a:fillRect/>
          </a:stretch>
        </p:blipFill>
        <p:spPr>
          <a:xfrm>
            <a:off x="2316480" y="3594735"/>
            <a:ext cx="2362200" cy="830580"/>
          </a:xfrm>
          <a:prstGeom prst="rect">
            <a:avLst/>
          </a:prstGeom>
        </p:spPr>
      </p:pic>
      <p:sp>
        <p:nvSpPr>
          <p:cNvPr id="8" name="文本框 7"/>
          <p:cNvSpPr txBox="1"/>
          <p:nvPr/>
        </p:nvSpPr>
        <p:spPr>
          <a:xfrm>
            <a:off x="5422900" y="3566795"/>
            <a:ext cx="4064000" cy="922020"/>
          </a:xfrm>
          <a:prstGeom prst="rect">
            <a:avLst/>
          </a:prstGeom>
          <a:noFill/>
        </p:spPr>
        <p:txBody>
          <a:bodyPr wrap="square" rtlCol="0">
            <a:spAutoFit/>
          </a:bodyPr>
          <a:p>
            <a:r>
              <a:rPr lang="en-US" altLang="zh-CN"/>
              <a:t>Mamba</a:t>
            </a:r>
            <a:r>
              <a:rPr lang="zh-CN" altLang="en-US"/>
              <a:t>对于不同输入，通过小型神经网络生成不同的</a:t>
            </a:r>
            <a:r>
              <a:rPr lang="en-US" altLang="zh-CN"/>
              <a:t>A,B,C,D</a:t>
            </a:r>
            <a:r>
              <a:rPr lang="zh-CN" altLang="en-US"/>
              <a:t>参数矩阵，即将</a:t>
            </a:r>
            <a:r>
              <a:rPr lang="en-US" altLang="zh-CN"/>
              <a:t>A--&gt;A(x)</a:t>
            </a:r>
            <a:endParaRPr lang="zh-CN" altLang="en-US"/>
          </a:p>
        </p:txBody>
      </p:sp>
      <p:sp>
        <p:nvSpPr>
          <p:cNvPr id="10" name="文本框 9"/>
          <p:cNvSpPr txBox="1"/>
          <p:nvPr/>
        </p:nvSpPr>
        <p:spPr>
          <a:xfrm>
            <a:off x="3297555" y="1597025"/>
            <a:ext cx="6656070" cy="368300"/>
          </a:xfrm>
          <a:prstGeom prst="rect">
            <a:avLst/>
          </a:prstGeom>
          <a:noFill/>
        </p:spPr>
        <p:txBody>
          <a:bodyPr wrap="square" rtlCol="0">
            <a:spAutoFit/>
          </a:bodyPr>
          <a:p>
            <a:r>
              <a:rPr lang="zh-CN" altLang="en-US"/>
              <a:t>Mamba = 输入驱动的动态状态空间模型（</a:t>
            </a:r>
            <a:r>
              <a:rPr lang="zh-CN" altLang="en-US"/>
              <a:t>Dynamic SSM）</a:t>
            </a:r>
            <a:endParaRPr lang="zh-CN" altLang="en-US"/>
          </a:p>
        </p:txBody>
      </p:sp>
      <p:graphicFrame>
        <p:nvGraphicFramePr>
          <p:cNvPr id="12" name="表格 11"/>
          <p:cNvGraphicFramePr/>
          <p:nvPr/>
        </p:nvGraphicFramePr>
        <p:xfrm>
          <a:off x="1543050" y="4712335"/>
          <a:ext cx="8533765" cy="1524000"/>
        </p:xfrm>
        <a:graphic>
          <a:graphicData uri="http://schemas.openxmlformats.org/drawingml/2006/table">
            <a:tbl>
              <a:tblPr firstRow="1" bandRow="1">
                <a:tableStyleId>{5C22544A-7EE6-4342-B048-85BDC9FD1C3A}</a:tableStyleId>
              </a:tblPr>
              <a:tblGrid>
                <a:gridCol w="2132965"/>
                <a:gridCol w="2132965"/>
                <a:gridCol w="2132965"/>
                <a:gridCol w="2132965"/>
              </a:tblGrid>
              <a:tr h="381000">
                <a:tc>
                  <a:txBody>
                    <a:bodyPr/>
                    <a:p>
                      <a:pPr algn="ctr">
                        <a:buNone/>
                      </a:pPr>
                      <a:r>
                        <a:rPr lang="zh-CN" altLang="en-US"/>
                        <a:t>对比</a:t>
                      </a:r>
                      <a:r>
                        <a:rPr lang="zh-CN" altLang="en-US"/>
                        <a:t>维度</a:t>
                      </a:r>
                      <a:endParaRPr lang="zh-CN" altLang="en-US"/>
                    </a:p>
                  </a:txBody>
                  <a:tcPr/>
                </a:tc>
                <a:tc>
                  <a:txBody>
                    <a:bodyPr/>
                    <a:p>
                      <a:pPr algn="ctr">
                        <a:buNone/>
                      </a:pPr>
                      <a:r>
                        <a:rPr lang="en-US" altLang="zh-CN"/>
                        <a:t>SSM</a:t>
                      </a:r>
                      <a:endParaRPr lang="en-US" altLang="zh-CN"/>
                    </a:p>
                  </a:txBody>
                  <a:tcPr/>
                </a:tc>
                <a:tc>
                  <a:txBody>
                    <a:bodyPr/>
                    <a:p>
                      <a:pPr algn="ctr">
                        <a:buNone/>
                      </a:pPr>
                      <a:r>
                        <a:rPr lang="en-US" altLang="zh-CN"/>
                        <a:t>M</a:t>
                      </a:r>
                      <a:r>
                        <a:rPr lang="en-US" altLang="zh-CN"/>
                        <a:t>amba</a:t>
                      </a:r>
                      <a:endParaRPr lang="en-US" altLang="zh-CN"/>
                    </a:p>
                  </a:txBody>
                  <a:tcPr/>
                </a:tc>
                <a:tc>
                  <a:txBody>
                    <a:bodyPr/>
                    <a:p>
                      <a:pPr algn="ctr">
                        <a:buNone/>
                      </a:pPr>
                      <a:r>
                        <a:rPr lang="zh-CN" altLang="en-US"/>
                        <a:t>提升</a:t>
                      </a:r>
                      <a:endParaRPr lang="zh-CN" altLang="en-US"/>
                    </a:p>
                  </a:txBody>
                  <a:tcPr/>
                </a:tc>
              </a:tr>
              <a:tr h="381000">
                <a:tc>
                  <a:txBody>
                    <a:bodyPr/>
                    <a:p>
                      <a:pPr algn="ctr">
                        <a:buNone/>
                      </a:pPr>
                      <a:r>
                        <a:rPr lang="zh-CN" altLang="en-US"/>
                        <a:t>参数</a:t>
                      </a:r>
                      <a:r>
                        <a:rPr lang="zh-CN" altLang="en-US"/>
                        <a:t>类型</a:t>
                      </a:r>
                      <a:endParaRPr lang="zh-CN" altLang="en-US"/>
                    </a:p>
                  </a:txBody>
                  <a:tcPr/>
                </a:tc>
                <a:tc>
                  <a:txBody>
                    <a:bodyPr/>
                    <a:p>
                      <a:pPr algn="ctr">
                        <a:buNone/>
                      </a:pPr>
                      <a:r>
                        <a:rPr lang="zh-CN" altLang="en-US"/>
                        <a:t>固定可学习</a:t>
                      </a:r>
                      <a:r>
                        <a:rPr lang="zh-CN" altLang="en-US"/>
                        <a:t>矩阵</a:t>
                      </a:r>
                      <a:endParaRPr lang="zh-CN" altLang="en-US"/>
                    </a:p>
                  </a:txBody>
                  <a:tcPr/>
                </a:tc>
                <a:tc>
                  <a:txBody>
                    <a:bodyPr/>
                    <a:p>
                      <a:pPr algn="ctr">
                        <a:buNone/>
                      </a:pPr>
                      <a:r>
                        <a:rPr lang="zh-CN" altLang="en-US"/>
                        <a:t>输入相关</a:t>
                      </a:r>
                      <a:r>
                        <a:rPr lang="zh-CN" altLang="en-US"/>
                        <a:t>函数</a:t>
                      </a:r>
                      <a:endParaRPr lang="zh-CN" altLang="en-US"/>
                    </a:p>
                  </a:txBody>
                  <a:tcPr/>
                </a:tc>
                <a:tc>
                  <a:txBody>
                    <a:bodyPr/>
                    <a:p>
                      <a:pPr algn="ctr">
                        <a:buNone/>
                      </a:pPr>
                      <a:r>
                        <a:rPr lang="zh-CN" altLang="en-US"/>
                        <a:t>动态适应输入</a:t>
                      </a:r>
                      <a:r>
                        <a:rPr lang="zh-CN" altLang="en-US"/>
                        <a:t>变化</a:t>
                      </a:r>
                      <a:endParaRPr lang="zh-CN" altLang="en-US"/>
                    </a:p>
                  </a:txBody>
                  <a:tcPr/>
                </a:tc>
              </a:tr>
              <a:tr h="381000">
                <a:tc>
                  <a:txBody>
                    <a:bodyPr/>
                    <a:p>
                      <a:pPr algn="ctr">
                        <a:buNone/>
                      </a:pPr>
                      <a:r>
                        <a:rPr lang="zh-CN" altLang="en-US"/>
                        <a:t>参数更新</a:t>
                      </a:r>
                      <a:r>
                        <a:rPr lang="zh-CN" altLang="en-US"/>
                        <a:t>位置</a:t>
                      </a:r>
                      <a:endParaRPr lang="zh-CN" altLang="en-US"/>
                    </a:p>
                  </a:txBody>
                  <a:tcPr/>
                </a:tc>
                <a:tc>
                  <a:txBody>
                    <a:bodyPr/>
                    <a:p>
                      <a:pPr algn="ctr">
                        <a:buNone/>
                      </a:pPr>
                      <a:r>
                        <a:rPr lang="zh-CN" altLang="en-US"/>
                        <a:t>训练</a:t>
                      </a:r>
                      <a:r>
                        <a:rPr lang="zh-CN" altLang="en-US"/>
                        <a:t>阶段</a:t>
                      </a:r>
                      <a:endParaRPr lang="zh-CN" altLang="en-US"/>
                    </a:p>
                  </a:txBody>
                  <a:tcPr/>
                </a:tc>
                <a:tc>
                  <a:txBody>
                    <a:bodyPr/>
                    <a:p>
                      <a:pPr algn="ctr">
                        <a:buNone/>
                      </a:pPr>
                      <a:r>
                        <a:rPr lang="zh-CN" altLang="en-US"/>
                        <a:t>推理阶段实时</a:t>
                      </a:r>
                      <a:r>
                        <a:rPr lang="zh-CN" altLang="en-US"/>
                        <a:t>更新</a:t>
                      </a:r>
                      <a:endParaRPr lang="zh-CN" altLang="en-US"/>
                    </a:p>
                  </a:txBody>
                  <a:tcPr/>
                </a:tc>
                <a:tc>
                  <a:txBody>
                    <a:bodyPr/>
                    <a:p>
                      <a:pPr algn="ctr">
                        <a:buNone/>
                      </a:pPr>
                      <a:r>
                        <a:rPr lang="zh-CN" altLang="en-US"/>
                        <a:t>样本自适应</a:t>
                      </a:r>
                      <a:r>
                        <a:rPr lang="zh-CN" altLang="en-US"/>
                        <a:t>传播</a:t>
                      </a:r>
                      <a:endParaRPr lang="zh-CN" altLang="en-US"/>
                    </a:p>
                  </a:txBody>
                  <a:tcPr/>
                </a:tc>
              </a:tr>
              <a:tr h="381000">
                <a:tc>
                  <a:txBody>
                    <a:bodyPr/>
                    <a:p>
                      <a:pPr algn="ctr">
                        <a:buNone/>
                      </a:pPr>
                      <a:r>
                        <a:rPr lang="zh-CN" altLang="en-US"/>
                        <a:t>建模</a:t>
                      </a:r>
                      <a:r>
                        <a:rPr lang="zh-CN" altLang="en-US"/>
                        <a:t>能力</a:t>
                      </a:r>
                      <a:endParaRPr lang="zh-CN" altLang="en-US"/>
                    </a:p>
                  </a:txBody>
                  <a:tcPr/>
                </a:tc>
                <a:tc>
                  <a:txBody>
                    <a:bodyPr/>
                    <a:p>
                      <a:pPr algn="ctr">
                        <a:buNone/>
                      </a:pPr>
                      <a:r>
                        <a:rPr lang="zh-CN" altLang="en-US"/>
                        <a:t>线性</a:t>
                      </a:r>
                      <a:r>
                        <a:rPr lang="zh-CN" altLang="en-US"/>
                        <a:t>时不变</a:t>
                      </a:r>
                      <a:endParaRPr lang="zh-CN" altLang="en-US"/>
                    </a:p>
                  </a:txBody>
                  <a:tcPr/>
                </a:tc>
                <a:tc>
                  <a:txBody>
                    <a:bodyPr/>
                    <a:p>
                      <a:pPr algn="ctr">
                        <a:buNone/>
                      </a:pPr>
                      <a:r>
                        <a:rPr lang="zh-CN" altLang="en-US"/>
                        <a:t>线性时</a:t>
                      </a:r>
                      <a:r>
                        <a:rPr lang="zh-CN" altLang="en-US"/>
                        <a:t>变</a:t>
                      </a:r>
                      <a:endParaRPr lang="zh-CN" altLang="en-US"/>
                    </a:p>
                  </a:txBody>
                  <a:tcPr/>
                </a:tc>
                <a:tc>
                  <a:txBody>
                    <a:bodyPr/>
                    <a:p>
                      <a:pPr algn="ctr">
                        <a:buNone/>
                      </a:pPr>
                      <a:r>
                        <a:rPr lang="zh-CN" altLang="en-US"/>
                        <a:t>适合复杂</a:t>
                      </a:r>
                      <a:r>
                        <a:rPr lang="zh-CN" altLang="en-US"/>
                        <a:t>场景</a:t>
                      </a:r>
                      <a:endParaRPr lang="zh-CN" altLang="en-US"/>
                    </a:p>
                  </a:txBody>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382484" y="603183"/>
            <a:ext cx="3427031" cy="521970"/>
          </a:xfrm>
          <a:prstGeom prst="rect">
            <a:avLst/>
          </a:prstGeom>
          <a:noFill/>
        </p:spPr>
        <p:txBody>
          <a:bodyPr wrap="square" rtlCol="0">
            <a:spAutoFit/>
          </a:bodyPr>
          <a:lstStyle/>
          <a:p>
            <a:pPr algn="ctr"/>
            <a:r>
              <a:rPr kumimoji="1" lang="en-US" altLang="zh-CN" sz="2800" b="1" dirty="0">
                <a:solidFill>
                  <a:schemeClr val="accent1"/>
                </a:solidFill>
                <a:latin typeface="+mj-ea"/>
                <a:ea typeface="+mj-ea"/>
              </a:rPr>
              <a:t>M</a:t>
            </a:r>
            <a:r>
              <a:rPr kumimoji="1" lang="en-US" altLang="zh-CN" sz="2800" b="1" dirty="0">
                <a:solidFill>
                  <a:schemeClr val="accent1"/>
                </a:solidFill>
                <a:latin typeface="+mj-ea"/>
                <a:ea typeface="+mj-ea"/>
              </a:rPr>
              <a:t>amba</a:t>
            </a:r>
            <a:endParaRPr kumimoji="1" lang="en-US" altLang="zh-CN" sz="2800" b="1" dirty="0">
              <a:solidFill>
                <a:schemeClr val="accent1"/>
              </a:solidFill>
              <a:latin typeface="+mj-ea"/>
              <a:ea typeface="+mj-ea"/>
            </a:endParaRPr>
          </a:p>
        </p:txBody>
      </p:sp>
      <p:graphicFrame>
        <p:nvGraphicFramePr>
          <p:cNvPr id="2" name="表格 1"/>
          <p:cNvGraphicFramePr/>
          <p:nvPr/>
        </p:nvGraphicFramePr>
        <p:xfrm>
          <a:off x="1737360" y="1911350"/>
          <a:ext cx="8531860" cy="1524000"/>
        </p:xfrm>
        <a:graphic>
          <a:graphicData uri="http://schemas.openxmlformats.org/drawingml/2006/table">
            <a:tbl>
              <a:tblPr firstRow="1" bandRow="1">
                <a:tableStyleId>{5C22544A-7EE6-4342-B048-85BDC9FD1C3A}</a:tableStyleId>
              </a:tblPr>
              <a:tblGrid>
                <a:gridCol w="2132965"/>
                <a:gridCol w="2132965"/>
                <a:gridCol w="2132965"/>
                <a:gridCol w="2132965"/>
              </a:tblGrid>
              <a:tr h="381000">
                <a:tc>
                  <a:txBody>
                    <a:bodyPr/>
                    <a:p>
                      <a:pPr>
                        <a:buNone/>
                      </a:pPr>
                      <a:r>
                        <a:rPr lang="zh-CN" altLang="en-US"/>
                        <a:t>特征</a:t>
                      </a:r>
                      <a:endParaRPr lang="zh-CN" altLang="en-US"/>
                    </a:p>
                  </a:txBody>
                  <a:tcPr/>
                </a:tc>
                <a:tc>
                  <a:txBody>
                    <a:bodyPr/>
                    <a:p>
                      <a:pPr>
                        <a:buNone/>
                      </a:pPr>
                      <a:r>
                        <a:rPr lang="en-US" altLang="zh-CN" sz="1800">
                          <a:sym typeface="+mn-ea"/>
                        </a:rPr>
                        <a:t>CNN</a:t>
                      </a:r>
                      <a:endParaRPr lang="zh-CN" altLang="en-US"/>
                    </a:p>
                  </a:txBody>
                  <a:tcPr/>
                </a:tc>
                <a:tc>
                  <a:txBody>
                    <a:bodyPr/>
                    <a:p>
                      <a:pPr>
                        <a:buNone/>
                      </a:pPr>
                      <a:r>
                        <a:rPr lang="en-US" altLang="zh-CN" sz="1800">
                          <a:sym typeface="+mn-ea"/>
                        </a:rPr>
                        <a:t>Transformer</a:t>
                      </a:r>
                      <a:endParaRPr lang="zh-CN" altLang="en-US"/>
                    </a:p>
                  </a:txBody>
                  <a:tcPr/>
                </a:tc>
                <a:tc>
                  <a:txBody>
                    <a:bodyPr/>
                    <a:p>
                      <a:pPr>
                        <a:buNone/>
                      </a:pPr>
                      <a:r>
                        <a:rPr lang="en-US" altLang="zh-CN" sz="1800">
                          <a:sym typeface="+mn-ea"/>
                        </a:rPr>
                        <a:t>Mamba</a:t>
                      </a:r>
                      <a:endParaRPr lang="zh-CN" altLang="en-US"/>
                    </a:p>
                  </a:txBody>
                  <a:tcPr/>
                </a:tc>
              </a:tr>
              <a:tr h="381000">
                <a:tc>
                  <a:txBody>
                    <a:bodyPr/>
                    <a:p>
                      <a:pPr algn="ctr">
                        <a:buNone/>
                      </a:pPr>
                      <a:r>
                        <a:rPr lang="zh-CN" altLang="en-US"/>
                        <a:t>感受野</a:t>
                      </a:r>
                      <a:endParaRPr lang="zh-CN" altLang="en-US"/>
                    </a:p>
                  </a:txBody>
                  <a:tcPr/>
                </a:tc>
                <a:tc>
                  <a:txBody>
                    <a:bodyPr/>
                    <a:p>
                      <a:pPr>
                        <a:buNone/>
                      </a:pPr>
                      <a:r>
                        <a:rPr lang="zh-CN" altLang="en-US"/>
                        <a:t>局部</a:t>
                      </a:r>
                      <a:endParaRPr lang="zh-CN" altLang="en-US"/>
                    </a:p>
                  </a:txBody>
                  <a:tcPr/>
                </a:tc>
                <a:tc>
                  <a:txBody>
                    <a:bodyPr/>
                    <a:p>
                      <a:pPr>
                        <a:buNone/>
                      </a:pPr>
                      <a:r>
                        <a:rPr lang="zh-CN" altLang="en-US"/>
                        <a:t>全局</a:t>
                      </a:r>
                      <a:endParaRPr lang="zh-CN" altLang="en-US"/>
                    </a:p>
                  </a:txBody>
                  <a:tcPr/>
                </a:tc>
                <a:tc>
                  <a:txBody>
                    <a:bodyPr/>
                    <a:p>
                      <a:pPr>
                        <a:buNone/>
                      </a:pPr>
                      <a:r>
                        <a:rPr lang="zh-CN" altLang="en-US"/>
                        <a:t>全局</a:t>
                      </a:r>
                      <a:endParaRPr lang="zh-CN" altLang="en-US"/>
                    </a:p>
                  </a:txBody>
                  <a:tcPr/>
                </a:tc>
              </a:tr>
              <a:tr h="381000">
                <a:tc>
                  <a:txBody>
                    <a:bodyPr/>
                    <a:p>
                      <a:pPr algn="ctr">
                        <a:buClrTx/>
                        <a:buSzTx/>
                        <a:buFontTx/>
                        <a:buNone/>
                      </a:pPr>
                      <a:r>
                        <a:rPr lang="zh-CN" altLang="en-US"/>
                        <a:t>复杂度</a:t>
                      </a:r>
                      <a:endParaRPr lang="zh-CN" altLang="en-US"/>
                    </a:p>
                  </a:txBody>
                  <a:tcPr/>
                </a:tc>
                <a:tc>
                  <a:txBody>
                    <a:bodyPr/>
                    <a:p>
                      <a:pPr>
                        <a:buNone/>
                      </a:pPr>
                      <a:r>
                        <a:rPr lang="en-US" altLang="zh-CN"/>
                        <a:t>O</a:t>
                      </a:r>
                      <a:r>
                        <a:rPr lang="zh-CN" altLang="en-US"/>
                        <a:t>（</a:t>
                      </a:r>
                      <a:r>
                        <a:rPr lang="en-US" altLang="zh-CN"/>
                        <a:t>n</a:t>
                      </a:r>
                      <a:r>
                        <a:rPr lang="zh-CN" altLang="en-US"/>
                        <a:t>）</a:t>
                      </a:r>
                      <a:endParaRPr lang="zh-CN" altLang="en-US"/>
                    </a:p>
                  </a:txBody>
                  <a:tcPr/>
                </a:tc>
                <a:tc>
                  <a:txBody>
                    <a:bodyPr/>
                    <a:p>
                      <a:pPr>
                        <a:buNone/>
                      </a:pPr>
                      <a:r>
                        <a:rPr lang="en-US" altLang="zh-CN"/>
                        <a:t>O</a:t>
                      </a:r>
                      <a:r>
                        <a:rPr lang="zh-CN" altLang="en-US"/>
                        <a:t>（</a:t>
                      </a:r>
                      <a:r>
                        <a:rPr lang="en-US" altLang="zh-CN"/>
                        <a:t>n^2</a:t>
                      </a:r>
                      <a:r>
                        <a:rPr lang="zh-CN" altLang="en-US"/>
                        <a:t>）</a:t>
                      </a:r>
                      <a:endParaRPr lang="zh-CN" altLang="en-US"/>
                    </a:p>
                  </a:txBody>
                  <a:tcPr/>
                </a:tc>
                <a:tc>
                  <a:txBody>
                    <a:bodyPr/>
                    <a:p>
                      <a:pPr>
                        <a:buNone/>
                      </a:pPr>
                      <a:r>
                        <a:rPr lang="en-US" altLang="zh-CN"/>
                        <a:t>O(n)</a:t>
                      </a:r>
                      <a:endParaRPr lang="en-US" altLang="zh-CN"/>
                    </a:p>
                  </a:txBody>
                  <a:tcPr/>
                </a:tc>
              </a:tr>
              <a:tr h="381000">
                <a:tc>
                  <a:txBody>
                    <a:bodyPr/>
                    <a:p>
                      <a:pPr algn="ctr">
                        <a:buClrTx/>
                        <a:buSzTx/>
                        <a:buFontTx/>
                        <a:buNone/>
                      </a:pPr>
                      <a:r>
                        <a:rPr lang="zh-CN" altLang="en-US"/>
                        <a:t>适用</a:t>
                      </a:r>
                      <a:r>
                        <a:rPr lang="zh-CN" altLang="en-US"/>
                        <a:t>场景</a:t>
                      </a:r>
                      <a:endParaRPr lang="zh-CN" altLang="en-US"/>
                    </a:p>
                  </a:txBody>
                  <a:tcPr/>
                </a:tc>
                <a:tc>
                  <a:txBody>
                    <a:bodyPr/>
                    <a:p>
                      <a:pPr>
                        <a:buNone/>
                      </a:pPr>
                      <a:r>
                        <a:rPr lang="zh-CN" altLang="en-US"/>
                        <a:t>局部纹理</a:t>
                      </a:r>
                      <a:r>
                        <a:rPr lang="zh-CN" altLang="en-US"/>
                        <a:t>任务</a:t>
                      </a:r>
                      <a:endParaRPr lang="zh-CN" altLang="en-US"/>
                    </a:p>
                  </a:txBody>
                  <a:tcPr/>
                </a:tc>
                <a:tc>
                  <a:txBody>
                    <a:bodyPr/>
                    <a:p>
                      <a:pPr>
                        <a:buNone/>
                      </a:pPr>
                      <a:r>
                        <a:rPr lang="zh-CN" altLang="en-US"/>
                        <a:t>全局复杂</a:t>
                      </a:r>
                      <a:r>
                        <a:rPr lang="zh-CN" altLang="en-US"/>
                        <a:t>任务</a:t>
                      </a:r>
                      <a:endParaRPr lang="zh-CN" altLang="en-US"/>
                    </a:p>
                  </a:txBody>
                  <a:tcPr/>
                </a:tc>
                <a:tc>
                  <a:txBody>
                    <a:bodyPr/>
                    <a:p>
                      <a:pPr>
                        <a:buNone/>
                      </a:pPr>
                      <a:r>
                        <a:rPr lang="zh-CN" altLang="en-US"/>
                        <a:t>兼顾局部与</a:t>
                      </a:r>
                      <a:r>
                        <a:rPr lang="zh-CN" altLang="en-US"/>
                        <a:t>全局</a:t>
                      </a:r>
                      <a:endParaRPr lang="zh-CN" altLang="en-US"/>
                    </a:p>
                  </a:txBody>
                  <a:tcPr/>
                </a:tc>
              </a:tr>
            </a:tbl>
          </a:graphicData>
        </a:graphic>
      </p:graphicFrame>
      <p:sp>
        <p:nvSpPr>
          <p:cNvPr id="3" name="文本框 2"/>
          <p:cNvSpPr txBox="1"/>
          <p:nvPr/>
        </p:nvSpPr>
        <p:spPr>
          <a:xfrm>
            <a:off x="2231390" y="3562985"/>
            <a:ext cx="7215505" cy="368300"/>
          </a:xfrm>
          <a:prstGeom prst="rect">
            <a:avLst/>
          </a:prstGeom>
          <a:noFill/>
        </p:spPr>
        <p:txBody>
          <a:bodyPr wrap="square" rtlCol="0">
            <a:spAutoFit/>
          </a:bodyPr>
          <a:p>
            <a:r>
              <a:rPr lang="en-US" altLang="zh-CN"/>
              <a:t>Mamba</a:t>
            </a:r>
            <a:r>
              <a:rPr lang="zh-CN" altLang="en-US"/>
              <a:t>既像</a:t>
            </a:r>
            <a:r>
              <a:rPr lang="en-US" altLang="zh-CN"/>
              <a:t>Transformer</a:t>
            </a:r>
            <a:r>
              <a:rPr lang="zh-CN" altLang="en-US"/>
              <a:t>一样捕捉全局信息，又像</a:t>
            </a:r>
            <a:r>
              <a:rPr lang="en-US" altLang="zh-CN"/>
              <a:t>CNN</a:t>
            </a:r>
            <a:r>
              <a:rPr lang="zh-CN" altLang="en-US"/>
              <a:t>一样计算高效。</a:t>
            </a:r>
            <a:endParaRPr lang="zh-CN" altLang="en-US"/>
          </a:p>
        </p:txBody>
      </p:sp>
      <p:pic>
        <p:nvPicPr>
          <p:cNvPr id="6" name="图片 5"/>
          <p:cNvPicPr>
            <a:picLocks noChangeAspect="1"/>
          </p:cNvPicPr>
          <p:nvPr/>
        </p:nvPicPr>
        <p:blipFill>
          <a:blip r:embed="rId1"/>
          <a:stretch>
            <a:fillRect/>
          </a:stretch>
        </p:blipFill>
        <p:spPr>
          <a:xfrm>
            <a:off x="3279140" y="4221480"/>
            <a:ext cx="5448300" cy="20650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382484" y="603183"/>
            <a:ext cx="3427031" cy="521970"/>
          </a:xfrm>
          <a:prstGeom prst="rect">
            <a:avLst/>
          </a:prstGeom>
          <a:noFill/>
        </p:spPr>
        <p:txBody>
          <a:bodyPr wrap="square" rtlCol="0">
            <a:spAutoFit/>
          </a:bodyPr>
          <a:lstStyle/>
          <a:p>
            <a:pPr algn="ctr"/>
            <a:r>
              <a:rPr kumimoji="1" lang="en-US" altLang="zh-CN" sz="2800" b="1" dirty="0">
                <a:solidFill>
                  <a:schemeClr val="accent1"/>
                </a:solidFill>
                <a:latin typeface="+mj-ea"/>
                <a:ea typeface="+mj-ea"/>
              </a:rPr>
              <a:t>Fram</a:t>
            </a:r>
            <a:r>
              <a:rPr kumimoji="1" lang="en-US" altLang="zh-CN" sz="2800" b="1" dirty="0">
                <a:solidFill>
                  <a:schemeClr val="accent1"/>
                </a:solidFill>
                <a:latin typeface="+mj-ea"/>
                <a:ea typeface="+mj-ea"/>
              </a:rPr>
              <a:t>ework</a:t>
            </a:r>
            <a:endParaRPr kumimoji="1" lang="en-US" altLang="zh-CN" sz="2800" b="1" dirty="0">
              <a:solidFill>
                <a:schemeClr val="accent1"/>
              </a:solidFill>
              <a:latin typeface="+mj-ea"/>
              <a:ea typeface="+mj-ea"/>
            </a:endParaRPr>
          </a:p>
        </p:txBody>
      </p:sp>
      <p:pic>
        <p:nvPicPr>
          <p:cNvPr id="2" name="图片 1"/>
          <p:cNvPicPr>
            <a:picLocks noChangeAspect="1"/>
          </p:cNvPicPr>
          <p:nvPr/>
        </p:nvPicPr>
        <p:blipFill>
          <a:blip r:embed="rId1"/>
          <a:stretch>
            <a:fillRect/>
          </a:stretch>
        </p:blipFill>
        <p:spPr>
          <a:xfrm>
            <a:off x="1199515" y="1824990"/>
            <a:ext cx="9928860" cy="2828290"/>
          </a:xfrm>
          <a:prstGeom prst="rect">
            <a:avLst/>
          </a:prstGeom>
        </p:spPr>
      </p:pic>
      <p:sp>
        <p:nvSpPr>
          <p:cNvPr id="3" name="文本框 2"/>
          <p:cNvSpPr txBox="1"/>
          <p:nvPr/>
        </p:nvSpPr>
        <p:spPr>
          <a:xfrm>
            <a:off x="3001645" y="5004435"/>
            <a:ext cx="6225540" cy="922020"/>
          </a:xfrm>
          <a:prstGeom prst="rect">
            <a:avLst/>
          </a:prstGeom>
          <a:noFill/>
        </p:spPr>
        <p:txBody>
          <a:bodyPr wrap="square" rtlCol="0">
            <a:spAutoFit/>
          </a:bodyPr>
          <a:p>
            <a:r>
              <a:rPr lang="zh-CN" altLang="en-US"/>
              <a:t>并行输入两组数据，经过多个</a:t>
            </a:r>
            <a:r>
              <a:rPr lang="en-US" altLang="zh-CN"/>
              <a:t>Spatial-Spectral Mamba</a:t>
            </a:r>
            <a:r>
              <a:rPr lang="zh-CN" altLang="en-US"/>
              <a:t>（空间</a:t>
            </a:r>
            <a:r>
              <a:rPr lang="en-US" altLang="zh-CN"/>
              <a:t>-</a:t>
            </a:r>
            <a:r>
              <a:rPr lang="zh-CN" altLang="en-US"/>
              <a:t>光谱</a:t>
            </a:r>
            <a:r>
              <a:rPr lang="en-US" altLang="zh-CN"/>
              <a:t>Mamba</a:t>
            </a:r>
            <a:r>
              <a:rPr lang="zh-CN" altLang="en-US"/>
              <a:t>）的数据处理与特征</a:t>
            </a:r>
            <a:r>
              <a:rPr lang="zh-CN" altLang="en-US"/>
              <a:t>融合，最后使用分类器</a:t>
            </a:r>
            <a:r>
              <a:rPr lang="zh-CN" altLang="en-US"/>
              <a:t>分类。</a:t>
            </a: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382484" y="603183"/>
            <a:ext cx="3427031" cy="521970"/>
          </a:xfrm>
          <a:prstGeom prst="rect">
            <a:avLst/>
          </a:prstGeom>
          <a:noFill/>
        </p:spPr>
        <p:txBody>
          <a:bodyPr wrap="square" rtlCol="0">
            <a:spAutoFit/>
          </a:bodyPr>
          <a:lstStyle/>
          <a:p>
            <a:pPr algn="ctr"/>
            <a:r>
              <a:rPr kumimoji="1" lang="en-US" altLang="zh-CN" sz="2800" b="1" dirty="0">
                <a:solidFill>
                  <a:schemeClr val="accent1"/>
                </a:solidFill>
                <a:latin typeface="+mj-ea"/>
                <a:ea typeface="+mj-ea"/>
              </a:rPr>
              <a:t>MSpa-M</a:t>
            </a:r>
            <a:r>
              <a:rPr kumimoji="1" lang="en-US" altLang="zh-CN" sz="2800" b="1" dirty="0">
                <a:solidFill>
                  <a:schemeClr val="accent1"/>
                </a:solidFill>
                <a:latin typeface="+mj-ea"/>
                <a:ea typeface="+mj-ea"/>
              </a:rPr>
              <a:t>amba</a:t>
            </a:r>
            <a:endParaRPr kumimoji="1" lang="en-US" altLang="zh-CN" sz="2800" b="1" dirty="0">
              <a:solidFill>
                <a:schemeClr val="accent1"/>
              </a:solidFill>
              <a:latin typeface="+mj-ea"/>
              <a:ea typeface="+mj-ea"/>
            </a:endParaRPr>
          </a:p>
        </p:txBody>
      </p:sp>
      <p:pic>
        <p:nvPicPr>
          <p:cNvPr id="2" name="图片 1"/>
          <p:cNvPicPr>
            <a:picLocks noChangeAspect="1"/>
          </p:cNvPicPr>
          <p:nvPr/>
        </p:nvPicPr>
        <p:blipFill>
          <a:blip r:embed="rId1"/>
          <a:stretch>
            <a:fillRect/>
          </a:stretch>
        </p:blipFill>
        <p:spPr>
          <a:xfrm>
            <a:off x="695325" y="1537970"/>
            <a:ext cx="6454140" cy="4800600"/>
          </a:xfrm>
          <a:prstGeom prst="rect">
            <a:avLst/>
          </a:prstGeom>
        </p:spPr>
      </p:pic>
      <p:sp>
        <p:nvSpPr>
          <p:cNvPr id="3" name="文本框 2"/>
          <p:cNvSpPr txBox="1"/>
          <p:nvPr/>
        </p:nvSpPr>
        <p:spPr>
          <a:xfrm>
            <a:off x="7512050" y="1945640"/>
            <a:ext cx="4064000" cy="1476375"/>
          </a:xfrm>
          <a:prstGeom prst="rect">
            <a:avLst/>
          </a:prstGeom>
          <a:noFill/>
        </p:spPr>
        <p:txBody>
          <a:bodyPr wrap="square" rtlCol="0">
            <a:spAutoFit/>
          </a:bodyPr>
          <a:p>
            <a:r>
              <a:rPr lang="zh-CN" altLang="en-US"/>
              <a:t>传统卷积只能聚合局部邻域特征，而</a:t>
            </a:r>
            <a:r>
              <a:rPr lang="en-US" altLang="zh-CN"/>
              <a:t> MSpa-Mamba</a:t>
            </a:r>
            <a:r>
              <a:rPr lang="zh-CN" altLang="en-US"/>
              <a:t>将整幅图像展开为序列，通过</a:t>
            </a:r>
            <a:r>
              <a:rPr lang="en-US" altLang="zh-CN"/>
              <a:t> Mamba </a:t>
            </a:r>
            <a:r>
              <a:rPr lang="zh-CN" altLang="en-US"/>
              <a:t>的状态传播机制，在一维序列上传递空间上下文信息，从而在</a:t>
            </a:r>
            <a:r>
              <a:rPr lang="en-US" altLang="zh-CN"/>
              <a:t> O(n) </a:t>
            </a:r>
            <a:r>
              <a:rPr lang="zh-CN" altLang="en-US"/>
              <a:t>复杂度下实现全局空间建模。</a:t>
            </a:r>
            <a:endParaRPr lang="zh-CN" altLang="en-US"/>
          </a:p>
        </p:txBody>
      </p:sp>
      <p:sp>
        <p:nvSpPr>
          <p:cNvPr id="4" name="文本框 3"/>
          <p:cNvSpPr txBox="1"/>
          <p:nvPr/>
        </p:nvSpPr>
        <p:spPr>
          <a:xfrm>
            <a:off x="7595235" y="3808730"/>
            <a:ext cx="4064000" cy="1198880"/>
          </a:xfrm>
          <a:prstGeom prst="rect">
            <a:avLst/>
          </a:prstGeom>
          <a:noFill/>
        </p:spPr>
        <p:txBody>
          <a:bodyPr wrap="square" rtlCol="0">
            <a:spAutoFit/>
          </a:bodyPr>
          <a:p>
            <a:r>
              <a:rPr lang="zh-CN" altLang="en-US"/>
              <a:t>本文在该模块的流程</a:t>
            </a:r>
            <a:r>
              <a:rPr lang="zh-CN" altLang="en-US"/>
              <a:t>为：</a:t>
            </a:r>
            <a:endParaRPr lang="zh-CN" altLang="en-US"/>
          </a:p>
          <a:p>
            <a:r>
              <a:rPr lang="en-US" altLang="zh-CN"/>
              <a:t>  1.</a:t>
            </a:r>
            <a:r>
              <a:rPr lang="zh-CN" altLang="en-US"/>
              <a:t>多尺度特征</a:t>
            </a:r>
            <a:r>
              <a:rPr lang="zh-CN" altLang="en-US"/>
              <a:t>生成</a:t>
            </a:r>
            <a:endParaRPr lang="zh-CN" altLang="en-US"/>
          </a:p>
          <a:p>
            <a:r>
              <a:rPr lang="en-US" altLang="zh-CN"/>
              <a:t>  2.</a:t>
            </a:r>
            <a:r>
              <a:rPr lang="zh-CN" altLang="en-US"/>
              <a:t>分组状态扫描</a:t>
            </a:r>
            <a:r>
              <a:rPr lang="zh-CN" altLang="en-US"/>
              <a:t>机制</a:t>
            </a:r>
            <a:endParaRPr lang="zh-CN" altLang="en-US"/>
          </a:p>
          <a:p>
            <a:r>
              <a:rPr lang="en-US" altLang="zh-CN"/>
              <a:t>  3.</a:t>
            </a:r>
            <a:r>
              <a:rPr lang="zh-CN" altLang="en-US"/>
              <a:t>插值上采样恢复原</a:t>
            </a:r>
            <a:r>
              <a:rPr lang="zh-CN" altLang="en-US"/>
              <a:t>尺寸</a:t>
            </a: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382484" y="603183"/>
            <a:ext cx="3427031" cy="521970"/>
          </a:xfrm>
          <a:prstGeom prst="rect">
            <a:avLst/>
          </a:prstGeom>
          <a:noFill/>
        </p:spPr>
        <p:txBody>
          <a:bodyPr wrap="square" rtlCol="0">
            <a:spAutoFit/>
          </a:bodyPr>
          <a:lstStyle/>
          <a:p>
            <a:pPr algn="ctr"/>
            <a:r>
              <a:rPr kumimoji="1" lang="en-US" altLang="zh-CN" sz="2800" b="1" dirty="0">
                <a:solidFill>
                  <a:schemeClr val="accent1"/>
                </a:solidFill>
                <a:latin typeface="+mj-ea"/>
                <a:ea typeface="+mj-ea"/>
              </a:rPr>
              <a:t>MSpa-M</a:t>
            </a:r>
            <a:r>
              <a:rPr kumimoji="1" lang="en-US" altLang="zh-CN" sz="2800" b="1" dirty="0">
                <a:solidFill>
                  <a:schemeClr val="accent1"/>
                </a:solidFill>
                <a:latin typeface="+mj-ea"/>
                <a:ea typeface="+mj-ea"/>
              </a:rPr>
              <a:t>amba</a:t>
            </a:r>
            <a:endParaRPr kumimoji="1" lang="en-US" altLang="zh-CN" sz="2800" b="1" dirty="0">
              <a:solidFill>
                <a:schemeClr val="accent1"/>
              </a:solidFill>
              <a:latin typeface="+mj-ea"/>
              <a:ea typeface="+mj-ea"/>
            </a:endParaRPr>
          </a:p>
        </p:txBody>
      </p:sp>
      <p:pic>
        <p:nvPicPr>
          <p:cNvPr id="2" name="图片 1"/>
          <p:cNvPicPr>
            <a:picLocks noChangeAspect="1"/>
          </p:cNvPicPr>
          <p:nvPr/>
        </p:nvPicPr>
        <p:blipFill>
          <a:blip r:embed="rId1"/>
          <a:stretch>
            <a:fillRect/>
          </a:stretch>
        </p:blipFill>
        <p:spPr>
          <a:xfrm>
            <a:off x="695325" y="1537970"/>
            <a:ext cx="6454140" cy="4800600"/>
          </a:xfrm>
          <a:prstGeom prst="rect">
            <a:avLst/>
          </a:prstGeom>
        </p:spPr>
      </p:pic>
      <p:sp>
        <p:nvSpPr>
          <p:cNvPr id="5" name="圆角矩形 4"/>
          <p:cNvSpPr/>
          <p:nvPr/>
        </p:nvSpPr>
        <p:spPr>
          <a:xfrm>
            <a:off x="1737995" y="1646555"/>
            <a:ext cx="1608455" cy="1825625"/>
          </a:xfrm>
          <a:prstGeom prst="roundRect">
            <a:avLst/>
          </a:prstGeom>
          <a:ln>
            <a:solidFill>
              <a:srgbClr val="FF0000"/>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cxnSp>
        <p:nvCxnSpPr>
          <p:cNvPr id="6" name="直接箭头连接符 5"/>
          <p:cNvCxnSpPr>
            <a:stCxn id="5" idx="3"/>
          </p:cNvCxnSpPr>
          <p:nvPr/>
        </p:nvCxnSpPr>
        <p:spPr>
          <a:xfrm flipV="1">
            <a:off x="3346450" y="2548255"/>
            <a:ext cx="3879215" cy="11430"/>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8" name="文本框 7"/>
          <p:cNvSpPr txBox="1"/>
          <p:nvPr/>
        </p:nvSpPr>
        <p:spPr>
          <a:xfrm>
            <a:off x="7540625" y="1787525"/>
            <a:ext cx="4064000" cy="2584450"/>
          </a:xfrm>
          <a:prstGeom prst="rect">
            <a:avLst/>
          </a:prstGeom>
          <a:noFill/>
        </p:spPr>
        <p:txBody>
          <a:bodyPr wrap="square" rtlCol="0">
            <a:spAutoFit/>
          </a:bodyPr>
          <a:p>
            <a:r>
              <a:rPr lang="zh-CN" altLang="en-US"/>
              <a:t>多尺度特征图生成部分：首先对输入影像进行多尺度卷积操作，通过两个不同尺寸的卷积核（</a:t>
            </a:r>
            <a:r>
              <a:rPr lang="en-US" altLang="zh-CN"/>
              <a:t>stride</a:t>
            </a:r>
            <a:r>
              <a:rPr lang="zh-CN" altLang="en-US"/>
              <a:t>为</a:t>
            </a:r>
            <a:r>
              <a:rPr lang="en-US" altLang="zh-CN"/>
              <a:t>1</a:t>
            </a:r>
            <a:r>
              <a:rPr lang="zh-CN" altLang="en-US"/>
              <a:t>和</a:t>
            </a:r>
            <a:r>
              <a:rPr lang="en-US" altLang="zh-CN"/>
              <a:t>2</a:t>
            </a:r>
            <a:r>
              <a:rPr lang="zh-CN" altLang="en-US"/>
              <a:t>）提取空间特征。</a:t>
            </a:r>
            <a:endParaRPr lang="zh-CN" altLang="en-US"/>
          </a:p>
          <a:p>
            <a:endParaRPr lang="zh-CN" altLang="en-US"/>
          </a:p>
          <a:p>
            <a:r>
              <a:rPr lang="zh-CN" altLang="en-US"/>
              <a:t>在该部分，小卷积核更注重局部纹理特征，大卷积核的宽感受野能够</a:t>
            </a:r>
            <a:r>
              <a:rPr lang="zh-CN" altLang="en-US"/>
              <a:t>注重全局结构。</a:t>
            </a:r>
            <a:endParaRPr lang="zh-CN" altLang="en-US"/>
          </a:p>
          <a:p>
            <a:endParaRPr lang="zh-CN" altLang="en-US"/>
          </a:p>
        </p:txBody>
      </p:sp>
      <p:sp>
        <p:nvSpPr>
          <p:cNvPr id="9" name="圆角矩形 8"/>
          <p:cNvSpPr/>
          <p:nvPr/>
        </p:nvSpPr>
        <p:spPr>
          <a:xfrm>
            <a:off x="2009775" y="3808730"/>
            <a:ext cx="1390650" cy="2379980"/>
          </a:xfrm>
          <a:prstGeom prst="roundRect">
            <a:avLst/>
          </a:prstGeom>
          <a:ln>
            <a:solidFill>
              <a:srgbClr val="FF0000"/>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cxnSp>
        <p:nvCxnSpPr>
          <p:cNvPr id="10" name="肘形连接符 9"/>
          <p:cNvCxnSpPr>
            <a:stCxn id="9" idx="3"/>
          </p:cNvCxnSpPr>
          <p:nvPr/>
        </p:nvCxnSpPr>
        <p:spPr>
          <a:xfrm flipV="1">
            <a:off x="3400425" y="2559050"/>
            <a:ext cx="3738245" cy="2439670"/>
          </a:xfrm>
          <a:prstGeom prst="bentConnector3">
            <a:avLst>
              <a:gd name="adj1" fmla="val 50008"/>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382484" y="603183"/>
            <a:ext cx="3427031" cy="521970"/>
          </a:xfrm>
          <a:prstGeom prst="rect">
            <a:avLst/>
          </a:prstGeom>
          <a:noFill/>
        </p:spPr>
        <p:txBody>
          <a:bodyPr wrap="square" rtlCol="0">
            <a:spAutoFit/>
          </a:bodyPr>
          <a:lstStyle/>
          <a:p>
            <a:pPr algn="ctr"/>
            <a:r>
              <a:rPr kumimoji="1" lang="en-US" altLang="zh-CN" sz="2800" b="1" dirty="0">
                <a:solidFill>
                  <a:schemeClr val="accent1"/>
                </a:solidFill>
                <a:latin typeface="+mj-ea"/>
                <a:ea typeface="+mj-ea"/>
              </a:rPr>
              <a:t>MSpa-M</a:t>
            </a:r>
            <a:r>
              <a:rPr kumimoji="1" lang="en-US" altLang="zh-CN" sz="2800" b="1" dirty="0">
                <a:solidFill>
                  <a:schemeClr val="accent1"/>
                </a:solidFill>
                <a:latin typeface="+mj-ea"/>
                <a:ea typeface="+mj-ea"/>
              </a:rPr>
              <a:t>amba</a:t>
            </a:r>
            <a:endParaRPr kumimoji="1" lang="en-US" altLang="zh-CN" sz="2800" b="1" dirty="0">
              <a:solidFill>
                <a:schemeClr val="accent1"/>
              </a:solidFill>
              <a:latin typeface="+mj-ea"/>
              <a:ea typeface="+mj-ea"/>
            </a:endParaRPr>
          </a:p>
        </p:txBody>
      </p:sp>
      <p:pic>
        <p:nvPicPr>
          <p:cNvPr id="2" name="图片 1"/>
          <p:cNvPicPr>
            <a:picLocks noChangeAspect="1"/>
          </p:cNvPicPr>
          <p:nvPr/>
        </p:nvPicPr>
        <p:blipFill>
          <a:blip r:embed="rId1"/>
          <a:stretch>
            <a:fillRect/>
          </a:stretch>
        </p:blipFill>
        <p:spPr>
          <a:xfrm>
            <a:off x="695325" y="1537970"/>
            <a:ext cx="6454140" cy="4800600"/>
          </a:xfrm>
          <a:prstGeom prst="rect">
            <a:avLst/>
          </a:prstGeom>
        </p:spPr>
      </p:pic>
      <p:sp>
        <p:nvSpPr>
          <p:cNvPr id="5" name="圆角矩形 4"/>
          <p:cNvSpPr/>
          <p:nvPr/>
        </p:nvSpPr>
        <p:spPr>
          <a:xfrm>
            <a:off x="3248660" y="1646555"/>
            <a:ext cx="1847215" cy="1825625"/>
          </a:xfrm>
          <a:prstGeom prst="roundRect">
            <a:avLst/>
          </a:prstGeom>
          <a:ln>
            <a:solidFill>
              <a:srgbClr val="FF0000"/>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cxnSp>
        <p:nvCxnSpPr>
          <p:cNvPr id="6" name="直接箭头连接符 5"/>
          <p:cNvCxnSpPr>
            <a:stCxn id="5" idx="3"/>
          </p:cNvCxnSpPr>
          <p:nvPr/>
        </p:nvCxnSpPr>
        <p:spPr>
          <a:xfrm flipV="1">
            <a:off x="5095875" y="2537460"/>
            <a:ext cx="2281555" cy="22225"/>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3" name="文本框 2"/>
          <p:cNvSpPr txBox="1"/>
          <p:nvPr/>
        </p:nvSpPr>
        <p:spPr>
          <a:xfrm>
            <a:off x="7725410" y="1931035"/>
            <a:ext cx="4064000" cy="3415030"/>
          </a:xfrm>
          <a:prstGeom prst="rect">
            <a:avLst/>
          </a:prstGeom>
          <a:noFill/>
        </p:spPr>
        <p:txBody>
          <a:bodyPr wrap="square" rtlCol="0">
            <a:spAutoFit/>
          </a:bodyPr>
          <a:p>
            <a:r>
              <a:rPr lang="zh-CN" altLang="en-US"/>
              <a:t>本文使用四个方向进行扫描，能够较完整的捕获图像空间信息，但本实验生成了多尺度特征图，如果对每一个特征图进行四个方向扫描，显然增加了冗余</a:t>
            </a:r>
            <a:r>
              <a:rPr lang="zh-CN" altLang="en-US"/>
              <a:t>信息。</a:t>
            </a:r>
            <a:endParaRPr lang="zh-CN" altLang="en-US"/>
          </a:p>
          <a:p>
            <a:endParaRPr lang="zh-CN" altLang="en-US"/>
          </a:p>
          <a:p>
            <a:r>
              <a:rPr lang="zh-CN" altLang="en-US"/>
              <a:t>本文将这些扫描路径分为两组：一组对原始分辨率特征进行处理，而另一组则对低</a:t>
            </a:r>
            <a:r>
              <a:rPr lang="zh-CN" altLang="en-US"/>
              <a:t>分辨率特征图进行</a:t>
            </a:r>
            <a:r>
              <a:rPr lang="zh-CN" altLang="en-US"/>
              <a:t>处理。该策略通过生成更紧凑的特征表示来减少整体特征量，有效防止所有扫描路径中冗余信息的累积。</a:t>
            </a:r>
            <a:endParaRPr lang="zh-CN" altLang="en-US"/>
          </a:p>
        </p:txBody>
      </p:sp>
      <p:sp>
        <p:nvSpPr>
          <p:cNvPr id="4" name="文本框 3"/>
          <p:cNvSpPr txBox="1"/>
          <p:nvPr/>
        </p:nvSpPr>
        <p:spPr>
          <a:xfrm>
            <a:off x="6910705" y="5471160"/>
            <a:ext cx="2489200" cy="368300"/>
          </a:xfrm>
          <a:prstGeom prst="rect">
            <a:avLst/>
          </a:prstGeom>
          <a:noFill/>
        </p:spPr>
        <p:txBody>
          <a:bodyPr wrap="square" rtlCol="0">
            <a:spAutoFit/>
          </a:bodyPr>
          <a:p>
            <a:r>
              <a:rPr lang="zh-CN" altLang="en-US"/>
              <a:t>沿空间维度</a:t>
            </a:r>
            <a:r>
              <a:rPr lang="en-US" altLang="zh-CN"/>
              <a:t>unfold</a:t>
            </a:r>
            <a:endParaRPr lang="en-US" altLang="zh-CN"/>
          </a:p>
        </p:txBody>
      </p:sp>
      <p:pic>
        <p:nvPicPr>
          <p:cNvPr id="8" name="图片 7"/>
          <p:cNvPicPr>
            <a:picLocks noChangeAspect="1"/>
          </p:cNvPicPr>
          <p:nvPr/>
        </p:nvPicPr>
        <p:blipFill>
          <a:blip r:embed="rId2"/>
          <a:stretch>
            <a:fillRect/>
          </a:stretch>
        </p:blipFill>
        <p:spPr>
          <a:xfrm>
            <a:off x="9399905" y="5346065"/>
            <a:ext cx="1435735" cy="149288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382484" y="603183"/>
            <a:ext cx="3427031" cy="521970"/>
          </a:xfrm>
          <a:prstGeom prst="rect">
            <a:avLst/>
          </a:prstGeom>
          <a:noFill/>
        </p:spPr>
        <p:txBody>
          <a:bodyPr wrap="square" rtlCol="0">
            <a:spAutoFit/>
          </a:bodyPr>
          <a:lstStyle/>
          <a:p>
            <a:pPr algn="ctr"/>
            <a:r>
              <a:rPr kumimoji="1" lang="en-US" altLang="zh-CN" sz="2800" b="1" dirty="0">
                <a:solidFill>
                  <a:schemeClr val="accent1"/>
                </a:solidFill>
                <a:latin typeface="+mj-ea"/>
                <a:ea typeface="+mj-ea"/>
              </a:rPr>
              <a:t>MSpa-M</a:t>
            </a:r>
            <a:r>
              <a:rPr kumimoji="1" lang="en-US" altLang="zh-CN" sz="2800" b="1" dirty="0">
                <a:solidFill>
                  <a:schemeClr val="accent1"/>
                </a:solidFill>
                <a:latin typeface="+mj-ea"/>
                <a:ea typeface="+mj-ea"/>
              </a:rPr>
              <a:t>amba</a:t>
            </a:r>
            <a:endParaRPr kumimoji="1" lang="en-US" altLang="zh-CN" sz="2800" b="1" dirty="0">
              <a:solidFill>
                <a:schemeClr val="accent1"/>
              </a:solidFill>
              <a:latin typeface="+mj-ea"/>
              <a:ea typeface="+mj-ea"/>
            </a:endParaRPr>
          </a:p>
        </p:txBody>
      </p:sp>
      <p:pic>
        <p:nvPicPr>
          <p:cNvPr id="2" name="图片 1"/>
          <p:cNvPicPr>
            <a:picLocks noChangeAspect="1"/>
          </p:cNvPicPr>
          <p:nvPr/>
        </p:nvPicPr>
        <p:blipFill>
          <a:blip r:embed="rId1"/>
          <a:stretch>
            <a:fillRect/>
          </a:stretch>
        </p:blipFill>
        <p:spPr>
          <a:xfrm>
            <a:off x="695325" y="1537970"/>
            <a:ext cx="6454140" cy="4800600"/>
          </a:xfrm>
          <a:prstGeom prst="rect">
            <a:avLst/>
          </a:prstGeom>
        </p:spPr>
      </p:pic>
      <p:sp>
        <p:nvSpPr>
          <p:cNvPr id="5" name="圆角矩形 4"/>
          <p:cNvSpPr/>
          <p:nvPr/>
        </p:nvSpPr>
        <p:spPr>
          <a:xfrm>
            <a:off x="5477510" y="2570480"/>
            <a:ext cx="793115" cy="901700"/>
          </a:xfrm>
          <a:prstGeom prst="roundRect">
            <a:avLst/>
          </a:prstGeom>
          <a:ln>
            <a:solidFill>
              <a:srgbClr val="FF0000"/>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cxnSp>
        <p:nvCxnSpPr>
          <p:cNvPr id="6" name="直接箭头连接符 5"/>
          <p:cNvCxnSpPr>
            <a:stCxn id="5" idx="3"/>
          </p:cNvCxnSpPr>
          <p:nvPr/>
        </p:nvCxnSpPr>
        <p:spPr>
          <a:xfrm flipV="1">
            <a:off x="6270625" y="2994025"/>
            <a:ext cx="965835" cy="27305"/>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4" name="文本框 3"/>
          <p:cNvSpPr txBox="1"/>
          <p:nvPr/>
        </p:nvSpPr>
        <p:spPr>
          <a:xfrm>
            <a:off x="7638415" y="2385695"/>
            <a:ext cx="4064000" cy="1198880"/>
          </a:xfrm>
          <a:prstGeom prst="rect">
            <a:avLst/>
          </a:prstGeom>
          <a:noFill/>
        </p:spPr>
        <p:txBody>
          <a:bodyPr wrap="square" rtlCol="0">
            <a:spAutoFit/>
          </a:bodyPr>
          <a:p>
            <a:r>
              <a:rPr lang="zh-CN" altLang="en-US"/>
              <a:t>为了将不同尺度的特征恢复到相同分辨率，保证特征融合时空间位置一致</a:t>
            </a:r>
            <a:r>
              <a:rPr lang="en-US" altLang="zh-CN"/>
              <a:t>,</a:t>
            </a:r>
            <a:r>
              <a:rPr lang="zh-CN" altLang="en-US"/>
              <a:t>本文在降尺度后适用</a:t>
            </a:r>
            <a:r>
              <a:rPr lang="en-US" altLang="zh-CN"/>
              <a:t>“</a:t>
            </a:r>
            <a:r>
              <a:rPr lang="zh-CN" altLang="en-US"/>
              <a:t>插值</a:t>
            </a:r>
            <a:r>
              <a:rPr lang="en-US" altLang="zh-CN"/>
              <a:t>”</a:t>
            </a:r>
            <a:r>
              <a:rPr lang="zh-CN" altLang="en-US"/>
              <a:t>操作恢复原本</a:t>
            </a:r>
            <a:r>
              <a:rPr lang="zh-CN" altLang="en-US"/>
              <a:t>分辨率。</a:t>
            </a:r>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382484" y="603183"/>
            <a:ext cx="3427031" cy="521970"/>
          </a:xfrm>
          <a:prstGeom prst="rect">
            <a:avLst/>
          </a:prstGeom>
          <a:noFill/>
        </p:spPr>
        <p:txBody>
          <a:bodyPr wrap="square" rtlCol="0">
            <a:spAutoFit/>
          </a:bodyPr>
          <a:lstStyle/>
          <a:p>
            <a:pPr algn="ctr"/>
            <a:r>
              <a:rPr kumimoji="1" lang="en-US" altLang="zh-CN" sz="2800" b="1" dirty="0">
                <a:solidFill>
                  <a:schemeClr val="accent1"/>
                </a:solidFill>
                <a:latin typeface="+mj-ea"/>
                <a:ea typeface="+mj-ea"/>
              </a:rPr>
              <a:t>Spe-M</a:t>
            </a:r>
            <a:r>
              <a:rPr kumimoji="1" lang="en-US" altLang="zh-CN" sz="2800" b="1" dirty="0">
                <a:solidFill>
                  <a:schemeClr val="accent1"/>
                </a:solidFill>
                <a:latin typeface="+mj-ea"/>
                <a:ea typeface="+mj-ea"/>
              </a:rPr>
              <a:t>amba</a:t>
            </a:r>
            <a:endParaRPr kumimoji="1" lang="en-US" altLang="zh-CN" sz="2800" b="1" dirty="0">
              <a:solidFill>
                <a:schemeClr val="accent1"/>
              </a:solidFill>
              <a:latin typeface="+mj-ea"/>
              <a:ea typeface="+mj-ea"/>
            </a:endParaRPr>
          </a:p>
        </p:txBody>
      </p:sp>
      <p:pic>
        <p:nvPicPr>
          <p:cNvPr id="2" name="图片 1"/>
          <p:cNvPicPr>
            <a:picLocks noChangeAspect="1"/>
          </p:cNvPicPr>
          <p:nvPr/>
        </p:nvPicPr>
        <p:blipFill>
          <a:blip r:embed="rId1"/>
          <a:stretch>
            <a:fillRect/>
          </a:stretch>
        </p:blipFill>
        <p:spPr>
          <a:xfrm>
            <a:off x="1035685" y="1470025"/>
            <a:ext cx="5753100" cy="4373880"/>
          </a:xfrm>
          <a:prstGeom prst="rect">
            <a:avLst/>
          </a:prstGeom>
        </p:spPr>
      </p:pic>
      <p:sp>
        <p:nvSpPr>
          <p:cNvPr id="5" name="文本框 4"/>
          <p:cNvSpPr txBox="1"/>
          <p:nvPr/>
        </p:nvSpPr>
        <p:spPr>
          <a:xfrm>
            <a:off x="7312660" y="1640840"/>
            <a:ext cx="4064000" cy="3138170"/>
          </a:xfrm>
          <a:prstGeom prst="rect">
            <a:avLst/>
          </a:prstGeom>
          <a:noFill/>
        </p:spPr>
        <p:txBody>
          <a:bodyPr wrap="square" rtlCol="0">
            <a:spAutoFit/>
          </a:bodyPr>
          <a:p>
            <a:r>
              <a:rPr lang="en-US" altLang="zh-CN"/>
              <a:t>Spe-Mamba</a:t>
            </a:r>
            <a:r>
              <a:rPr lang="zh-CN" altLang="en-US"/>
              <a:t>与</a:t>
            </a:r>
            <a:r>
              <a:rPr lang="en-US" altLang="zh-CN"/>
              <a:t>MSpaMamba</a:t>
            </a:r>
            <a:r>
              <a:rPr lang="zh-CN" altLang="en-US"/>
              <a:t>的结构相似，主要区别在于</a:t>
            </a:r>
            <a:r>
              <a:rPr lang="en-US" altLang="zh-CN"/>
              <a:t>SSM</a:t>
            </a:r>
            <a:r>
              <a:rPr lang="zh-CN" altLang="en-US"/>
              <a:t>层。在</a:t>
            </a:r>
            <a:r>
              <a:rPr lang="en-US" altLang="zh-CN"/>
              <a:t>MSpa-Mamba</a:t>
            </a:r>
            <a:r>
              <a:rPr lang="zh-CN" altLang="en-US"/>
              <a:t>中，特征沿</a:t>
            </a:r>
            <a:r>
              <a:rPr lang="zh-CN" altLang="en-US">
                <a:solidFill>
                  <a:srgbClr val="FF0000"/>
                </a:solidFill>
              </a:rPr>
              <a:t>空间维度</a:t>
            </a:r>
            <a:r>
              <a:rPr lang="zh-CN" altLang="en-US"/>
              <a:t>被转换为一维序列，而在</a:t>
            </a:r>
            <a:r>
              <a:rPr lang="en-US" altLang="zh-CN"/>
              <a:t>Spe-Mamba</a:t>
            </a:r>
            <a:r>
              <a:rPr lang="zh-CN" altLang="en-US"/>
              <a:t>中，特征</a:t>
            </a:r>
            <a:r>
              <a:rPr lang="zh-CN" altLang="en-US">
                <a:solidFill>
                  <a:srgbClr val="FF0000"/>
                </a:solidFill>
              </a:rPr>
              <a:t>沿通道维度</a:t>
            </a:r>
            <a:r>
              <a:rPr lang="zh-CN" altLang="en-US"/>
              <a:t>被转换为一维序列，且扫描仅限于两个方向。</a:t>
            </a:r>
            <a:endParaRPr lang="zh-CN" altLang="en-US"/>
          </a:p>
          <a:p>
            <a:endParaRPr lang="zh-CN" altLang="en-US"/>
          </a:p>
          <a:p>
            <a:r>
              <a:rPr lang="en-US" altLang="zh-CN"/>
              <a:t>Spe-Mamba </a:t>
            </a:r>
            <a:r>
              <a:rPr lang="zh-CN" altLang="en-US"/>
              <a:t>模块主要针对高光谱数据的波段</a:t>
            </a:r>
            <a:r>
              <a:rPr lang="zh-CN" altLang="en-US"/>
              <a:t>维度特性设计。它将每个像素的光谱曲线看作一个序列，自适应地捕捉不同波段之间的连续性与差异性。</a:t>
            </a:r>
            <a:endParaRPr lang="zh-CN" altLang="en-US"/>
          </a:p>
        </p:txBody>
      </p:sp>
      <p:pic>
        <p:nvPicPr>
          <p:cNvPr id="3" name="图片 2"/>
          <p:cNvPicPr>
            <a:picLocks noChangeAspect="1"/>
          </p:cNvPicPr>
          <p:nvPr/>
        </p:nvPicPr>
        <p:blipFill>
          <a:blip r:embed="rId2"/>
          <a:stretch>
            <a:fillRect/>
          </a:stretch>
        </p:blipFill>
        <p:spPr>
          <a:xfrm>
            <a:off x="7718425" y="4930140"/>
            <a:ext cx="1435735" cy="149288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382484" y="603183"/>
            <a:ext cx="3427031" cy="521970"/>
          </a:xfrm>
          <a:prstGeom prst="rect">
            <a:avLst/>
          </a:prstGeom>
          <a:noFill/>
        </p:spPr>
        <p:txBody>
          <a:bodyPr wrap="square" rtlCol="0">
            <a:spAutoFit/>
          </a:bodyPr>
          <a:lstStyle/>
          <a:p>
            <a:pPr algn="ctr"/>
            <a:r>
              <a:rPr kumimoji="1" lang="en-US" altLang="zh-CN" sz="2800" b="1" dirty="0">
                <a:solidFill>
                  <a:schemeClr val="accent1"/>
                </a:solidFill>
                <a:latin typeface="+mj-ea"/>
                <a:ea typeface="+mj-ea"/>
              </a:rPr>
              <a:t>Spe-M</a:t>
            </a:r>
            <a:r>
              <a:rPr kumimoji="1" lang="en-US" altLang="zh-CN" sz="2800" b="1" dirty="0">
                <a:solidFill>
                  <a:schemeClr val="accent1"/>
                </a:solidFill>
                <a:latin typeface="+mj-ea"/>
                <a:ea typeface="+mj-ea"/>
              </a:rPr>
              <a:t>amba</a:t>
            </a:r>
            <a:endParaRPr kumimoji="1" lang="en-US" altLang="zh-CN" sz="2800" b="1" dirty="0">
              <a:solidFill>
                <a:schemeClr val="accent1"/>
              </a:solidFill>
              <a:latin typeface="+mj-ea"/>
              <a:ea typeface="+mj-ea"/>
            </a:endParaRPr>
          </a:p>
        </p:txBody>
      </p:sp>
      <p:pic>
        <p:nvPicPr>
          <p:cNvPr id="2" name="图片 1"/>
          <p:cNvPicPr>
            <a:picLocks noChangeAspect="1"/>
          </p:cNvPicPr>
          <p:nvPr/>
        </p:nvPicPr>
        <p:blipFill>
          <a:blip r:embed="rId1"/>
          <a:stretch>
            <a:fillRect/>
          </a:stretch>
        </p:blipFill>
        <p:spPr>
          <a:xfrm>
            <a:off x="572770" y="1922780"/>
            <a:ext cx="5036185" cy="3829050"/>
          </a:xfrm>
          <a:prstGeom prst="rect">
            <a:avLst/>
          </a:prstGeom>
        </p:spPr>
      </p:pic>
      <p:pic>
        <p:nvPicPr>
          <p:cNvPr id="3" name="图片 2"/>
          <p:cNvPicPr>
            <a:picLocks noChangeAspect="1"/>
          </p:cNvPicPr>
          <p:nvPr/>
        </p:nvPicPr>
        <p:blipFill>
          <a:blip r:embed="rId2"/>
          <a:stretch>
            <a:fillRect/>
          </a:stretch>
        </p:blipFill>
        <p:spPr>
          <a:xfrm>
            <a:off x="9632315" y="1071245"/>
            <a:ext cx="1435735" cy="1492885"/>
          </a:xfrm>
          <a:prstGeom prst="rect">
            <a:avLst/>
          </a:prstGeom>
        </p:spPr>
      </p:pic>
      <p:graphicFrame>
        <p:nvGraphicFramePr>
          <p:cNvPr id="4" name="表格 3"/>
          <p:cNvGraphicFramePr/>
          <p:nvPr/>
        </p:nvGraphicFramePr>
        <p:xfrm>
          <a:off x="5843270" y="3168015"/>
          <a:ext cx="5704205" cy="1524000"/>
        </p:xfrm>
        <a:graphic>
          <a:graphicData uri="http://schemas.openxmlformats.org/drawingml/2006/table">
            <a:tbl>
              <a:tblPr firstRow="1" bandRow="1">
                <a:tableStyleId>{5C22544A-7EE6-4342-B048-85BDC9FD1C3A}</a:tableStyleId>
              </a:tblPr>
              <a:tblGrid>
                <a:gridCol w="1437640"/>
                <a:gridCol w="4266565"/>
              </a:tblGrid>
              <a:tr h="381000">
                <a:tc>
                  <a:txBody>
                    <a:bodyPr/>
                    <a:p>
                      <a:pPr>
                        <a:buNone/>
                      </a:pPr>
                      <a:r>
                        <a:rPr lang="zh-CN" altLang="en-US"/>
                        <a:t>作用</a:t>
                      </a:r>
                      <a:endParaRPr lang="zh-CN" altLang="en-US"/>
                    </a:p>
                  </a:txBody>
                  <a:tcPr/>
                </a:tc>
                <a:tc>
                  <a:txBody>
                    <a:bodyPr/>
                    <a:p>
                      <a:pPr>
                        <a:buNone/>
                      </a:pPr>
                      <a:r>
                        <a:rPr lang="zh-CN" altLang="en-US"/>
                        <a:t>描述</a:t>
                      </a:r>
                      <a:endParaRPr lang="zh-CN" altLang="en-US"/>
                    </a:p>
                  </a:txBody>
                  <a:tcPr/>
                </a:tc>
              </a:tr>
              <a:tr h="381000">
                <a:tc>
                  <a:txBody>
                    <a:bodyPr/>
                    <a:p>
                      <a:pPr>
                        <a:buNone/>
                      </a:pPr>
                      <a:r>
                        <a:rPr lang="zh-CN" altLang="en-US"/>
                        <a:t>减少冗余</a:t>
                      </a:r>
                      <a:endParaRPr lang="zh-CN" altLang="en-US"/>
                    </a:p>
                  </a:txBody>
                  <a:tcPr/>
                </a:tc>
                <a:tc>
                  <a:txBody>
                    <a:bodyPr/>
                    <a:p>
                      <a:pPr>
                        <a:buNone/>
                      </a:pPr>
                      <a:r>
                        <a:rPr lang="zh-CN" altLang="en-US"/>
                        <a:t>光谱数据相关性高，通过展开波段数据，</a:t>
                      </a:r>
                      <a:r>
                        <a:rPr lang="zh-CN" altLang="en-US"/>
                        <a:t>能够去除波段间的冗余信息，提升模型的效率。</a:t>
                      </a:r>
                      <a:endParaRPr lang="zh-CN" altLang="en-US"/>
                    </a:p>
                  </a:txBody>
                  <a:tcPr/>
                </a:tc>
              </a:tr>
              <a:tr h="381000">
                <a:tc>
                  <a:txBody>
                    <a:bodyPr/>
                    <a:p>
                      <a:pPr>
                        <a:buNone/>
                      </a:pPr>
                      <a:r>
                        <a:rPr lang="zh-CN" altLang="en-US"/>
                        <a:t>捕捉长距离依赖关系</a:t>
                      </a:r>
                      <a:endParaRPr lang="zh-CN" altLang="en-US"/>
                    </a:p>
                  </a:txBody>
                  <a:tcPr/>
                </a:tc>
                <a:tc>
                  <a:txBody>
                    <a:bodyPr/>
                    <a:p>
                      <a:pPr>
                        <a:buNone/>
                      </a:pPr>
                      <a:r>
                        <a:rPr lang="zh-CN" altLang="en-US"/>
                        <a:t>在高光谱数据中，虽然每个波段包含的光谱信息具有独特性，但这些波段之间通常是相关的，并且可能有长期的依赖关系。</a:t>
                      </a:r>
                      <a:endParaRPr lang="zh-CN" altLang="en-US"/>
                    </a:p>
                  </a:txBody>
                  <a:tcPr/>
                </a:tc>
              </a:tr>
            </a:tbl>
          </a:graphicData>
        </a:graphic>
      </p:graphicFrame>
      <p:sp>
        <p:nvSpPr>
          <p:cNvPr id="6" name="文本框 5"/>
          <p:cNvSpPr txBox="1"/>
          <p:nvPr/>
        </p:nvSpPr>
        <p:spPr>
          <a:xfrm>
            <a:off x="7335520" y="2665730"/>
            <a:ext cx="4064000" cy="368300"/>
          </a:xfrm>
          <a:prstGeom prst="rect">
            <a:avLst/>
          </a:prstGeom>
          <a:noFill/>
        </p:spPr>
        <p:txBody>
          <a:bodyPr wrap="square" rtlCol="0">
            <a:spAutoFit/>
          </a:bodyPr>
          <a:p>
            <a:r>
              <a:rPr lang="zh-CN" altLang="en-US"/>
              <a:t>沿通道维度展开</a:t>
            </a:r>
            <a:r>
              <a:rPr lang="zh-CN" altLang="en-US"/>
              <a:t>作用</a:t>
            </a:r>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382484" y="603183"/>
            <a:ext cx="3427031" cy="521970"/>
          </a:xfrm>
          <a:prstGeom prst="rect">
            <a:avLst/>
          </a:prstGeom>
          <a:noFill/>
        </p:spPr>
        <p:txBody>
          <a:bodyPr wrap="square" rtlCol="0">
            <a:spAutoFit/>
          </a:bodyPr>
          <a:lstStyle/>
          <a:p>
            <a:pPr algn="ctr"/>
            <a:r>
              <a:rPr kumimoji="1" lang="en-US" altLang="zh-CN" sz="2800" b="1" dirty="0">
                <a:solidFill>
                  <a:schemeClr val="accent1"/>
                </a:solidFill>
                <a:latin typeface="+mj-ea"/>
                <a:ea typeface="+mj-ea"/>
              </a:rPr>
              <a:t>F</a:t>
            </a:r>
            <a:r>
              <a:rPr kumimoji="1" lang="en-US" altLang="zh-CN" sz="2800" b="1" dirty="0">
                <a:solidFill>
                  <a:schemeClr val="accent1"/>
                </a:solidFill>
                <a:latin typeface="+mj-ea"/>
                <a:ea typeface="+mj-ea"/>
              </a:rPr>
              <a:t>us-Mamba</a:t>
            </a:r>
            <a:endParaRPr kumimoji="1" lang="en-US" altLang="zh-CN" sz="2800" b="1" dirty="0">
              <a:solidFill>
                <a:schemeClr val="accent1"/>
              </a:solidFill>
              <a:latin typeface="+mj-ea"/>
              <a:ea typeface="+mj-ea"/>
            </a:endParaRPr>
          </a:p>
        </p:txBody>
      </p:sp>
      <p:pic>
        <p:nvPicPr>
          <p:cNvPr id="2" name="图片 1"/>
          <p:cNvPicPr>
            <a:picLocks noChangeAspect="1"/>
          </p:cNvPicPr>
          <p:nvPr/>
        </p:nvPicPr>
        <p:blipFill>
          <a:blip r:embed="rId1"/>
          <a:stretch>
            <a:fillRect/>
          </a:stretch>
        </p:blipFill>
        <p:spPr>
          <a:xfrm>
            <a:off x="760095" y="1433195"/>
            <a:ext cx="4572000" cy="3368040"/>
          </a:xfrm>
          <a:prstGeom prst="rect">
            <a:avLst/>
          </a:prstGeom>
        </p:spPr>
      </p:pic>
      <p:pic>
        <p:nvPicPr>
          <p:cNvPr id="3" name="图片 2"/>
          <p:cNvPicPr>
            <a:picLocks noChangeAspect="1"/>
          </p:cNvPicPr>
          <p:nvPr/>
        </p:nvPicPr>
        <p:blipFill>
          <a:blip r:embed="rId2"/>
          <a:stretch>
            <a:fillRect/>
          </a:stretch>
        </p:blipFill>
        <p:spPr>
          <a:xfrm>
            <a:off x="5594985" y="1512570"/>
            <a:ext cx="5745480" cy="3375660"/>
          </a:xfrm>
          <a:prstGeom prst="rect">
            <a:avLst/>
          </a:prstGeom>
        </p:spPr>
      </p:pic>
      <p:sp>
        <p:nvSpPr>
          <p:cNvPr id="4" name="文本框 3"/>
          <p:cNvSpPr txBox="1"/>
          <p:nvPr/>
        </p:nvSpPr>
        <p:spPr>
          <a:xfrm>
            <a:off x="1064260" y="5275580"/>
            <a:ext cx="9561830" cy="922020"/>
          </a:xfrm>
          <a:prstGeom prst="rect">
            <a:avLst/>
          </a:prstGeom>
          <a:noFill/>
        </p:spPr>
        <p:txBody>
          <a:bodyPr wrap="square" rtlCol="0">
            <a:spAutoFit/>
          </a:bodyPr>
          <a:p>
            <a:r>
              <a:rPr lang="zh-CN" altLang="en-US"/>
              <a:t>传统的</a:t>
            </a:r>
            <a:r>
              <a:rPr lang="en-US" altLang="zh-CN"/>
              <a:t>SSM</a:t>
            </a:r>
            <a:r>
              <a:rPr lang="zh-CN" altLang="en-US"/>
              <a:t>通常处理单一输入，难以有效整合多源数据中的跨模态信息。为解决这一局限性，本文提出了</a:t>
            </a:r>
            <a:r>
              <a:rPr lang="en-US" altLang="zh-CN"/>
              <a:t>FusMamba</a:t>
            </a:r>
            <a:r>
              <a:rPr lang="zh-CN" altLang="en-US"/>
              <a:t>模块，该模块可整合来自不同模态的特征。多源特征被输入到</a:t>
            </a:r>
            <a:r>
              <a:rPr lang="zh-CN" altLang="en-US"/>
              <a:t>该模块中，以进行跨模态特征融合和交互。</a:t>
            </a:r>
            <a:endParaRPr lang="zh-CN" altLang="en-US"/>
          </a:p>
        </p:txBody>
      </p:sp>
      <p:sp>
        <p:nvSpPr>
          <p:cNvPr id="5" name="文本框 4"/>
          <p:cNvSpPr txBox="1"/>
          <p:nvPr/>
        </p:nvSpPr>
        <p:spPr>
          <a:xfrm>
            <a:off x="575310" y="2537460"/>
            <a:ext cx="4064000" cy="368300"/>
          </a:xfrm>
          <a:prstGeom prst="rect">
            <a:avLst/>
          </a:prstGeom>
          <a:noFill/>
        </p:spPr>
        <p:txBody>
          <a:bodyPr wrap="square" rtlCol="0">
            <a:spAutoFit/>
          </a:bodyPr>
          <a:p>
            <a:r>
              <a:rPr lang="en-US" altLang="zh-CN"/>
              <a:t>HSI</a:t>
            </a:r>
            <a:endParaRPr lang="en-US" altLang="zh-CN"/>
          </a:p>
        </p:txBody>
      </p:sp>
      <p:sp>
        <p:nvSpPr>
          <p:cNvPr id="6" name="文本框 5"/>
          <p:cNvSpPr txBox="1"/>
          <p:nvPr/>
        </p:nvSpPr>
        <p:spPr>
          <a:xfrm>
            <a:off x="575310" y="3461385"/>
            <a:ext cx="4064000" cy="368300"/>
          </a:xfrm>
          <a:prstGeom prst="rect">
            <a:avLst/>
          </a:prstGeom>
          <a:noFill/>
        </p:spPr>
        <p:txBody>
          <a:bodyPr wrap="square" rtlCol="0">
            <a:spAutoFit/>
          </a:bodyPr>
          <a:p>
            <a:r>
              <a:rPr lang="en-US" altLang="zh-CN"/>
              <a:t>SAR</a:t>
            </a:r>
            <a:endParaRPr lang="en-US" altLang="zh-CN"/>
          </a:p>
        </p:txBody>
      </p:sp>
      <p:sp>
        <p:nvSpPr>
          <p:cNvPr id="8" name="文本框 7"/>
          <p:cNvSpPr txBox="1"/>
          <p:nvPr/>
        </p:nvSpPr>
        <p:spPr>
          <a:xfrm>
            <a:off x="5182870" y="2537460"/>
            <a:ext cx="4064000" cy="368300"/>
          </a:xfrm>
          <a:prstGeom prst="rect">
            <a:avLst/>
          </a:prstGeom>
          <a:noFill/>
        </p:spPr>
        <p:txBody>
          <a:bodyPr wrap="square" rtlCol="0">
            <a:spAutoFit/>
          </a:bodyPr>
          <a:p>
            <a:r>
              <a:rPr lang="zh-CN" altLang="en-US"/>
              <a:t>结合了</a:t>
            </a:r>
            <a:r>
              <a:rPr lang="en-US" altLang="zh-CN"/>
              <a:t>SAR</a:t>
            </a:r>
            <a:r>
              <a:rPr lang="zh-CN" altLang="en-US"/>
              <a:t>信息的</a:t>
            </a:r>
            <a:r>
              <a:rPr lang="en-US" altLang="zh-CN"/>
              <a:t>HSI</a:t>
            </a:r>
            <a:endParaRPr lang="en-US" altLang="zh-CN"/>
          </a:p>
        </p:txBody>
      </p:sp>
      <p:sp>
        <p:nvSpPr>
          <p:cNvPr id="9" name="文本框 8"/>
          <p:cNvSpPr txBox="1"/>
          <p:nvPr/>
        </p:nvSpPr>
        <p:spPr>
          <a:xfrm>
            <a:off x="5216525" y="3375025"/>
            <a:ext cx="4064000" cy="368300"/>
          </a:xfrm>
          <a:prstGeom prst="rect">
            <a:avLst/>
          </a:prstGeom>
          <a:noFill/>
        </p:spPr>
        <p:txBody>
          <a:bodyPr wrap="square" rtlCol="0">
            <a:spAutoFit/>
          </a:bodyPr>
          <a:p>
            <a:r>
              <a:rPr lang="zh-CN" altLang="en-US"/>
              <a:t>结合了</a:t>
            </a:r>
            <a:r>
              <a:rPr lang="en-US" altLang="zh-CN"/>
              <a:t>HSI</a:t>
            </a:r>
            <a:r>
              <a:rPr lang="zh-CN" altLang="en-US"/>
              <a:t>信息的</a:t>
            </a:r>
            <a:r>
              <a:rPr lang="en-US" altLang="zh-CN"/>
              <a:t>SAR</a:t>
            </a:r>
            <a:endParaRPr lang="en-US" altLang="zh-C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382484" y="603183"/>
            <a:ext cx="3427031" cy="521970"/>
          </a:xfrm>
          <a:prstGeom prst="rect">
            <a:avLst/>
          </a:prstGeom>
          <a:noFill/>
        </p:spPr>
        <p:txBody>
          <a:bodyPr wrap="square" rtlCol="0">
            <a:spAutoFit/>
          </a:bodyPr>
          <a:lstStyle/>
          <a:p>
            <a:pPr algn="ctr"/>
            <a:r>
              <a:rPr kumimoji="1" lang="en-US" altLang="zh-CN" sz="2800" b="1" dirty="0">
                <a:solidFill>
                  <a:schemeClr val="accent1"/>
                </a:solidFill>
                <a:latin typeface="+mj-ea"/>
                <a:ea typeface="+mj-ea"/>
              </a:rPr>
              <a:t>F</a:t>
            </a:r>
            <a:r>
              <a:rPr kumimoji="1" lang="en-US" altLang="zh-CN" sz="2800" b="1" dirty="0">
                <a:solidFill>
                  <a:schemeClr val="accent1"/>
                </a:solidFill>
                <a:latin typeface="+mj-ea"/>
                <a:ea typeface="+mj-ea"/>
              </a:rPr>
              <a:t>us-Mamba</a:t>
            </a:r>
            <a:endParaRPr kumimoji="1" lang="en-US" altLang="zh-CN" sz="2800" b="1" dirty="0">
              <a:solidFill>
                <a:schemeClr val="accent1"/>
              </a:solidFill>
              <a:latin typeface="+mj-ea"/>
              <a:ea typeface="+mj-ea"/>
            </a:endParaRPr>
          </a:p>
        </p:txBody>
      </p:sp>
      <p:pic>
        <p:nvPicPr>
          <p:cNvPr id="2" name="图片 1"/>
          <p:cNvPicPr>
            <a:picLocks noChangeAspect="1"/>
          </p:cNvPicPr>
          <p:nvPr/>
        </p:nvPicPr>
        <p:blipFill>
          <a:blip r:embed="rId1"/>
          <a:stretch>
            <a:fillRect/>
          </a:stretch>
        </p:blipFill>
        <p:spPr>
          <a:xfrm>
            <a:off x="760095" y="1433195"/>
            <a:ext cx="4572000" cy="3368040"/>
          </a:xfrm>
          <a:prstGeom prst="rect">
            <a:avLst/>
          </a:prstGeom>
        </p:spPr>
      </p:pic>
      <p:pic>
        <p:nvPicPr>
          <p:cNvPr id="3" name="图片 2"/>
          <p:cNvPicPr>
            <a:picLocks noChangeAspect="1"/>
          </p:cNvPicPr>
          <p:nvPr/>
        </p:nvPicPr>
        <p:blipFill>
          <a:blip r:embed="rId2"/>
          <a:stretch>
            <a:fillRect/>
          </a:stretch>
        </p:blipFill>
        <p:spPr>
          <a:xfrm>
            <a:off x="5594985" y="1512570"/>
            <a:ext cx="5745480" cy="3375660"/>
          </a:xfrm>
          <a:prstGeom prst="rect">
            <a:avLst/>
          </a:prstGeom>
        </p:spPr>
      </p:pic>
      <p:sp>
        <p:nvSpPr>
          <p:cNvPr id="4" name="文本框 3"/>
          <p:cNvSpPr txBox="1"/>
          <p:nvPr/>
        </p:nvSpPr>
        <p:spPr>
          <a:xfrm>
            <a:off x="1064260" y="5275580"/>
            <a:ext cx="9561830" cy="922020"/>
          </a:xfrm>
          <a:prstGeom prst="rect">
            <a:avLst/>
          </a:prstGeom>
          <a:noFill/>
        </p:spPr>
        <p:txBody>
          <a:bodyPr wrap="square" rtlCol="0">
            <a:spAutoFit/>
          </a:bodyPr>
          <a:p>
            <a:r>
              <a:rPr lang="zh-CN" altLang="en-US"/>
              <a:t>传统的</a:t>
            </a:r>
            <a:r>
              <a:rPr lang="en-US" altLang="zh-CN"/>
              <a:t>Mamba</a:t>
            </a:r>
            <a:r>
              <a:rPr lang="zh-CN" altLang="en-US"/>
              <a:t>模块，参数源自正在处理的模态序列，而</a:t>
            </a:r>
            <a:r>
              <a:rPr lang="en-US" altLang="zh-CN"/>
              <a:t>Fus-Mamba</a:t>
            </a:r>
            <a:r>
              <a:rPr lang="zh-CN" altLang="en-US"/>
              <a:t>是来自另一个模态序列经过线性层处理后得到的。相比之下，在处理给定序列时，利用来自另一种模态的特征来生成参数使</a:t>
            </a:r>
            <a:r>
              <a:rPr lang="zh-CN" altLang="en-US"/>
              <a:t>该模块能够捕捉模态之间更深层次的相互作用和依赖关系。</a:t>
            </a:r>
            <a:endParaRPr lang="zh-CN" altLang="en-US"/>
          </a:p>
        </p:txBody>
      </p:sp>
      <p:sp>
        <p:nvSpPr>
          <p:cNvPr id="5" name="圆角矩形 4"/>
          <p:cNvSpPr/>
          <p:nvPr/>
        </p:nvSpPr>
        <p:spPr>
          <a:xfrm>
            <a:off x="8549640" y="2275840"/>
            <a:ext cx="1892935" cy="288290"/>
          </a:xfrm>
          <a:prstGeom prst="roundRect">
            <a:avLst/>
          </a:prstGeom>
          <a:ln>
            <a:solidFill>
              <a:srgbClr val="FF0000"/>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cxnSp>
        <p:nvCxnSpPr>
          <p:cNvPr id="6" name="直接箭头连接符 5"/>
          <p:cNvCxnSpPr>
            <a:endCxn id="4" idx="0"/>
          </p:cNvCxnSpPr>
          <p:nvPr/>
        </p:nvCxnSpPr>
        <p:spPr>
          <a:xfrm flipH="1">
            <a:off x="5845175" y="2605405"/>
            <a:ext cx="3115945" cy="2670175"/>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8" name="圆角矩形 7"/>
          <p:cNvSpPr/>
          <p:nvPr/>
        </p:nvSpPr>
        <p:spPr>
          <a:xfrm>
            <a:off x="3261360" y="2399665"/>
            <a:ext cx="473075" cy="1522730"/>
          </a:xfrm>
          <a:prstGeom prst="roundRect">
            <a:avLst/>
          </a:prstGeom>
          <a:ln>
            <a:solidFill>
              <a:srgbClr val="FF0000"/>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cxnSp>
        <p:nvCxnSpPr>
          <p:cNvPr id="9" name="直接箭头连接符 8"/>
          <p:cNvCxnSpPr>
            <a:stCxn id="8" idx="3"/>
          </p:cNvCxnSpPr>
          <p:nvPr/>
        </p:nvCxnSpPr>
        <p:spPr>
          <a:xfrm flipV="1">
            <a:off x="3734435" y="3129915"/>
            <a:ext cx="1769745" cy="31115"/>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10" name="文本框 9"/>
          <p:cNvSpPr txBox="1"/>
          <p:nvPr/>
        </p:nvSpPr>
        <p:spPr>
          <a:xfrm>
            <a:off x="8583930" y="1287780"/>
            <a:ext cx="3172460" cy="368300"/>
          </a:xfrm>
          <a:prstGeom prst="rect">
            <a:avLst/>
          </a:prstGeom>
          <a:noFill/>
        </p:spPr>
        <p:txBody>
          <a:bodyPr wrap="square" rtlCol="0">
            <a:spAutoFit/>
          </a:bodyPr>
          <a:p>
            <a:r>
              <a:rPr lang="zh-CN" altLang="en-US"/>
              <a:t>并非简单维度匹配和数据</a:t>
            </a:r>
            <a:r>
              <a:rPr lang="zh-CN" altLang="en-US"/>
              <a:t>拼接</a:t>
            </a:r>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382484" y="603183"/>
            <a:ext cx="3427031" cy="521970"/>
          </a:xfrm>
          <a:prstGeom prst="rect">
            <a:avLst/>
          </a:prstGeom>
          <a:noFill/>
        </p:spPr>
        <p:txBody>
          <a:bodyPr wrap="square" rtlCol="0">
            <a:spAutoFit/>
          </a:bodyPr>
          <a:lstStyle/>
          <a:p>
            <a:pPr algn="ctr"/>
            <a:r>
              <a:rPr kumimoji="1" lang="zh-CN" altLang="en-US" sz="2800" b="1" dirty="0">
                <a:solidFill>
                  <a:schemeClr val="accent1"/>
                </a:solidFill>
                <a:latin typeface="+mj-ea"/>
                <a:ea typeface="+mj-ea"/>
                <a:sym typeface="+mn-ea"/>
              </a:rPr>
              <a:t>分类器</a:t>
            </a:r>
            <a:endParaRPr kumimoji="1" lang="zh-CN" altLang="en-US" sz="2800" b="1" dirty="0">
              <a:solidFill>
                <a:schemeClr val="accent1"/>
              </a:solidFill>
              <a:latin typeface="+mj-ea"/>
              <a:ea typeface="+mj-ea"/>
              <a:sym typeface="+mn-ea"/>
            </a:endParaRPr>
          </a:p>
        </p:txBody>
      </p:sp>
      <p:pic>
        <p:nvPicPr>
          <p:cNvPr id="2" name="图片 1"/>
          <p:cNvPicPr>
            <a:picLocks noChangeAspect="1"/>
          </p:cNvPicPr>
          <p:nvPr/>
        </p:nvPicPr>
        <p:blipFill>
          <a:blip r:embed="rId1"/>
          <a:stretch>
            <a:fillRect/>
          </a:stretch>
        </p:blipFill>
        <p:spPr>
          <a:xfrm>
            <a:off x="1471295" y="1588770"/>
            <a:ext cx="9385935" cy="2673350"/>
          </a:xfrm>
          <a:prstGeom prst="rect">
            <a:avLst/>
          </a:prstGeom>
        </p:spPr>
      </p:pic>
      <p:sp>
        <p:nvSpPr>
          <p:cNvPr id="3" name="文本框 2"/>
          <p:cNvSpPr txBox="1"/>
          <p:nvPr/>
        </p:nvSpPr>
        <p:spPr>
          <a:xfrm>
            <a:off x="2541905" y="4725670"/>
            <a:ext cx="6454775" cy="645160"/>
          </a:xfrm>
          <a:prstGeom prst="rect">
            <a:avLst/>
          </a:prstGeom>
          <a:noFill/>
        </p:spPr>
        <p:txBody>
          <a:bodyPr wrap="square" rtlCol="0">
            <a:spAutoFit/>
          </a:bodyPr>
          <a:p>
            <a:r>
              <a:rPr lang="en-US" altLang="zh-CN"/>
              <a:t>Mamba</a:t>
            </a:r>
            <a:r>
              <a:rPr lang="zh-CN" altLang="en-US"/>
              <a:t>模块重复</a:t>
            </a:r>
            <a:r>
              <a:rPr lang="en-US" altLang="zh-CN"/>
              <a:t>L</a:t>
            </a:r>
            <a:r>
              <a:rPr lang="zh-CN" altLang="en-US"/>
              <a:t>次，最终的特征被拼接起来并输入到分类器中进行分类。该分类器由两个全连接层组成，输出最终分类</a:t>
            </a:r>
            <a:r>
              <a:rPr lang="zh-CN" altLang="en-US"/>
              <a:t>图像。</a:t>
            </a:r>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382484" y="603183"/>
            <a:ext cx="3427031" cy="521970"/>
          </a:xfrm>
          <a:prstGeom prst="rect">
            <a:avLst/>
          </a:prstGeom>
          <a:noFill/>
        </p:spPr>
        <p:txBody>
          <a:bodyPr wrap="square" rtlCol="0">
            <a:spAutoFit/>
          </a:bodyPr>
          <a:lstStyle/>
          <a:p>
            <a:pPr algn="ctr"/>
            <a:r>
              <a:rPr kumimoji="1" lang="zh-CN" altLang="en-US" sz="2800" b="1" dirty="0">
                <a:solidFill>
                  <a:schemeClr val="accent1"/>
                </a:solidFill>
                <a:latin typeface="+mj-ea"/>
                <a:ea typeface="+mj-ea"/>
                <a:sym typeface="+mn-ea"/>
              </a:rPr>
              <a:t>实验流程</a:t>
            </a:r>
            <a:endParaRPr kumimoji="1" lang="zh-CN" altLang="en-US" sz="2800" b="1" dirty="0">
              <a:solidFill>
                <a:schemeClr val="accent1"/>
              </a:solidFill>
              <a:latin typeface="+mj-ea"/>
              <a:ea typeface="+mj-ea"/>
            </a:endParaRPr>
          </a:p>
        </p:txBody>
      </p:sp>
      <p:pic>
        <p:nvPicPr>
          <p:cNvPr id="3" name="图片 2"/>
          <p:cNvPicPr>
            <a:picLocks noChangeAspect="1"/>
          </p:cNvPicPr>
          <p:nvPr/>
        </p:nvPicPr>
        <p:blipFill>
          <a:blip r:embed="rId1"/>
          <a:stretch>
            <a:fillRect/>
          </a:stretch>
        </p:blipFill>
        <p:spPr>
          <a:xfrm>
            <a:off x="1134110" y="3218815"/>
            <a:ext cx="9385935" cy="2673350"/>
          </a:xfrm>
          <a:prstGeom prst="rect">
            <a:avLst/>
          </a:prstGeom>
        </p:spPr>
      </p:pic>
      <p:cxnSp>
        <p:nvCxnSpPr>
          <p:cNvPr id="4" name="直接箭头连接符 3"/>
          <p:cNvCxnSpPr/>
          <p:nvPr/>
        </p:nvCxnSpPr>
        <p:spPr>
          <a:xfrm flipH="1" flipV="1">
            <a:off x="1857375" y="2461260"/>
            <a:ext cx="739140" cy="152146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5" name="文本框 4"/>
          <p:cNvSpPr txBox="1"/>
          <p:nvPr/>
        </p:nvSpPr>
        <p:spPr>
          <a:xfrm>
            <a:off x="1325245" y="1820545"/>
            <a:ext cx="1206500" cy="368300"/>
          </a:xfrm>
          <a:prstGeom prst="rect">
            <a:avLst/>
          </a:prstGeom>
          <a:noFill/>
        </p:spPr>
        <p:txBody>
          <a:bodyPr wrap="square" rtlCol="0">
            <a:spAutoFit/>
          </a:bodyPr>
          <a:p>
            <a:r>
              <a:rPr lang="en-US" altLang="zh-CN"/>
              <a:t>HSI</a:t>
            </a:r>
            <a:r>
              <a:rPr lang="zh-CN" altLang="en-US"/>
              <a:t>的</a:t>
            </a:r>
            <a:r>
              <a:rPr lang="en-US" altLang="zh-CN"/>
              <a:t>PCA</a:t>
            </a:r>
            <a:endParaRPr lang="en-US" altLang="zh-CN"/>
          </a:p>
        </p:txBody>
      </p:sp>
      <p:cxnSp>
        <p:nvCxnSpPr>
          <p:cNvPr id="6" name="直接箭头连接符 5"/>
          <p:cNvCxnSpPr/>
          <p:nvPr/>
        </p:nvCxnSpPr>
        <p:spPr>
          <a:xfrm flipH="1" flipV="1">
            <a:off x="3346450" y="2494280"/>
            <a:ext cx="10795" cy="1260475"/>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8" name="文本框 7"/>
          <p:cNvSpPr txBox="1"/>
          <p:nvPr/>
        </p:nvSpPr>
        <p:spPr>
          <a:xfrm>
            <a:off x="2728595" y="1863725"/>
            <a:ext cx="1326515" cy="645160"/>
          </a:xfrm>
          <a:prstGeom prst="rect">
            <a:avLst/>
          </a:prstGeom>
          <a:noFill/>
        </p:spPr>
        <p:txBody>
          <a:bodyPr wrap="square" rtlCol="0">
            <a:spAutoFit/>
          </a:bodyPr>
          <a:p>
            <a:r>
              <a:rPr lang="zh-CN" altLang="en-US"/>
              <a:t>多尺度空间</a:t>
            </a:r>
            <a:r>
              <a:rPr lang="zh-CN" altLang="en-US"/>
              <a:t>维度扫描</a:t>
            </a:r>
            <a:endParaRPr lang="zh-CN" altLang="en-US"/>
          </a:p>
        </p:txBody>
      </p:sp>
      <p:sp>
        <p:nvSpPr>
          <p:cNvPr id="9" name="圆角矩形 8"/>
          <p:cNvSpPr/>
          <p:nvPr/>
        </p:nvSpPr>
        <p:spPr>
          <a:xfrm>
            <a:off x="2792095" y="3710940"/>
            <a:ext cx="988695" cy="1749425"/>
          </a:xfrm>
          <a:prstGeom prst="roundRect">
            <a:avLst/>
          </a:prstGeom>
          <a:ln>
            <a:solidFill>
              <a:schemeClr val="tx1"/>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cxnSp>
        <p:nvCxnSpPr>
          <p:cNvPr id="10" name="直接箭头连接符 9"/>
          <p:cNvCxnSpPr/>
          <p:nvPr/>
        </p:nvCxnSpPr>
        <p:spPr>
          <a:xfrm flipV="1">
            <a:off x="4237355" y="2559050"/>
            <a:ext cx="282575" cy="1217295"/>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11" name="文本框 10"/>
          <p:cNvSpPr txBox="1"/>
          <p:nvPr/>
        </p:nvSpPr>
        <p:spPr>
          <a:xfrm>
            <a:off x="4184650" y="1984375"/>
            <a:ext cx="2117725" cy="368300"/>
          </a:xfrm>
          <a:prstGeom prst="rect">
            <a:avLst/>
          </a:prstGeom>
          <a:noFill/>
        </p:spPr>
        <p:txBody>
          <a:bodyPr wrap="square" rtlCol="0">
            <a:spAutoFit/>
          </a:bodyPr>
          <a:p>
            <a:r>
              <a:rPr lang="zh-CN" altLang="en-US"/>
              <a:t>光谱多通道</a:t>
            </a:r>
            <a:r>
              <a:rPr lang="zh-CN" altLang="en-US"/>
              <a:t>扫描</a:t>
            </a:r>
            <a:endParaRPr lang="zh-CN" altLang="en-US"/>
          </a:p>
        </p:txBody>
      </p:sp>
      <p:cxnSp>
        <p:nvCxnSpPr>
          <p:cNvPr id="12" name="直接箭头连接符 11"/>
          <p:cNvCxnSpPr/>
          <p:nvPr/>
        </p:nvCxnSpPr>
        <p:spPr>
          <a:xfrm flipV="1">
            <a:off x="4976495" y="2939415"/>
            <a:ext cx="1118870" cy="79375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13" name="文本框 12"/>
          <p:cNvSpPr txBox="1"/>
          <p:nvPr/>
        </p:nvSpPr>
        <p:spPr>
          <a:xfrm>
            <a:off x="6052185" y="2570480"/>
            <a:ext cx="1391285" cy="368300"/>
          </a:xfrm>
          <a:prstGeom prst="rect">
            <a:avLst/>
          </a:prstGeom>
          <a:noFill/>
        </p:spPr>
        <p:txBody>
          <a:bodyPr wrap="square" rtlCol="0">
            <a:spAutoFit/>
          </a:bodyPr>
          <a:p>
            <a:r>
              <a:rPr lang="zh-CN" altLang="en-US"/>
              <a:t>特征</a:t>
            </a:r>
            <a:r>
              <a:rPr lang="zh-CN" altLang="en-US"/>
              <a:t>融合</a:t>
            </a:r>
            <a:endParaRPr lang="zh-CN" altLang="en-US"/>
          </a:p>
        </p:txBody>
      </p:sp>
      <p:cxnSp>
        <p:nvCxnSpPr>
          <p:cNvPr id="14" name="直接箭头连接符 13"/>
          <p:cNvCxnSpPr/>
          <p:nvPr/>
        </p:nvCxnSpPr>
        <p:spPr>
          <a:xfrm flipV="1">
            <a:off x="9311640" y="2722245"/>
            <a:ext cx="250190" cy="136906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15" name="文本框 14"/>
          <p:cNvSpPr txBox="1"/>
          <p:nvPr/>
        </p:nvSpPr>
        <p:spPr>
          <a:xfrm>
            <a:off x="9138285" y="2320290"/>
            <a:ext cx="4064000" cy="368300"/>
          </a:xfrm>
          <a:prstGeom prst="rect">
            <a:avLst/>
          </a:prstGeom>
          <a:noFill/>
        </p:spPr>
        <p:txBody>
          <a:bodyPr wrap="square" rtlCol="0">
            <a:spAutoFit/>
          </a:bodyPr>
          <a:p>
            <a:r>
              <a:rPr lang="zh-CN" altLang="en-US"/>
              <a:t>全</a:t>
            </a:r>
            <a:r>
              <a:rPr lang="zh-CN" altLang="en-US"/>
              <a:t>连接层最终</a:t>
            </a:r>
            <a:r>
              <a:rPr lang="zh-CN" altLang="en-US"/>
              <a:t>分类</a:t>
            </a:r>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382484" y="603183"/>
            <a:ext cx="3427031" cy="521970"/>
          </a:xfrm>
          <a:prstGeom prst="rect">
            <a:avLst/>
          </a:prstGeom>
          <a:noFill/>
        </p:spPr>
        <p:txBody>
          <a:bodyPr wrap="square" rtlCol="0">
            <a:spAutoFit/>
          </a:bodyPr>
          <a:lstStyle/>
          <a:p>
            <a:pPr algn="ctr"/>
            <a:r>
              <a:rPr kumimoji="1" lang="zh-CN" altLang="en-US" sz="2800" b="1" dirty="0">
                <a:solidFill>
                  <a:schemeClr val="accent1"/>
                </a:solidFill>
                <a:latin typeface="+mj-ea"/>
                <a:ea typeface="+mj-ea"/>
              </a:rPr>
              <a:t>数据集</a:t>
            </a:r>
            <a:endParaRPr kumimoji="1" lang="zh-CN" altLang="en-US" sz="2800" b="1" dirty="0">
              <a:solidFill>
                <a:schemeClr val="accent1"/>
              </a:solidFill>
              <a:latin typeface="+mj-ea"/>
              <a:ea typeface="+mj-ea"/>
            </a:endParaRPr>
          </a:p>
        </p:txBody>
      </p:sp>
      <p:pic>
        <p:nvPicPr>
          <p:cNvPr id="4" name="图片 3"/>
          <p:cNvPicPr>
            <a:picLocks noChangeAspect="1"/>
          </p:cNvPicPr>
          <p:nvPr/>
        </p:nvPicPr>
        <p:blipFill>
          <a:blip r:embed="rId1"/>
          <a:stretch>
            <a:fillRect/>
          </a:stretch>
        </p:blipFill>
        <p:spPr>
          <a:xfrm>
            <a:off x="650240" y="1310640"/>
            <a:ext cx="2468880" cy="3787140"/>
          </a:xfrm>
          <a:prstGeom prst="rect">
            <a:avLst/>
          </a:prstGeom>
        </p:spPr>
      </p:pic>
      <p:pic>
        <p:nvPicPr>
          <p:cNvPr id="5" name="图片 4"/>
          <p:cNvPicPr>
            <a:picLocks noChangeAspect="1"/>
          </p:cNvPicPr>
          <p:nvPr/>
        </p:nvPicPr>
        <p:blipFill>
          <a:blip r:embed="rId2"/>
          <a:stretch>
            <a:fillRect/>
          </a:stretch>
        </p:blipFill>
        <p:spPr>
          <a:xfrm>
            <a:off x="9506585" y="1347470"/>
            <a:ext cx="2392680" cy="3771900"/>
          </a:xfrm>
          <a:prstGeom prst="rect">
            <a:avLst/>
          </a:prstGeom>
        </p:spPr>
      </p:pic>
      <p:pic>
        <p:nvPicPr>
          <p:cNvPr id="10" name="图片 9"/>
          <p:cNvPicPr/>
          <p:nvPr/>
        </p:nvPicPr>
        <p:blipFill>
          <a:blip r:embed="rId3"/>
          <a:stretch>
            <a:fillRect/>
          </a:stretch>
        </p:blipFill>
        <p:spPr>
          <a:xfrm>
            <a:off x="3119120" y="1347470"/>
            <a:ext cx="2462530" cy="2317115"/>
          </a:xfrm>
          <a:prstGeom prst="rect">
            <a:avLst/>
          </a:prstGeom>
        </p:spPr>
      </p:pic>
      <p:pic>
        <p:nvPicPr>
          <p:cNvPr id="11" name="图片 10"/>
          <p:cNvPicPr>
            <a:picLocks noChangeAspect="1"/>
          </p:cNvPicPr>
          <p:nvPr/>
        </p:nvPicPr>
        <p:blipFill>
          <a:blip r:embed="rId4"/>
          <a:stretch>
            <a:fillRect/>
          </a:stretch>
        </p:blipFill>
        <p:spPr>
          <a:xfrm>
            <a:off x="6691630" y="1422400"/>
            <a:ext cx="2814955" cy="2165350"/>
          </a:xfrm>
          <a:prstGeom prst="rect">
            <a:avLst/>
          </a:prstGeom>
        </p:spPr>
      </p:pic>
      <p:sp>
        <p:nvSpPr>
          <p:cNvPr id="12" name="文本框 11"/>
          <p:cNvSpPr txBox="1"/>
          <p:nvPr/>
        </p:nvSpPr>
        <p:spPr>
          <a:xfrm>
            <a:off x="3415665" y="4004310"/>
            <a:ext cx="2983865" cy="2030095"/>
          </a:xfrm>
          <a:prstGeom prst="rect">
            <a:avLst/>
          </a:prstGeom>
          <a:noFill/>
        </p:spPr>
        <p:txBody>
          <a:bodyPr wrap="square" rtlCol="0">
            <a:spAutoFit/>
          </a:bodyPr>
          <a:p>
            <a:r>
              <a:rPr lang="zh-CN" altLang="en-US">
                <a:sym typeface="+mn-ea"/>
              </a:rPr>
              <a:t>休斯顿</a:t>
            </a:r>
            <a:r>
              <a:rPr lang="en-US" altLang="zh-CN">
                <a:sym typeface="+mn-ea"/>
              </a:rPr>
              <a:t>2018</a:t>
            </a:r>
            <a:r>
              <a:rPr lang="zh-CN" altLang="en-US">
                <a:sym typeface="+mn-ea"/>
              </a:rPr>
              <a:t>：</a:t>
            </a:r>
            <a:endParaRPr lang="zh-CN" altLang="en-US"/>
          </a:p>
          <a:p>
            <a:r>
              <a:rPr lang="zh-CN" altLang="en-US">
                <a:sym typeface="+mn-ea"/>
              </a:rPr>
              <a:t>数据组合：</a:t>
            </a:r>
            <a:r>
              <a:rPr lang="en-US" altLang="zh-CN">
                <a:sym typeface="+mn-ea"/>
              </a:rPr>
              <a:t>HSI+LiDAR</a:t>
            </a:r>
            <a:endParaRPr lang="en-US" altLang="zh-CN"/>
          </a:p>
          <a:p>
            <a:endParaRPr lang="zh-CN" altLang="en-US">
              <a:sym typeface="+mn-ea"/>
            </a:endParaRPr>
          </a:p>
          <a:p>
            <a:r>
              <a:rPr lang="zh-CN" altLang="en-US">
                <a:sym typeface="+mn-ea"/>
              </a:rPr>
              <a:t>类别：</a:t>
            </a:r>
            <a:r>
              <a:rPr lang="en-US" altLang="zh-CN">
                <a:sym typeface="+mn-ea"/>
              </a:rPr>
              <a:t>20</a:t>
            </a:r>
            <a:r>
              <a:rPr lang="zh-CN" altLang="en-US">
                <a:sym typeface="+mn-ea"/>
              </a:rPr>
              <a:t>类</a:t>
            </a:r>
            <a:endParaRPr lang="zh-CN" altLang="en-US"/>
          </a:p>
          <a:p>
            <a:r>
              <a:rPr lang="zh-CN" altLang="en-US">
                <a:sym typeface="+mn-ea"/>
              </a:rPr>
              <a:t>测试规模：</a:t>
            </a:r>
            <a:r>
              <a:rPr lang="en-US" altLang="zh-CN">
                <a:sym typeface="+mn-ea"/>
              </a:rPr>
              <a:t>200</a:t>
            </a:r>
            <a:r>
              <a:rPr lang="zh-CN" altLang="en-US">
                <a:sym typeface="+mn-ea"/>
              </a:rPr>
              <a:t>万</a:t>
            </a:r>
            <a:endParaRPr lang="zh-CN" altLang="en-US"/>
          </a:p>
          <a:p>
            <a:endParaRPr lang="en-US" altLang="zh-CN"/>
          </a:p>
          <a:p>
            <a:endParaRPr lang="zh-CN" altLang="en-US"/>
          </a:p>
        </p:txBody>
      </p:sp>
      <p:sp>
        <p:nvSpPr>
          <p:cNvPr id="13" name="文本框 12"/>
          <p:cNvSpPr txBox="1"/>
          <p:nvPr/>
        </p:nvSpPr>
        <p:spPr>
          <a:xfrm>
            <a:off x="6607810" y="4004310"/>
            <a:ext cx="4064000" cy="2030095"/>
          </a:xfrm>
          <a:prstGeom prst="rect">
            <a:avLst/>
          </a:prstGeom>
          <a:noFill/>
        </p:spPr>
        <p:txBody>
          <a:bodyPr wrap="square" rtlCol="0">
            <a:spAutoFit/>
          </a:bodyPr>
          <a:p>
            <a:r>
              <a:rPr lang="zh-CN" altLang="en-US">
                <a:sym typeface="+mn-ea"/>
              </a:rPr>
              <a:t>休斯顿</a:t>
            </a:r>
            <a:r>
              <a:rPr lang="en-US" altLang="zh-CN">
                <a:sym typeface="+mn-ea"/>
              </a:rPr>
              <a:t>2013</a:t>
            </a:r>
            <a:r>
              <a:rPr lang="zh-CN" altLang="en-US">
                <a:sym typeface="+mn-ea"/>
              </a:rPr>
              <a:t>：</a:t>
            </a:r>
            <a:endParaRPr lang="zh-CN" altLang="en-US"/>
          </a:p>
          <a:p>
            <a:r>
              <a:rPr lang="zh-CN" altLang="en-US">
                <a:sym typeface="+mn-ea"/>
              </a:rPr>
              <a:t>数据组合：</a:t>
            </a:r>
            <a:r>
              <a:rPr lang="en-US" altLang="zh-CN">
                <a:sym typeface="+mn-ea"/>
              </a:rPr>
              <a:t>HSI+LiDAR</a:t>
            </a:r>
            <a:endParaRPr lang="en-US" altLang="zh-CN"/>
          </a:p>
          <a:p>
            <a:r>
              <a:rPr lang="zh-CN" altLang="en-US">
                <a:sym typeface="+mn-ea"/>
              </a:rPr>
              <a:t>空间分辨率：统一</a:t>
            </a:r>
            <a:r>
              <a:rPr lang="en-US" altLang="zh-CN">
                <a:sym typeface="+mn-ea"/>
              </a:rPr>
              <a:t>2.5m</a:t>
            </a:r>
            <a:endParaRPr lang="zh-CN" altLang="en-US"/>
          </a:p>
          <a:p>
            <a:r>
              <a:rPr lang="zh-CN" altLang="en-US">
                <a:sym typeface="+mn-ea"/>
              </a:rPr>
              <a:t>类别：</a:t>
            </a:r>
            <a:r>
              <a:rPr lang="en-US" altLang="zh-CN">
                <a:sym typeface="+mn-ea"/>
              </a:rPr>
              <a:t>15</a:t>
            </a:r>
            <a:r>
              <a:rPr lang="zh-CN" altLang="en-US">
                <a:sym typeface="+mn-ea"/>
              </a:rPr>
              <a:t>类</a:t>
            </a:r>
            <a:endParaRPr lang="zh-CN" altLang="en-US"/>
          </a:p>
          <a:p>
            <a:r>
              <a:rPr lang="zh-CN" altLang="en-US">
                <a:sym typeface="+mn-ea"/>
              </a:rPr>
              <a:t>测试规模：</a:t>
            </a:r>
            <a:r>
              <a:rPr lang="en-US" altLang="zh-CN">
                <a:sym typeface="+mn-ea"/>
              </a:rPr>
              <a:t>1.2</a:t>
            </a:r>
            <a:r>
              <a:rPr lang="zh-CN" altLang="en-US">
                <a:sym typeface="+mn-ea"/>
              </a:rPr>
              <a:t>万</a:t>
            </a:r>
            <a:endParaRPr lang="zh-CN" altLang="en-US"/>
          </a:p>
          <a:p>
            <a:endParaRPr lang="en-US" altLang="zh-CN"/>
          </a:p>
          <a:p>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382484" y="603183"/>
            <a:ext cx="3427031" cy="521970"/>
          </a:xfrm>
          <a:prstGeom prst="rect">
            <a:avLst/>
          </a:prstGeom>
          <a:noFill/>
        </p:spPr>
        <p:txBody>
          <a:bodyPr wrap="square" rtlCol="0">
            <a:spAutoFit/>
          </a:bodyPr>
          <a:lstStyle/>
          <a:p>
            <a:pPr algn="ctr"/>
            <a:r>
              <a:rPr kumimoji="1" lang="zh-CN" altLang="en-US" sz="2800" b="1" dirty="0">
                <a:solidFill>
                  <a:schemeClr val="accent1"/>
                </a:solidFill>
                <a:latin typeface="+mj-ea"/>
                <a:ea typeface="+mj-ea"/>
              </a:rPr>
              <a:t>数据集</a:t>
            </a:r>
            <a:endParaRPr kumimoji="1" lang="zh-CN" altLang="en-US" sz="2800" b="1" dirty="0">
              <a:solidFill>
                <a:schemeClr val="accent1"/>
              </a:solidFill>
              <a:latin typeface="+mj-ea"/>
              <a:ea typeface="+mj-ea"/>
            </a:endParaRPr>
          </a:p>
        </p:txBody>
      </p:sp>
      <p:pic>
        <p:nvPicPr>
          <p:cNvPr id="2" name="图片 1"/>
          <p:cNvPicPr>
            <a:picLocks noChangeAspect="1"/>
          </p:cNvPicPr>
          <p:nvPr/>
        </p:nvPicPr>
        <p:blipFill>
          <a:blip r:embed="rId1"/>
          <a:stretch>
            <a:fillRect/>
          </a:stretch>
        </p:blipFill>
        <p:spPr>
          <a:xfrm>
            <a:off x="872490" y="1031875"/>
            <a:ext cx="3078480" cy="3810000"/>
          </a:xfrm>
          <a:prstGeom prst="rect">
            <a:avLst/>
          </a:prstGeom>
        </p:spPr>
      </p:pic>
      <p:pic>
        <p:nvPicPr>
          <p:cNvPr id="3" name="图片 2"/>
          <p:cNvPicPr>
            <a:picLocks noChangeAspect="1"/>
          </p:cNvPicPr>
          <p:nvPr/>
        </p:nvPicPr>
        <p:blipFill>
          <a:blip r:embed="rId2"/>
          <a:stretch>
            <a:fillRect/>
          </a:stretch>
        </p:blipFill>
        <p:spPr>
          <a:xfrm>
            <a:off x="9725025" y="906780"/>
            <a:ext cx="1684020" cy="3787140"/>
          </a:xfrm>
          <a:prstGeom prst="rect">
            <a:avLst/>
          </a:prstGeom>
        </p:spPr>
      </p:pic>
      <p:pic>
        <p:nvPicPr>
          <p:cNvPr id="8" name="图片 7"/>
          <p:cNvPicPr>
            <a:picLocks noChangeAspect="1"/>
          </p:cNvPicPr>
          <p:nvPr/>
        </p:nvPicPr>
        <p:blipFill>
          <a:blip r:embed="rId3"/>
          <a:stretch>
            <a:fillRect/>
          </a:stretch>
        </p:blipFill>
        <p:spPr>
          <a:xfrm>
            <a:off x="725805" y="4440555"/>
            <a:ext cx="4594860" cy="2148840"/>
          </a:xfrm>
          <a:prstGeom prst="rect">
            <a:avLst/>
          </a:prstGeom>
        </p:spPr>
      </p:pic>
      <p:pic>
        <p:nvPicPr>
          <p:cNvPr id="9" name="图片 8"/>
          <p:cNvPicPr>
            <a:picLocks noChangeAspect="1"/>
          </p:cNvPicPr>
          <p:nvPr/>
        </p:nvPicPr>
        <p:blipFill>
          <a:blip r:embed="rId4"/>
          <a:stretch>
            <a:fillRect/>
          </a:stretch>
        </p:blipFill>
        <p:spPr>
          <a:xfrm>
            <a:off x="7608570" y="4440555"/>
            <a:ext cx="4373880" cy="2011680"/>
          </a:xfrm>
          <a:prstGeom prst="rect">
            <a:avLst/>
          </a:prstGeom>
        </p:spPr>
      </p:pic>
      <p:sp>
        <p:nvSpPr>
          <p:cNvPr id="12" name="文本框 11"/>
          <p:cNvSpPr txBox="1"/>
          <p:nvPr/>
        </p:nvSpPr>
        <p:spPr>
          <a:xfrm>
            <a:off x="4207510" y="1871345"/>
            <a:ext cx="2500630" cy="1753235"/>
          </a:xfrm>
          <a:prstGeom prst="rect">
            <a:avLst/>
          </a:prstGeom>
          <a:noFill/>
        </p:spPr>
        <p:txBody>
          <a:bodyPr wrap="square" rtlCol="0">
            <a:spAutoFit/>
          </a:bodyPr>
          <a:p>
            <a:r>
              <a:rPr lang="zh-CN" altLang="en-US"/>
              <a:t>柏林：</a:t>
            </a:r>
            <a:endParaRPr lang="zh-CN" altLang="en-US"/>
          </a:p>
          <a:p>
            <a:r>
              <a:rPr lang="zh-CN" altLang="en-US"/>
              <a:t>数据组合：</a:t>
            </a:r>
            <a:r>
              <a:rPr lang="en-US" altLang="zh-CN"/>
              <a:t>HSI+SAR</a:t>
            </a:r>
            <a:endParaRPr lang="en-US" altLang="zh-CN"/>
          </a:p>
          <a:p>
            <a:r>
              <a:rPr lang="zh-CN" altLang="en-US"/>
              <a:t>空间分辨率：</a:t>
            </a:r>
            <a:r>
              <a:rPr lang="zh-CN" altLang="en-US"/>
              <a:t>插值</a:t>
            </a:r>
            <a:r>
              <a:rPr lang="zh-CN" altLang="en-US"/>
              <a:t>匹配</a:t>
            </a:r>
            <a:endParaRPr lang="zh-CN" altLang="en-US"/>
          </a:p>
          <a:p>
            <a:r>
              <a:rPr lang="zh-CN" altLang="en-US"/>
              <a:t>类别：</a:t>
            </a:r>
            <a:r>
              <a:rPr lang="en-US" altLang="zh-CN"/>
              <a:t>8</a:t>
            </a:r>
            <a:r>
              <a:rPr lang="zh-CN" altLang="en-US"/>
              <a:t>类</a:t>
            </a:r>
            <a:endParaRPr lang="zh-CN" altLang="en-US"/>
          </a:p>
          <a:p>
            <a:r>
              <a:rPr lang="zh-CN" altLang="en-US"/>
              <a:t>测试规模：</a:t>
            </a:r>
            <a:r>
              <a:rPr lang="en-US" altLang="zh-CN"/>
              <a:t>46</a:t>
            </a:r>
            <a:r>
              <a:rPr lang="zh-CN" altLang="en-US"/>
              <a:t>万</a:t>
            </a:r>
            <a:endParaRPr lang="zh-CN" altLang="en-US"/>
          </a:p>
          <a:p>
            <a:endParaRPr lang="en-US" altLang="zh-CN"/>
          </a:p>
        </p:txBody>
      </p:sp>
      <p:sp>
        <p:nvSpPr>
          <p:cNvPr id="13" name="文本框 12"/>
          <p:cNvSpPr txBox="1"/>
          <p:nvPr/>
        </p:nvSpPr>
        <p:spPr>
          <a:xfrm>
            <a:off x="7322185" y="1860550"/>
            <a:ext cx="4064000" cy="2030095"/>
          </a:xfrm>
          <a:prstGeom prst="rect">
            <a:avLst/>
          </a:prstGeom>
          <a:noFill/>
        </p:spPr>
        <p:txBody>
          <a:bodyPr wrap="square" rtlCol="0">
            <a:spAutoFit/>
          </a:bodyPr>
          <a:p>
            <a:r>
              <a:rPr lang="zh-CN" altLang="en-US">
                <a:sym typeface="+mn-ea"/>
              </a:rPr>
              <a:t>奥格斯堡：</a:t>
            </a:r>
            <a:endParaRPr lang="zh-CN" altLang="en-US"/>
          </a:p>
          <a:p>
            <a:r>
              <a:rPr lang="zh-CN" altLang="en-US">
                <a:sym typeface="+mn-ea"/>
              </a:rPr>
              <a:t>数据组合：</a:t>
            </a:r>
            <a:r>
              <a:rPr lang="en-US" altLang="zh-CN">
                <a:sym typeface="+mn-ea"/>
              </a:rPr>
              <a:t>HSI+SAR</a:t>
            </a:r>
            <a:endParaRPr lang="en-US" altLang="zh-CN"/>
          </a:p>
          <a:p>
            <a:r>
              <a:rPr lang="zh-CN" altLang="en-US">
                <a:sym typeface="+mn-ea"/>
              </a:rPr>
              <a:t>空间分辨率：统一</a:t>
            </a:r>
            <a:r>
              <a:rPr lang="en-US" altLang="zh-CN">
                <a:sym typeface="+mn-ea"/>
              </a:rPr>
              <a:t>30m</a:t>
            </a:r>
            <a:endParaRPr lang="zh-CN" altLang="en-US"/>
          </a:p>
          <a:p>
            <a:r>
              <a:rPr lang="zh-CN" altLang="en-US">
                <a:sym typeface="+mn-ea"/>
              </a:rPr>
              <a:t>类别：</a:t>
            </a:r>
            <a:r>
              <a:rPr lang="en-US" altLang="zh-CN">
                <a:sym typeface="+mn-ea"/>
              </a:rPr>
              <a:t>7</a:t>
            </a:r>
            <a:r>
              <a:rPr lang="zh-CN" altLang="en-US">
                <a:sym typeface="+mn-ea"/>
              </a:rPr>
              <a:t>类</a:t>
            </a:r>
            <a:endParaRPr lang="zh-CN" altLang="en-US"/>
          </a:p>
          <a:p>
            <a:r>
              <a:rPr lang="zh-CN" altLang="en-US">
                <a:sym typeface="+mn-ea"/>
              </a:rPr>
              <a:t>测试规模：</a:t>
            </a:r>
            <a:r>
              <a:rPr lang="en-US" altLang="zh-CN">
                <a:sym typeface="+mn-ea"/>
              </a:rPr>
              <a:t>7.7</a:t>
            </a:r>
            <a:r>
              <a:rPr lang="zh-CN" altLang="en-US">
                <a:sym typeface="+mn-ea"/>
              </a:rPr>
              <a:t>万</a:t>
            </a:r>
            <a:endParaRPr lang="zh-CN" altLang="en-US"/>
          </a:p>
          <a:p>
            <a:endParaRPr lang="en-US" altLang="zh-CN"/>
          </a:p>
          <a:p>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382484" y="603183"/>
            <a:ext cx="3427031" cy="521970"/>
          </a:xfrm>
          <a:prstGeom prst="rect">
            <a:avLst/>
          </a:prstGeom>
          <a:noFill/>
        </p:spPr>
        <p:txBody>
          <a:bodyPr wrap="square" rtlCol="0">
            <a:spAutoFit/>
          </a:bodyPr>
          <a:lstStyle/>
          <a:p>
            <a:pPr algn="ctr"/>
            <a:r>
              <a:rPr kumimoji="1" lang="zh-CN" altLang="en-US" sz="2800" b="1" dirty="0">
                <a:solidFill>
                  <a:schemeClr val="accent1"/>
                </a:solidFill>
                <a:latin typeface="+mj-ea"/>
                <a:ea typeface="+mj-ea"/>
              </a:rPr>
              <a:t>性能</a:t>
            </a:r>
            <a:r>
              <a:rPr kumimoji="1" lang="zh-CN" altLang="en-US" sz="2800" b="1" dirty="0">
                <a:solidFill>
                  <a:schemeClr val="accent1"/>
                </a:solidFill>
                <a:latin typeface="+mj-ea"/>
                <a:ea typeface="+mj-ea"/>
              </a:rPr>
              <a:t>比较</a:t>
            </a:r>
            <a:endParaRPr kumimoji="1" lang="zh-CN" altLang="en-US" sz="2800" b="1" dirty="0">
              <a:solidFill>
                <a:schemeClr val="accent1"/>
              </a:solidFill>
              <a:latin typeface="+mj-ea"/>
              <a:ea typeface="+mj-ea"/>
            </a:endParaRPr>
          </a:p>
        </p:txBody>
      </p:sp>
      <p:pic>
        <p:nvPicPr>
          <p:cNvPr id="3" name="图片 2"/>
          <p:cNvPicPr>
            <a:picLocks noChangeAspect="1"/>
          </p:cNvPicPr>
          <p:nvPr/>
        </p:nvPicPr>
        <p:blipFill>
          <a:blip r:embed="rId1"/>
          <a:stretch>
            <a:fillRect/>
          </a:stretch>
        </p:blipFill>
        <p:spPr>
          <a:xfrm>
            <a:off x="3431540" y="1305560"/>
            <a:ext cx="4747895" cy="3105150"/>
          </a:xfrm>
          <a:prstGeom prst="rect">
            <a:avLst/>
          </a:prstGeom>
        </p:spPr>
      </p:pic>
      <p:pic>
        <p:nvPicPr>
          <p:cNvPr id="4" name="图片 3"/>
          <p:cNvPicPr>
            <a:picLocks noChangeAspect="1"/>
          </p:cNvPicPr>
          <p:nvPr/>
        </p:nvPicPr>
        <p:blipFill>
          <a:blip r:embed="rId2"/>
          <a:stretch>
            <a:fillRect/>
          </a:stretch>
        </p:blipFill>
        <p:spPr>
          <a:xfrm>
            <a:off x="2686685" y="4311015"/>
            <a:ext cx="6237605" cy="2186940"/>
          </a:xfrm>
          <a:prstGeom prst="rect">
            <a:avLst/>
          </a:prstGeom>
        </p:spPr>
      </p:pic>
      <p:sp>
        <p:nvSpPr>
          <p:cNvPr id="2" name="矩形 1"/>
          <p:cNvSpPr/>
          <p:nvPr/>
        </p:nvSpPr>
        <p:spPr>
          <a:xfrm>
            <a:off x="7932420" y="4714240"/>
            <a:ext cx="740410" cy="1677035"/>
          </a:xfrm>
          <a:prstGeom prst="rect">
            <a:avLst/>
          </a:prstGeom>
          <a:ln>
            <a:solidFill>
              <a:srgbClr val="FF0000"/>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5" name="文本框 4"/>
          <p:cNvSpPr txBox="1"/>
          <p:nvPr/>
        </p:nvSpPr>
        <p:spPr>
          <a:xfrm>
            <a:off x="8827135" y="4796790"/>
            <a:ext cx="2983865" cy="1198880"/>
          </a:xfrm>
          <a:prstGeom prst="rect">
            <a:avLst/>
          </a:prstGeom>
          <a:noFill/>
        </p:spPr>
        <p:txBody>
          <a:bodyPr wrap="square" rtlCol="0">
            <a:spAutoFit/>
          </a:bodyPr>
          <a:p>
            <a:r>
              <a:rPr lang="zh-CN" altLang="en-US"/>
              <a:t>对工业区、低矮植被与小块分配用地有最高识别能力，且总体准确率、平均准确率和</a:t>
            </a:r>
            <a:r>
              <a:rPr lang="en-US" altLang="zh-CN"/>
              <a:t>Kappa</a:t>
            </a:r>
            <a:r>
              <a:rPr lang="zh-CN" altLang="en-US"/>
              <a:t>系数都</a:t>
            </a:r>
            <a:r>
              <a:rPr lang="zh-CN" altLang="en-US"/>
              <a:t>最高</a:t>
            </a:r>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382484" y="603183"/>
            <a:ext cx="3427031" cy="521970"/>
          </a:xfrm>
          <a:prstGeom prst="rect">
            <a:avLst/>
          </a:prstGeom>
          <a:noFill/>
        </p:spPr>
        <p:txBody>
          <a:bodyPr wrap="square" rtlCol="0">
            <a:spAutoFit/>
          </a:bodyPr>
          <a:lstStyle/>
          <a:p>
            <a:pPr algn="ctr"/>
            <a:r>
              <a:rPr kumimoji="1" lang="zh-CN" altLang="en-US" sz="2800" b="1" dirty="0">
                <a:solidFill>
                  <a:schemeClr val="accent1"/>
                </a:solidFill>
                <a:latin typeface="+mj-ea"/>
                <a:ea typeface="+mj-ea"/>
              </a:rPr>
              <a:t>消融</a:t>
            </a:r>
            <a:r>
              <a:rPr kumimoji="1" lang="zh-CN" altLang="en-US" sz="2800" b="1" dirty="0">
                <a:solidFill>
                  <a:schemeClr val="accent1"/>
                </a:solidFill>
                <a:latin typeface="+mj-ea"/>
                <a:ea typeface="+mj-ea"/>
              </a:rPr>
              <a:t>实验</a:t>
            </a:r>
            <a:endParaRPr kumimoji="1" lang="zh-CN" altLang="en-US" sz="2800" b="1" dirty="0">
              <a:solidFill>
                <a:schemeClr val="accent1"/>
              </a:solidFill>
              <a:latin typeface="+mj-ea"/>
              <a:ea typeface="+mj-ea"/>
            </a:endParaRPr>
          </a:p>
        </p:txBody>
      </p:sp>
      <p:pic>
        <p:nvPicPr>
          <p:cNvPr id="3" name="图片 2"/>
          <p:cNvPicPr>
            <a:picLocks noChangeAspect="1"/>
          </p:cNvPicPr>
          <p:nvPr/>
        </p:nvPicPr>
        <p:blipFill>
          <a:blip r:embed="rId1"/>
          <a:stretch>
            <a:fillRect/>
          </a:stretch>
        </p:blipFill>
        <p:spPr>
          <a:xfrm>
            <a:off x="1967230" y="1573530"/>
            <a:ext cx="8953500" cy="2133600"/>
          </a:xfrm>
          <a:prstGeom prst="rect">
            <a:avLst/>
          </a:prstGeom>
        </p:spPr>
      </p:pic>
      <p:sp>
        <p:nvSpPr>
          <p:cNvPr id="4" name="文本框 3"/>
          <p:cNvSpPr txBox="1"/>
          <p:nvPr/>
        </p:nvSpPr>
        <p:spPr>
          <a:xfrm>
            <a:off x="2868295" y="4155440"/>
            <a:ext cx="6867525" cy="1198880"/>
          </a:xfrm>
          <a:prstGeom prst="rect">
            <a:avLst/>
          </a:prstGeom>
          <a:noFill/>
        </p:spPr>
        <p:txBody>
          <a:bodyPr wrap="square" rtlCol="0">
            <a:spAutoFit/>
          </a:bodyPr>
          <a:p>
            <a:r>
              <a:rPr lang="zh-CN" altLang="en-US"/>
              <a:t>当三个组件结合使用时，该模型在四个数据集上均取得了最佳性能，噪声显著降低，类别边界也更精确。这体现了各模块的互补性：</a:t>
            </a:r>
            <a:r>
              <a:rPr lang="en-US" altLang="zh-CN"/>
              <a:t>MSpa-Mamba</a:t>
            </a:r>
            <a:r>
              <a:rPr lang="zh-CN" altLang="en-US"/>
              <a:t>和</a:t>
            </a:r>
            <a:r>
              <a:rPr lang="en-US" altLang="zh-CN"/>
              <a:t>Spe-Mamba</a:t>
            </a:r>
            <a:r>
              <a:rPr lang="zh-CN" altLang="en-US"/>
              <a:t>提供强大的特征提取能力，而</a:t>
            </a:r>
            <a:r>
              <a:rPr lang="en-US" altLang="zh-CN"/>
              <a:t>Fus-Mamba</a:t>
            </a:r>
            <a:r>
              <a:rPr lang="zh-CN" altLang="en-US"/>
              <a:t>则有效整合这些特征，从而最大限度地提高分类精度。</a:t>
            </a:r>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382484" y="603183"/>
            <a:ext cx="3427031" cy="521970"/>
          </a:xfrm>
          <a:prstGeom prst="rect">
            <a:avLst/>
          </a:prstGeom>
          <a:noFill/>
        </p:spPr>
        <p:txBody>
          <a:bodyPr wrap="square" rtlCol="0">
            <a:spAutoFit/>
          </a:bodyPr>
          <a:lstStyle/>
          <a:p>
            <a:pPr algn="ctr"/>
            <a:r>
              <a:rPr kumimoji="1" lang="en-US" altLang="zh-CN" sz="2800" b="1" dirty="0">
                <a:solidFill>
                  <a:schemeClr val="accent1"/>
                </a:solidFill>
                <a:latin typeface="+mj-ea"/>
                <a:ea typeface="+mj-ea"/>
              </a:rPr>
              <a:t>Fusion Mamba </a:t>
            </a:r>
            <a:r>
              <a:rPr kumimoji="1" lang="zh-CN" altLang="en-US" sz="2800" b="1" dirty="0">
                <a:solidFill>
                  <a:schemeClr val="accent1"/>
                </a:solidFill>
                <a:latin typeface="+mj-ea"/>
                <a:ea typeface="+mj-ea"/>
              </a:rPr>
              <a:t>分析</a:t>
            </a:r>
            <a:r>
              <a:rPr kumimoji="1" lang="en-US" altLang="zh-CN" sz="2800" b="1" dirty="0">
                <a:solidFill>
                  <a:schemeClr val="accent1"/>
                </a:solidFill>
                <a:latin typeface="+mj-ea"/>
                <a:ea typeface="+mj-ea"/>
              </a:rPr>
              <a:t> </a:t>
            </a:r>
            <a:endParaRPr kumimoji="1" lang="en-US" altLang="zh-CN" sz="2800" b="1" dirty="0">
              <a:solidFill>
                <a:schemeClr val="accent1"/>
              </a:solidFill>
              <a:latin typeface="+mj-ea"/>
              <a:ea typeface="+mj-ea"/>
            </a:endParaRPr>
          </a:p>
        </p:txBody>
      </p:sp>
      <p:pic>
        <p:nvPicPr>
          <p:cNvPr id="3" name="图片 2"/>
          <p:cNvPicPr>
            <a:picLocks noChangeAspect="1"/>
          </p:cNvPicPr>
          <p:nvPr/>
        </p:nvPicPr>
        <p:blipFill>
          <a:blip r:embed="rId1"/>
          <a:stretch>
            <a:fillRect/>
          </a:stretch>
        </p:blipFill>
        <p:spPr>
          <a:xfrm>
            <a:off x="1207135" y="1590675"/>
            <a:ext cx="3312795" cy="3263265"/>
          </a:xfrm>
          <a:prstGeom prst="rect">
            <a:avLst/>
          </a:prstGeom>
        </p:spPr>
      </p:pic>
      <p:sp>
        <p:nvSpPr>
          <p:cNvPr id="2" name="文本框 1"/>
          <p:cNvSpPr txBox="1"/>
          <p:nvPr/>
        </p:nvSpPr>
        <p:spPr>
          <a:xfrm>
            <a:off x="6116955" y="2374900"/>
            <a:ext cx="4911090" cy="2980690"/>
          </a:xfrm>
          <a:prstGeom prst="rect">
            <a:avLst/>
          </a:prstGeom>
          <a:noFill/>
        </p:spPr>
        <p:txBody>
          <a:bodyPr wrap="square" rtlCol="0">
            <a:noAutofit/>
          </a:bodyPr>
          <a:p>
            <a:r>
              <a:rPr lang="zh-CN" altLang="en-US"/>
              <a:t>（</a:t>
            </a:r>
            <a:r>
              <a:rPr lang="en-US" altLang="zh-CN"/>
              <a:t>a</a:t>
            </a:r>
            <a:r>
              <a:rPr lang="zh-CN" altLang="en-US"/>
              <a:t>）（</a:t>
            </a:r>
            <a:r>
              <a:rPr lang="en-US" altLang="zh-CN"/>
              <a:t>b</a:t>
            </a:r>
            <a:r>
              <a:rPr lang="zh-CN" altLang="en-US"/>
              <a:t>）显示了融合前的原始</a:t>
            </a:r>
            <a:r>
              <a:rPr lang="en-US" altLang="zh-CN"/>
              <a:t>HSI</a:t>
            </a:r>
            <a:r>
              <a:rPr lang="zh-CN" altLang="en-US"/>
              <a:t>特征和</a:t>
            </a:r>
            <a:r>
              <a:rPr lang="en-US" altLang="zh-CN"/>
              <a:t>SAR</a:t>
            </a:r>
            <a:r>
              <a:rPr lang="zh-CN" altLang="en-US"/>
              <a:t>特征。</a:t>
            </a:r>
            <a:r>
              <a:rPr lang="zh-CN" altLang="en-US">
                <a:sym typeface="+mn-ea"/>
              </a:rPr>
              <a:t>（</a:t>
            </a:r>
            <a:r>
              <a:rPr lang="en-US" altLang="zh-CN">
                <a:sym typeface="+mn-ea"/>
              </a:rPr>
              <a:t>c</a:t>
            </a:r>
            <a:r>
              <a:rPr lang="zh-CN" altLang="en-US">
                <a:sym typeface="+mn-ea"/>
              </a:rPr>
              <a:t>）（</a:t>
            </a:r>
            <a:r>
              <a:rPr lang="en-US" altLang="zh-CN">
                <a:sym typeface="+mn-ea"/>
              </a:rPr>
              <a:t>d</a:t>
            </a:r>
            <a:r>
              <a:rPr lang="zh-CN" altLang="en-US">
                <a:sym typeface="+mn-ea"/>
              </a:rPr>
              <a:t>）展示了应用</a:t>
            </a:r>
            <a:r>
              <a:rPr lang="en-US">
                <a:sym typeface="+mn-ea"/>
              </a:rPr>
              <a:t>Fus</a:t>
            </a:r>
            <a:r>
              <a:rPr lang="zh-CN" altLang="en-US">
                <a:sym typeface="+mn-ea"/>
              </a:rPr>
              <a:t>模块后的融合</a:t>
            </a:r>
            <a:r>
              <a:rPr lang="en-US" altLang="zh-CN">
                <a:sym typeface="+mn-ea"/>
              </a:rPr>
              <a:t>HSI</a:t>
            </a:r>
            <a:r>
              <a:rPr lang="zh-CN" altLang="en-US">
                <a:sym typeface="+mn-ea"/>
              </a:rPr>
              <a:t>特征和</a:t>
            </a:r>
            <a:r>
              <a:rPr lang="en-US" altLang="zh-CN">
                <a:sym typeface="+mn-ea"/>
              </a:rPr>
              <a:t>SAR</a:t>
            </a:r>
            <a:r>
              <a:rPr lang="zh-CN" altLang="en-US">
                <a:sym typeface="+mn-ea"/>
              </a:rPr>
              <a:t>特征。</a:t>
            </a:r>
            <a:endParaRPr lang="zh-CN" altLang="en-US">
              <a:sym typeface="+mn-ea"/>
            </a:endParaRPr>
          </a:p>
          <a:p>
            <a:endParaRPr lang="zh-CN" altLang="en-US">
              <a:sym typeface="+mn-ea"/>
            </a:endParaRPr>
          </a:p>
          <a:p>
            <a:r>
              <a:rPr lang="zh-CN" altLang="en-US"/>
              <a:t>（</a:t>
            </a:r>
            <a:r>
              <a:rPr lang="en-US" altLang="zh-CN"/>
              <a:t>c</a:t>
            </a:r>
            <a:r>
              <a:rPr lang="zh-CN" altLang="en-US"/>
              <a:t>）（</a:t>
            </a:r>
            <a:r>
              <a:rPr lang="en-US" altLang="zh-CN"/>
              <a:t>d</a:t>
            </a:r>
            <a:r>
              <a:rPr lang="zh-CN" altLang="en-US"/>
              <a:t>）中的可视化结果表明，经过</a:t>
            </a:r>
            <a:r>
              <a:rPr lang="en-US" altLang="zh-CN"/>
              <a:t>Fus</a:t>
            </a:r>
            <a:r>
              <a:rPr lang="zh-CN" altLang="en-US"/>
              <a:t>模块</a:t>
            </a:r>
            <a:r>
              <a:rPr lang="zh-CN" altLang="en-US"/>
              <a:t>后，类别区分度有显著提升，聚类更清晰、更紧凑。</a:t>
            </a:r>
            <a:endParaRPr lang="zh-CN" altLang="en-US"/>
          </a:p>
        </p:txBody>
      </p:sp>
      <p:sp>
        <p:nvSpPr>
          <p:cNvPr id="4" name="文本框 3"/>
          <p:cNvSpPr txBox="1"/>
          <p:nvPr/>
        </p:nvSpPr>
        <p:spPr>
          <a:xfrm>
            <a:off x="2148205" y="5127625"/>
            <a:ext cx="4064000" cy="368300"/>
          </a:xfrm>
          <a:prstGeom prst="rect">
            <a:avLst/>
          </a:prstGeom>
          <a:noFill/>
        </p:spPr>
        <p:txBody>
          <a:bodyPr wrap="square" rtlCol="0">
            <a:spAutoFit/>
          </a:bodyPr>
          <a:p>
            <a:r>
              <a:rPr lang="en-US" altLang="zh-CN"/>
              <a:t>t-SNE</a:t>
            </a:r>
            <a:r>
              <a:rPr lang="zh-CN" altLang="en-US"/>
              <a:t>可视化</a:t>
            </a:r>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382484" y="603183"/>
            <a:ext cx="3427031" cy="521970"/>
          </a:xfrm>
          <a:prstGeom prst="rect">
            <a:avLst/>
          </a:prstGeom>
          <a:noFill/>
        </p:spPr>
        <p:txBody>
          <a:bodyPr wrap="square" rtlCol="0">
            <a:spAutoFit/>
          </a:bodyPr>
          <a:lstStyle/>
          <a:p>
            <a:pPr algn="ctr"/>
            <a:r>
              <a:rPr kumimoji="1" lang="zh-CN" altLang="en-US" sz="2800" b="1" dirty="0">
                <a:solidFill>
                  <a:schemeClr val="accent1"/>
                </a:solidFill>
                <a:latin typeface="+mj-ea"/>
                <a:ea typeface="+mj-ea"/>
              </a:rPr>
              <a:t>复杂度</a:t>
            </a:r>
            <a:r>
              <a:rPr kumimoji="1" lang="zh-CN" altLang="en-US" sz="2800" b="1" dirty="0">
                <a:solidFill>
                  <a:schemeClr val="accent1"/>
                </a:solidFill>
                <a:latin typeface="+mj-ea"/>
                <a:ea typeface="+mj-ea"/>
              </a:rPr>
              <a:t>分析</a:t>
            </a:r>
            <a:endParaRPr kumimoji="1" lang="zh-CN" altLang="en-US" sz="2800" b="1" dirty="0">
              <a:solidFill>
                <a:schemeClr val="accent1"/>
              </a:solidFill>
              <a:latin typeface="+mj-ea"/>
              <a:ea typeface="+mj-ea"/>
            </a:endParaRPr>
          </a:p>
        </p:txBody>
      </p:sp>
      <p:pic>
        <p:nvPicPr>
          <p:cNvPr id="2" name="图片 1"/>
          <p:cNvPicPr>
            <a:picLocks noChangeAspect="1"/>
          </p:cNvPicPr>
          <p:nvPr/>
        </p:nvPicPr>
        <p:blipFill>
          <a:blip r:embed="rId1"/>
          <a:stretch>
            <a:fillRect/>
          </a:stretch>
        </p:blipFill>
        <p:spPr>
          <a:xfrm>
            <a:off x="1478280" y="2613025"/>
            <a:ext cx="9235440" cy="2087880"/>
          </a:xfrm>
          <a:prstGeom prst="rect">
            <a:avLst/>
          </a:prstGeom>
        </p:spPr>
      </p:pic>
      <p:sp>
        <p:nvSpPr>
          <p:cNvPr id="3" name="文本框 2"/>
          <p:cNvSpPr txBox="1"/>
          <p:nvPr/>
        </p:nvSpPr>
        <p:spPr>
          <a:xfrm>
            <a:off x="2987675" y="4895215"/>
            <a:ext cx="6943725" cy="368300"/>
          </a:xfrm>
          <a:prstGeom prst="rect">
            <a:avLst/>
          </a:prstGeom>
          <a:noFill/>
        </p:spPr>
        <p:txBody>
          <a:bodyPr wrap="square" rtlCol="0">
            <a:spAutoFit/>
          </a:bodyPr>
          <a:p>
            <a:r>
              <a:rPr lang="zh-CN" altLang="en-US"/>
              <a:t>本模型有最低的浮点运算次数和推理时间，且参数量相对</a:t>
            </a:r>
            <a:r>
              <a:rPr lang="zh-CN" altLang="en-US"/>
              <a:t>较小。</a:t>
            </a:r>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3089275" y="581025"/>
            <a:ext cx="6012815" cy="521970"/>
          </a:xfrm>
          <a:prstGeom prst="rect">
            <a:avLst/>
          </a:prstGeom>
          <a:noFill/>
        </p:spPr>
        <p:txBody>
          <a:bodyPr wrap="square" rtlCol="0">
            <a:spAutoFit/>
          </a:bodyPr>
          <a:lstStyle/>
          <a:p>
            <a:pPr algn="ctr"/>
            <a:r>
              <a:rPr kumimoji="1" lang="zh-CN" altLang="en-US" sz="2800" b="1" dirty="0">
                <a:solidFill>
                  <a:schemeClr val="accent1"/>
                </a:solidFill>
                <a:latin typeface="+mj-ea"/>
                <a:ea typeface="+mj-ea"/>
              </a:rPr>
              <a:t>多尺度扫描路径</a:t>
            </a:r>
            <a:r>
              <a:rPr kumimoji="1" lang="zh-CN" altLang="en-US" sz="2800" b="1" dirty="0">
                <a:solidFill>
                  <a:schemeClr val="accent1"/>
                </a:solidFill>
                <a:latin typeface="+mj-ea"/>
                <a:ea typeface="+mj-ea"/>
              </a:rPr>
              <a:t>策略分析</a:t>
            </a:r>
            <a:endParaRPr kumimoji="1" lang="zh-CN" altLang="en-US" sz="2800" b="1" dirty="0">
              <a:solidFill>
                <a:schemeClr val="accent1"/>
              </a:solidFill>
              <a:latin typeface="+mj-ea"/>
              <a:ea typeface="+mj-ea"/>
            </a:endParaRPr>
          </a:p>
        </p:txBody>
      </p:sp>
      <p:pic>
        <p:nvPicPr>
          <p:cNvPr id="2" name="图片 1"/>
          <p:cNvPicPr>
            <a:picLocks noChangeAspect="1"/>
          </p:cNvPicPr>
          <p:nvPr/>
        </p:nvPicPr>
        <p:blipFill>
          <a:blip r:embed="rId1"/>
          <a:stretch>
            <a:fillRect/>
          </a:stretch>
        </p:blipFill>
        <p:spPr>
          <a:xfrm>
            <a:off x="681990" y="1599565"/>
            <a:ext cx="5608320" cy="2689860"/>
          </a:xfrm>
          <a:prstGeom prst="rect">
            <a:avLst/>
          </a:prstGeom>
        </p:spPr>
      </p:pic>
      <p:sp>
        <p:nvSpPr>
          <p:cNvPr id="3" name="文本框 2"/>
          <p:cNvSpPr txBox="1"/>
          <p:nvPr/>
        </p:nvSpPr>
        <p:spPr>
          <a:xfrm>
            <a:off x="6744970" y="2392680"/>
            <a:ext cx="4064000" cy="2306955"/>
          </a:xfrm>
          <a:prstGeom prst="rect">
            <a:avLst/>
          </a:prstGeom>
          <a:noFill/>
        </p:spPr>
        <p:txBody>
          <a:bodyPr wrap="square" rtlCol="0">
            <a:spAutoFit/>
          </a:bodyPr>
          <a:p>
            <a:r>
              <a:rPr lang="zh-CN" altLang="en-US"/>
              <a:t>结果表明，当两条路径保持原始分辨率且两条路径进行下采样时，可获得最佳性能，这种配置在减少冗余特征和保留关键细节之间取得了平衡。</a:t>
            </a:r>
            <a:endParaRPr lang="zh-CN" altLang="en-US"/>
          </a:p>
          <a:p>
            <a:endParaRPr lang="zh-CN" altLang="en-US">
              <a:sym typeface="+mn-ea"/>
            </a:endParaRPr>
          </a:p>
          <a:p>
            <a:r>
              <a:rPr lang="zh-CN" altLang="en-US">
                <a:sym typeface="+mn-ea"/>
              </a:rPr>
              <a:t>本分析强调了整合原始分辨率路径和下采样路径的重要性，这有助于同时捕捉局部和全局</a:t>
            </a:r>
            <a:r>
              <a:rPr lang="zh-CN" altLang="en-US">
                <a:sym typeface="+mn-ea"/>
              </a:rPr>
              <a:t>特征。</a:t>
            </a:r>
            <a:endParaRPr lang="zh-CN" altLang="en-US"/>
          </a:p>
        </p:txBody>
      </p:sp>
      <p:pic>
        <p:nvPicPr>
          <p:cNvPr id="5" name="图片 4"/>
          <p:cNvPicPr>
            <a:picLocks noChangeAspect="1"/>
          </p:cNvPicPr>
          <p:nvPr/>
        </p:nvPicPr>
        <p:blipFill>
          <a:blip r:embed="rId2"/>
          <a:stretch>
            <a:fillRect/>
          </a:stretch>
        </p:blipFill>
        <p:spPr>
          <a:xfrm>
            <a:off x="905510" y="4429760"/>
            <a:ext cx="4907280" cy="17145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382484" y="603183"/>
            <a:ext cx="3427031" cy="521970"/>
          </a:xfrm>
          <a:prstGeom prst="rect">
            <a:avLst/>
          </a:prstGeom>
          <a:noFill/>
        </p:spPr>
        <p:txBody>
          <a:bodyPr wrap="square" rtlCol="0">
            <a:spAutoFit/>
          </a:bodyPr>
          <a:lstStyle/>
          <a:p>
            <a:pPr algn="ctr"/>
            <a:r>
              <a:rPr kumimoji="1" lang="zh-CN" altLang="en-US" sz="2800" b="1" dirty="0">
                <a:solidFill>
                  <a:schemeClr val="accent1"/>
                </a:solidFill>
                <a:latin typeface="+mj-ea"/>
                <a:ea typeface="+mj-ea"/>
              </a:rPr>
              <a:t>扫描路径</a:t>
            </a:r>
            <a:r>
              <a:rPr kumimoji="1" lang="zh-CN" altLang="en-US" sz="2800" b="1" dirty="0">
                <a:solidFill>
                  <a:schemeClr val="accent1"/>
                </a:solidFill>
                <a:latin typeface="+mj-ea"/>
                <a:ea typeface="+mj-ea"/>
              </a:rPr>
              <a:t>数量分析</a:t>
            </a:r>
            <a:endParaRPr kumimoji="1" lang="zh-CN" altLang="en-US" sz="2800" b="1" dirty="0">
              <a:solidFill>
                <a:schemeClr val="accent1"/>
              </a:solidFill>
              <a:latin typeface="+mj-ea"/>
              <a:ea typeface="+mj-ea"/>
            </a:endParaRPr>
          </a:p>
        </p:txBody>
      </p:sp>
      <p:sp>
        <p:nvSpPr>
          <p:cNvPr id="2" name="文本框 1"/>
          <p:cNvSpPr txBox="1"/>
          <p:nvPr/>
        </p:nvSpPr>
        <p:spPr>
          <a:xfrm>
            <a:off x="4585335" y="2352675"/>
            <a:ext cx="4064000" cy="368300"/>
          </a:xfrm>
          <a:prstGeom prst="rect">
            <a:avLst/>
          </a:prstGeom>
          <a:noFill/>
        </p:spPr>
        <p:txBody>
          <a:bodyPr wrap="square" rtlCol="0">
            <a:spAutoFit/>
          </a:bodyPr>
          <a:p>
            <a:endParaRPr lang="zh-CN" altLang="en-US"/>
          </a:p>
        </p:txBody>
      </p:sp>
      <p:pic>
        <p:nvPicPr>
          <p:cNvPr id="3" name="图片 2"/>
          <p:cNvPicPr>
            <a:picLocks noChangeAspect="1"/>
          </p:cNvPicPr>
          <p:nvPr/>
        </p:nvPicPr>
        <p:blipFill>
          <a:blip r:embed="rId1"/>
          <a:stretch>
            <a:fillRect/>
          </a:stretch>
        </p:blipFill>
        <p:spPr>
          <a:xfrm>
            <a:off x="1757680" y="2030095"/>
            <a:ext cx="4373880" cy="1363980"/>
          </a:xfrm>
          <a:prstGeom prst="rect">
            <a:avLst/>
          </a:prstGeom>
        </p:spPr>
      </p:pic>
      <p:sp>
        <p:nvSpPr>
          <p:cNvPr id="4" name="文本框 3"/>
          <p:cNvSpPr txBox="1"/>
          <p:nvPr/>
        </p:nvSpPr>
        <p:spPr>
          <a:xfrm>
            <a:off x="2125345" y="3948430"/>
            <a:ext cx="8214360" cy="645160"/>
          </a:xfrm>
          <a:prstGeom prst="rect">
            <a:avLst/>
          </a:prstGeom>
          <a:noFill/>
        </p:spPr>
        <p:txBody>
          <a:bodyPr wrap="square" rtlCol="0">
            <a:spAutoFit/>
          </a:bodyPr>
          <a:p>
            <a:r>
              <a:rPr lang="zh-CN" altLang="en-US"/>
              <a:t>从表可以看出，随着扫描方向的增加，分类性能有所提升。具有</a:t>
            </a:r>
            <a:r>
              <a:rPr lang="en-US" altLang="zh-CN"/>
              <a:t>4</a:t>
            </a:r>
            <a:r>
              <a:rPr lang="zh-CN" altLang="en-US"/>
              <a:t>条扫描路径的模型取得了最高性能，这表明</a:t>
            </a:r>
            <a:r>
              <a:rPr lang="zh-CN" altLang="en-US"/>
              <a:t>适量增加扫描路径能够提高模型区分能力。</a:t>
            </a:r>
            <a:endParaRPr lang="zh-CN" altLang="en-US"/>
          </a:p>
        </p:txBody>
      </p:sp>
      <p:pic>
        <p:nvPicPr>
          <p:cNvPr id="5" name="图片 4"/>
          <p:cNvPicPr>
            <a:picLocks noChangeAspect="1"/>
          </p:cNvPicPr>
          <p:nvPr/>
        </p:nvPicPr>
        <p:blipFill>
          <a:blip r:embed="rId2"/>
          <a:stretch>
            <a:fillRect/>
          </a:stretch>
        </p:blipFill>
        <p:spPr>
          <a:xfrm>
            <a:off x="6174740" y="1854835"/>
            <a:ext cx="4907280" cy="1714500"/>
          </a:xfrm>
          <a:prstGeom prst="rect">
            <a:avLst/>
          </a:prstGeom>
        </p:spPr>
      </p:pic>
      <p:pic>
        <p:nvPicPr>
          <p:cNvPr id="6" name="图片 5"/>
          <p:cNvPicPr>
            <a:picLocks noChangeAspect="1"/>
          </p:cNvPicPr>
          <p:nvPr/>
        </p:nvPicPr>
        <p:blipFill>
          <a:blip r:embed="rId3"/>
          <a:srcRect l="5262"/>
          <a:stretch>
            <a:fillRect/>
          </a:stretch>
        </p:blipFill>
        <p:spPr>
          <a:xfrm>
            <a:off x="7966710" y="4665980"/>
            <a:ext cx="2776855" cy="190627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382484" y="603183"/>
            <a:ext cx="3427031" cy="521970"/>
          </a:xfrm>
          <a:prstGeom prst="rect">
            <a:avLst/>
          </a:prstGeom>
          <a:noFill/>
        </p:spPr>
        <p:txBody>
          <a:bodyPr wrap="square" rtlCol="0">
            <a:spAutoFit/>
          </a:bodyPr>
          <a:lstStyle/>
          <a:p>
            <a:pPr algn="ctr"/>
            <a:r>
              <a:rPr kumimoji="1" lang="en-US" altLang="zh-CN" sz="2800" b="1" dirty="0">
                <a:solidFill>
                  <a:schemeClr val="accent1"/>
                </a:solidFill>
                <a:latin typeface="+mj-ea"/>
                <a:ea typeface="+mj-ea"/>
              </a:rPr>
              <a:t>T</a:t>
            </a:r>
            <a:r>
              <a:rPr kumimoji="1" lang="en-US" altLang="zh-CN" sz="2800" b="1" dirty="0">
                <a:solidFill>
                  <a:schemeClr val="accent1"/>
                </a:solidFill>
                <a:latin typeface="+mj-ea"/>
                <a:ea typeface="+mj-ea"/>
              </a:rPr>
              <a:t>hinking</a:t>
            </a:r>
            <a:endParaRPr kumimoji="1" lang="en-US" altLang="zh-CN" sz="2800" b="1" dirty="0">
              <a:solidFill>
                <a:schemeClr val="accent1"/>
              </a:solidFill>
              <a:latin typeface="+mj-ea"/>
              <a:ea typeface="+mj-ea"/>
            </a:endParaRPr>
          </a:p>
        </p:txBody>
      </p:sp>
      <p:sp>
        <p:nvSpPr>
          <p:cNvPr id="4" name="文本框 3"/>
          <p:cNvSpPr txBox="1"/>
          <p:nvPr/>
        </p:nvSpPr>
        <p:spPr>
          <a:xfrm>
            <a:off x="4706620" y="3920490"/>
            <a:ext cx="3025140" cy="3670300"/>
          </a:xfrm>
          <a:prstGeom prst="rect">
            <a:avLst/>
          </a:prstGeom>
          <a:noFill/>
        </p:spPr>
        <p:txBody>
          <a:bodyPr wrap="square" rtlCol="0">
            <a:noAutofit/>
          </a:bodyPr>
          <a:p>
            <a:r>
              <a:rPr lang="zh-CN" altLang="en-US"/>
              <a:t>光谱信息受光照影响较大，在有光照与无光照情况下可能有较大差异，</a:t>
            </a:r>
            <a:r>
              <a:rPr lang="zh-CN" altLang="en-US">
                <a:sym typeface="+mn-ea"/>
              </a:rPr>
              <a:t>尤其是较为重要的可见光通道</a:t>
            </a:r>
            <a:r>
              <a:rPr lang="zh-CN" altLang="en-US"/>
              <a:t>。这可能导致模型可能在白天或黑夜一个</a:t>
            </a:r>
            <a:r>
              <a:rPr lang="zh-CN" altLang="en-US"/>
              <a:t>情况下识别效果</a:t>
            </a:r>
            <a:r>
              <a:rPr lang="zh-CN" altLang="en-US"/>
              <a:t>较差。</a:t>
            </a:r>
            <a:endParaRPr lang="zh-CN" altLang="en-US"/>
          </a:p>
          <a:p>
            <a:endParaRPr lang="zh-CN" altLang="en-US"/>
          </a:p>
          <a:p>
            <a:endParaRPr lang="zh-CN" altLang="en-US"/>
          </a:p>
        </p:txBody>
      </p:sp>
      <p:sp>
        <p:nvSpPr>
          <p:cNvPr id="5" name="文本框 4"/>
          <p:cNvSpPr txBox="1"/>
          <p:nvPr/>
        </p:nvSpPr>
        <p:spPr>
          <a:xfrm>
            <a:off x="8401685" y="3920490"/>
            <a:ext cx="3004820" cy="1446530"/>
          </a:xfrm>
          <a:prstGeom prst="rect">
            <a:avLst/>
          </a:prstGeom>
          <a:noFill/>
        </p:spPr>
        <p:txBody>
          <a:bodyPr wrap="square" rtlCol="0">
            <a:noAutofit/>
          </a:bodyPr>
          <a:p>
            <a:r>
              <a:rPr lang="zh-CN" altLang="en-US"/>
              <a:t>输入数据特征越多，信息互补，识别效果应该越好，但是计算量和复杂度也越大。</a:t>
            </a:r>
            <a:endParaRPr lang="zh-CN" altLang="en-US"/>
          </a:p>
        </p:txBody>
      </p:sp>
      <p:sp>
        <p:nvSpPr>
          <p:cNvPr id="6" name="文本框 5"/>
          <p:cNvSpPr txBox="1"/>
          <p:nvPr/>
        </p:nvSpPr>
        <p:spPr>
          <a:xfrm>
            <a:off x="1322705" y="3920490"/>
            <a:ext cx="2849880" cy="1610360"/>
          </a:xfrm>
          <a:prstGeom prst="rect">
            <a:avLst/>
          </a:prstGeom>
          <a:noFill/>
        </p:spPr>
        <p:txBody>
          <a:bodyPr wrap="square" rtlCol="0">
            <a:noAutofit/>
          </a:bodyPr>
          <a:p>
            <a:r>
              <a:rPr lang="zh-CN" altLang="en-US"/>
              <a:t>该模型无法解决类别不平衡问题。</a:t>
            </a:r>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p:txBody>
      </p:sp>
      <p:pic>
        <p:nvPicPr>
          <p:cNvPr id="2" name="图片 1"/>
          <p:cNvPicPr>
            <a:picLocks noChangeAspect="1"/>
          </p:cNvPicPr>
          <p:nvPr/>
        </p:nvPicPr>
        <p:blipFill>
          <a:blip r:embed="rId1"/>
          <a:stretch>
            <a:fillRect/>
          </a:stretch>
        </p:blipFill>
        <p:spPr>
          <a:xfrm>
            <a:off x="2987040" y="1685290"/>
            <a:ext cx="6073140" cy="172974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nvSpPr>
        <p:spPr>
          <a:xfrm>
            <a:off x="4267210" y="2965847"/>
            <a:ext cx="3657600" cy="1107440"/>
          </a:xfrm>
          <a:prstGeom prst="rect">
            <a:avLst/>
          </a:prstGeom>
          <a:noFill/>
        </p:spPr>
        <p:txBody>
          <a:bodyPr wrap="none" lIns="0" tIns="0" rIns="0" bIns="0" rtlCol="0" anchor="t">
            <a:spAutoFit/>
          </a:bodyPr>
          <a:lstStyle/>
          <a:p>
            <a:pPr algn="ctr"/>
            <a:r>
              <a:rPr lang="zh-CN" altLang="en-US" sz="7200" dirty="0">
                <a:solidFill>
                  <a:srgbClr val="156389"/>
                </a:solidFill>
                <a:latin typeface="+mj-ea"/>
                <a:ea typeface="+mj-ea"/>
              </a:rPr>
              <a:t>感谢观看</a:t>
            </a:r>
            <a:endParaRPr lang="zh-CN" altLang="en-US" sz="7200" dirty="0">
              <a:solidFill>
                <a:srgbClr val="156389"/>
              </a:solidFill>
              <a:latin typeface="+mj-ea"/>
              <a:ea typeface="+mj-ea"/>
            </a:endParaRPr>
          </a:p>
        </p:txBody>
      </p:sp>
      <p:grpSp>
        <p:nvGrpSpPr>
          <p:cNvPr id="18" name="组合 17"/>
          <p:cNvGrpSpPr/>
          <p:nvPr/>
        </p:nvGrpSpPr>
        <p:grpSpPr>
          <a:xfrm>
            <a:off x="4331702" y="4587239"/>
            <a:ext cx="1532236" cy="245745"/>
            <a:chOff x="4095451" y="4640913"/>
            <a:chExt cx="1532236" cy="245745"/>
          </a:xfrm>
        </p:grpSpPr>
        <p:sp>
          <p:nvSpPr>
            <p:cNvPr id="19" name="矩形 18"/>
            <p:cNvSpPr/>
            <p:nvPr/>
          </p:nvSpPr>
          <p:spPr>
            <a:xfrm>
              <a:off x="4095451" y="4672584"/>
              <a:ext cx="164592" cy="164592"/>
            </a:xfrm>
            <a:prstGeom prst="rect">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dirty="0">
                <a:solidFill>
                  <a:srgbClr val="156389"/>
                </a:solidFill>
              </a:endParaRPr>
            </a:p>
          </p:txBody>
        </p:sp>
        <p:sp>
          <p:nvSpPr>
            <p:cNvPr id="20" name="文本框 19"/>
            <p:cNvSpPr txBox="1"/>
            <p:nvPr/>
          </p:nvSpPr>
          <p:spPr>
            <a:xfrm>
              <a:off x="4408487" y="4640913"/>
              <a:ext cx="1219200" cy="245745"/>
            </a:xfrm>
            <a:prstGeom prst="rect">
              <a:avLst/>
            </a:prstGeom>
            <a:noFill/>
          </p:spPr>
          <p:txBody>
            <a:bodyPr wrap="none" lIns="0" tIns="0" rIns="0" bIns="0" rtlCol="0" anchor="t">
              <a:spAutoFit/>
            </a:bodyPr>
            <a:lstStyle/>
            <a:p>
              <a:r>
                <a:rPr lang="zh-CN" altLang="en-US" sz="1600" dirty="0">
                  <a:solidFill>
                    <a:srgbClr val="156389"/>
                  </a:solidFill>
                  <a:latin typeface="+mn-ea"/>
                </a:rPr>
                <a:t>汇报人：</a:t>
              </a:r>
              <a:r>
                <a:rPr lang="zh-CN" altLang="en-US" sz="1600" dirty="0">
                  <a:solidFill>
                    <a:srgbClr val="156389"/>
                  </a:solidFill>
                  <a:latin typeface="+mn-ea"/>
                </a:rPr>
                <a:t>宋航</a:t>
              </a:r>
              <a:endParaRPr lang="zh-CN" altLang="en-US" sz="1600" dirty="0">
                <a:solidFill>
                  <a:srgbClr val="156389"/>
                </a:solidFill>
                <a:latin typeface="+mn-ea"/>
              </a:endParaRPr>
            </a:p>
          </p:txBody>
        </p:sp>
      </p:grpSp>
      <p:sp>
        <p:nvSpPr>
          <p:cNvPr id="2" name="矩形 1"/>
          <p:cNvSpPr/>
          <p:nvPr/>
        </p:nvSpPr>
        <p:spPr>
          <a:xfrm>
            <a:off x="4968875" y="2286000"/>
            <a:ext cx="2109470" cy="52514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3" name="组合 2"/>
          <p:cNvGrpSpPr/>
          <p:nvPr/>
        </p:nvGrpSpPr>
        <p:grpSpPr>
          <a:xfrm>
            <a:off x="6189077" y="4587239"/>
            <a:ext cx="1735436" cy="245745"/>
            <a:chOff x="4095451" y="4640913"/>
            <a:chExt cx="1735436" cy="245745"/>
          </a:xfrm>
        </p:grpSpPr>
        <p:sp>
          <p:nvSpPr>
            <p:cNvPr id="4" name="矩形 3"/>
            <p:cNvSpPr/>
            <p:nvPr/>
          </p:nvSpPr>
          <p:spPr>
            <a:xfrm>
              <a:off x="4095451" y="4672584"/>
              <a:ext cx="164592" cy="164592"/>
            </a:xfrm>
            <a:prstGeom prst="rect">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6000" dirty="0">
                <a:solidFill>
                  <a:srgbClr val="156389"/>
                </a:solidFill>
              </a:endParaRPr>
            </a:p>
          </p:txBody>
        </p:sp>
        <p:sp>
          <p:nvSpPr>
            <p:cNvPr id="5" name="文本框 4"/>
            <p:cNvSpPr txBox="1"/>
            <p:nvPr/>
          </p:nvSpPr>
          <p:spPr>
            <a:xfrm>
              <a:off x="4408487" y="4640913"/>
              <a:ext cx="1422400" cy="245745"/>
            </a:xfrm>
            <a:prstGeom prst="rect">
              <a:avLst/>
            </a:prstGeom>
            <a:noFill/>
          </p:spPr>
          <p:txBody>
            <a:bodyPr wrap="none" lIns="0" tIns="0" rIns="0" bIns="0" rtlCol="0" anchor="t">
              <a:spAutoFit/>
            </a:bodyPr>
            <a:p>
              <a:r>
                <a:rPr lang="zh-CN" altLang="en-US" sz="1600" dirty="0">
                  <a:solidFill>
                    <a:srgbClr val="156389"/>
                  </a:solidFill>
                  <a:latin typeface="+mn-ea"/>
                </a:rPr>
                <a:t>指导老师：</a:t>
              </a:r>
              <a:r>
                <a:rPr lang="zh-CN" altLang="en-US" sz="1600" dirty="0">
                  <a:solidFill>
                    <a:srgbClr val="156389"/>
                  </a:solidFill>
                  <a:latin typeface="+mn-ea"/>
                </a:rPr>
                <a:t>刘芳</a:t>
              </a:r>
              <a:endParaRPr lang="zh-CN" altLang="en-US" sz="1600" dirty="0">
                <a:solidFill>
                  <a:srgbClr val="156389"/>
                </a:solidFill>
                <a:latin typeface="+mn-ea"/>
              </a:endParaRPr>
            </a:p>
          </p:txBody>
        </p:sp>
      </p:grpSp>
    </p:spTree>
  </p:cSld>
  <p:clrMapOvr>
    <a:masterClrMapping/>
  </p:clrMapOvr>
</p:sld>
</file>

<file path=ppt/tags/tag1.xml><?xml version="1.0" encoding="utf-8"?>
<p:tagLst xmlns:p="http://schemas.openxmlformats.org/presentationml/2006/main">
  <p:tag name="KSO_WM_UNIT_TABLE_BEAUTIFY" val="smartTable{e3df7fe6-ad34-4bec-9caa-da4f73eaf77d}"/>
  <p:tag name="KSO_WM_UNIT_VALUE" val="1284*2694"/>
  <p:tag name="KSO_WM_UNIT_HIGHLIGHT" val="0"/>
  <p:tag name="KSO_WM_UNIT_COMPATIBLE" val="0"/>
  <p:tag name="KSO_WM_UNIT_DIAGRAM_ISNUMVISUAL" val="0"/>
  <p:tag name="KSO_WM_UNIT_DIAGRAM_ISREFERUNIT" val="0"/>
  <p:tag name="KSO_WM_UNIT_TYPE" val="β"/>
  <p:tag name="KSO_WM_UNIT_INDEX" val="1"/>
  <p:tag name="KSO_WM_UNIT_ID" val="mixed20203806_1*β*1"/>
  <p:tag name="KSO_WM_TEMPLATE_CATEGORY" val="mixed"/>
  <p:tag name="KSO_WM_TEMPLATE_INDEX" val="20203806"/>
  <p:tag name="KSO_WM_UNIT_LAYERLEVEL" val="1"/>
  <p:tag name="KSO_WM_TAG_VERSION" val="1.0"/>
  <p:tag name="KSO_WM_BEAUTIFY_FLAG" val="#wm#"/>
</p:tagLst>
</file>

<file path=ppt/tags/tag2.xml><?xml version="1.0" encoding="utf-8"?>
<p:tagLst xmlns:p="http://schemas.openxmlformats.org/presentationml/2006/main">
  <p:tag name="ISLIDE.GUIDESSETTING" val="{&quot;Id&quot;:&quot;GuidesStyle_Normal&quot;,&quot;Name&quot;:&quot;GuidesStyle_Normal&quot;,&quot;Kind&quot;:0,&quot;OldGuidesSetting&quot;:{&quot;HeaderHeight&quot;:15.0,&quot;FooterHeight&quot;:9.0,&quot;SideMargin&quot;:5.5,&quot;TopMargin&quot;:0.0,&quot;BottomMargin&quot;:0.0,&quot;IntervalMargin&quot;:1.5}}"/>
  <p:tag name="COMMONDATA" val="eyJoZGlkIjoiODA2NGM4M2Q0MTk3ZmNiZjdiODk3MzMwMTRmZjYwOTIifQ=="/>
  <p:tag name="KSO_WPP_MARK_KEY" val="75a19353-5c8a-4d6c-8995-0b18b5fa93e4"/>
  <p:tag name="commondata" val="eyJoZGlkIjoiNzg0NDE3YzllNzczMGY3MTQ1OTYyNGM3NDBkNmM5NTcifQ=="/>
</p:tagLst>
</file>

<file path=ppt/theme/theme1.xml><?xml version="1.0" encoding="utf-8"?>
<a:theme xmlns:a="http://schemas.openxmlformats.org/drawingml/2006/main" name="Office 主题​​">
  <a:themeElements>
    <a:clrScheme name="自定义 28">
      <a:dk1>
        <a:sysClr val="windowText" lastClr="000000"/>
      </a:dk1>
      <a:lt1>
        <a:sysClr val="window" lastClr="FFFFFF"/>
      </a:lt1>
      <a:dk2>
        <a:srgbClr val="156389"/>
      </a:dk2>
      <a:lt2>
        <a:srgbClr val="F9A825"/>
      </a:lt2>
      <a:accent1>
        <a:srgbClr val="156389"/>
      </a:accent1>
      <a:accent2>
        <a:srgbClr val="F9A825"/>
      </a:accent2>
      <a:accent3>
        <a:srgbClr val="0BD0D9"/>
      </a:accent3>
      <a:accent4>
        <a:srgbClr val="10CF9B"/>
      </a:accent4>
      <a:accent5>
        <a:srgbClr val="7CCA62"/>
      </a:accent5>
      <a:accent6>
        <a:srgbClr val="A5C249"/>
      </a:accent6>
      <a:hlink>
        <a:srgbClr val="F49100"/>
      </a:hlink>
      <a:folHlink>
        <a:srgbClr val="85DFD0"/>
      </a:folHlink>
    </a:clrScheme>
    <a:fontScheme name="自定义 5">
      <a:majorFont>
        <a:latin typeface="思源宋体 CN Heavy"/>
        <a:ea typeface="思源宋体 CN Heavy"/>
        <a:cs typeface=""/>
      </a:majorFont>
      <a:minorFont>
        <a:latin typeface="思源黑体 CN Regular"/>
        <a:ea typeface="思源黑体 CN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4308</Words>
  <Application>WPS 演示</Application>
  <PresentationFormat>宽屏</PresentationFormat>
  <Paragraphs>404</Paragraphs>
  <Slides>32</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32</vt:i4>
      </vt:variant>
    </vt:vector>
  </HeadingPairs>
  <TitlesOfParts>
    <vt:vector size="44" baseType="lpstr">
      <vt:lpstr>Arial</vt:lpstr>
      <vt:lpstr>宋体</vt:lpstr>
      <vt:lpstr>Wingdings</vt:lpstr>
      <vt:lpstr>汉仪旗黑-50S</vt:lpstr>
      <vt:lpstr>黑体</vt:lpstr>
      <vt:lpstr>思源黑体 CN Regular</vt:lpstr>
      <vt:lpstr>思源宋体 CN Heavy</vt:lpstr>
      <vt:lpstr>微软雅黑</vt:lpstr>
      <vt:lpstr>Arial Unicode MS</vt:lpstr>
      <vt:lpstr>Calibri</vt:lpstr>
      <vt:lpstr>等线</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成龙 于</dc:creator>
  <cp:lastModifiedBy>宋航</cp:lastModifiedBy>
  <cp:revision>37</cp:revision>
  <dcterms:created xsi:type="dcterms:W3CDTF">2024-01-17T15:47:00Z</dcterms:created>
  <dcterms:modified xsi:type="dcterms:W3CDTF">2025-10-30T02:08:09Z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45029834E7004068B47849BDE78E0B91_11</vt:lpwstr>
  </property>
  <property fmtid="{D5CDD505-2E9C-101B-9397-08002B2CF9AE}" pid="3" name="KSOProductBuildVer">
    <vt:lpwstr>2052-12.1.0.21541</vt:lpwstr>
  </property>
  <property fmtid="{D5CDD505-2E9C-101B-9397-08002B2CF9AE}" pid="4" name="KSOTemplateUUID">
    <vt:lpwstr>v1.0_mb_5eKTuVdLY+vDO/m167kIlQ==</vt:lpwstr>
  </property>
</Properties>
</file>