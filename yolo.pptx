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73" r:id="rId3"/>
    <p:sldId id="274" r:id="rId4"/>
    <p:sldId id="276" r:id="rId5"/>
    <p:sldId id="275" r:id="rId6"/>
    <p:sldId id="277" r:id="rId7"/>
    <p:sldId id="279" r:id="rId8"/>
    <p:sldId id="278" r:id="rId9"/>
    <p:sldId id="280" r:id="rId10"/>
    <p:sldId id="282" r:id="rId11"/>
    <p:sldId id="286" r:id="rId12"/>
    <p:sldId id="284" r:id="rId13"/>
    <p:sldId id="283" r:id="rId14"/>
    <p:sldId id="285" r:id="rId15"/>
    <p:sldId id="289" r:id="rId16"/>
    <p:sldId id="287" r:id="rId17"/>
    <p:sldId id="304" r:id="rId18"/>
    <p:sldId id="288" r:id="rId19"/>
    <p:sldId id="306" r:id="rId20"/>
    <p:sldId id="305" r:id="rId21"/>
    <p:sldId id="294" r:id="rId22"/>
    <p:sldId id="290" r:id="rId23"/>
    <p:sldId id="291" r:id="rId24"/>
    <p:sldId id="292" r:id="rId25"/>
    <p:sldId id="295" r:id="rId26"/>
    <p:sldId id="296" r:id="rId27"/>
    <p:sldId id="297" r:id="rId28"/>
    <p:sldId id="298" r:id="rId29"/>
    <p:sldId id="302" r:id="rId30"/>
    <p:sldId id="299" r:id="rId31"/>
    <p:sldId id="301" r:id="rId32"/>
    <p:sldId id="300" r:id="rId33"/>
    <p:sldId id="303" r:id="rId34"/>
    <p:sldId id="272" r:id="rId35"/>
    <p:sldId id="271" r:id="rId36"/>
  </p:sldIdLst>
  <p:sldSz cx="18288000" cy="10287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等线" panose="02010600030101010101" pitchFamily="2" charset="-122"/>
      <p:regular r:id="rId40"/>
      <p:bold r:id="rId41"/>
    </p:embeddedFont>
    <p:embeddedFont>
      <p:font typeface="微软雅黑" panose="020B0503020204020204" pitchFamily="34" charset="-122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8" autoAdjust="0"/>
    <p:restoredTop sz="92648" autoAdjust="0"/>
  </p:normalViewPr>
  <p:slideViewPr>
    <p:cSldViewPr>
      <p:cViewPr varScale="1">
        <p:scale>
          <a:sx n="63" d="100"/>
          <a:sy n="63" d="100"/>
        </p:scale>
        <p:origin x="6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196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2BE3163-EF13-2E42-9B99-059139B268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EC3E51-0273-2440-3835-EC25E84CC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39196-184C-434E-9772-CE7C607CBD8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59AB9B-C257-8EF0-5FE8-4C0F98EA2A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B3529D-537A-369A-1161-5AF7E5240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3AE11-47A6-42E4-8645-E7C059E349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4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9F9D5-4B0B-4D26-8B03-2FACCEEE4A9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4FFD7-DD7C-496F-93CE-101236A68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43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166C-3217-22D9-7B99-842CB5EC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7E46D3-7DFC-9CE9-E376-0BDFB0F7D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129417-681A-CB2B-D1DB-4EF421912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实际输出一般是物体的边界框、物体是什么、对这个判断的置信程度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691B3-DF3A-9071-5DCF-3F8039800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261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实际输出一般是物体的边界框、物体是什么、对这个判断的置信程度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9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03D8B9-033F-FA9E-E193-A187B8D2CB01}"/>
              </a:ext>
            </a:extLst>
          </p:cNvPr>
          <p:cNvSpPr txBox="1"/>
          <p:nvPr userDrawn="1"/>
        </p:nvSpPr>
        <p:spPr>
          <a:xfrm>
            <a:off x="5724525" y="266700"/>
            <a:ext cx="683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You Only Look Once: Unified, Real-Time Object Detection</a:t>
            </a:r>
            <a:endParaRPr kumimoji="1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0" y="-1708981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533400" y="7840084"/>
            <a:ext cx="390651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zh-CN" alt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汇报人</a:t>
            </a: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姓名：韩腾毅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9200" y="3009900"/>
            <a:ext cx="10581281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altLang="zh-CN" sz="5400">
                <a:solidFill>
                  <a:schemeClr val="tx2"/>
                </a:solidFill>
              </a:rPr>
              <a:t>You Only Look Once: Unified, Real-Time Object Detection</a:t>
            </a:r>
            <a:endParaRPr lang="en-US" sz="5221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grandir Wide Bold"/>
              <a:sym typeface="Agrandir Wid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78513" y="7840084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402BBB-15E9-3BEB-23DC-F38F78E7E6FB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8449D9A-729D-9F8F-40DF-51812D2DA86D}"/>
              </a:ext>
            </a:extLst>
          </p:cNvPr>
          <p:cNvSpPr txBox="1"/>
          <p:nvPr/>
        </p:nvSpPr>
        <p:spPr>
          <a:xfrm>
            <a:off x="457200" y="727214"/>
            <a:ext cx="5691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YOLOv1-Change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7D1FD5-8C48-6EFA-6082-955F0E613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05" y="2079909"/>
            <a:ext cx="5691790" cy="59239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5DC94A-E8D6-EABC-B107-8D129B809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4229100"/>
            <a:ext cx="11090913" cy="29625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71A01FF-F51A-F293-940C-9925D233C531}"/>
              </a:ext>
            </a:extLst>
          </p:cNvPr>
          <p:cNvSpPr txBox="1"/>
          <p:nvPr/>
        </p:nvSpPr>
        <p:spPr>
          <a:xfrm>
            <a:off x="2080893" y="8356309"/>
            <a:ext cx="2848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Faster-RCNN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F333E9-D2C9-E694-405F-0FCC986BE219}"/>
              </a:ext>
            </a:extLst>
          </p:cNvPr>
          <p:cNvSpPr txBox="1"/>
          <p:nvPr/>
        </p:nvSpPr>
        <p:spPr>
          <a:xfrm>
            <a:off x="11793856" y="7191639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YOLO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278542-70BF-7830-A8E4-B790BDE29728}"/>
              </a:ext>
            </a:extLst>
          </p:cNvPr>
          <p:cNvSpPr txBox="1"/>
          <p:nvPr/>
        </p:nvSpPr>
        <p:spPr>
          <a:xfrm>
            <a:off x="6629400" y="8033143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latin typeface="Arial" panose="020B0604020202020204" pitchFamily="34" charset="0"/>
                <a:cs typeface="Arial" panose="020B0604020202020204" pitchFamily="34" charset="0"/>
              </a:rPr>
              <a:t>Two Stage                          One-Stage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DBA7DEC-9E88-4B2D-038E-CE360E487979}"/>
              </a:ext>
            </a:extLst>
          </p:cNvPr>
          <p:cNvCxnSpPr>
            <a:cxnSpLocks/>
          </p:cNvCxnSpPr>
          <p:nvPr/>
        </p:nvCxnSpPr>
        <p:spPr>
          <a:xfrm>
            <a:off x="9372600" y="8356309"/>
            <a:ext cx="1981200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ED3DC74-D617-25A5-A58F-16E50A059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898326"/>
            <a:ext cx="8622715" cy="347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1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D745C0-AFDF-95A0-99C1-D8F0441C6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390900"/>
            <a:ext cx="15842286" cy="6611273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C976B6-4686-93FD-9138-AE1E761A8A35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5848FFC-FA18-2804-4C67-E2C4DE0B8EB7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D2EB3BB-48D1-9259-E85F-2BB9EFEFE3C1}"/>
              </a:ext>
            </a:extLst>
          </p:cNvPr>
          <p:cNvGrpSpPr/>
          <p:nvPr/>
        </p:nvGrpSpPr>
        <p:grpSpPr>
          <a:xfrm>
            <a:off x="14038031" y="3715552"/>
            <a:ext cx="3372012" cy="1905000"/>
            <a:chOff x="13258800" y="3695700"/>
            <a:chExt cx="3372012" cy="19050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CFBFB45-3971-A158-4BDC-5B1FDBC4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600" y="3848100"/>
              <a:ext cx="1162212" cy="1390844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4B6D62-60D3-2DAE-67E8-F509F5BF9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2554" y="3848100"/>
              <a:ext cx="323895" cy="1171739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C718D66-E727-E810-5C2A-AABD0397321B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5317" y="4186252"/>
              <a:ext cx="197515" cy="714539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F36ED83-B3F1-3323-AA59-6F92B732E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08785" y="4248205"/>
              <a:ext cx="457264" cy="590632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1A1911B-AD43-27E9-027F-92ABF8C1F81D}"/>
                </a:ext>
              </a:extLst>
            </p:cNvPr>
            <p:cNvSpPr txBox="1"/>
            <p:nvPr/>
          </p:nvSpPr>
          <p:spPr>
            <a:xfrm>
              <a:off x="13335032" y="4982870"/>
              <a:ext cx="902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4096</a:t>
              </a:r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C007F3-5902-065F-BAA3-09A8ED46DD13}"/>
                </a:ext>
              </a:extLst>
            </p:cNvPr>
            <p:cNvSpPr txBox="1"/>
            <p:nvPr/>
          </p:nvSpPr>
          <p:spPr>
            <a:xfrm>
              <a:off x="14299846" y="4960704"/>
              <a:ext cx="902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1470</a:t>
              </a:r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076D6EA-1C6B-3951-88D2-99AA79A8CF3B}"/>
                </a:ext>
              </a:extLst>
            </p:cNvPr>
            <p:cNvSpPr/>
            <p:nvPr/>
          </p:nvSpPr>
          <p:spPr>
            <a:xfrm>
              <a:off x="13258800" y="3695700"/>
              <a:ext cx="3372012" cy="190500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7BF61B4-9F1D-4492-DD2F-26B8F01BA89E}"/>
              </a:ext>
            </a:extLst>
          </p:cNvPr>
          <p:cNvSpPr/>
          <p:nvPr/>
        </p:nvSpPr>
        <p:spPr>
          <a:xfrm>
            <a:off x="14684074" y="6286500"/>
            <a:ext cx="2079926" cy="16002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上 22">
            <a:extLst>
              <a:ext uri="{FF2B5EF4-FFF2-40B4-BE49-F238E27FC236}">
                <a16:creationId xmlns:a16="http://schemas.microsoft.com/office/drawing/2014/main" id="{02487C4D-3DF4-E1A5-0EFE-3985D8B3DF71}"/>
              </a:ext>
            </a:extLst>
          </p:cNvPr>
          <p:cNvSpPr/>
          <p:nvPr/>
        </p:nvSpPr>
        <p:spPr>
          <a:xfrm>
            <a:off x="15571637" y="5699272"/>
            <a:ext cx="304800" cy="5212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9DD8D5E-9D02-A4F6-F641-543553198F84}"/>
              </a:ext>
            </a:extLst>
          </p:cNvPr>
          <p:cNvCxnSpPr>
            <a:endCxn id="9" idx="1"/>
          </p:cNvCxnSpPr>
          <p:nvPr/>
        </p:nvCxnSpPr>
        <p:spPr>
          <a:xfrm>
            <a:off x="15571637" y="4563373"/>
            <a:ext cx="676194" cy="1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1A17D1A-77C7-B725-B4E5-2DBC0AAF4C0B}"/>
              </a:ext>
            </a:extLst>
          </p:cNvPr>
          <p:cNvSpPr txBox="1"/>
          <p:nvPr/>
        </p:nvSpPr>
        <p:spPr>
          <a:xfrm>
            <a:off x="15481316" y="4716565"/>
            <a:ext cx="98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reshape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7BF3E7-FDF6-F26E-B74F-2213A4287FC2}"/>
              </a:ext>
            </a:extLst>
          </p:cNvPr>
          <p:cNvSpPr txBox="1"/>
          <p:nvPr/>
        </p:nvSpPr>
        <p:spPr>
          <a:xfrm>
            <a:off x="12877800" y="616463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flatten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5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499A-9F2C-7C3A-61B9-37E27342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6D3E71-AA53-1868-F548-E1A4511BD83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F2EEAE8-2A72-6B9E-E371-77408CF1DD7D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YOLOv1-Output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26A6705-D742-62B5-A3C3-E28DA3BA6170}"/>
              </a:ext>
            </a:extLst>
          </p:cNvPr>
          <p:cNvGrpSpPr/>
          <p:nvPr/>
        </p:nvGrpSpPr>
        <p:grpSpPr>
          <a:xfrm>
            <a:off x="632087" y="2181086"/>
            <a:ext cx="8059275" cy="6679517"/>
            <a:chOff x="4648200" y="2357048"/>
            <a:chExt cx="8059275" cy="6679517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D6C7B7A-85D6-8BFA-8EE3-FC3F08B3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8200" y="2357048"/>
              <a:ext cx="8059275" cy="5572903"/>
            </a:xfrm>
            <a:prstGeom prst="rect">
              <a:avLst/>
            </a:prstGeom>
          </p:spPr>
        </p:pic>
        <p:sp>
          <p:nvSpPr>
            <p:cNvPr id="7" name="左大括号 6">
              <a:extLst>
                <a:ext uri="{FF2B5EF4-FFF2-40B4-BE49-F238E27FC236}">
                  <a16:creationId xmlns:a16="http://schemas.microsoft.com/office/drawing/2014/main" id="{E44F0498-94F3-143A-94E0-6F5A0D3E4573}"/>
                </a:ext>
              </a:extLst>
            </p:cNvPr>
            <p:cNvSpPr/>
            <p:nvPr/>
          </p:nvSpPr>
          <p:spPr>
            <a:xfrm rot="16200000">
              <a:off x="7527325" y="6498625"/>
              <a:ext cx="642549" cy="35052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0B995AF7-EDDD-88D4-7AAE-31B63545295A}"/>
                </a:ext>
              </a:extLst>
            </p:cNvPr>
            <p:cNvSpPr/>
            <p:nvPr/>
          </p:nvSpPr>
          <p:spPr>
            <a:xfrm rot="16200000">
              <a:off x="10513693" y="7198993"/>
              <a:ext cx="337750" cy="179966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4F1CC2-A6F4-2082-145C-48A72D21D2FE}"/>
                </a:ext>
              </a:extLst>
            </p:cNvPr>
            <p:cNvSpPr txBox="1"/>
            <p:nvPr/>
          </p:nvSpPr>
          <p:spPr>
            <a:xfrm>
              <a:off x="7010400" y="8667233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Two Coordinates</a:t>
              </a:r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774E12E-6AE1-F5F6-FF69-77C38683FD48}"/>
                </a:ext>
              </a:extLst>
            </p:cNvPr>
            <p:cNvSpPr txBox="1"/>
            <p:nvPr/>
          </p:nvSpPr>
          <p:spPr>
            <a:xfrm>
              <a:off x="10134600" y="8572500"/>
              <a:ext cx="2514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20 Class Probabilities</a:t>
              </a:r>
              <a:endParaRPr lang="zh-CN" altLang="en-US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01A2F471-36FA-AA48-0238-6B1D206A9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8"/>
          <a:stretch>
            <a:fillRect/>
          </a:stretch>
        </p:blipFill>
        <p:spPr>
          <a:xfrm>
            <a:off x="8691362" y="2817472"/>
            <a:ext cx="8732120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6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3CDED-9934-1CCF-E8E5-F1B1C262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1AA85E-B6A6-4122-C191-7CA5CB65F296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9D00F4A-5511-F107-CC0F-81BDEC886507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YOLOv1-Loss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9EEDF7-5F59-2C5C-2FEE-223107336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548" y="2628900"/>
            <a:ext cx="9473094" cy="6402504"/>
          </a:xfrm>
          <a:prstGeom prst="rect">
            <a:avLst/>
          </a:prstGeom>
        </p:spPr>
      </p:pic>
      <p:sp>
        <p:nvSpPr>
          <p:cNvPr id="12" name="左大括号 11">
            <a:extLst>
              <a:ext uri="{FF2B5EF4-FFF2-40B4-BE49-F238E27FC236}">
                <a16:creationId xmlns:a16="http://schemas.microsoft.com/office/drawing/2014/main" id="{81A385F6-AA73-B586-6434-7CC09140BEC4}"/>
              </a:ext>
            </a:extLst>
          </p:cNvPr>
          <p:cNvSpPr/>
          <p:nvPr/>
        </p:nvSpPr>
        <p:spPr>
          <a:xfrm>
            <a:off x="2286000" y="3162300"/>
            <a:ext cx="609600" cy="1447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03E2498B-C744-A655-4364-B39CBFBEB291}"/>
              </a:ext>
            </a:extLst>
          </p:cNvPr>
          <p:cNvSpPr/>
          <p:nvPr/>
        </p:nvSpPr>
        <p:spPr>
          <a:xfrm>
            <a:off x="4800600" y="5676900"/>
            <a:ext cx="457200" cy="1447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B815AD-8228-2199-C265-E94E19CC7B68}"/>
              </a:ext>
            </a:extLst>
          </p:cNvPr>
          <p:cNvSpPr txBox="1"/>
          <p:nvPr/>
        </p:nvSpPr>
        <p:spPr>
          <a:xfrm>
            <a:off x="1655322" y="3195319"/>
            <a:ext cx="461665" cy="12953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边界框损失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890D53-3C71-D211-99A6-A474B4DA340F}"/>
              </a:ext>
            </a:extLst>
          </p:cNvPr>
          <p:cNvSpPr txBox="1"/>
          <p:nvPr/>
        </p:nvSpPr>
        <p:spPr>
          <a:xfrm>
            <a:off x="4180461" y="5753102"/>
            <a:ext cx="461665" cy="12953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置信度损失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3D1C6E7-5A7E-4A9B-29B6-09115AA4F37F}"/>
              </a:ext>
            </a:extLst>
          </p:cNvPr>
          <p:cNvSpPr txBox="1"/>
          <p:nvPr/>
        </p:nvSpPr>
        <p:spPr>
          <a:xfrm>
            <a:off x="6934200" y="7886700"/>
            <a:ext cx="461665" cy="12953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分类损失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CDEA2F3-0340-2D10-3977-F0F43CF5D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0" y="1981200"/>
            <a:ext cx="2994582" cy="31623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8E7A68E-5BD8-1A25-E4FF-BCC0533E4F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0" y="5338980"/>
            <a:ext cx="2994582" cy="318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6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320D-E900-8AD2-ABED-33896DA9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36E95CE-672F-7862-5731-D34FB3102E2D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2972317-78FB-6053-CF16-32338A51C7CD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YOLOv2-BN(2d)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C0B07C-20DF-4CCE-88F9-423AA109C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171700"/>
            <a:ext cx="8620860" cy="65708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A76E58-4E72-7807-BC7B-D723D241C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00300"/>
            <a:ext cx="6758675" cy="62036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EFDB6E9-9B06-B41E-8C29-5FD4A47246FA}"/>
              </a:ext>
            </a:extLst>
          </p:cNvPr>
          <p:cNvSpPr txBox="1"/>
          <p:nvPr/>
        </p:nvSpPr>
        <p:spPr>
          <a:xfrm>
            <a:off x="4419600" y="8740033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  vs  Train</a:t>
            </a:r>
            <a:endParaRPr lang="zh-CN" altLang="en-US" sz="280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5A03828-19DB-8D98-EE2F-F5C1DC40C276}"/>
              </a:ext>
            </a:extLst>
          </p:cNvPr>
          <p:cNvCxnSpPr>
            <a:cxnSpLocks/>
          </p:cNvCxnSpPr>
          <p:nvPr/>
        </p:nvCxnSpPr>
        <p:spPr>
          <a:xfrm>
            <a:off x="14325600" y="27813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84E388C-27C1-E11D-91AA-6BCC004010A2}"/>
              </a:ext>
            </a:extLst>
          </p:cNvPr>
          <p:cNvSpPr txBox="1"/>
          <p:nvPr/>
        </p:nvSpPr>
        <p:spPr>
          <a:xfrm>
            <a:off x="13716000" y="24119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Batch Num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3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E351C-661D-4C82-A40B-27C458E4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F8B374-CA68-11F4-04C6-101BA1535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333500"/>
            <a:ext cx="13944600" cy="563521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844AF0-58B0-E36E-FD67-CBCAEE8A65BE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346E7F1-0FB4-CC52-EAF8-9B5F28B0F3D5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YOLOv2-Structure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562160-7230-CF58-BD8F-5609F8F94DC8}"/>
              </a:ext>
            </a:extLst>
          </p:cNvPr>
          <p:cNvSpPr/>
          <p:nvPr/>
        </p:nvSpPr>
        <p:spPr>
          <a:xfrm>
            <a:off x="12420600" y="5753100"/>
            <a:ext cx="4114800" cy="143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FFE15A-CE29-8BB1-DA25-524AD580A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7171564"/>
            <a:ext cx="5778236" cy="278421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D75699-C517-5500-2139-CE115971268C}"/>
              </a:ext>
            </a:extLst>
          </p:cNvPr>
          <p:cNvSpPr txBox="1"/>
          <p:nvPr/>
        </p:nvSpPr>
        <p:spPr>
          <a:xfrm>
            <a:off x="3911600" y="819876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Reorg: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00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0D95-1726-42D1-84D1-58E555CA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4F126B1-032A-7635-F7A4-F109345BD77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DB001A6-60AA-4CEE-D242-5D7D2C569D1F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YOLOv2-Anchor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CC3A6A-2987-1735-4359-92585BCDB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20" y="3898017"/>
            <a:ext cx="7449590" cy="56205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693B57-CFA3-362A-B102-1558EBD8B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485900"/>
            <a:ext cx="10896600" cy="24121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A05843-4115-980E-1FB6-63D9FECFF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678206"/>
            <a:ext cx="6240001" cy="61957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19B36AF-E7D1-CDD8-09E4-DC3D58DD9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8446" y="5524500"/>
            <a:ext cx="2096154" cy="74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5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8A6E-6F83-0CDE-D565-FEB78745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ADD5891-AD71-C162-8A42-4DAAE0C4313D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57680AC-82D6-BD97-0B09-EACE9BA2E128}"/>
              </a:ext>
            </a:extLst>
          </p:cNvPr>
          <p:cNvSpPr txBox="1"/>
          <p:nvPr/>
        </p:nvSpPr>
        <p:spPr>
          <a:xfrm>
            <a:off x="457200" y="7272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YOLOv2-Anchor Num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4EEDBB-CFD1-A089-08BF-576C1C8AE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171700"/>
            <a:ext cx="7277986" cy="76454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6F7FA2-CE04-62CB-A107-30EAEA2FD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214" y="4229486"/>
            <a:ext cx="8107225" cy="9140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9307E0-F833-4BAB-E8A0-279A37E87926}"/>
              </a:ext>
            </a:extLst>
          </p:cNvPr>
          <p:cNvSpPr txBox="1"/>
          <p:nvPr/>
        </p:nvSpPr>
        <p:spPr>
          <a:xfrm>
            <a:off x="1295400" y="27051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Anchor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的选取采用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key-means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方法，其距离没有采用欧氏距离，而使用交并比来反应已选取的聚类中心（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w,h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）与数据中所有的（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w,h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）的距离，公式如下：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08024E-262B-D0C8-417D-084791A13FF0}"/>
              </a:ext>
            </a:extLst>
          </p:cNvPr>
          <p:cNvSpPr/>
          <p:nvPr/>
        </p:nvSpPr>
        <p:spPr>
          <a:xfrm>
            <a:off x="3895161" y="5994420"/>
            <a:ext cx="1905000" cy="259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6BA4A4-1360-1F4F-5D78-289E689B9B5D}"/>
              </a:ext>
            </a:extLst>
          </p:cNvPr>
          <p:cNvSpPr/>
          <p:nvPr/>
        </p:nvSpPr>
        <p:spPr>
          <a:xfrm>
            <a:off x="3285561" y="6413520"/>
            <a:ext cx="3124200" cy="17526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C6ED4F3-29A6-B797-E1D3-0CED4D4AEE15}"/>
              </a:ext>
            </a:extLst>
          </p:cNvPr>
          <p:cNvCxnSpPr/>
          <p:nvPr/>
        </p:nvCxnSpPr>
        <p:spPr>
          <a:xfrm>
            <a:off x="1864360" y="7289820"/>
            <a:ext cx="61722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9F529B2-F27A-51C5-1EF4-51536D2B4631}"/>
              </a:ext>
            </a:extLst>
          </p:cNvPr>
          <p:cNvCxnSpPr>
            <a:cxnSpLocks/>
          </p:cNvCxnSpPr>
          <p:nvPr/>
        </p:nvCxnSpPr>
        <p:spPr>
          <a:xfrm>
            <a:off x="4847661" y="5568960"/>
            <a:ext cx="0" cy="34417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6764B4F-1E03-031C-2582-664E7DAD5768}"/>
              </a:ext>
            </a:extLst>
          </p:cNvPr>
          <p:cNvCxnSpPr>
            <a:cxnSpLocks/>
          </p:cNvCxnSpPr>
          <p:nvPr/>
        </p:nvCxnSpPr>
        <p:spPr>
          <a:xfrm flipH="1">
            <a:off x="6409761" y="5994420"/>
            <a:ext cx="60960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21C43F5-87F0-A4B1-D990-E59AF71C92FD}"/>
              </a:ext>
            </a:extLst>
          </p:cNvPr>
          <p:cNvSpPr txBox="1"/>
          <p:nvPr/>
        </p:nvSpPr>
        <p:spPr>
          <a:xfrm>
            <a:off x="7019361" y="574984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某目标框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8803275-FC07-C754-FAE4-28B4C31A6235}"/>
              </a:ext>
            </a:extLst>
          </p:cNvPr>
          <p:cNvCxnSpPr>
            <a:cxnSpLocks/>
          </p:cNvCxnSpPr>
          <p:nvPr/>
        </p:nvCxnSpPr>
        <p:spPr>
          <a:xfrm>
            <a:off x="3200400" y="5748556"/>
            <a:ext cx="694761" cy="2458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432D860-10D8-5A23-C777-71FE67C0B5A0}"/>
              </a:ext>
            </a:extLst>
          </p:cNvPr>
          <p:cNvSpPr txBox="1"/>
          <p:nvPr/>
        </p:nvSpPr>
        <p:spPr>
          <a:xfrm>
            <a:off x="2847412" y="540917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质心</a:t>
            </a:r>
          </a:p>
        </p:txBody>
      </p:sp>
    </p:spTree>
    <p:extLst>
      <p:ext uri="{BB962C8B-B14F-4D97-AF65-F5344CB8AC3E}">
        <p14:creationId xmlns:p14="http://schemas.microsoft.com/office/powerpoint/2010/main" val="422119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14E8-2418-4F8B-A010-6A97520F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A25809E-24D1-89FD-7915-7098F2D4D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1" y="2019300"/>
            <a:ext cx="16382998" cy="704003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F42A584-DFE6-AA4D-7E19-C822F35B8D10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F402418-C232-543A-2C44-309E99301747}"/>
              </a:ext>
            </a:extLst>
          </p:cNvPr>
          <p:cNvSpPr txBox="1"/>
          <p:nvPr/>
        </p:nvSpPr>
        <p:spPr>
          <a:xfrm>
            <a:off x="457200" y="7272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YOLOv3-Structure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FD5042-93C5-90B0-4673-4702281CABA6}"/>
              </a:ext>
            </a:extLst>
          </p:cNvPr>
          <p:cNvSpPr/>
          <p:nvPr/>
        </p:nvSpPr>
        <p:spPr>
          <a:xfrm>
            <a:off x="762000" y="2095500"/>
            <a:ext cx="7391400" cy="175259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1AAE64-9B9A-2B60-DA39-75CB91206696}"/>
              </a:ext>
            </a:extLst>
          </p:cNvPr>
          <p:cNvSpPr txBox="1"/>
          <p:nvPr/>
        </p:nvSpPr>
        <p:spPr>
          <a:xfrm>
            <a:off x="4876800" y="2171700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C000"/>
                </a:solidFill>
              </a:rPr>
              <a:t>BackBone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B49A47-0EE3-BF52-F67A-7CB34B0A6469}"/>
              </a:ext>
            </a:extLst>
          </p:cNvPr>
          <p:cNvSpPr/>
          <p:nvPr/>
        </p:nvSpPr>
        <p:spPr>
          <a:xfrm>
            <a:off x="7696200" y="2171700"/>
            <a:ext cx="5181600" cy="64008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A2B5A4-9839-FAF3-B551-97C323045131}"/>
              </a:ext>
            </a:extLst>
          </p:cNvPr>
          <p:cNvSpPr txBox="1"/>
          <p:nvPr/>
        </p:nvSpPr>
        <p:spPr>
          <a:xfrm>
            <a:off x="12077699" y="217424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3"/>
                </a:solidFill>
              </a:rPr>
              <a:t>Neck</a:t>
            </a:r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9032D0-AEB1-4FD7-EDED-F3E4B20B3890}"/>
              </a:ext>
            </a:extLst>
          </p:cNvPr>
          <p:cNvSpPr/>
          <p:nvPr/>
        </p:nvSpPr>
        <p:spPr>
          <a:xfrm>
            <a:off x="13106400" y="2171700"/>
            <a:ext cx="1981200" cy="6400800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7C8945-260D-2052-D61C-453C82698C8A}"/>
              </a:ext>
            </a:extLst>
          </p:cNvPr>
          <p:cNvSpPr txBox="1"/>
          <p:nvPr/>
        </p:nvSpPr>
        <p:spPr>
          <a:xfrm>
            <a:off x="14452600" y="224865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Head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D7A6F6-4570-3AFA-EAF3-B25880C0E49C}"/>
              </a:ext>
            </a:extLst>
          </p:cNvPr>
          <p:cNvSpPr txBox="1"/>
          <p:nvPr/>
        </p:nvSpPr>
        <p:spPr>
          <a:xfrm>
            <a:off x="15468600" y="3848097"/>
            <a:ext cx="1981200" cy="381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下采样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32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8019EB-5D37-46E5-0F07-F6893B03755A}"/>
              </a:ext>
            </a:extLst>
          </p:cNvPr>
          <p:cNvSpPr txBox="1"/>
          <p:nvPr/>
        </p:nvSpPr>
        <p:spPr>
          <a:xfrm>
            <a:off x="15504159" y="9082190"/>
            <a:ext cx="1981200" cy="381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下采样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8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1E234E-892F-C7F6-ED4C-D7E5EF0BE14A}"/>
              </a:ext>
            </a:extLst>
          </p:cNvPr>
          <p:cNvSpPr txBox="1"/>
          <p:nvPr/>
        </p:nvSpPr>
        <p:spPr>
          <a:xfrm>
            <a:off x="15468599" y="6453713"/>
            <a:ext cx="1981200" cy="381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下采样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16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211586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E35D-A304-948F-9544-D4A00D70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2F8F9B-C143-933D-064E-89F5BBFCCC93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DD45ED5-4404-08CD-983A-561FFDA2CD7C}"/>
              </a:ext>
            </a:extLst>
          </p:cNvPr>
          <p:cNvSpPr txBox="1"/>
          <p:nvPr/>
        </p:nvSpPr>
        <p:spPr>
          <a:xfrm>
            <a:off x="457200" y="7272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9C4EB6-B951-216A-E8FC-8050B469A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74338"/>
            <a:ext cx="14706631" cy="841266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4F0887C-F2A5-DE80-44C2-03D1DB3F79D9}"/>
              </a:ext>
            </a:extLst>
          </p:cNvPr>
          <p:cNvSpPr/>
          <p:nvPr/>
        </p:nvSpPr>
        <p:spPr>
          <a:xfrm>
            <a:off x="3048000" y="3238500"/>
            <a:ext cx="1981200" cy="289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F8C55C-4444-815E-27BE-9C19A4941FBD}"/>
              </a:ext>
            </a:extLst>
          </p:cNvPr>
          <p:cNvSpPr/>
          <p:nvPr/>
        </p:nvSpPr>
        <p:spPr>
          <a:xfrm>
            <a:off x="1905000" y="7277100"/>
            <a:ext cx="4038600" cy="157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E461EB-4DE5-50C7-BB12-71DC0AE334BC}"/>
              </a:ext>
            </a:extLst>
          </p:cNvPr>
          <p:cNvSpPr/>
          <p:nvPr/>
        </p:nvSpPr>
        <p:spPr>
          <a:xfrm>
            <a:off x="6781800" y="4305300"/>
            <a:ext cx="5410200" cy="586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99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40B20-4E73-5F7F-F177-C25B87BA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34C1445-4924-A82C-22BC-252D84402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28" y="1478554"/>
            <a:ext cx="5339705" cy="732989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4C7F5CE-7966-0D56-9F00-BADB95D828A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32D9E67-D6EC-DD52-ED06-D82277190387}"/>
              </a:ext>
            </a:extLst>
          </p:cNvPr>
          <p:cNvSpPr txBox="1"/>
          <p:nvPr/>
        </p:nvSpPr>
        <p:spPr>
          <a:xfrm>
            <a:off x="457200" y="727214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YOLOv4-DownSample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162BDD8-FA85-2898-1BA3-75830FCB7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2316851"/>
            <a:ext cx="6823804" cy="56532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7DD4B4-684B-0F7C-6692-B23521F61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86" y="3238500"/>
            <a:ext cx="4303442" cy="407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0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1B00C-2338-DB69-0D4A-5FEDA9E5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0D9F1DE-8839-B4FE-5B3F-32FBE92DB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35100"/>
            <a:ext cx="7530521" cy="4413074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9E2EA4-941D-3023-CEE9-C6D6FA84F6D2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B42A41F-E6F4-B3AF-EFAD-AC411B3FCDD0}"/>
              </a:ext>
            </a:extLst>
          </p:cNvPr>
          <p:cNvSpPr txBox="1"/>
          <p:nvPr/>
        </p:nvSpPr>
        <p:spPr>
          <a:xfrm>
            <a:off x="457200" y="7272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YOLOv4-SPP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8B6AA1-6C33-3E9F-8A99-E89E290EF12F}"/>
              </a:ext>
            </a:extLst>
          </p:cNvPr>
          <p:cNvSpPr txBox="1"/>
          <p:nvPr/>
        </p:nvSpPr>
        <p:spPr>
          <a:xfrm>
            <a:off x="10857286" y="2247900"/>
            <a:ext cx="5257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SPP </a:t>
            </a:r>
            <a:r>
              <a:rPr lang="zh-CN" altLang="en-US" sz="2800" b="1"/>
              <a:t>的作用是：从同一个特征图提取多尺度的上下文信息，增强特征感受野，让网络更容易检测大目标、小目标。</a:t>
            </a:r>
            <a:endParaRPr lang="zh-CN" altLang="en-US" sz="2800"/>
          </a:p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C46DE2C-3B95-CA33-984A-844C460C5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134100"/>
            <a:ext cx="9286875" cy="35528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EFD685F-B74F-7D04-2793-C425B11CA7D1}"/>
              </a:ext>
            </a:extLst>
          </p:cNvPr>
          <p:cNvSpPr txBox="1"/>
          <p:nvPr/>
        </p:nvSpPr>
        <p:spPr>
          <a:xfrm>
            <a:off x="8470321" y="3380027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Yolov4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B7E495-26DB-7D26-F8FA-159560D13728}"/>
              </a:ext>
            </a:extLst>
          </p:cNvPr>
          <p:cNvSpPr txBox="1"/>
          <p:nvPr/>
        </p:nvSpPr>
        <p:spPr>
          <a:xfrm>
            <a:off x="9677400" y="7648902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Yolov5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AA8727D-8EA3-5579-6003-3ED3DD0D8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857658"/>
              </p:ext>
            </p:extLst>
          </p:nvPr>
        </p:nvGraphicFramePr>
        <p:xfrm>
          <a:off x="11887200" y="5271462"/>
          <a:ext cx="4419584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968">
                  <a:extLst>
                    <a:ext uri="{9D8B030D-6E8A-4147-A177-3AD203B41FA5}">
                      <a16:colId xmlns:a16="http://schemas.microsoft.com/office/drawing/2014/main" val="3844364666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1838434454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3140322293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21405595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2803488344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2142879923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932599705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4228275054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2835012308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1137197405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3099269683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3104680100"/>
                    </a:ext>
                  </a:extLst>
                </a:gridCol>
                <a:gridCol w="339968">
                  <a:extLst>
                    <a:ext uri="{9D8B030D-6E8A-4147-A177-3AD203B41FA5}">
                      <a16:colId xmlns:a16="http://schemas.microsoft.com/office/drawing/2014/main" val="3707277572"/>
                    </a:ext>
                  </a:extLst>
                </a:gridCol>
              </a:tblGrid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63539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79722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047277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82072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213001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72605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613835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792109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33335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912944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556485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37082"/>
                  </a:ext>
                </a:extLst>
              </a:tr>
              <a:tr h="25751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464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3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B5521-FB49-4F7D-1521-07EB788B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DF3F03D-D4DF-0E5E-A858-70D9B3769D3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9C8DBCF-0E8F-A6AC-96CF-504AAF502458}"/>
              </a:ext>
            </a:extLst>
          </p:cNvPr>
          <p:cNvSpPr txBox="1"/>
          <p:nvPr/>
        </p:nvSpPr>
        <p:spPr>
          <a:xfrm>
            <a:off x="457200" y="7272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YOLOv4-PAN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73DC60-5B7F-7903-4041-C5970E897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695" y="2142986"/>
            <a:ext cx="13262610" cy="4495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A738D2A-72A1-5283-7B3F-F028EEF2E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80" y="7169826"/>
            <a:ext cx="2391321" cy="246114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95F65D1-4E1D-BA3D-966F-FE1CBAAE7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7138753"/>
            <a:ext cx="2148123" cy="252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2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2FAE-89DB-95B5-595A-73B61BF8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DF9C743-0B64-B331-2973-E7D14B4E013E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AA97E86-3777-01B1-567C-A96B8B836D5D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YOLOv4-BoF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BoS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9651BE-08B2-0F54-4E1A-504085E71586}"/>
              </a:ext>
            </a:extLst>
          </p:cNvPr>
          <p:cNvSpPr txBox="1"/>
          <p:nvPr/>
        </p:nvSpPr>
        <p:spPr>
          <a:xfrm>
            <a:off x="1752600" y="3009900"/>
            <a:ext cx="14478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免费赠品袋（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Bag of Freebies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BoF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指那些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仅改变训练方式或增加训练成本，而不在推理阶段引入任何额外计算开销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，就能提升模型性能的技巧。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YOLOv4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中使用了如数据增强、正则化、标签处理、新的损失函数（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CIOU loss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），训练策略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特价袋（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Bag of Specials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BoS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指那些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需要轻微增加模型推理复杂度（如计算量、参数量），但能换来显著性能提升的插件式模块或后处理技巧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YOLOv4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中使用了如感受野增强模块，通道注意力模块，激活函数改进（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Leaky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改用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Mish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NMS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方法改进等等。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6413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F74E-2802-AC35-7A41-94D33222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B018C0-28D9-5ECA-28AC-510E4A844FA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800024B-D049-1597-5901-FC7C1CFA9A3D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YOLOv4-BoF(Bag of Freebies)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448F2E-82B0-B71C-71FB-36A7B431D40B}"/>
              </a:ext>
            </a:extLst>
          </p:cNvPr>
          <p:cNvSpPr txBox="1"/>
          <p:nvPr/>
        </p:nvSpPr>
        <p:spPr>
          <a:xfrm>
            <a:off x="2133600" y="2247900"/>
            <a:ext cx="124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Eliminate grid sensitivity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0091EA-1939-7970-A7AC-412F8D933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152" y="3583919"/>
            <a:ext cx="6864848" cy="62542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D3DD9D-80F6-7342-A776-63B76FE3924B}"/>
              </a:ext>
            </a:extLst>
          </p:cNvPr>
          <p:cNvSpPr txBox="1"/>
          <p:nvPr/>
        </p:nvSpPr>
        <p:spPr>
          <a:xfrm>
            <a:off x="762000" y="63627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YOLOv4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31F944-0D19-E056-9AA7-D4FE4ED91C79}"/>
              </a:ext>
            </a:extLst>
          </p:cNvPr>
          <p:cNvSpPr/>
          <p:nvPr/>
        </p:nvSpPr>
        <p:spPr>
          <a:xfrm>
            <a:off x="5334000" y="6519565"/>
            <a:ext cx="533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67107E-3D7A-7B0A-1788-78F901534ABF}"/>
              </a:ext>
            </a:extLst>
          </p:cNvPr>
          <p:cNvSpPr txBox="1"/>
          <p:nvPr/>
        </p:nvSpPr>
        <p:spPr>
          <a:xfrm>
            <a:off x="755152" y="8621067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YOLOv5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D757FC-E009-3C9B-AFB2-C2BE9940D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5829300"/>
            <a:ext cx="5406191" cy="38867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1C48F2-FE5B-AD82-C45C-8052BAEAC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080" y="1666679"/>
            <a:ext cx="5082310" cy="3834479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7E57A77F-962D-3B2A-E6D4-6207252553E1}"/>
              </a:ext>
            </a:extLst>
          </p:cNvPr>
          <p:cNvSpPr/>
          <p:nvPr/>
        </p:nvSpPr>
        <p:spPr>
          <a:xfrm>
            <a:off x="12192000" y="407032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8CF77F6-5E6C-016D-987B-C5309F60A926}"/>
              </a:ext>
            </a:extLst>
          </p:cNvPr>
          <p:cNvSpPr/>
          <p:nvPr/>
        </p:nvSpPr>
        <p:spPr>
          <a:xfrm>
            <a:off x="12184380" y="3840232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AF1C101-D43A-3111-7426-36E1F1259CBD}"/>
              </a:ext>
            </a:extLst>
          </p:cNvPr>
          <p:cNvSpPr/>
          <p:nvPr/>
        </p:nvSpPr>
        <p:spPr>
          <a:xfrm>
            <a:off x="12344400" y="361312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06386D5-6243-ED51-5E6D-9785B21AFFF1}"/>
              </a:ext>
            </a:extLst>
          </p:cNvPr>
          <p:cNvSpPr/>
          <p:nvPr/>
        </p:nvSpPr>
        <p:spPr>
          <a:xfrm>
            <a:off x="12649200" y="358011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4D84F43-92FD-CD27-E9F3-3C705336F63F}"/>
              </a:ext>
            </a:extLst>
          </p:cNvPr>
          <p:cNvSpPr/>
          <p:nvPr/>
        </p:nvSpPr>
        <p:spPr>
          <a:xfrm>
            <a:off x="13258800" y="4651544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11A70CD-3FCE-6414-A842-0DDF69BEA0B0}"/>
              </a:ext>
            </a:extLst>
          </p:cNvPr>
          <p:cNvSpPr/>
          <p:nvPr/>
        </p:nvSpPr>
        <p:spPr>
          <a:xfrm>
            <a:off x="13030200" y="4646025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A8C29CF-CCA1-A309-1306-5C479FA661A8}"/>
              </a:ext>
            </a:extLst>
          </p:cNvPr>
          <p:cNvSpPr/>
          <p:nvPr/>
        </p:nvSpPr>
        <p:spPr>
          <a:xfrm>
            <a:off x="13268960" y="3906252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78FF48B-9BA8-5959-8904-C5F5C4CD653C}"/>
              </a:ext>
            </a:extLst>
          </p:cNvPr>
          <p:cNvSpPr/>
          <p:nvPr/>
        </p:nvSpPr>
        <p:spPr>
          <a:xfrm>
            <a:off x="13291820" y="442145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618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D146-16AA-C241-7629-341D5163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7B61DA6-578D-CBC5-2E47-CB7D26387A02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CE1D490-3A23-0EED-1C7B-3DDCE8D0C3BA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YOLOv4-BoF(Bag of Freebies)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55DABD-18D6-5FA7-DF1F-FE418844A988}"/>
              </a:ext>
            </a:extLst>
          </p:cNvPr>
          <p:cNvSpPr txBox="1"/>
          <p:nvPr/>
        </p:nvSpPr>
        <p:spPr>
          <a:xfrm>
            <a:off x="2814321" y="2288803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Eliminate grid sensitivity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F8DD56-702A-B64E-FAA9-26522B7D978F}"/>
              </a:ext>
            </a:extLst>
          </p:cNvPr>
          <p:cNvSpPr/>
          <p:nvPr/>
        </p:nvSpPr>
        <p:spPr>
          <a:xfrm>
            <a:off x="5334000" y="6519565"/>
            <a:ext cx="533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264E3B-23D5-22BD-584D-3413BF9E54DF}"/>
              </a:ext>
            </a:extLst>
          </p:cNvPr>
          <p:cNvSpPr txBox="1"/>
          <p:nvPr/>
        </p:nvSpPr>
        <p:spPr>
          <a:xfrm>
            <a:off x="919480" y="6441132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YOLOv5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4FD2EE2-F962-9337-0AC5-286F4DFCF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5829300"/>
            <a:ext cx="5406191" cy="38867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09AFA8-9C74-A622-593B-E9CD3AA00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080" y="1666679"/>
            <a:ext cx="5082310" cy="3834479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68955A87-BDB6-521A-E209-E472A6691E28}"/>
              </a:ext>
            </a:extLst>
          </p:cNvPr>
          <p:cNvSpPr/>
          <p:nvPr/>
        </p:nvSpPr>
        <p:spPr>
          <a:xfrm>
            <a:off x="12192000" y="407032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10F96AD-001A-386F-EDF5-C3FAFAC9EA78}"/>
              </a:ext>
            </a:extLst>
          </p:cNvPr>
          <p:cNvSpPr/>
          <p:nvPr/>
        </p:nvSpPr>
        <p:spPr>
          <a:xfrm>
            <a:off x="12184380" y="3840232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A8C80F6-04ED-999C-3229-FFA7776B8F98}"/>
              </a:ext>
            </a:extLst>
          </p:cNvPr>
          <p:cNvSpPr/>
          <p:nvPr/>
        </p:nvSpPr>
        <p:spPr>
          <a:xfrm>
            <a:off x="12344400" y="361312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59B81C7-785B-51FD-BDDC-94D02C159A0F}"/>
              </a:ext>
            </a:extLst>
          </p:cNvPr>
          <p:cNvSpPr/>
          <p:nvPr/>
        </p:nvSpPr>
        <p:spPr>
          <a:xfrm>
            <a:off x="12649200" y="358011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88DCEA9-0060-AFCC-53B6-31BC1FBC3AC1}"/>
              </a:ext>
            </a:extLst>
          </p:cNvPr>
          <p:cNvSpPr/>
          <p:nvPr/>
        </p:nvSpPr>
        <p:spPr>
          <a:xfrm>
            <a:off x="13258800" y="4651544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50C2F03-7E8A-EB4A-A927-83ECA3BA7057}"/>
              </a:ext>
            </a:extLst>
          </p:cNvPr>
          <p:cNvSpPr/>
          <p:nvPr/>
        </p:nvSpPr>
        <p:spPr>
          <a:xfrm>
            <a:off x="13030200" y="4646025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A35147A-2895-F901-6A94-7759511F33C2}"/>
              </a:ext>
            </a:extLst>
          </p:cNvPr>
          <p:cNvSpPr/>
          <p:nvPr/>
        </p:nvSpPr>
        <p:spPr>
          <a:xfrm>
            <a:off x="13268960" y="3906252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33D5754-1133-4239-A9DD-6603744089EE}"/>
              </a:ext>
            </a:extLst>
          </p:cNvPr>
          <p:cNvSpPr/>
          <p:nvPr/>
        </p:nvSpPr>
        <p:spPr>
          <a:xfrm>
            <a:off x="13291820" y="4421453"/>
            <a:ext cx="76200" cy="6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521420-CD69-A08F-58FA-830543343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580" y="3279817"/>
            <a:ext cx="2737479" cy="1647031"/>
          </a:xfrm>
          <a:prstGeom prst="rect">
            <a:avLst/>
          </a:prstGeom>
        </p:spPr>
      </p:pic>
      <p:sp>
        <p:nvSpPr>
          <p:cNvPr id="11" name="箭头: 上 10">
            <a:extLst>
              <a:ext uri="{FF2B5EF4-FFF2-40B4-BE49-F238E27FC236}">
                <a16:creationId xmlns:a16="http://schemas.microsoft.com/office/drawing/2014/main" id="{DFB09C0D-7DAA-0A46-67D8-9B38697F90FB}"/>
              </a:ext>
            </a:extLst>
          </p:cNvPr>
          <p:cNvSpPr/>
          <p:nvPr/>
        </p:nvSpPr>
        <p:spPr>
          <a:xfrm rot="10800000">
            <a:off x="4594700" y="5092645"/>
            <a:ext cx="289238" cy="685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E80F042-23BB-67A1-8414-C7DBC33694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18" y="6519565"/>
            <a:ext cx="2737480" cy="112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4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68C8-8098-5432-2E2A-C7853D9F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41112BD-719A-5125-F975-D854CD569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680" y="3160062"/>
            <a:ext cx="10723930" cy="671900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AA1A824-B988-88B8-B4C1-2423CAAE4560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A3CC276-576F-9625-7420-C48CCCE3296C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YOLOv4-BoF(Bag of Freebies)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8BBEAC-4C05-0269-BC56-28FE9BFC94D3}"/>
              </a:ext>
            </a:extLst>
          </p:cNvPr>
          <p:cNvSpPr txBox="1"/>
          <p:nvPr/>
        </p:nvSpPr>
        <p:spPr>
          <a:xfrm>
            <a:off x="2133600" y="2247900"/>
            <a:ext cx="124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Expanded Grid Assignment(YOLOv5)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017A55-2862-93FA-5109-977A615E4A25}"/>
              </a:ext>
            </a:extLst>
          </p:cNvPr>
          <p:cNvSpPr/>
          <p:nvPr/>
        </p:nvSpPr>
        <p:spPr>
          <a:xfrm>
            <a:off x="5334000" y="6519565"/>
            <a:ext cx="533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53B110-9E1C-5CC5-1908-BAE706C834D9}"/>
              </a:ext>
            </a:extLst>
          </p:cNvPr>
          <p:cNvSpPr/>
          <p:nvPr/>
        </p:nvSpPr>
        <p:spPr>
          <a:xfrm>
            <a:off x="12649200" y="6972300"/>
            <a:ext cx="2057400" cy="30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F1F1A3-5105-02B4-BAC1-82B125E4F2F8}"/>
              </a:ext>
            </a:extLst>
          </p:cNvPr>
          <p:cNvSpPr/>
          <p:nvPr/>
        </p:nvSpPr>
        <p:spPr>
          <a:xfrm>
            <a:off x="10439400" y="7505700"/>
            <a:ext cx="914400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457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0235-7E02-4303-9124-0676167E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326E2C8-A8FD-788F-EC41-239266D3A99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EBEF0B3-60AA-97C8-CAC7-68B1B4530B27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YOLOv4-BoF(Bag of Freebies)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5ACDF1-E6FA-651A-828D-142A88B694B0}"/>
              </a:ext>
            </a:extLst>
          </p:cNvPr>
          <p:cNvSpPr txBox="1"/>
          <p:nvPr/>
        </p:nvSpPr>
        <p:spPr>
          <a:xfrm>
            <a:off x="2133600" y="2247900"/>
            <a:ext cx="124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Anchor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正样本匹配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(YOLOv5)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409A91-8F05-7CA7-4784-021CCA0B7697}"/>
              </a:ext>
            </a:extLst>
          </p:cNvPr>
          <p:cNvSpPr/>
          <p:nvPr/>
        </p:nvSpPr>
        <p:spPr>
          <a:xfrm>
            <a:off x="5334000" y="6519565"/>
            <a:ext cx="533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DE0494-D8D0-82F1-1438-F384F4AB9893}"/>
              </a:ext>
            </a:extLst>
          </p:cNvPr>
          <p:cNvSpPr/>
          <p:nvPr/>
        </p:nvSpPr>
        <p:spPr>
          <a:xfrm>
            <a:off x="12649200" y="6972300"/>
            <a:ext cx="2057400" cy="30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48627A-D528-9E20-95D5-927916A30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" b="3466"/>
          <a:stretch>
            <a:fillRect/>
          </a:stretch>
        </p:blipFill>
        <p:spPr>
          <a:xfrm>
            <a:off x="1600200" y="3310890"/>
            <a:ext cx="15087600" cy="64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57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6CD5-5371-011C-A7C6-19A96F78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4A5542-6BDB-5972-36FB-ADFD39D68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AFFBE90-D025-6226-B31E-01DFBC02AB22}"/>
              </a:ext>
            </a:extLst>
          </p:cNvPr>
          <p:cNvSpPr/>
          <p:nvPr/>
        </p:nvSpPr>
        <p:spPr>
          <a:xfrm>
            <a:off x="12801600" y="9671050"/>
            <a:ext cx="1828800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76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DE43-3626-C0DF-C1FB-F8EA659B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2F74F74-57E9-516E-2440-13889F8B57B6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58C7A37-3793-2779-51FB-B82F3BD778C9}"/>
              </a:ext>
            </a:extLst>
          </p:cNvPr>
          <p:cNvSpPr txBox="1"/>
          <p:nvPr/>
        </p:nvSpPr>
        <p:spPr>
          <a:xfrm>
            <a:off x="457200" y="727214"/>
            <a:ext cx="103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YOLOv5-Training Strategy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Bag of freebies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5446E2-FCD1-6608-B7EF-F6BF80AF1D23}"/>
              </a:ext>
            </a:extLst>
          </p:cNvPr>
          <p:cNvSpPr txBox="1"/>
          <p:nvPr/>
        </p:nvSpPr>
        <p:spPr>
          <a:xfrm>
            <a:off x="1676400" y="2455514"/>
            <a:ext cx="149352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Multi-scale training(0.5~1.5x)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，多尺度训练，假设设置输入图片的大小为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640 × 640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，训练时采用尺寸是在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0.5 × 640 ∼ 1.5 × 640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之间随机取值，注意取值时取得都是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的整数倍（因为网络会最大下采样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倍）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AutoAnchor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，根据数据集 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GT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框，自动选择适合的 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anchor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宽高组合，提高匹配率和训练收敛速度，免人工设置 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anchor.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Warmup and Cosine LR scheduler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Warmup: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初期用小学习率稳定训练，避免梯度爆炸；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Cosine LR: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学习率随训练周期呈余弦曲线下降，帮助训练收敛到更优解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Mixed precision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，混合精度训练，能够减少显存的占用并且加快训练速度，简单来说就是在不必要使用单精度浮点数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(FP32),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使用半精度浮点（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FP16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），前提是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硬件支持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01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2FDDD-CB0F-2400-A825-AD1D6D24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72F230A-F688-0813-8899-B8DAFBF831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028700"/>
            <a:ext cx="9971042" cy="876501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F6E1EA5-1F05-B4B6-405D-4F158C066DCC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5D8F2FF-4DF2-5DD2-3112-FD0C903F8E03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YOLOv5-Structure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CE4B20-F6DD-BF2B-2078-479719D6A831}"/>
              </a:ext>
            </a:extLst>
          </p:cNvPr>
          <p:cNvSpPr/>
          <p:nvPr/>
        </p:nvSpPr>
        <p:spPr>
          <a:xfrm>
            <a:off x="10363200" y="3235960"/>
            <a:ext cx="4648200" cy="5867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167469-3CB4-DC78-4548-E59D36E9B308}"/>
              </a:ext>
            </a:extLst>
          </p:cNvPr>
          <p:cNvSpPr txBox="1"/>
          <p:nvPr/>
        </p:nvSpPr>
        <p:spPr>
          <a:xfrm>
            <a:off x="12039600" y="3238500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Neck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9E721C-5141-3A81-E066-15FC1B42A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91" y="2142986"/>
            <a:ext cx="3229809" cy="20295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CA8B68B-720F-CFC0-A901-C9E7277D8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880" y="1735723"/>
            <a:ext cx="2295240" cy="28441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9A24B5C-9AEE-7794-4505-5FBA5627D8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14" y="5753100"/>
            <a:ext cx="3032521" cy="20295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A1CA3A6-05E4-D3C7-630A-EB1198E9A2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91" y="5303955"/>
            <a:ext cx="2295240" cy="276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59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AAFB-9DF7-3D69-0FEA-0BDD687D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BE0EEC2-1CEE-6178-ED3C-CC6E52998862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16CBBC7-7254-9D25-3374-3B2DB668FB9F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YOLOv5-Loss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ED6AC64-D757-C5AE-5FBE-B769AC6E36A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52" r="27016"/>
          <a:stretch>
            <a:fillRect/>
          </a:stretch>
        </p:blipFill>
        <p:spPr>
          <a:xfrm>
            <a:off x="4338320" y="6012340"/>
            <a:ext cx="6563360" cy="103456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B86D504-E6F1-C512-D790-DC1078BD4C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96" r="30768"/>
          <a:stretch>
            <a:fillRect/>
          </a:stretch>
        </p:blipFill>
        <p:spPr>
          <a:xfrm>
            <a:off x="9364277" y="4722466"/>
            <a:ext cx="6344628" cy="1143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F9A59A8-70A3-B755-DDDB-8DE6B9DA4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77107"/>
            <a:ext cx="6516009" cy="78115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CF41378-6EFE-7851-FE14-D56917BE3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584" y="3498655"/>
            <a:ext cx="8888065" cy="119079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FF94D3-BD70-B5DD-57B1-899827AD34A3}"/>
              </a:ext>
            </a:extLst>
          </p:cNvPr>
          <p:cNvSpPr txBox="1"/>
          <p:nvPr/>
        </p:nvSpPr>
        <p:spPr>
          <a:xfrm>
            <a:off x="3200400" y="9330105"/>
            <a:ext cx="4324611" cy="842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8B4FA8-7A74-F06F-7C3D-DF1510DE0A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4721821"/>
            <a:ext cx="4656525" cy="107644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6448B09-C7D3-CE87-6CD8-60A5CB9AD7C9}"/>
              </a:ext>
            </a:extLst>
          </p:cNvPr>
          <p:cNvSpPr/>
          <p:nvPr/>
        </p:nvSpPr>
        <p:spPr>
          <a:xfrm>
            <a:off x="8763000" y="7429500"/>
            <a:ext cx="2438400" cy="12192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6E9C28-4CF3-38F4-82CC-D07BCD1E6EC3}"/>
              </a:ext>
            </a:extLst>
          </p:cNvPr>
          <p:cNvSpPr/>
          <p:nvPr/>
        </p:nvSpPr>
        <p:spPr>
          <a:xfrm>
            <a:off x="9601200" y="7810500"/>
            <a:ext cx="22098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5EDA935-DA71-E019-D70A-21A39F867E54}"/>
              </a:ext>
            </a:extLst>
          </p:cNvPr>
          <p:cNvCxnSpPr/>
          <p:nvPr/>
        </p:nvCxnSpPr>
        <p:spPr>
          <a:xfrm>
            <a:off x="9601200" y="7810500"/>
            <a:ext cx="1600200" cy="8382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7AD289-761A-91ED-9137-0F0F8C84A6A8}"/>
              </a:ext>
            </a:extLst>
          </p:cNvPr>
          <p:cNvCxnSpPr/>
          <p:nvPr/>
        </p:nvCxnSpPr>
        <p:spPr>
          <a:xfrm>
            <a:off x="9982200" y="8039100"/>
            <a:ext cx="609600" cy="38100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99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590FC-37D4-C5C1-B380-C8ED10AD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20345A-49B9-A08C-1CCF-66DB03501EF3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C184A62-6E53-7DB4-32FA-7B0E10B4B410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YOLOv5-Loss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E3A612-4DD6-2D39-6298-C255E04F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877107"/>
            <a:ext cx="6516009" cy="7811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8909EC4-737D-E3C5-0ECB-24B9CE11C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97" y="5600700"/>
            <a:ext cx="10593278" cy="24387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0D75D2-0FA9-E2C5-4C91-3640F74E2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97" y="3343927"/>
            <a:ext cx="10602805" cy="20672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B2CA855-4219-D532-46E2-89E943C087F5}"/>
              </a:ext>
            </a:extLst>
          </p:cNvPr>
          <p:cNvSpPr txBox="1"/>
          <p:nvPr/>
        </p:nvSpPr>
        <p:spPr>
          <a:xfrm>
            <a:off x="990600" y="3009900"/>
            <a:ext cx="358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Binary Cross Entropy</a:t>
            </a:r>
          </a:p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</a:rPr>
              <a:t>二元交叉熵损失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63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EB2A-60C2-AD27-F2D2-CC43E6A0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DC02B5E-5CBB-4BB0-9777-AAA0436F0743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A0AA8EC-4D28-9A6C-8D56-94948F00CD8D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YOLOvX-Decoupled Head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7F4B24-C068-2C67-CD6C-B4B05D8A1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24100"/>
            <a:ext cx="1172691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99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6256-8066-C427-BBF6-62F6F5EA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16185D0-0902-5EB9-C37D-DDB068A0FE8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EB27D13-70C2-7663-6ACF-38A2457C4554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YOLOvX-Anchor Free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31038F-21FF-53D8-2B89-48B040757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27" y="2857500"/>
            <a:ext cx="9241596" cy="457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028FA5-2A67-0C0B-84C5-C3EF9BC47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333500"/>
            <a:ext cx="5034371" cy="48394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DE6775-AC24-F2CB-52F7-1EBEB6A21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303" y="6832116"/>
            <a:ext cx="3553715" cy="11201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B0694ED-D6C3-F188-D49B-61776A157B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555" y="7884811"/>
            <a:ext cx="2343392" cy="106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5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9D6B-8C53-C174-55FA-A34ABFED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64A7ECF-0400-6144-B1C5-E790BA102FDA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B1B1C5B-EB07-31C6-FA0F-ED05490EB7CC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YOLOv8-Decoupled Head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4072F3-F111-35F1-6ADC-4AF373CC3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396" y="1333500"/>
            <a:ext cx="9723148" cy="84575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EDCC307-1E6A-A7D7-CCA3-02EC12BED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788" y="1435100"/>
            <a:ext cx="3121249" cy="49230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BD109F-A7C5-A40E-9013-5E8E73281E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44566"/>
            <a:ext cx="2684334" cy="2653787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724F5D77-BDB4-0402-4113-0504F66DDA4C}"/>
              </a:ext>
            </a:extLst>
          </p:cNvPr>
          <p:cNvSpPr/>
          <p:nvPr/>
        </p:nvSpPr>
        <p:spPr>
          <a:xfrm>
            <a:off x="3351161" y="3398204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61393A5-861E-4AAA-0B93-79E520EFF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83" y="6825678"/>
            <a:ext cx="5101434" cy="138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9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7DB0-62C9-E085-1D42-93CD282F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E13E19A-34F4-5C95-BFCF-A019796D4D3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D524E1A-C39A-866B-461F-DF9DA57E4B81}"/>
              </a:ext>
            </a:extLst>
          </p:cNvPr>
          <p:cNvSpPr txBox="1"/>
          <p:nvPr/>
        </p:nvSpPr>
        <p:spPr>
          <a:xfrm>
            <a:off x="457200" y="72721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YOLOv8-DFL(Distribution focal loss)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FA75F50-0926-88D8-4D7E-0716B436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95511"/>
              </p:ext>
            </p:extLst>
          </p:nvPr>
        </p:nvGraphicFramePr>
        <p:xfrm>
          <a:off x="3352800" y="4000500"/>
          <a:ext cx="11353808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613">
                  <a:extLst>
                    <a:ext uri="{9D8B030D-6E8A-4147-A177-3AD203B41FA5}">
                      <a16:colId xmlns:a16="http://schemas.microsoft.com/office/drawing/2014/main" val="2993755190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3494507030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62057059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606509534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456634405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647381693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168760071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782690582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817071535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3670232393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70691688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835319071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4191293917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3823081503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4089871236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1497891688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5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15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4656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0.05</a:t>
                      </a:r>
                      <a:endParaRPr lang="zh-CN" altLang="en-US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0.05</a:t>
                      </a:r>
                      <a:endParaRPr lang="zh-CN" altLang="en-US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0.6</a:t>
                      </a:r>
                      <a:endParaRPr lang="zh-CN" altLang="en-US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0.3</a:t>
                      </a:r>
                      <a:endParaRPr lang="zh-CN" altLang="en-US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66009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0.03</a:t>
                      </a: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0.2</a:t>
                      </a: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0.7</a:t>
                      </a: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0.07</a:t>
                      </a: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10999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0.8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0.08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0.02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42693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0.4</a:t>
                      </a:r>
                      <a:endParaRPr lang="zh-CN" altLang="en-US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0.5</a:t>
                      </a:r>
                      <a:endParaRPr lang="zh-CN" altLang="en-US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0.06</a:t>
                      </a:r>
                      <a:endParaRPr lang="zh-CN" altLang="en-US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0.04</a:t>
                      </a:r>
                      <a:endParaRPr lang="zh-CN" altLang="en-US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1024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EE6D866-0B20-8C6B-1F2D-EDA3B0EB2BB3}"/>
                  </a:ext>
                </a:extLst>
              </p:cNvPr>
              <p:cNvSpPr txBox="1"/>
              <p:nvPr/>
            </p:nvSpPr>
            <p:spPr>
              <a:xfrm>
                <a:off x="838200" y="8071141"/>
                <a:ext cx="8763000" cy="1561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leftregs</m:t>
                          </m:r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=0.05×8+0.05×9+0.6×10+0.3×11=10.15</m:t>
                          </m:r>
                        </m:e>
                        <m:e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topreg</m:t>
                          </m:r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=0.03×3+0.2×4+0.7×5+0.07×6=4.81</m:t>
                          </m:r>
                        </m:e>
                        <m:e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rightreg</m:t>
                          </m:r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=0.1×10+0.8×11+0.08×12+0.02×13=11.02</m:t>
                          </m:r>
                        </m:e>
                        <m:e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bottomreg</m:t>
                          </m:r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=0.4×4+0.5×5+0.06×6+0.04×7=3.58</m:t>
                          </m:r>
                        </m:e>
                      </m:eqArr>
                    </m:oMath>
                  </m:oMathPara>
                </a14:m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EE6D866-0B20-8C6B-1F2D-EDA3B0EB2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071141"/>
                <a:ext cx="8763000" cy="15615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0C103876-8165-519D-BDAD-5C14EA4E1024}"/>
              </a:ext>
            </a:extLst>
          </p:cNvPr>
          <p:cNvSpPr txBox="1"/>
          <p:nvPr/>
        </p:nvSpPr>
        <p:spPr>
          <a:xfrm>
            <a:off x="3733800" y="24003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假设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grid cell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的中心点为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(20.5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18.5)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833216F-8623-1CFC-B0EB-521E50558AFD}"/>
                  </a:ext>
                </a:extLst>
              </p:cNvPr>
              <p:cNvSpPr txBox="1"/>
              <p:nvPr/>
            </p:nvSpPr>
            <p:spPr>
              <a:xfrm>
                <a:off x="10515600" y="8071141"/>
                <a:ext cx="4724400" cy="1511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1=20.5−10.15=10.35</m:t>
                          </m:r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1=18.5−4.81=13.69</m:t>
                          </m:r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2=20.5+11.02=3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0.98</m:t>
                          </m:r>
                        </m: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&amp;&amp;&amp;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2=18.5+3.58=2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2.08</m:t>
                          </m:r>
                        </m:e>
                      </m:eqArr>
                    </m:oMath>
                  </m:oMathPara>
                </a14:m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833216F-8623-1CFC-B0EB-521E50558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0" y="8071141"/>
                <a:ext cx="4724400" cy="1511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7F962898-6822-2CCC-8147-24CCD52DE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686080"/>
            <a:ext cx="2717519" cy="14284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6B8572-5104-1B8F-B302-F00BB84B9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992105"/>
            <a:ext cx="3258782" cy="755839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ACA895D-E38A-1960-F9A6-3C794E4B417C}"/>
              </a:ext>
            </a:extLst>
          </p:cNvPr>
          <p:cNvCxnSpPr/>
          <p:nvPr/>
        </p:nvCxnSpPr>
        <p:spPr>
          <a:xfrm flipH="1">
            <a:off x="14706608" y="4610100"/>
            <a:ext cx="685792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FA8D1F7-B394-7AB8-CEA0-7DC10C551172}"/>
              </a:ext>
            </a:extLst>
          </p:cNvPr>
          <p:cNvSpPr txBox="1"/>
          <p:nvPr/>
        </p:nvSpPr>
        <p:spPr>
          <a:xfrm>
            <a:off x="15367000" y="442543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92D050"/>
                </a:solidFill>
              </a:rPr>
              <a:t>经过</a:t>
            </a:r>
            <a:r>
              <a:rPr lang="en-US" altLang="zh-CN">
                <a:solidFill>
                  <a:srgbClr val="92D050"/>
                </a:solidFill>
              </a:rPr>
              <a:t>softmax</a:t>
            </a:r>
            <a:r>
              <a:rPr lang="zh-CN" altLang="en-US">
                <a:solidFill>
                  <a:srgbClr val="92D050"/>
                </a:solidFill>
              </a:rPr>
              <a:t>处理</a:t>
            </a:r>
          </a:p>
        </p:txBody>
      </p:sp>
    </p:spTree>
    <p:extLst>
      <p:ext uri="{BB962C8B-B14F-4D97-AF65-F5344CB8AC3E}">
        <p14:creationId xmlns:p14="http://schemas.microsoft.com/office/powerpoint/2010/main" val="1963523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C0FC-E27E-DE26-2795-D654350A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D22D30C-5471-FD91-DBF1-FC6A08548001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C1A63CC-D8E8-FABA-B1D4-E878C73BF9A5}"/>
              </a:ext>
            </a:extLst>
          </p:cNvPr>
          <p:cNvSpPr txBox="1"/>
          <p:nvPr/>
        </p:nvSpPr>
        <p:spPr>
          <a:xfrm>
            <a:off x="457200" y="72721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YOLOv8-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正样本匹配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C686B90-86E9-C047-275B-715FB1F14C51}"/>
                  </a:ext>
                </a:extLst>
              </p:cNvPr>
              <p:cNvSpPr txBox="1"/>
              <p:nvPr/>
            </p:nvSpPr>
            <p:spPr>
              <a:xfrm>
                <a:off x="3505200" y="2552700"/>
                <a:ext cx="11811000" cy="5046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(1)计算真实框和预测框的匹配程度。</a:t>
                </a:r>
                <a:endParaRPr lang="zh-CN" altLang="zh-CN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𝑎𝑙𝑖𝑔</m:t>
                      </m:r>
                      <m:sSub>
                        <m:sSub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𝑒𝑡𝑟𝑖𝑐</m:t>
                      </m:r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zh-CN" altLang="zh-CN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是预测类别分值，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是预测框和真实框的 ciou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ℚ</m:t>
                        </m:r>
                      </m:sup>
                    </m:sSup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值，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为权重超参数，两者相乘就可以衡量匹配程度，当分类回的分值 越高且ciou越高时，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𝑎𝑙𝑖𝑔𝑛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𝑚𝑒𝑡𝑟𝑖𝑐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的值就越接近于1，此时预测框就与真实框越匹配，就越符合正样本的标准。 </a:t>
                </a:r>
              </a:p>
              <a:p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(2) 对于每个真实框，直接对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𝑎𝑙𝑖𝑔𝑛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𝑚𝑒𝑡𝑟𝑖𝑐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匹配程度排序，选取topK个预测框作为正样本。</a:t>
                </a:r>
              </a:p>
              <a:p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 (3) 对一个预测框与多个真实框匹配测情况进行处理，保留ciou值最大的真实框</a:t>
                </a:r>
                <a:r>
                  <a:rPr lang="en-US" altLang="zh-CN" sz="240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zh-CN" altLang="zh-CN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C686B90-86E9-C047-275B-715FB1F14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552700"/>
                <a:ext cx="11811000" cy="5046381"/>
              </a:xfrm>
              <a:prstGeom prst="rect">
                <a:avLst/>
              </a:prstGeom>
              <a:blipFill>
                <a:blip r:embed="rId2"/>
                <a:stretch>
                  <a:fillRect l="-1290" t="-1932" r="-1238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933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B76D-F708-BF70-85D0-DF70B108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6CB0112-BF9C-2E4D-107F-70A5FBB0C78E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1A8770C-BC89-169A-4A8D-0D54339DB583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YOLOv10-NMS Free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7F81F2-16EA-9C00-4772-FFC67FFB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857500"/>
            <a:ext cx="17260629" cy="518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6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3B6E-22DC-C414-2891-B0428E1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6C0E39D-31AB-E90D-580F-8B1751CC28EF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35E42B6-36AD-03DF-5B89-F7AA39055704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YOLOv10-NMS Free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0B87C5-6DC2-1D45-9D8D-D6B63B041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200401"/>
            <a:ext cx="9662338" cy="388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0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B201-65AB-DFCE-7A4D-63DD0D9F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9C15F0A-6E81-67BA-F74E-6C97093505DA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D52ABE6-92C4-7F26-91B1-EC9EE7FC808F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YOLOv12-R-ElAN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3B47C28-6F49-122D-604D-D0A36CE95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119" y="5410716"/>
            <a:ext cx="15651759" cy="47536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5BC85B-DC11-81FF-A707-ECDF2CFCD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67" y="1714500"/>
            <a:ext cx="15508864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20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415C1-27DF-08E6-ACB1-00E96227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465E1C9-988A-B412-D1E1-D92D89C7CE9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96F8A06-AB78-9375-033C-B63FABBD9240}"/>
              </a:ext>
            </a:extLst>
          </p:cNvPr>
          <p:cNvSpPr txBox="1"/>
          <p:nvPr/>
        </p:nvSpPr>
        <p:spPr>
          <a:xfrm>
            <a:off x="457200" y="727214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YOLOv12-Structure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FCF3E4-BC95-F4E6-8689-59D251AA7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499"/>
            <a:ext cx="11755491" cy="55824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0C175F-E2EB-FAC9-FCFA-35B9B27C2D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10164"/>
            <a:ext cx="4921966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97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BF2C-4936-0572-CE00-0A88A932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2C2095E-BBCE-C804-3158-2BF29EB41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217230"/>
              </p:ext>
            </p:extLst>
          </p:nvPr>
        </p:nvGraphicFramePr>
        <p:xfrm>
          <a:off x="990600" y="1181100"/>
          <a:ext cx="16306800" cy="90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06800">
                  <a:extLst>
                    <a:ext uri="{9D8B030D-6E8A-4147-A177-3AD203B41FA5}">
                      <a16:colId xmlns:a16="http://schemas.microsoft.com/office/drawing/2014/main" val="987902843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r>
                        <a:rPr lang="en-US" altLang="zh-CN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      Year          Author           BackBone                Anchor Type               Feature Fusion</a:t>
                      </a:r>
                      <a:endParaRPr lang="zh-CN" altLang="en-US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780068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YOLOv1    2015           J.R                CNN                           None                               None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286121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YOLOv2    2016        J.R, A.F         Darknet-19                Anchor-Based         Passthrough   Layer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165285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YOLOv3    2018        J.R, A.F         Darknet-53                Anchor-Based                    FPN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871028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YOLOv4    2020       A.B,C.W     CSPDarknet-53             Anchor-Based               PAN+SPP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435579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YOLOv5    2020       Ultralytics       Pytorchv4               Auto-Anchor                     PAN+SPPF    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17714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YOLOX     2021         Z. Ge        CSPDarknet-53             Anchor-Free                      PAN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543925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YOLOv6    2022        </a:t>
                      </a:r>
                      <a:r>
                        <a:rPr lang="en-US" altLang="zh-CN" sz="2800"/>
                        <a:t>Megvii</a:t>
                      </a:r>
                      <a:r>
                        <a:rPr lang="zh-CN" altLang="en-US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EfficientRep                 Based-&gt;Free                  RepPAN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329872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YOLOv7    2022       A.B,C.W        E-ELAN                      Anchor-Based             PANet+ELAN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18215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YOLOv8    2023       Ultralytics    C2f+CSPNet                Anchor-Free                      PAN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09770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YOLOv9    2024         C.W             GELAN                      Anchor-Free                 GELAN+PGI     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18525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YOLOv10  2024      A.W,L.L</a:t>
                      </a:r>
                      <a:r>
                        <a:rPr lang="zh-CN" altLang="en-US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C2f+CSPNet                Anchor-Free                      PAN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398475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YOLOv11  2024       Ultralytics    C3k2+CSPNet</a:t>
                      </a:r>
                      <a:r>
                        <a:rPr lang="zh-CN" altLang="en-US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</a:t>
                      </a:r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Anchor-Free           PAN + C2PSA + SPPF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933374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US" altLang="zh-CN" sz="2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YOLOv12  2025          Y.T             R-ELAN                      Anchor-Free             PAN+Area Attention</a:t>
                      </a:r>
                      <a:endParaRPr lang="zh-CN" altLang="en-US" sz="2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140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716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7755" y="-4591274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2740746" y="3162300"/>
            <a:ext cx="12806508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6"/>
              </a:lnSpc>
            </a:pPr>
            <a:r>
              <a:rPr lang="en-US" sz="6600" b="1">
                <a:solidFill>
                  <a:srgbClr val="2F3E6B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THANK YOU FOR WATCHING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97F0EDA-CBF9-6E7B-9CAD-714BFD14D75D}"/>
              </a:ext>
            </a:extLst>
          </p:cNvPr>
          <p:cNvSpPr txBox="1"/>
          <p:nvPr/>
        </p:nvSpPr>
        <p:spPr>
          <a:xfrm>
            <a:off x="833301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学生姓名：韩腾毅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9FFCCFE1-F088-8877-1386-625B9D74CC45}"/>
              </a:ext>
            </a:extLst>
          </p:cNvPr>
          <p:cNvSpPr txBox="1"/>
          <p:nvPr/>
        </p:nvSpPr>
        <p:spPr>
          <a:xfrm>
            <a:off x="4920857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918</Words>
  <Application>Microsoft Office PowerPoint</Application>
  <PresentationFormat>自定义</PresentationFormat>
  <Paragraphs>192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Cambria Math</vt:lpstr>
      <vt:lpstr>等线</vt:lpstr>
      <vt:lpstr>微软雅黑</vt:lpstr>
      <vt:lpstr>Calibri</vt:lpstr>
      <vt:lpstr>Wingdings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蓝色简约学术风大学生开题报告毕业答辩演示文稿</dc:title>
  <cp:lastModifiedBy>modelian NY</cp:lastModifiedBy>
  <cp:revision>12</cp:revision>
  <dcterms:created xsi:type="dcterms:W3CDTF">2006-08-16T00:00:00Z</dcterms:created>
  <dcterms:modified xsi:type="dcterms:W3CDTF">2025-11-26T16:22:46Z</dcterms:modified>
  <dc:identifier>DAG2zJH7p6Y</dc:identifier>
</cp:coreProperties>
</file>