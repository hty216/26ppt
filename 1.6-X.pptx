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9" r:id="rId3"/>
  </p:sldMasterIdLst>
  <p:notesMasterIdLst>
    <p:notesMasterId r:id="rId39"/>
  </p:notesMasterIdLst>
  <p:sldIdLst>
    <p:sldId id="283" r:id="rId4"/>
    <p:sldId id="399" r:id="rId5"/>
    <p:sldId id="400" r:id="rId6"/>
    <p:sldId id="402" r:id="rId7"/>
    <p:sldId id="401" r:id="rId8"/>
    <p:sldId id="404" r:id="rId9"/>
    <p:sldId id="405" r:id="rId10"/>
    <p:sldId id="407" r:id="rId11"/>
    <p:sldId id="406" r:id="rId12"/>
    <p:sldId id="408" r:id="rId13"/>
    <p:sldId id="409" r:id="rId14"/>
    <p:sldId id="410" r:id="rId15"/>
    <p:sldId id="412" r:id="rId16"/>
    <p:sldId id="411" r:id="rId17"/>
    <p:sldId id="413" r:id="rId18"/>
    <p:sldId id="414" r:id="rId19"/>
    <p:sldId id="403" r:id="rId20"/>
    <p:sldId id="415" r:id="rId21"/>
    <p:sldId id="418" r:id="rId22"/>
    <p:sldId id="419" r:id="rId23"/>
    <p:sldId id="420" r:id="rId24"/>
    <p:sldId id="417" r:id="rId25"/>
    <p:sldId id="416" r:id="rId26"/>
    <p:sldId id="422" r:id="rId27"/>
    <p:sldId id="424" r:id="rId28"/>
    <p:sldId id="423" r:id="rId29"/>
    <p:sldId id="425" r:id="rId30"/>
    <p:sldId id="426" r:id="rId31"/>
    <p:sldId id="427" r:id="rId32"/>
    <p:sldId id="428" r:id="rId33"/>
    <p:sldId id="429" r:id="rId34"/>
    <p:sldId id="430" r:id="rId35"/>
    <p:sldId id="421" r:id="rId36"/>
    <p:sldId id="431" r:id="rId37"/>
    <p:sldId id="317" r:id="rId38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58E4A015-F864-4015-A66F-CE436E336F9F}">
          <p14:sldIdLst>
            <p14:sldId id="283"/>
            <p14:sldId id="399"/>
            <p14:sldId id="400"/>
            <p14:sldId id="402"/>
            <p14:sldId id="401"/>
            <p14:sldId id="404"/>
            <p14:sldId id="405"/>
            <p14:sldId id="407"/>
            <p14:sldId id="406"/>
            <p14:sldId id="408"/>
            <p14:sldId id="409"/>
            <p14:sldId id="410"/>
            <p14:sldId id="412"/>
            <p14:sldId id="411"/>
            <p14:sldId id="413"/>
            <p14:sldId id="414"/>
            <p14:sldId id="403"/>
            <p14:sldId id="415"/>
            <p14:sldId id="418"/>
            <p14:sldId id="419"/>
            <p14:sldId id="420"/>
            <p14:sldId id="417"/>
            <p14:sldId id="416"/>
            <p14:sldId id="422"/>
            <p14:sldId id="424"/>
            <p14:sldId id="423"/>
            <p14:sldId id="425"/>
            <p14:sldId id="426"/>
            <p14:sldId id="427"/>
            <p14:sldId id="428"/>
            <p14:sldId id="429"/>
            <p14:sldId id="430"/>
            <p14:sldId id="421"/>
            <p14:sldId id="431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orient="horz" pos="624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  <p15:guide id="8" orient="horz" pos="3407" userDrawn="1">
          <p15:clr>
            <a:srgbClr val="A4A3A4"/>
          </p15:clr>
        </p15:guide>
        <p15:guide id="9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1D86"/>
    <a:srgbClr val="D99ED8"/>
    <a:srgbClr val="8F1E8C"/>
    <a:srgbClr val="B871B6"/>
    <a:srgbClr val="FBE7D9"/>
    <a:srgbClr val="A4A3A4"/>
    <a:srgbClr val="986ABA"/>
    <a:srgbClr val="C0A4D5"/>
    <a:srgbClr val="A9ACC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82" y="62"/>
      </p:cViewPr>
      <p:guideLst>
        <p:guide pos="304"/>
        <p:guide pos="7378"/>
        <p:guide orient="horz" pos="618"/>
        <p:guide orient="horz" pos="624"/>
        <p:guide orient="horz" pos="4042"/>
        <p:guide orient="horz" pos="3407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-2760"/>
    </p:cViewPr>
  </p:sorterViewPr>
  <p:notesViewPr>
    <p:cSldViewPr snapToGrid="0" showGuides="1">
      <p:cViewPr varScale="1">
        <p:scale>
          <a:sx n="56" d="100"/>
          <a:sy n="56" d="100"/>
        </p:scale>
        <p:origin x="285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1393-E2B1-4490-8F56-836F0E6FCF0C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732-1106-48F0-B4AE-FAB426F790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8E2B-6988-9561-199B-15221BE6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84A676-574B-96BD-EA7A-FE47591B5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407654-60FC-8D14-08A5-D11AFD71C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C1F6B-3CF2-972E-E90D-9FCAE09AC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37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EA81-09E9-827D-C2A1-1BE183E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BA1E64-7FDD-A452-CED9-77B032B17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3C7181-BA56-E3D8-ABFD-80284352A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B2D393-66E7-2AB3-EE77-8CB5670D5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559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CCCC-F2BF-01E5-6A4C-F22AA245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9BEC16-E2EB-F833-2950-4F32148D6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3D9F3F-BFBC-CBCF-70FA-2A226F7D5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954C-59CD-FD94-0489-C8C627D94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594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154E-C75B-4BD7-B2FD-8EA700AA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60F3BA-A9B3-AA9A-67D7-101104562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7328D9-9E5B-EE41-64E7-2BF5C37A4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F069E5-9958-DAE0-EFE8-AF702577A0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22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65FA-1543-5AC1-F9BC-B17A7BB3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A8E7D8-1438-916E-E20E-648D4EE8F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A6DB74-4320-8D3F-57AB-DE4E013CA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346B60-7CAE-F5D1-F4B5-F8A1A3415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071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042A0-A00A-B58F-2AAD-515BAF3F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75C68C-D5B5-E452-466E-975F11330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0C0F32-F712-83EC-D54A-8E6F4046B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19CB23-CDAD-38CD-E163-8C13E31E0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983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2D94-E331-0989-C60D-BC561217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042D82-F89A-A810-1AC1-696E357CC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511A5D-60CA-A1DB-B578-CAC517725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276D29-C802-26E1-E991-CBFB93C0E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58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45DA-7A48-2986-D8DA-BC4A3EE20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412E02-8076-6BD3-CDE9-BB907D444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5743F3-A839-20E0-E931-384277516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56B9FA-CA34-AF97-30E6-FD85F48A0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18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A7191-6F28-29B9-DBE8-045173E1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0CCFA7-CD30-7948-2A5D-9154938C4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F1B4AC-4E28-7FD6-CF62-211E3241A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E3D7D-1D80-D002-2F9E-7F737A93E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948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9162-E3C7-62FF-06C0-2F32BDE5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A7138F-0A6E-391B-F64B-35847D16C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70479F-9BFD-D26C-F1B3-DE2717BA0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69F962-70EC-5CA1-506B-11C5CE46A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665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1504-FDAB-0B4B-7F67-B0521C2C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CC809D-8BDF-C90D-6CB7-67922B7C5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A865B0-2F65-B8D1-CBF3-850C7B728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3B11C6-35F8-9CD8-B913-67399C4B4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820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21B3-5D44-72A9-082A-42ECD872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8F31AB-B455-C187-9241-398C520A9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42819C-8B4F-B0E7-E6F5-AE45CD247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C76E8-4B55-C0D5-2298-F66608FB6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486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7719-C962-2F32-9871-865F3C45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62921F-073C-E3AE-3539-1B8E936E8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6711AD-8A50-26A2-6BC3-71279297E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CC5A4-98AC-0FBF-002E-FC3DAA531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253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1FE1-57D7-1FF2-05EC-E0406904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52111D-CBBC-A9B4-B938-D86681178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8F7EE4-9C79-7DE2-9946-C9EFCA192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8175BF-4788-B91A-5FD7-68DB4BC60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212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31076-40A2-23C7-DBEF-A6F4EEA7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64B3ED-C5DE-9542-B8AA-811DB3C39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3CDF98-3281-A7E0-08F4-A6A58C22A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4589D-2F52-F7FB-7B68-C76BB3EA7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758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424D-A7EF-0E18-B466-E7761927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EDEA81-0F53-EEB4-7A67-1BE801AC5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588753-8B5F-3A3E-CD5F-5F976053E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F7EF9E-6CD3-26A6-B4F3-09F56223D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409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82E3-7452-A021-0AB9-9CAB0E50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993F41-2736-596D-25CE-240E58F30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265945-ABE3-FAE4-929E-460C121FF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AC240E-D33E-0E79-DBDA-61EF8818B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8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35E7-9277-6260-3268-70503795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594D46-6BD3-C738-D2C4-2F86331AB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1A3802-FA8C-851C-9312-9126125CD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84D8A6-CF13-605E-2824-24DBDFF47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36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2AB6-49FC-3A24-99EE-C121E526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ECC34F-031F-09C1-33F3-632D08A00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E81522-1FA3-5618-CECE-6E65057E7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85983-DAA3-9810-BD3A-F32B86012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80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65C0-A999-8E38-FDC8-38A28B3F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0B179F-E7E3-EBCC-0C52-EBB9E16A2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E388D8-ACCE-1BB9-FB39-594998DD7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A6C7D2-82AE-B6CB-FD7C-589992A3E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81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E4FC-1AEE-E748-F7A9-92597848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07F04D-1812-454C-52AC-DAA53559C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AA6445-6BC9-CBF3-3191-B5F864DF5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41E969-3468-060B-7125-32955CC04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012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B16E-D783-FE48-2FA6-562BB36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9BC77-0FD4-0F7E-2F36-F95D05D46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F802DC-8435-DB95-E299-24DDA6C57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5965C0-1ABB-C701-B243-8113A6939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2766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24585-BE2E-FBC5-E9BA-2308B47F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4E771F-B04E-2615-28CA-14641B563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A0567F-49C1-B5CF-CE02-111E497D8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8B3F8-3E4C-AFB1-ECA1-34F0B893EC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217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341F-71BB-8714-60F7-8BA13305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5FF297-98E8-EA6C-D559-E1B23EC0F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7BC295-CC17-45DB-615F-128D5412D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69CAA3-6A07-DE62-B7EE-668CB01CC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09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1DEAB-891A-FAEE-9B86-E6258B1E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8BE85F-E632-FDFE-8D34-2EFAAAE27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CE722F-639E-4AA8-EE25-799CB3048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B5ED9F-E94F-09AD-C7E1-00353B91C2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7509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2D93-CABC-0DD7-A22D-6F95C9F0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385B85-EF36-957F-7F1D-B660B51BF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524C5A-C750-5308-53DE-F7E40D3F1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8C856-CEEB-4791-FEB6-E6B7154BF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6205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57B5-899B-F261-0C40-D3263FB0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FDC27C-DFDD-52E8-94D2-0E536B67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8E2D2D-F576-D54E-D78B-28727FC10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E5853-C512-2B9F-88F1-EF867134C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7921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0447-C743-9388-AC33-31F74076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2A743A-CBC1-64E3-AC7E-7A7DF6DB4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32EF41-A1C4-62CB-9141-43D2F0F35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B6768A-F6AA-5391-B439-DA9F731F5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4510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9EC5-5988-5746-222F-3B093E9F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00EB58-96DD-9C22-7914-88334DF7F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7B2FFF-0EB2-BB8E-79DC-7F69A7CA8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A1064A-CC22-15D2-47C7-1070D58D7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7209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7197-1C5B-8C8A-C42B-5362F38D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EC5899-1DCF-494F-1746-A3604431D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47CAC1-7F99-D667-E328-367A34291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791172-D01A-5692-36EF-E1ACB6F5D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795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A1FFE-9DCA-8A62-2F4E-87B888FC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F9EACB-CB82-487E-C0F7-C5CB94ADB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DC7FAF-7D7F-3C9E-4926-AEFEAEAD8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4EBA12-0567-D84A-6FB9-6A9A9F4F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8829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5106-5A2E-147D-768D-563E10E0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A2BE38-F9CB-302F-D803-225B81744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485928-C8C4-D35E-5C1D-21939984C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FE1EF3-F478-A660-3861-8471D21C7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1756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90B3-3738-F41D-D2E2-6B372B40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F803B4-FDD8-C9E3-3EDB-C732C11C7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9AE3B5-EBD6-FD1D-71C2-C9E95E33F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F1CB6-53EB-77B7-E327-378AC7063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9560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BC0732-1106-48F0-B4AE-FAB426F790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 userDrawn="1"/>
        </p:nvSpPr>
        <p:spPr>
          <a:xfrm>
            <a:off x="3472677" y="1418654"/>
            <a:ext cx="5246645" cy="5246645"/>
          </a:xfrm>
          <a:prstGeom prst="ellipse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A1BC-73E1-4B32-AD3F-BC46ED9A3A3B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zhida.zhihu.com/search?content_id=242913114&amp;content_type=Article&amp;match_order=1&amp;q=Kolmogorov-Arnold+%E8%A1%A8%E7%A4%BA%E5%AE%9A%E7%90%86&amp;zhida_source=entity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81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14" y="60734"/>
            <a:ext cx="12190943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0483" y="2823762"/>
            <a:ext cx="10131034" cy="7694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prstMaterial="matte">
              <a:extrusionClr>
                <a:srgbClr val="891D86"/>
              </a:extrusionClr>
              <a:contourClr>
                <a:schemeClr val="bg1"/>
              </a:contourClr>
            </a:sp3d>
          </a:bodyPr>
          <a:lstStyle/>
          <a:p>
            <a:pPr algn="ctr"/>
            <a:r>
              <a:rPr lang="zh-CN" altLang="en-US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遥感图像的变化检测文献综述</a:t>
            </a:r>
          </a:p>
        </p:txBody>
      </p:sp>
      <p:sp>
        <p:nvSpPr>
          <p:cNvPr id="24" name="矩形: 剪去对角 7"/>
          <p:cNvSpPr/>
          <p:nvPr/>
        </p:nvSpPr>
        <p:spPr>
          <a:xfrm>
            <a:off x="645724" y="679281"/>
            <a:ext cx="2398913" cy="369332"/>
          </a:xfrm>
          <a:prstGeom prst="snip2Diag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pc="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2885908" y="1178574"/>
            <a:ext cx="0" cy="369332"/>
          </a:xfrm>
          <a:prstGeom prst="line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FBFB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6489117"/>
            <a:ext cx="12193057" cy="368883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0" y="-8707"/>
            <a:ext cx="12193057" cy="368883"/>
          </a:xfrm>
          <a:prstGeom prst="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246259" y="3900813"/>
            <a:ext cx="2381250" cy="2381250"/>
          </a:xfrm>
          <a:prstGeom prst="ellipse">
            <a:avLst/>
          </a:prstGeom>
          <a:blipFill dpi="0" rotWithShape="1">
            <a:blip r:embed="rId5">
              <a:alphaModFix amt="4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47773" y="4869059"/>
            <a:ext cx="7152828" cy="858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汇报人：夏泽宇       指导老师：刘芳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4779-C378-06AD-ED90-A4C08CA8B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713EDA-53CA-63AE-2D37-17021342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问题定义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EB40AC-8552-005B-A058-8C71C36EB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85" y="1383494"/>
            <a:ext cx="4620270" cy="287695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7E63D9-F7A6-0A07-3B33-2B877CE3C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216" y="1469230"/>
            <a:ext cx="2638793" cy="2705478"/>
          </a:xfrm>
          <a:prstGeom prst="rect">
            <a:avLst/>
          </a:prstGeom>
        </p:spPr>
      </p:pic>
      <p:sp>
        <p:nvSpPr>
          <p:cNvPr id="6" name="箭头: 下 5">
            <a:extLst>
              <a:ext uri="{FF2B5EF4-FFF2-40B4-BE49-F238E27FC236}">
                <a16:creationId xmlns:a16="http://schemas.microsoft.com/office/drawing/2014/main" id="{F0A199FA-4C38-3376-EEE8-6CE00EC617B0}"/>
              </a:ext>
            </a:extLst>
          </p:cNvPr>
          <p:cNvSpPr>
            <a:spLocks noChangeAspect="1"/>
          </p:cNvSpPr>
          <p:nvPr/>
        </p:nvSpPr>
        <p:spPr>
          <a:xfrm rot="16200000">
            <a:off x="6122804" y="2295407"/>
            <a:ext cx="1006063" cy="1261122"/>
          </a:xfrm>
          <a:prstGeom prst="downArrow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729BC2-3875-08B3-7287-B729FC28E69E}"/>
              </a:ext>
            </a:extLst>
          </p:cNvPr>
          <p:cNvSpPr txBox="1"/>
          <p:nvPr/>
        </p:nvSpPr>
        <p:spPr>
          <a:xfrm>
            <a:off x="640947" y="4643509"/>
            <a:ext cx="109101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遥感图像变化检测</a:t>
            </a:r>
          </a:p>
          <a:p>
            <a:r>
              <a:rPr lang="zh-CN" altLang="en-US" sz="2400" b="1" dirty="0"/>
              <a:t>输入</a:t>
            </a:r>
            <a:r>
              <a:rPr lang="zh-CN" altLang="en-US" sz="2400" dirty="0"/>
              <a:t>：同一个位置不同时间拍摄的多时相遥感影像</a:t>
            </a:r>
            <a:endParaRPr lang="en-US" altLang="zh-CN" sz="2400" dirty="0"/>
          </a:p>
          <a:p>
            <a:r>
              <a:rPr lang="zh-CN" altLang="en-US" sz="2400" b="1" dirty="0"/>
              <a:t>输出</a:t>
            </a:r>
            <a:r>
              <a:rPr lang="zh-CN" altLang="en-US" sz="2400" dirty="0"/>
              <a:t>：像素级别的变化检测图（</a:t>
            </a:r>
            <a:r>
              <a:rPr lang="en-US" altLang="zh-CN" sz="2400" dirty="0"/>
              <a:t>1/0</a:t>
            </a:r>
            <a:r>
              <a:rPr lang="zh-CN" altLang="en-US" sz="2400" dirty="0"/>
              <a:t>：变</a:t>
            </a:r>
            <a:r>
              <a:rPr lang="en-US" altLang="zh-CN" sz="2400" dirty="0"/>
              <a:t>/</a:t>
            </a:r>
            <a:r>
              <a:rPr lang="zh-CN" altLang="en-US" sz="2400" dirty="0"/>
              <a:t>不变）（</a:t>
            </a:r>
            <a:r>
              <a:rPr lang="en-US" altLang="zh-CN" sz="2400" dirty="0"/>
              <a:t>BCD/SCD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b="1" dirty="0"/>
              <a:t>核心</a:t>
            </a:r>
            <a:r>
              <a:rPr lang="zh-CN" altLang="en-US" sz="2400" dirty="0"/>
              <a:t>：识别目标变化和非目标变化</a:t>
            </a:r>
          </a:p>
        </p:txBody>
      </p:sp>
    </p:spTree>
    <p:extLst>
      <p:ext uri="{BB962C8B-B14F-4D97-AF65-F5344CB8AC3E}">
        <p14:creationId xmlns:p14="http://schemas.microsoft.com/office/powerpoint/2010/main" val="301086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58CA3-6090-FA22-BE13-C2D97067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FD98612-2B8E-37BE-A8EB-C303C60E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基本模型架构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7128EE-346B-B756-156F-1E15C54F21FA}"/>
              </a:ext>
            </a:extLst>
          </p:cNvPr>
          <p:cNvSpPr txBox="1"/>
          <p:nvPr/>
        </p:nvSpPr>
        <p:spPr>
          <a:xfrm>
            <a:off x="1142266" y="2598003"/>
            <a:ext cx="4517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传统方法（非深度学习）</a:t>
            </a:r>
            <a:endParaRPr lang="en-US" altLang="zh-CN" sz="2400" dirty="0"/>
          </a:p>
          <a:p>
            <a:r>
              <a:rPr lang="en-US" altLang="zh-CN" sz="2400" dirty="0"/>
              <a:t>CVA</a:t>
            </a:r>
            <a:r>
              <a:rPr lang="zh-CN" altLang="en-US" sz="2400" dirty="0"/>
              <a:t>（</a:t>
            </a:r>
            <a:r>
              <a:rPr lang="en-US" altLang="zh-CN" sz="2400" dirty="0"/>
              <a:t>Change Vector Analysis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3A049E1-385B-3385-EED3-DE16E669E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326" y="1186119"/>
            <a:ext cx="5258534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E05C-41F0-7EB3-3CF6-EB7D1CEE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91D46E-1A90-3DAE-9F64-A7A1A9114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基本模型架构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4341DA-C891-119E-2920-2D7CFC688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0526" y="983215"/>
            <a:ext cx="9670948" cy="566522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6794F08-E663-B633-384B-0722309E68C0}"/>
              </a:ext>
            </a:extLst>
          </p:cNvPr>
          <p:cNvSpPr txBox="1"/>
          <p:nvPr/>
        </p:nvSpPr>
        <p:spPr>
          <a:xfrm>
            <a:off x="286859" y="6260260"/>
            <a:ext cx="4517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深度学习方法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28B0CA-1B78-0A7E-66E3-E6C1577D34AD}"/>
              </a:ext>
            </a:extLst>
          </p:cNvPr>
          <p:cNvSpPr txBox="1"/>
          <p:nvPr/>
        </p:nvSpPr>
        <p:spPr>
          <a:xfrm>
            <a:off x="286859" y="2967335"/>
            <a:ext cx="316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浅层融合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623EE5-484A-D9A1-5A6E-DB816CB0A8BF}"/>
              </a:ext>
            </a:extLst>
          </p:cNvPr>
          <p:cNvSpPr txBox="1"/>
          <p:nvPr/>
        </p:nvSpPr>
        <p:spPr>
          <a:xfrm>
            <a:off x="5268865" y="6260260"/>
            <a:ext cx="316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一致性</a:t>
            </a:r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C4601E-9F24-1E81-49F2-6227DD5FB8EC}"/>
              </a:ext>
            </a:extLst>
          </p:cNvPr>
          <p:cNvSpPr txBox="1"/>
          <p:nvPr/>
        </p:nvSpPr>
        <p:spPr>
          <a:xfrm>
            <a:off x="6348446" y="3268227"/>
            <a:ext cx="522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减少空间偏差和噪声影响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4590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9896-0F09-C19D-16A6-54F75A0C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5A1A99E-13F1-5EC6-3432-1474A7C3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03C619-D6B6-F2F2-4F8C-CC7CFE59D247}"/>
              </a:ext>
            </a:extLst>
          </p:cNvPr>
          <p:cNvSpPr txBox="1"/>
          <p:nvPr/>
        </p:nvSpPr>
        <p:spPr>
          <a:xfrm>
            <a:off x="1267131" y="2814124"/>
            <a:ext cx="52172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变化检测问题本质是语义分割问题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语义分割模型可以改造成</a:t>
            </a:r>
            <a:r>
              <a:rPr lang="zh-CN" altLang="en-US" sz="2400" dirty="0">
                <a:solidFill>
                  <a:srgbClr val="891D86"/>
                </a:solidFill>
              </a:rPr>
              <a:t>双图像输入</a:t>
            </a:r>
            <a:r>
              <a:rPr lang="zh-CN" altLang="en-US" sz="2400" dirty="0"/>
              <a:t>结构用于变化检测问题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语义分割模型也可以作为</a:t>
            </a:r>
            <a:r>
              <a:rPr lang="en-US" altLang="zh-CN" sz="2400" dirty="0"/>
              <a:t>CD</a:t>
            </a:r>
            <a:r>
              <a:rPr lang="zh-CN" altLang="en-US" sz="2400" dirty="0"/>
              <a:t>模型中的模块或者实验的对比方法</a:t>
            </a: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FB100A48-3E02-BEE3-2C4B-D8340A9272DC}"/>
              </a:ext>
            </a:extLst>
          </p:cNvPr>
          <p:cNvSpPr/>
          <p:nvPr/>
        </p:nvSpPr>
        <p:spPr>
          <a:xfrm>
            <a:off x="6705600" y="2369574"/>
            <a:ext cx="471948" cy="2595716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84A9CA-C580-0A3A-82A8-40E94FB5ECEA}"/>
              </a:ext>
            </a:extLst>
          </p:cNvPr>
          <p:cNvSpPr txBox="1"/>
          <p:nvPr/>
        </p:nvSpPr>
        <p:spPr>
          <a:xfrm>
            <a:off x="7620000" y="2287634"/>
            <a:ext cx="31659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FCN</a:t>
            </a:r>
          </a:p>
          <a:p>
            <a:endParaRPr lang="en-US" altLang="zh-CN" sz="2400" dirty="0"/>
          </a:p>
          <a:p>
            <a:r>
              <a:rPr lang="en-US" altLang="zh-CN" sz="2400" dirty="0"/>
              <a:t>U-net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ResUnet</a:t>
            </a:r>
            <a:r>
              <a:rPr lang="en-US" altLang="zh-CN" sz="2400" dirty="0"/>
              <a:t>-a</a:t>
            </a:r>
          </a:p>
          <a:p>
            <a:endParaRPr lang="en-US" altLang="zh-CN" sz="2400" dirty="0"/>
          </a:p>
          <a:p>
            <a:r>
              <a:rPr lang="en-US" altLang="zh-CN" sz="2400" dirty="0"/>
              <a:t>DeepLabv3+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066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CEA91-3633-9637-7C39-34242845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BF01EED-EA26-7485-7E33-1C22D82C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FCN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D2DFAD-853E-EB54-76A2-29A2474AD3FE}"/>
              </a:ext>
            </a:extLst>
          </p:cNvPr>
          <p:cNvSpPr txBox="1"/>
          <p:nvPr/>
        </p:nvSpPr>
        <p:spPr>
          <a:xfrm>
            <a:off x="5747016" y="1457427"/>
            <a:ext cx="59644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其核心思想是将成熟的图像分类网络（如</a:t>
            </a:r>
            <a:r>
              <a:rPr lang="en-US" altLang="zh-CN" sz="2000" dirty="0"/>
              <a:t>VGG</a:t>
            </a:r>
            <a:r>
              <a:rPr lang="zh-CN" altLang="en-US" sz="2000" dirty="0"/>
              <a:t>）</a:t>
            </a:r>
            <a:r>
              <a:rPr lang="zh-CN" altLang="en-US" sz="2000" b="1" dirty="0"/>
              <a:t>全卷积化</a:t>
            </a:r>
            <a:r>
              <a:rPr lang="zh-CN" altLang="en-US" sz="2000" dirty="0"/>
              <a:t>（将全连接层转为卷积层）</a:t>
            </a:r>
            <a:r>
              <a:rPr lang="en-US" altLang="zh-CN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能接受任意尺寸输入并输出对应的空间热图</a:t>
            </a:r>
            <a:r>
              <a:rPr lang="en-US" altLang="zh-CN" sz="2000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保留了一部分空间信息</a:t>
            </a:r>
            <a:endParaRPr lang="en-US" altLang="zh-CN" sz="2000" dirty="0"/>
          </a:p>
          <a:p>
            <a:r>
              <a:rPr lang="zh-CN" altLang="zh-CN" dirty="0"/>
              <a:t>引入了</a:t>
            </a:r>
            <a:r>
              <a:rPr lang="zh-CN" altLang="zh-CN" b="1" dirty="0"/>
              <a:t>可学习的反卷积层</a:t>
            </a:r>
            <a:r>
              <a:rPr lang="zh-CN" altLang="zh-CN" dirty="0"/>
              <a:t>进行上采样，并创新性地设计了</a:t>
            </a:r>
            <a:r>
              <a:rPr lang="zh-CN" altLang="zh-CN" b="1" dirty="0"/>
              <a:t>跳跃架构</a:t>
            </a:r>
            <a:r>
              <a:rPr lang="zh-CN" altLang="zh-CN" dirty="0"/>
              <a:t>，通过融合深层（粗粒度语义）与浅层（细粒度外观）特征来提升细节</a:t>
            </a:r>
            <a:r>
              <a:rPr lang="zh-CN" altLang="en-US" dirty="0"/>
              <a:t>，可用于密集预测任务。</a:t>
            </a:r>
            <a:endParaRPr lang="zh-CN" altLang="en-US" sz="2000" dirty="0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71DEE350-BABB-511D-3E46-8BE0D6AB2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39012"/>
            <a:ext cx="5182323" cy="2991267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F88F6CA8-242C-954A-76E2-FB57A2703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87" y="4030279"/>
            <a:ext cx="11231542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27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B06D-83F3-A5F8-2FD7-53290C85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43CCF9A-F959-3A8C-EFE8-8B0769BD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U-net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982C4E-B5E3-031A-2D1C-73BECA139F3D}"/>
              </a:ext>
            </a:extLst>
          </p:cNvPr>
          <p:cNvSpPr txBox="1"/>
          <p:nvPr/>
        </p:nvSpPr>
        <p:spPr>
          <a:xfrm>
            <a:off x="8058592" y="1129522"/>
            <a:ext cx="365777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延续了 全卷积</a:t>
            </a:r>
            <a:r>
              <a:rPr lang="en-US" altLang="zh-CN" sz="2000" dirty="0"/>
              <a:t>+</a:t>
            </a:r>
            <a:r>
              <a:rPr lang="zh-CN" altLang="en-US" sz="2000" dirty="0"/>
              <a:t>跳跃连接</a:t>
            </a:r>
            <a:endParaRPr lang="en-US" altLang="zh-CN" sz="2000" dirty="0"/>
          </a:p>
          <a:p>
            <a:r>
              <a:rPr lang="zh-CN" altLang="en-US" sz="2000" dirty="0"/>
              <a:t>对称的下采样和上采样过程，下采样深度减少，更密集的跳越连接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融合方式：相加</a:t>
            </a:r>
            <a:r>
              <a:rPr lang="en-US" altLang="zh-CN" sz="2000" dirty="0"/>
              <a:t>-&gt;</a:t>
            </a:r>
            <a:r>
              <a:rPr lang="zh-CN" altLang="en-US" sz="2000" dirty="0"/>
              <a:t>拼接</a:t>
            </a:r>
            <a:endParaRPr lang="en-US" altLang="zh-CN" sz="2000" dirty="0"/>
          </a:p>
          <a:p>
            <a:r>
              <a:rPr lang="zh-CN" altLang="en-US" sz="2000" dirty="0"/>
              <a:t>输入输出大小不同</a:t>
            </a:r>
            <a:endParaRPr lang="en-US" altLang="zh-CN" sz="2000" dirty="0"/>
          </a:p>
          <a:p>
            <a:r>
              <a:rPr lang="zh-CN" altLang="en-US" sz="2000" dirty="0"/>
              <a:t>上采样：反卷积</a:t>
            </a:r>
            <a:r>
              <a:rPr lang="en-US" altLang="zh-CN" sz="2000" dirty="0"/>
              <a:t>/</a:t>
            </a:r>
            <a:r>
              <a:rPr lang="zh-CN" altLang="en-US" sz="2000" dirty="0"/>
              <a:t>插值</a:t>
            </a:r>
            <a:r>
              <a:rPr lang="en-US" altLang="zh-CN" sz="2000" dirty="0"/>
              <a:t>+</a:t>
            </a:r>
            <a:r>
              <a:rPr lang="zh-CN" altLang="en-US" sz="2000" dirty="0"/>
              <a:t>卷积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i="1" dirty="0"/>
              <a:t>对输入图像有</a:t>
            </a:r>
            <a:r>
              <a:rPr lang="zh-CN" altLang="en-US" b="1" i="1" dirty="0"/>
              <a:t>弹性形变</a:t>
            </a:r>
            <a:r>
              <a:rPr lang="zh-CN" altLang="en-US" i="1" dirty="0"/>
              <a:t>数据增强，适用于医学图像，另外还有旋转等；</a:t>
            </a:r>
          </a:p>
          <a:p>
            <a:r>
              <a:rPr lang="zh-CN" altLang="en-US" i="1" dirty="0"/>
              <a:t>加权交叉熵损失，对图像生成权重图，强制分离有接触的同类区域并考虑类别不平衡；</a:t>
            </a:r>
          </a:p>
          <a:p>
            <a:r>
              <a:rPr lang="en-US" altLang="zh-CN" i="1" dirty="0"/>
              <a:t>He</a:t>
            </a:r>
            <a:r>
              <a:rPr lang="zh-CN" altLang="en-US" i="1" dirty="0"/>
              <a:t>初始化</a:t>
            </a:r>
          </a:p>
          <a:p>
            <a:endParaRPr lang="en-US" altLang="zh-CN" sz="2000" dirty="0"/>
          </a:p>
          <a:p>
            <a:r>
              <a:rPr lang="zh-CN" altLang="en-US" sz="2000" dirty="0"/>
              <a:t>后续的</a:t>
            </a:r>
            <a:r>
              <a:rPr lang="en-US" altLang="zh-CN" sz="2000" dirty="0"/>
              <a:t>SS</a:t>
            </a:r>
            <a:r>
              <a:rPr lang="zh-CN" altLang="en-US" sz="2000" dirty="0"/>
              <a:t>和</a:t>
            </a:r>
            <a:r>
              <a:rPr lang="en-US" altLang="zh-CN" sz="2000" dirty="0"/>
              <a:t>CD</a:t>
            </a:r>
            <a:r>
              <a:rPr lang="zh-CN" altLang="en-US" sz="2000" dirty="0"/>
              <a:t>模型基本遵循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891D86"/>
                </a:solidFill>
              </a:rPr>
              <a:t>全卷积</a:t>
            </a:r>
            <a:r>
              <a:rPr lang="en-US" altLang="zh-CN" sz="2000" dirty="0">
                <a:solidFill>
                  <a:srgbClr val="891D86"/>
                </a:solidFill>
              </a:rPr>
              <a:t>+U</a:t>
            </a:r>
            <a:r>
              <a:rPr lang="zh-CN" altLang="en-US" sz="2000" dirty="0">
                <a:solidFill>
                  <a:srgbClr val="891D86"/>
                </a:solidFill>
              </a:rPr>
              <a:t>型结构</a:t>
            </a:r>
          </a:p>
        </p:txBody>
      </p:sp>
      <p:pic>
        <p:nvPicPr>
          <p:cNvPr id="5" name="图片 4" descr="图表, 箱线图&#10;&#10;AI 生成的内容可能不正确。">
            <a:extLst>
              <a:ext uri="{FF2B5EF4-FFF2-40B4-BE49-F238E27FC236}">
                <a16:creationId xmlns:a16="http://schemas.microsoft.com/office/drawing/2014/main" id="{0E4F4973-ADBE-D6ED-D20D-D7FC8DEC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34" y="1189658"/>
            <a:ext cx="7582958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4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05D9-0FFA-53EB-810A-D30FB8C9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22A8C6-F9E4-F610-B860-8F75BEBB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9B6319-399F-5D60-3715-11E6BC809476}"/>
              </a:ext>
            </a:extLst>
          </p:cNvPr>
          <p:cNvSpPr txBox="1"/>
          <p:nvPr/>
        </p:nvSpPr>
        <p:spPr>
          <a:xfrm>
            <a:off x="802384" y="2683019"/>
            <a:ext cx="60310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CD</a:t>
            </a:r>
            <a:r>
              <a:rPr lang="zh-CN" altLang="en-US" sz="2400" dirty="0"/>
              <a:t>和</a:t>
            </a:r>
            <a:r>
              <a:rPr lang="en-US" altLang="zh-CN" sz="2400" dirty="0"/>
              <a:t>SS</a:t>
            </a:r>
            <a:r>
              <a:rPr lang="zh-CN" altLang="en-US" sz="2400" dirty="0"/>
              <a:t>的共同挑战：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高</a:t>
            </a:r>
            <a:r>
              <a:rPr lang="zh-CN" altLang="en-US" sz="2400" dirty="0">
                <a:solidFill>
                  <a:srgbClr val="891D86"/>
                </a:solidFill>
              </a:rPr>
              <a:t>分辨率</a:t>
            </a:r>
            <a:r>
              <a:rPr lang="zh-CN" altLang="en-US" sz="2400" dirty="0"/>
              <a:t>的输出，细粒度的特征表示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（兼顾分辨率和语义</a:t>
            </a:r>
            <a:r>
              <a:rPr lang="en-US" altLang="zh-CN" sz="2400" dirty="0"/>
              <a:t>-&gt;</a:t>
            </a:r>
            <a:r>
              <a:rPr lang="zh-CN" altLang="en-US" sz="2400" dirty="0"/>
              <a:t>层次化特征）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精确的分割</a:t>
            </a:r>
            <a:r>
              <a:rPr lang="zh-CN" altLang="en-US" sz="2400" dirty="0">
                <a:solidFill>
                  <a:srgbClr val="891D86"/>
                </a:solidFill>
              </a:rPr>
              <a:t>边界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类别不平衡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60D5FD-96E3-B5F0-D36F-956AA3A158FC}"/>
              </a:ext>
            </a:extLst>
          </p:cNvPr>
          <p:cNvSpPr txBox="1"/>
          <p:nvPr/>
        </p:nvSpPr>
        <p:spPr>
          <a:xfrm>
            <a:off x="7070449" y="1442909"/>
            <a:ext cx="46987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层次化特征：</a:t>
            </a:r>
            <a:endParaRPr lang="en-US" altLang="zh-CN" sz="2400" dirty="0"/>
          </a:p>
          <a:p>
            <a:r>
              <a:rPr lang="zh-CN" altLang="en-US" sz="2400" dirty="0"/>
              <a:t>不直接使用单一层</a:t>
            </a:r>
            <a:r>
              <a:rPr lang="en-US" altLang="zh-CN" sz="2400" dirty="0"/>
              <a:t>/</a:t>
            </a:r>
            <a:r>
              <a:rPr lang="zh-CN" altLang="en-US" sz="2400" dirty="0"/>
              <a:t>特征图，</a:t>
            </a:r>
            <a:endParaRPr lang="en-US" altLang="zh-CN" sz="2400" dirty="0"/>
          </a:p>
          <a:p>
            <a:r>
              <a:rPr lang="zh-CN" altLang="en-US" sz="2400" dirty="0"/>
              <a:t>既要局部又要整体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而是融合特征</a:t>
            </a:r>
            <a:endParaRPr lang="en-US" altLang="zh-CN" sz="2400" dirty="0"/>
          </a:p>
          <a:p>
            <a:r>
              <a:rPr lang="zh-CN" altLang="en-US" sz="2400" dirty="0"/>
              <a:t>不同深度（</a:t>
            </a:r>
            <a:r>
              <a:rPr lang="en-US" altLang="zh-CN" sz="2400" dirty="0"/>
              <a:t>hierarchical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不同尺寸（</a:t>
            </a:r>
            <a:r>
              <a:rPr lang="en-US" altLang="zh-CN" sz="2400" dirty="0"/>
              <a:t>multi-scale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不同感受野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输入图像高冗余，像素信息量低，但输出的分割图像素的</a:t>
            </a:r>
            <a:r>
              <a:rPr lang="en-US" altLang="zh-CN" sz="2400" dirty="0"/>
              <a:t>label</a:t>
            </a:r>
            <a:r>
              <a:rPr lang="zh-CN" altLang="en-US" sz="2400" dirty="0"/>
              <a:t>包含大量语义信息</a:t>
            </a:r>
          </a:p>
        </p:txBody>
      </p:sp>
    </p:spTree>
    <p:extLst>
      <p:ext uri="{BB962C8B-B14F-4D97-AF65-F5344CB8AC3E}">
        <p14:creationId xmlns:p14="http://schemas.microsoft.com/office/powerpoint/2010/main" val="1316460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596C-A24A-7EC3-B139-2C4399D2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9EE4743-8816-E1E5-0BAD-764E5747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ResUnet</a:t>
            </a:r>
            <a:r>
              <a:rPr lang="en-US" altLang="zh-CN" dirty="0"/>
              <a:t>-a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09F390-A64C-6A7F-F45E-1A4D527AE770}"/>
              </a:ext>
            </a:extLst>
          </p:cNvPr>
          <p:cNvSpPr txBox="1"/>
          <p:nvPr/>
        </p:nvSpPr>
        <p:spPr>
          <a:xfrm>
            <a:off x="4739773" y="4451999"/>
            <a:ext cx="6031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层次化特征来自不同感受野：</a:t>
            </a:r>
            <a:endParaRPr lang="en-US" altLang="zh-CN" sz="2400" dirty="0"/>
          </a:p>
          <a:p>
            <a:r>
              <a:rPr lang="zh-CN" altLang="en-US" sz="2400" dirty="0"/>
              <a:t>并行空洞卷积、</a:t>
            </a:r>
            <a:r>
              <a:rPr lang="en-US" altLang="zh-CN" sz="2400" dirty="0"/>
              <a:t>PSP Pooling</a:t>
            </a:r>
            <a:endParaRPr lang="zh-CN" altLang="en-US" sz="2400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0C4D2A2D-72F8-4798-2206-1730CF5AE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40052"/>
            <a:ext cx="3950937" cy="5817948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D0D686A2-FE36-84C7-416C-DE195DD58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788" y="1085715"/>
            <a:ext cx="3012423" cy="2992862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1D80E5B8-5D60-6B90-2C38-D92016A6B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505" y="1200540"/>
            <a:ext cx="3360182" cy="287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0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1A75-6A7C-9E3C-1000-8CBD5024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D349EC1-84AA-255B-5978-6B9BF12B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ResUnet</a:t>
            </a:r>
            <a:r>
              <a:rPr lang="en-US" altLang="zh-CN" dirty="0"/>
              <a:t>-a</a:t>
            </a:r>
            <a:endParaRPr lang="zh-CN" altLang="en-US" dirty="0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20A7D448-681B-7227-FBF7-5BB98F623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39012"/>
            <a:ext cx="5179108" cy="5145478"/>
          </a:xfrm>
          <a:prstGeom prst="rect">
            <a:avLst/>
          </a:prstGeom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43636A7A-9D09-7DD0-F74F-D4EBB3911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920" y="1148377"/>
            <a:ext cx="6138223" cy="238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D61ACE7-E2BB-2E2D-CF3A-B3E2C0057FB9}"/>
              </a:ext>
            </a:extLst>
          </p:cNvPr>
          <p:cNvSpPr txBox="1"/>
          <p:nvPr/>
        </p:nvSpPr>
        <p:spPr>
          <a:xfrm>
            <a:off x="6096000" y="4054401"/>
            <a:ext cx="5050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并行空洞卷积：</a:t>
            </a:r>
            <a:endParaRPr lang="en-US" altLang="zh-CN" sz="2400" dirty="0"/>
          </a:p>
          <a:p>
            <a:r>
              <a:rPr lang="zh-CN" altLang="en-US" sz="2400" dirty="0"/>
              <a:t>同一层内融合不同感受野的信息</a:t>
            </a:r>
            <a:endParaRPr lang="en-US" altLang="zh-CN" sz="2400" dirty="0"/>
          </a:p>
          <a:p>
            <a:r>
              <a:rPr lang="zh-CN" altLang="en-US" sz="2400" dirty="0"/>
              <a:t>空洞卷积：</a:t>
            </a:r>
            <a:endParaRPr lang="en-US" altLang="zh-CN" sz="2400" dirty="0"/>
          </a:p>
          <a:p>
            <a:r>
              <a:rPr lang="zh-CN" altLang="en-US" sz="2400" dirty="0"/>
              <a:t>增加感受野但不增加参数量</a:t>
            </a:r>
          </a:p>
        </p:txBody>
      </p:sp>
    </p:spTree>
    <p:extLst>
      <p:ext uri="{BB962C8B-B14F-4D97-AF65-F5344CB8AC3E}">
        <p14:creationId xmlns:p14="http://schemas.microsoft.com/office/powerpoint/2010/main" val="87598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0A75-5781-22F2-9A74-0F3FE215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DD675F-58C0-763A-0671-878E96E68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ResUnet</a:t>
            </a:r>
            <a:r>
              <a:rPr lang="en-US" altLang="zh-CN" dirty="0"/>
              <a:t>-a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09E291-0E5A-1E45-179C-BB53BA2CA127}"/>
              </a:ext>
            </a:extLst>
          </p:cNvPr>
          <p:cNvSpPr txBox="1"/>
          <p:nvPr/>
        </p:nvSpPr>
        <p:spPr>
          <a:xfrm>
            <a:off x="6577781" y="2648389"/>
            <a:ext cx="52336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PSP Pooling</a:t>
            </a:r>
            <a:r>
              <a:rPr lang="zh-CN" altLang="en-US" sz="2400" dirty="0"/>
              <a:t>（</a:t>
            </a:r>
            <a:r>
              <a:rPr lang="en-US" altLang="zh-CN" dirty="0"/>
              <a:t>pyramid scene parsing pooling</a:t>
            </a:r>
            <a:r>
              <a:rPr lang="zh-CN" altLang="en-US" sz="2400" dirty="0"/>
              <a:t>）：</a:t>
            </a:r>
            <a:endParaRPr lang="en-US" altLang="zh-CN" sz="2400" dirty="0"/>
          </a:p>
          <a:p>
            <a:r>
              <a:rPr lang="zh-CN" altLang="en-US" sz="2400" dirty="0"/>
              <a:t>同一层内融合不同感受野的信息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从同一个特征图的不同通道获得，</a:t>
            </a:r>
            <a:endParaRPr lang="en-US" altLang="zh-CN" sz="2400" dirty="0"/>
          </a:p>
          <a:p>
            <a:r>
              <a:rPr lang="zh-CN" altLang="en-US" sz="2400" dirty="0"/>
              <a:t>使用不同大小的池化</a:t>
            </a:r>
          </a:p>
        </p:txBody>
      </p: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D8CE1DF3-A8C2-AAD7-8935-D4DDFB059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23" y="1373009"/>
            <a:ext cx="5824157" cy="498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5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2F6B-2F18-5330-B6BC-8263025F4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A63D673-300A-23DC-00B0-E3996D12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ResUnet</a:t>
            </a:r>
            <a:r>
              <a:rPr lang="en-US" altLang="zh-CN" dirty="0"/>
              <a:t>-a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D9ACAE-0AAD-CCCD-3571-A2FEB66E9047}"/>
              </a:ext>
            </a:extLst>
          </p:cNvPr>
          <p:cNvSpPr txBox="1"/>
          <p:nvPr/>
        </p:nvSpPr>
        <p:spPr>
          <a:xfrm>
            <a:off x="4249780" y="4196142"/>
            <a:ext cx="37651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Loss</a:t>
            </a:r>
            <a:r>
              <a:rPr lang="zh-CN" altLang="en-US" sz="2000" dirty="0"/>
              <a:t>设计：</a:t>
            </a:r>
            <a:endParaRPr lang="en-US" altLang="zh-CN" sz="2000" dirty="0"/>
          </a:p>
          <a:p>
            <a:r>
              <a:rPr lang="zh-CN" altLang="en-US" sz="2000" dirty="0"/>
              <a:t>辅助任务</a:t>
            </a:r>
            <a:r>
              <a:rPr lang="zh-CN" altLang="en-US" dirty="0"/>
              <a:t>（边界检测</a:t>
            </a:r>
          </a:p>
          <a:p>
            <a:r>
              <a:rPr lang="zh-CN" altLang="en-US" dirty="0"/>
              <a:t>、距离变换图重建、</a:t>
            </a:r>
            <a:r>
              <a:rPr lang="en-US" altLang="zh-CN" dirty="0"/>
              <a:t>HSV</a:t>
            </a:r>
            <a:r>
              <a:rPr lang="zh-CN" altLang="en-US" dirty="0"/>
              <a:t>颜色空间重建）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zh-CN" altLang="en-US" sz="2000" dirty="0"/>
              <a:t>不改变输入到输出的主路径，模型的一些分支，用于提出</a:t>
            </a:r>
            <a:r>
              <a:rPr lang="en-US" altLang="zh-CN" sz="2000" dirty="0"/>
              <a:t>Loss</a:t>
            </a:r>
            <a:r>
              <a:rPr lang="zh-CN" altLang="en-US" sz="2000" dirty="0"/>
              <a:t>辅助监督训练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DAFD9717-50DC-54DB-D50D-243DBB2BF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04" y="1039012"/>
            <a:ext cx="3950937" cy="5817948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34C118D-CF0F-E436-4417-1228B6443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010" y="1032928"/>
            <a:ext cx="3581900" cy="2915057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DDCDF2A9-4F09-8C0F-10CA-578AA849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476" y="1983425"/>
            <a:ext cx="3915321" cy="6954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01631F3-22E1-5B4F-F903-372E23EE3220}"/>
              </a:ext>
            </a:extLst>
          </p:cNvPr>
          <p:cNvSpPr txBox="1"/>
          <p:nvPr/>
        </p:nvSpPr>
        <p:spPr>
          <a:xfrm>
            <a:off x="8193571" y="4242308"/>
            <a:ext cx="376513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Loss</a:t>
            </a:r>
            <a:r>
              <a:rPr lang="zh-CN" altLang="en-US" sz="2000" dirty="0"/>
              <a:t>设计：</a:t>
            </a:r>
            <a:endParaRPr lang="en-US" altLang="zh-CN" sz="2000" dirty="0"/>
          </a:p>
          <a:p>
            <a:r>
              <a:rPr lang="en-US" altLang="zh-CN" sz="2000" dirty="0"/>
              <a:t>Tanimoto with dual</a:t>
            </a:r>
            <a:r>
              <a:rPr lang="zh-CN" altLang="en-US" sz="2000" dirty="0"/>
              <a:t>带补集的</a:t>
            </a:r>
            <a:r>
              <a:rPr lang="en-US" altLang="zh-CN" sz="2000" dirty="0"/>
              <a:t>Dice</a:t>
            </a:r>
            <a:r>
              <a:rPr lang="zh-CN" altLang="en-US" sz="2000" dirty="0"/>
              <a:t>损失函数：考虑到类别不平衡的多类别分割损失，</a:t>
            </a:r>
            <a:r>
              <a:rPr lang="zh-CN" altLang="en-US" dirty="0"/>
              <a:t>该损失也可用于回归任务（如距离图、颜色重建），使得多任务学习时无需手动平衡不同损失项的权重，简化训练。</a:t>
            </a:r>
            <a:endParaRPr lang="zh-CN" altLang="en-US" sz="20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048970F-5C42-5BB6-B4E7-EA9651991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848" y="3079524"/>
            <a:ext cx="905001" cy="38105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DA2A24C-8821-98DD-E553-26BA9B8812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936" y="3089049"/>
            <a:ext cx="1276528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79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99A9-61F6-5924-7B0A-6855072C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7BBD698-A862-462D-52FE-84F702BF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ResUnet</a:t>
            </a:r>
            <a:r>
              <a:rPr lang="en-US" altLang="zh-CN" dirty="0"/>
              <a:t>-a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C1EE1E-0EEA-FD80-3D08-9BCDB31C01E8}"/>
              </a:ext>
            </a:extLst>
          </p:cNvPr>
          <p:cNvSpPr txBox="1"/>
          <p:nvPr/>
        </p:nvSpPr>
        <p:spPr>
          <a:xfrm>
            <a:off x="4922487" y="2870311"/>
            <a:ext cx="72695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层次化特征：来自不同感受野</a:t>
            </a:r>
            <a:endParaRPr lang="en-US" altLang="zh-CN" sz="2400" dirty="0"/>
          </a:p>
          <a:p>
            <a:r>
              <a:rPr lang="en-US" altLang="zh-CN" sz="2400" dirty="0"/>
              <a:t>	-&gt;</a:t>
            </a:r>
            <a:r>
              <a:rPr lang="zh-CN" altLang="en-US" sz="2400" dirty="0"/>
              <a:t>并行空洞卷积</a:t>
            </a:r>
            <a:r>
              <a:rPr lang="en-US" altLang="zh-CN" sz="2400" dirty="0"/>
              <a:t>+PSP Pooling</a:t>
            </a:r>
          </a:p>
          <a:p>
            <a:r>
              <a:rPr lang="zh-CN" altLang="en-US" sz="2400" dirty="0"/>
              <a:t>增强语义表达：辅助任务提供</a:t>
            </a:r>
            <a:r>
              <a:rPr lang="en-US" altLang="zh-CN" sz="2400" dirty="0"/>
              <a:t>Loss</a:t>
            </a:r>
          </a:p>
          <a:p>
            <a:r>
              <a:rPr lang="zh-CN" altLang="en-US" sz="2400" dirty="0"/>
              <a:t>类别不平衡：</a:t>
            </a:r>
            <a:r>
              <a:rPr lang="en-US" altLang="zh-CN" sz="2400" dirty="0"/>
              <a:t> Tanimoto with dual</a:t>
            </a:r>
            <a:r>
              <a:rPr lang="zh-CN" altLang="en-US" sz="2400" dirty="0"/>
              <a:t>损失函数</a:t>
            </a:r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E4015F4E-9104-FC7C-EDA0-64F11E82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40052"/>
            <a:ext cx="3950937" cy="58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73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19A0-BB20-A535-AFF6-1B0B8896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692FA5-CAE1-901F-C7CD-76328CFA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DeepLabv3+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28053FA-9BA7-4D1D-926F-0C3021ED7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36" y="1039012"/>
            <a:ext cx="7516274" cy="39248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117F936-1B31-D2AE-91E4-49C6DD8D88D9}"/>
              </a:ext>
            </a:extLst>
          </p:cNvPr>
          <p:cNvSpPr txBox="1"/>
          <p:nvPr/>
        </p:nvSpPr>
        <p:spPr>
          <a:xfrm>
            <a:off x="6929076" y="1225689"/>
            <a:ext cx="52336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基于</a:t>
            </a:r>
            <a:r>
              <a:rPr lang="en-US" altLang="zh-CN" sz="2000" dirty="0"/>
              <a:t>DeepLabv3</a:t>
            </a:r>
            <a:r>
              <a:rPr lang="zh-CN" altLang="en-US" sz="2000" dirty="0"/>
              <a:t>改进的语义分割模型</a:t>
            </a:r>
            <a:endParaRPr lang="en-US" altLang="zh-CN" sz="2000" dirty="0"/>
          </a:p>
          <a:p>
            <a:r>
              <a:rPr lang="en-US" altLang="zh-CN" sz="2000" b="1" dirty="0"/>
              <a:t>encoder</a:t>
            </a:r>
            <a:r>
              <a:rPr lang="zh-CN" altLang="en-US" sz="2000" b="1" dirty="0"/>
              <a:t>：</a:t>
            </a:r>
            <a:r>
              <a:rPr lang="zh-CN" altLang="en-US" sz="2000" dirty="0"/>
              <a:t>使用</a:t>
            </a:r>
            <a:r>
              <a:rPr lang="en-US" altLang="zh-CN" sz="2000" dirty="0"/>
              <a:t>DeepLabv3</a:t>
            </a:r>
            <a:r>
              <a:rPr lang="zh-CN" altLang="en-US" sz="2000" dirty="0"/>
              <a:t>作为</a:t>
            </a:r>
            <a:r>
              <a:rPr lang="en-US" altLang="zh-CN" sz="2000" dirty="0"/>
              <a:t>encoder</a:t>
            </a:r>
          </a:p>
          <a:p>
            <a:pPr lvl="2"/>
            <a:r>
              <a:rPr lang="en-US" altLang="zh-CN" sz="2000" b="1" dirty="0"/>
              <a:t>backbone</a:t>
            </a:r>
            <a:r>
              <a:rPr lang="zh-CN" altLang="en-US" sz="2000" b="1" dirty="0"/>
              <a:t>：</a:t>
            </a:r>
            <a:r>
              <a:rPr lang="zh-CN" altLang="en-US" sz="2000" dirty="0"/>
              <a:t>原始是</a:t>
            </a:r>
            <a:r>
              <a:rPr lang="en-US" altLang="zh-CN" sz="2000" dirty="0"/>
              <a:t>Resnet-101</a:t>
            </a:r>
            <a:r>
              <a:rPr lang="zh-CN" altLang="en-US" sz="2000" dirty="0"/>
              <a:t>，论文也尝试换成改进的</a:t>
            </a:r>
            <a:r>
              <a:rPr lang="en-US" altLang="zh-CN" sz="2000" dirty="0" err="1"/>
              <a:t>Xception</a:t>
            </a:r>
            <a:r>
              <a:rPr lang="zh-CN" altLang="en-US" sz="2000" dirty="0"/>
              <a:t>作为特征提取器，这是一种使用深度可分离卷积的网络。</a:t>
            </a:r>
            <a:r>
              <a:rPr lang="zh-CN" altLang="en-US" sz="2000" dirty="0">
                <a:solidFill>
                  <a:srgbClr val="891D86"/>
                </a:solidFill>
              </a:rPr>
              <a:t>论文对原始网络的池化下采样层换成了空洞卷积层</a:t>
            </a:r>
            <a:r>
              <a:rPr lang="zh-CN" altLang="en-US" sz="2000" dirty="0"/>
              <a:t>（</a:t>
            </a:r>
            <a:r>
              <a:rPr lang="zh-CN" altLang="en-US" dirty="0"/>
              <a:t>扩大感受野而不增加参数或降低分辨率</a:t>
            </a:r>
            <a:r>
              <a:rPr lang="zh-CN" altLang="en-US" sz="2000" dirty="0"/>
              <a:t>）来保持高分辨率（核心概念</a:t>
            </a:r>
            <a:r>
              <a:rPr lang="en-US" altLang="zh-CN" sz="2000" dirty="0"/>
              <a:t>output stride</a:t>
            </a:r>
            <a:r>
              <a:rPr lang="zh-CN" altLang="en-US" sz="2000" dirty="0"/>
              <a:t>），在</a:t>
            </a:r>
            <a:r>
              <a:rPr lang="en-US" altLang="zh-CN" sz="2000" dirty="0" err="1"/>
              <a:t>Xception</a:t>
            </a:r>
            <a:r>
              <a:rPr lang="zh-CN" altLang="en-US" sz="2000" dirty="0"/>
              <a:t>中增加了</a:t>
            </a:r>
            <a:r>
              <a:rPr lang="en-US" altLang="zh-CN" sz="2000" dirty="0"/>
              <a:t>BN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ReLU</a:t>
            </a:r>
            <a:endParaRPr lang="en-US" altLang="zh-CN" sz="2000" dirty="0"/>
          </a:p>
          <a:p>
            <a:pPr lvl="2"/>
            <a:r>
              <a:rPr lang="en-US" altLang="zh-CN" sz="2000" b="1" dirty="0"/>
              <a:t>head</a:t>
            </a:r>
            <a:r>
              <a:rPr lang="zh-CN" altLang="en-US" sz="2000" b="1" dirty="0"/>
              <a:t>：</a:t>
            </a:r>
            <a:r>
              <a:rPr lang="en-US" altLang="zh-CN" sz="2000" dirty="0"/>
              <a:t>ASPP</a:t>
            </a:r>
            <a:r>
              <a:rPr lang="zh-CN" altLang="en-US" sz="2000" dirty="0"/>
              <a:t>模块，</a:t>
            </a:r>
            <a:r>
              <a:rPr lang="en-US" altLang="zh-CN" sz="2000" dirty="0"/>
              <a:t>ASPP</a:t>
            </a:r>
            <a:r>
              <a:rPr lang="zh-CN" altLang="en-US" sz="2000" dirty="0"/>
              <a:t>模块通过多个不同空洞率的并行空洞卷积和图像级池化，来捕获丰富的多尺度上下文信息。</a:t>
            </a:r>
          </a:p>
          <a:p>
            <a:r>
              <a:rPr lang="en-US" altLang="zh-CN" sz="2000" b="1" dirty="0"/>
              <a:t>decoder</a:t>
            </a:r>
            <a:r>
              <a:rPr lang="zh-CN" altLang="en-US" sz="2000" b="1" dirty="0"/>
              <a:t>：</a:t>
            </a:r>
            <a:r>
              <a:rPr lang="zh-CN" altLang="en-US" sz="2000" dirty="0"/>
              <a:t>把</a:t>
            </a:r>
            <a:r>
              <a:rPr lang="en-US" altLang="zh-CN" sz="2000" dirty="0"/>
              <a:t>DeepLabv3</a:t>
            </a:r>
            <a:r>
              <a:rPr lang="zh-CN" altLang="en-US" sz="2000" dirty="0"/>
              <a:t>的</a:t>
            </a:r>
            <a:r>
              <a:rPr lang="en-US" altLang="zh-CN" sz="2000" dirty="0"/>
              <a:t>decoder</a:t>
            </a:r>
            <a:r>
              <a:rPr lang="zh-CN" altLang="en-US" sz="2000" dirty="0"/>
              <a:t>从简单的双线性插值上采样变成了一个设计简单但有效的</a:t>
            </a:r>
            <a:r>
              <a:rPr lang="en-US" altLang="zh-CN" sz="2000" dirty="0"/>
              <a:t>decoder</a:t>
            </a:r>
          </a:p>
          <a:p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E6D498-DF78-5880-158B-C6446989234A}"/>
              </a:ext>
            </a:extLst>
          </p:cNvPr>
          <p:cNvSpPr txBox="1"/>
          <p:nvPr/>
        </p:nvSpPr>
        <p:spPr>
          <a:xfrm>
            <a:off x="1424185" y="5168972"/>
            <a:ext cx="3838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池化下采样</a:t>
            </a:r>
            <a:r>
              <a:rPr lang="en-US" altLang="zh-CN" sz="2000" dirty="0"/>
              <a:t>/</a:t>
            </a:r>
            <a:r>
              <a:rPr lang="zh-CN" altLang="en-US" sz="2000" dirty="0"/>
              <a:t>空洞卷积层：</a:t>
            </a:r>
            <a:endParaRPr lang="en-US" altLang="zh-CN" sz="2000" dirty="0"/>
          </a:p>
          <a:p>
            <a:r>
              <a:rPr lang="zh-CN" altLang="en-US" sz="2000" dirty="0"/>
              <a:t>扩大感受野</a:t>
            </a:r>
            <a:r>
              <a:rPr lang="en-US" altLang="zh-CN" sz="2000" dirty="0"/>
              <a:t>+</a:t>
            </a:r>
            <a:r>
              <a:rPr lang="zh-CN" altLang="en-US" sz="2000" dirty="0"/>
              <a:t>降低噪声影响</a:t>
            </a:r>
          </a:p>
        </p:txBody>
      </p:sp>
    </p:spTree>
    <p:extLst>
      <p:ext uri="{BB962C8B-B14F-4D97-AF65-F5344CB8AC3E}">
        <p14:creationId xmlns:p14="http://schemas.microsoft.com/office/powerpoint/2010/main" val="1299761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5139-1168-9846-F00D-B7148E22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2BE3C3-BFB5-85AA-FA3C-8F2E9662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DeepLabv3+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4F6ED9-ED95-29AD-DEE9-96BC9EBED288}"/>
              </a:ext>
            </a:extLst>
          </p:cNvPr>
          <p:cNvSpPr txBox="1"/>
          <p:nvPr/>
        </p:nvSpPr>
        <p:spPr>
          <a:xfrm>
            <a:off x="594321" y="4476004"/>
            <a:ext cx="804278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Trimap</a:t>
            </a:r>
            <a:r>
              <a:rPr lang="zh-CN" altLang="en-US" sz="2400" b="1" dirty="0"/>
              <a:t>实验</a:t>
            </a:r>
            <a:r>
              <a:rPr lang="zh-CN" altLang="en-US" sz="2400" dirty="0"/>
              <a:t>：</a:t>
            </a:r>
          </a:p>
          <a:p>
            <a:r>
              <a:rPr lang="zh-CN" altLang="en-US" sz="2400" dirty="0"/>
              <a:t>用于定量证明解码器对物体边界的改善效果。</a:t>
            </a:r>
          </a:p>
          <a:p>
            <a:r>
              <a:rPr lang="zh-CN" altLang="en-US" sz="2400" dirty="0"/>
              <a:t>通过膨胀真实标注中的“</a:t>
            </a:r>
            <a:r>
              <a:rPr lang="en-US" altLang="zh-CN" sz="2400" dirty="0"/>
              <a:t>void”</a:t>
            </a:r>
            <a:r>
              <a:rPr lang="zh-CN" altLang="en-US" sz="2400" dirty="0"/>
              <a:t>区域，构造一个“边界带”，然后只在这个区域内计算</a:t>
            </a:r>
            <a:r>
              <a:rPr lang="en-US" altLang="zh-CN" sz="2400" dirty="0" err="1"/>
              <a:t>mIOU</a:t>
            </a:r>
            <a:endParaRPr lang="zh-CN" altLang="en-US" sz="2400" dirty="0"/>
          </a:p>
          <a:p>
            <a:endParaRPr lang="zh-CN" altLang="en-US" sz="2000" dirty="0"/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C7ED930-D05B-4BA5-7164-7E87BE9F3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21" y="1150936"/>
            <a:ext cx="7621064" cy="29436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FCAC280-8BA0-388D-8FEB-24DA0ED751B8}"/>
              </a:ext>
            </a:extLst>
          </p:cNvPr>
          <p:cNvSpPr txBox="1"/>
          <p:nvPr/>
        </p:nvSpPr>
        <p:spPr>
          <a:xfrm>
            <a:off x="9045675" y="2622754"/>
            <a:ext cx="24678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/>
              <a:t>多尺度处理：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将数据进行多个尺度的缩放直接并行输入通过完整模型，最后在</a:t>
            </a:r>
            <a:r>
              <a:rPr lang="en-US" altLang="zh-CN" sz="2400" dirty="0"/>
              <a:t>logits</a:t>
            </a:r>
            <a:r>
              <a:rPr lang="zh-CN" altLang="en-US" sz="2400" dirty="0"/>
              <a:t>上聚合</a:t>
            </a:r>
          </a:p>
        </p:txBody>
      </p:sp>
    </p:spTree>
    <p:extLst>
      <p:ext uri="{BB962C8B-B14F-4D97-AF65-F5344CB8AC3E}">
        <p14:creationId xmlns:p14="http://schemas.microsoft.com/office/powerpoint/2010/main" val="995969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F5E4-5823-6010-8475-43A33C36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BF2FC6F-FD8A-ADB4-DA48-1FA4DF29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DeepLabv3+</a:t>
            </a:r>
            <a:endParaRPr lang="zh-CN" altLang="en-US" dirty="0"/>
          </a:p>
        </p:txBody>
      </p: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1CAC6E6E-4AD1-2214-483C-F8AA45132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56" y="2622747"/>
            <a:ext cx="7516274" cy="39248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D795B7-9ED5-67C9-9EC6-A2F267DEB97C}"/>
              </a:ext>
            </a:extLst>
          </p:cNvPr>
          <p:cNvSpPr txBox="1"/>
          <p:nvPr/>
        </p:nvSpPr>
        <p:spPr>
          <a:xfrm>
            <a:off x="6823588" y="2116262"/>
            <a:ext cx="54416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高分辨率输出：空洞卷积替换下采样层</a:t>
            </a:r>
            <a:endParaRPr lang="en-US" altLang="zh-CN" sz="2000" dirty="0"/>
          </a:p>
          <a:p>
            <a:r>
              <a:rPr lang="zh-CN" altLang="en-US" sz="2000" dirty="0"/>
              <a:t>层次化特征：来自</a:t>
            </a:r>
            <a:endParaRPr lang="en-US" altLang="zh-CN" sz="2000" dirty="0"/>
          </a:p>
          <a:p>
            <a:pPr lvl="1"/>
            <a:r>
              <a:rPr lang="zh-CN" altLang="en-US" sz="2000" dirty="0"/>
              <a:t>不同深度：</a:t>
            </a:r>
            <a:r>
              <a:rPr lang="en-US" altLang="zh-CN" sz="2000" dirty="0"/>
              <a:t>low-level feature </a:t>
            </a:r>
            <a:r>
              <a:rPr lang="zh-CN" altLang="en-US" sz="2000" dirty="0"/>
              <a:t>和 </a:t>
            </a:r>
            <a:r>
              <a:rPr lang="en-US" altLang="zh-CN" sz="2000" dirty="0"/>
              <a:t>high-level feature</a:t>
            </a:r>
          </a:p>
          <a:p>
            <a:pPr lvl="1"/>
            <a:r>
              <a:rPr lang="zh-CN" altLang="en-US" sz="2000" dirty="0"/>
              <a:t>不同感受野：</a:t>
            </a:r>
            <a:r>
              <a:rPr lang="en-US" altLang="zh-CN" sz="2000" dirty="0"/>
              <a:t>ASPP</a:t>
            </a:r>
            <a:r>
              <a:rPr lang="zh-CN" altLang="en-US" sz="2000" dirty="0"/>
              <a:t>模块</a:t>
            </a:r>
            <a:endParaRPr lang="en-US" altLang="zh-CN" sz="2000" dirty="0"/>
          </a:p>
          <a:p>
            <a:pPr lvl="1"/>
            <a:r>
              <a:rPr lang="zh-CN" altLang="en-US" sz="2000" dirty="0"/>
              <a:t>不同尺寸：多尺度并行输入</a:t>
            </a:r>
            <a:endParaRPr lang="en-US" altLang="zh-CN" sz="2000" dirty="0"/>
          </a:p>
          <a:p>
            <a:r>
              <a:rPr lang="zh-CN" altLang="en-US" sz="2000" dirty="0"/>
              <a:t>精确的边界评估：</a:t>
            </a:r>
            <a:r>
              <a:rPr lang="en-US" altLang="zh-CN" sz="2000" dirty="0" err="1"/>
              <a:t>Trimap</a:t>
            </a:r>
            <a:r>
              <a:rPr lang="zh-CN" altLang="en-US" sz="2000" dirty="0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2112631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22D2-357B-1D94-88F8-30D19D64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0B09A32-C2E9-74E9-4BF1-A3E3B681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语义分割</a:t>
            </a:r>
            <a:r>
              <a:rPr lang="en-US" altLang="zh-CN" dirty="0"/>
              <a:t>-&gt;</a:t>
            </a:r>
            <a:r>
              <a:rPr lang="zh-CN" altLang="en-US" dirty="0"/>
              <a:t>变化检测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938C4B-5404-9EC5-CF17-0DC01B9A6974}"/>
              </a:ext>
            </a:extLst>
          </p:cNvPr>
          <p:cNvSpPr txBox="1"/>
          <p:nvPr/>
        </p:nvSpPr>
        <p:spPr>
          <a:xfrm>
            <a:off x="1065878" y="1860395"/>
            <a:ext cx="70558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CD</a:t>
            </a:r>
            <a:r>
              <a:rPr lang="zh-CN" altLang="en-US" sz="2000" dirty="0"/>
              <a:t>的本质是</a:t>
            </a:r>
            <a:r>
              <a:rPr lang="en-US" altLang="zh-CN" sz="2000" dirty="0"/>
              <a:t>SS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zh-CN" altLang="en-US" sz="2000" dirty="0"/>
              <a:t>相似的模型架构：全卷积</a:t>
            </a:r>
            <a:r>
              <a:rPr lang="en-US" altLang="zh-CN" sz="2000" dirty="0"/>
              <a:t>+</a:t>
            </a:r>
            <a:r>
              <a:rPr lang="zh-CN" altLang="en-US" sz="2000" dirty="0"/>
              <a:t>下采样上采样结构</a:t>
            </a:r>
            <a:endParaRPr lang="en-US" altLang="zh-CN" sz="2000" dirty="0"/>
          </a:p>
          <a:p>
            <a:pPr lvl="1"/>
            <a:r>
              <a:rPr lang="zh-CN" altLang="en-US" sz="2000" dirty="0"/>
              <a:t>共同面对的挑战：</a:t>
            </a:r>
            <a:endParaRPr lang="en-US" altLang="zh-CN" sz="2000" dirty="0"/>
          </a:p>
          <a:p>
            <a:pPr lvl="2"/>
            <a:r>
              <a:rPr lang="zh-CN" altLang="en-US" sz="2000" dirty="0"/>
              <a:t>分辨率和语义的权衡（层次化特征）</a:t>
            </a:r>
            <a:endParaRPr lang="en-US" altLang="zh-CN" sz="2000" dirty="0"/>
          </a:p>
          <a:p>
            <a:pPr lvl="2"/>
            <a:r>
              <a:rPr lang="zh-CN" altLang="en-US" sz="2000" dirty="0"/>
              <a:t>精确的分割边界</a:t>
            </a:r>
            <a:endParaRPr lang="en-US" altLang="zh-CN" sz="2000" dirty="0"/>
          </a:p>
          <a:p>
            <a:pPr lvl="2"/>
            <a:r>
              <a:rPr lang="zh-CN" altLang="en-US" sz="2000" dirty="0"/>
              <a:t>类别不平衡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r>
              <a:rPr lang="zh-CN" altLang="en-US" sz="2000" dirty="0"/>
              <a:t>可以通过改造</a:t>
            </a:r>
            <a:r>
              <a:rPr lang="en-US" altLang="zh-CN" sz="2000" dirty="0"/>
              <a:t>SS</a:t>
            </a:r>
            <a:r>
              <a:rPr lang="zh-CN" altLang="en-US" sz="2000" dirty="0"/>
              <a:t>模型为双分支结构来处理</a:t>
            </a:r>
            <a:r>
              <a:rPr lang="en-US" altLang="zh-CN" sz="2000" dirty="0"/>
              <a:t>CD</a:t>
            </a:r>
            <a:r>
              <a:rPr lang="zh-CN" altLang="en-US" sz="2000" dirty="0"/>
              <a:t>任务，</a:t>
            </a:r>
            <a:endParaRPr lang="en-US" altLang="zh-CN" sz="2000" dirty="0"/>
          </a:p>
          <a:p>
            <a:r>
              <a:rPr lang="zh-CN" altLang="en-US" sz="2000" dirty="0"/>
              <a:t>但不适用于所有情况，因为</a:t>
            </a:r>
            <a:r>
              <a:rPr lang="en-US" altLang="zh-CN" sz="2000" dirty="0"/>
              <a:t>CD</a:t>
            </a:r>
            <a:r>
              <a:rPr lang="zh-CN" altLang="en-US" sz="2000" dirty="0"/>
              <a:t>在此基础上带来新的挑战：</a:t>
            </a:r>
            <a:endParaRPr lang="en-US" altLang="zh-CN" sz="2000" dirty="0"/>
          </a:p>
          <a:p>
            <a:pPr lvl="1"/>
            <a:r>
              <a:rPr lang="zh-CN" altLang="en-US" sz="2000" dirty="0"/>
              <a:t>如何识别目标变化和无关变化</a:t>
            </a:r>
            <a:endParaRPr lang="en-US" altLang="zh-CN" sz="2000" dirty="0"/>
          </a:p>
          <a:p>
            <a:pPr lvl="1"/>
            <a:r>
              <a:rPr lang="en-US" altLang="zh-CN" sz="2000" dirty="0"/>
              <a:t>-&gt;</a:t>
            </a:r>
            <a:r>
              <a:rPr lang="zh-CN" altLang="zh-CN" sz="2000" dirty="0"/>
              <a:t>如何</a:t>
            </a:r>
            <a:r>
              <a:rPr lang="zh-CN" altLang="zh-CN" sz="2000" dirty="0">
                <a:solidFill>
                  <a:srgbClr val="891D86"/>
                </a:solidFill>
              </a:rPr>
              <a:t>对齐特征表示</a:t>
            </a:r>
            <a:r>
              <a:rPr lang="zh-CN" altLang="zh-CN" sz="2000" dirty="0"/>
              <a:t>，包括光谱和空间变化</a:t>
            </a:r>
            <a:endParaRPr lang="zh-CN" altLang="en-US" sz="2000" dirty="0"/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246B7C8E-D628-63B0-A613-112C735FB5BE}"/>
              </a:ext>
            </a:extLst>
          </p:cNvPr>
          <p:cNvSpPr/>
          <p:nvPr/>
        </p:nvSpPr>
        <p:spPr>
          <a:xfrm>
            <a:off x="7649804" y="3279058"/>
            <a:ext cx="471948" cy="2595716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1D6309-12AB-3521-5FB2-843337A76D21}"/>
              </a:ext>
            </a:extLst>
          </p:cNvPr>
          <p:cNvSpPr txBox="1"/>
          <p:nvPr/>
        </p:nvSpPr>
        <p:spPr>
          <a:xfrm>
            <a:off x="8495071" y="3022644"/>
            <a:ext cx="31659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全监督</a:t>
            </a:r>
            <a:r>
              <a:rPr lang="en-US" altLang="zh-CN" sz="2400" dirty="0"/>
              <a:t>CD</a:t>
            </a:r>
          </a:p>
          <a:p>
            <a:endParaRPr lang="en-US" altLang="zh-CN" sz="2400" dirty="0"/>
          </a:p>
          <a:p>
            <a:pPr lvl="1"/>
            <a:r>
              <a:rPr lang="en-US" altLang="zh-CN" sz="2000" dirty="0" err="1"/>
              <a:t>STANet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 err="1"/>
              <a:t>KFNet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FSCD</a:t>
            </a:r>
          </a:p>
          <a:p>
            <a:endParaRPr lang="en-US" altLang="zh-CN" sz="2400" dirty="0"/>
          </a:p>
          <a:p>
            <a:r>
              <a:rPr lang="zh-CN" altLang="en-US" sz="2400" dirty="0"/>
              <a:t>弱监督</a:t>
            </a:r>
            <a:r>
              <a:rPr lang="en-US" altLang="zh-CN" sz="2400" dirty="0"/>
              <a:t>CD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2005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61F7-ECDA-B66E-A24D-22FE3577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50B986-4364-C32B-D49A-517D0D4A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STANet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C4A7989-489A-E23D-1553-BFDA317CA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9012"/>
            <a:ext cx="7902064" cy="576913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9B5216E-5C02-BBA0-501A-44D226F4798F}"/>
              </a:ext>
            </a:extLst>
          </p:cNvPr>
          <p:cNvSpPr txBox="1"/>
          <p:nvPr/>
        </p:nvSpPr>
        <p:spPr>
          <a:xfrm>
            <a:off x="7902064" y="1240963"/>
            <a:ext cx="41326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STANet</a:t>
            </a:r>
            <a:r>
              <a:rPr lang="zh-CN" altLang="zh-CN" b="1" dirty="0"/>
              <a:t>：</a:t>
            </a:r>
            <a:r>
              <a:rPr lang="zh-CN" altLang="zh-CN" dirty="0"/>
              <a:t>通过</a:t>
            </a:r>
            <a:r>
              <a:rPr lang="zh-CN" altLang="zh-CN" b="1" dirty="0">
                <a:solidFill>
                  <a:srgbClr val="891D86"/>
                </a:solidFill>
              </a:rPr>
              <a:t>自注意力机制</a:t>
            </a:r>
            <a:r>
              <a:rPr lang="zh-CN" altLang="zh-CN" dirty="0">
                <a:solidFill>
                  <a:srgbClr val="891D86"/>
                </a:solidFill>
              </a:rPr>
              <a:t>跨越时相建模</a:t>
            </a:r>
            <a:r>
              <a:rPr lang="zh-CN" altLang="zh-CN" dirty="0"/>
              <a:t>双时相特征图中两个像素之间的联系，来对齐特征表示，克服光照变化和位置不准。</a:t>
            </a:r>
          </a:p>
          <a:p>
            <a:r>
              <a:rPr lang="zh-CN" altLang="zh-CN" dirty="0"/>
              <a:t>是一个</a:t>
            </a:r>
            <a:r>
              <a:rPr lang="zh-CN" altLang="zh-CN" b="1" dirty="0"/>
              <a:t>基于度量（</a:t>
            </a:r>
            <a:r>
              <a:rPr lang="en-US" altLang="zh-CN" b="1" dirty="0"/>
              <a:t>Metric-based</a:t>
            </a:r>
            <a:r>
              <a:rPr lang="zh-CN" altLang="zh-CN" b="1" dirty="0"/>
              <a:t>）</a:t>
            </a:r>
            <a:r>
              <a:rPr lang="zh-CN" altLang="zh-CN" dirty="0"/>
              <a:t>的模型</a:t>
            </a:r>
            <a:r>
              <a:rPr lang="en-US" altLang="zh-CN" dirty="0"/>
              <a:t>-</a:t>
            </a:r>
            <a:r>
              <a:rPr lang="zh-CN" altLang="zh-CN" dirty="0"/>
              <a:t>将特征表示映射到一个特征空间中，通过比较空间中向量的距离来分类，关注讨论更好的映射方式，拉近同类，拉远异类</a:t>
            </a:r>
            <a:endParaRPr lang="en-US" altLang="zh-CN" dirty="0"/>
          </a:p>
          <a:p>
            <a:r>
              <a:rPr lang="en-US" altLang="zh-CN" b="1" dirty="0"/>
              <a:t>BAM</a:t>
            </a:r>
            <a:r>
              <a:rPr lang="zh-CN" altLang="zh-CN" b="1" dirty="0"/>
              <a:t>：</a:t>
            </a:r>
            <a:r>
              <a:rPr lang="zh-CN" altLang="zh-CN" dirty="0"/>
              <a:t>对特征图的两两像素建模自注意力；</a:t>
            </a:r>
            <a:endParaRPr lang="en-US" altLang="zh-CN" dirty="0"/>
          </a:p>
          <a:p>
            <a:r>
              <a:rPr lang="en-US" altLang="zh-CN" b="1" dirty="0"/>
              <a:t>PAM</a:t>
            </a:r>
            <a:r>
              <a:rPr lang="zh-CN" altLang="zh-CN" b="1" dirty="0"/>
              <a:t>：</a:t>
            </a:r>
            <a:r>
              <a:rPr lang="zh-CN" altLang="zh-CN" dirty="0"/>
              <a:t>将特征图分为多个尺度的子块分别使用</a:t>
            </a:r>
            <a:r>
              <a:rPr lang="en-US" altLang="zh-CN" dirty="0"/>
              <a:t>BAM</a:t>
            </a:r>
            <a:r>
              <a:rPr lang="zh-CN" altLang="zh-CN" dirty="0"/>
              <a:t>后拼接，捕捉</a:t>
            </a:r>
            <a:r>
              <a:rPr lang="zh-CN" altLang="zh-CN" dirty="0">
                <a:solidFill>
                  <a:srgbClr val="891D86"/>
                </a:solidFill>
              </a:rPr>
              <a:t>多尺度</a:t>
            </a:r>
            <a:r>
              <a:rPr lang="zh-CN" altLang="zh-CN" dirty="0"/>
              <a:t>信息</a:t>
            </a:r>
          </a:p>
          <a:p>
            <a:r>
              <a:rPr lang="zh-CN" altLang="zh-CN" dirty="0">
                <a:solidFill>
                  <a:srgbClr val="891D86"/>
                </a:solidFill>
              </a:rPr>
              <a:t>提出大规模数据集</a:t>
            </a:r>
            <a:r>
              <a:rPr lang="en-US" altLang="zh-CN" dirty="0">
                <a:solidFill>
                  <a:srgbClr val="891D86"/>
                </a:solidFill>
              </a:rPr>
              <a:t>LEVIR-CD</a:t>
            </a:r>
          </a:p>
          <a:p>
            <a:endParaRPr lang="en-US" altLang="zh-CN" dirty="0">
              <a:solidFill>
                <a:srgbClr val="891D86"/>
              </a:solidFill>
            </a:endParaRPr>
          </a:p>
          <a:p>
            <a:r>
              <a:rPr lang="zh-CN" altLang="en-US" dirty="0">
                <a:solidFill>
                  <a:srgbClr val="891D86"/>
                </a:solidFill>
              </a:rPr>
              <a:t>利用注意力机制的全局建模特性对齐特征表示（注意力机制对位置不敏感）</a:t>
            </a:r>
            <a:endParaRPr lang="en-US" altLang="zh-CN" dirty="0">
              <a:solidFill>
                <a:srgbClr val="891D86"/>
              </a:solidFill>
            </a:endParaRPr>
          </a:p>
          <a:p>
            <a:r>
              <a:rPr lang="zh-CN" altLang="en-US" dirty="0">
                <a:solidFill>
                  <a:srgbClr val="891D86"/>
                </a:solidFill>
              </a:rPr>
              <a:t>映射到对齐的特征空间</a:t>
            </a:r>
            <a:endParaRPr lang="zh-CN" altLang="zh-CN" dirty="0">
              <a:solidFill>
                <a:srgbClr val="891D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20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89DB-CE34-FB6A-6B5B-3CFB8487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8066EE-8C0C-1259-03B6-560828B7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KFNet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FFE01FA-EA0E-3749-87B4-8261E2038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03" y="1039012"/>
            <a:ext cx="10345594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15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ACF4-60A7-CDD7-6465-B13D9793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4C8EC57-6FED-471A-05CE-6225CCB0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KFNet</a:t>
            </a:r>
            <a:endParaRPr lang="zh-CN" altLang="en-US" dirty="0"/>
          </a:p>
        </p:txBody>
      </p:sp>
      <p:pic>
        <p:nvPicPr>
          <p:cNvPr id="1026" name="Picture 2" descr="KAN网络技术最全解析">
            <a:extLst>
              <a:ext uri="{FF2B5EF4-FFF2-40B4-BE49-F238E27FC236}">
                <a16:creationId xmlns:a16="http://schemas.microsoft.com/office/drawing/2014/main" id="{D9F86976-1678-6BD7-8452-54DEECAF0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84" y="1402805"/>
            <a:ext cx="718185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2C81B41-3DBF-8C50-6D87-FC4A03EFEFDE}"/>
              </a:ext>
            </a:extLst>
          </p:cNvPr>
          <p:cNvSpPr txBox="1"/>
          <p:nvPr/>
        </p:nvSpPr>
        <p:spPr>
          <a:xfrm>
            <a:off x="7579134" y="1659329"/>
            <a:ext cx="438518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/>
              <a:t>KAN</a:t>
            </a:r>
            <a:r>
              <a:rPr lang="zh-CN" altLang="en-US" sz="2000" dirty="0"/>
              <a:t>增强深层特征图的表征能力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hlinkClick r:id="rId4"/>
              </a:rPr>
              <a:t>Kolmogorov-Arnold </a:t>
            </a:r>
            <a:r>
              <a:rPr lang="zh-CN" altLang="en-US" sz="2000" dirty="0">
                <a:hlinkClick r:id="rId4"/>
              </a:rPr>
              <a:t>表示定理</a:t>
            </a:r>
            <a:r>
              <a:rPr lang="zh-CN" altLang="en-US" sz="2000" dirty="0"/>
              <a:t> </a:t>
            </a:r>
            <a:r>
              <a:rPr lang="en-US" altLang="zh-CN" sz="2000" dirty="0"/>
              <a:t>(KART)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zh-CN" altLang="en-US" sz="2000" dirty="0"/>
              <a:t>每个多元连续函数都可以表示为单变量连续函数的两层嵌套叠加。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边进行非线性变换（此处用</a:t>
            </a:r>
            <a:r>
              <a:rPr lang="en-US" altLang="zh-CN" sz="2000" dirty="0"/>
              <a:t>B</a:t>
            </a:r>
            <a:r>
              <a:rPr lang="zh-CN" altLang="en-US" sz="2000" dirty="0"/>
              <a:t>样条），结点进行简单相加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优化的参数是边上的</a:t>
            </a:r>
            <a:r>
              <a:rPr lang="en-US" altLang="zh-CN" sz="2000" dirty="0"/>
              <a:t>B</a:t>
            </a:r>
            <a:r>
              <a:rPr lang="zh-CN" altLang="en-US" sz="2000" dirty="0"/>
              <a:t>样条函数的系数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可以表达更复杂的非线性变换关系</a:t>
            </a:r>
          </a:p>
        </p:txBody>
      </p:sp>
    </p:spTree>
    <p:extLst>
      <p:ext uri="{BB962C8B-B14F-4D97-AF65-F5344CB8AC3E}">
        <p14:creationId xmlns:p14="http://schemas.microsoft.com/office/powerpoint/2010/main" val="1695605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E1AE-AFF3-D3EF-8AAA-E51EBA9B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B6FC87-9A74-991A-601C-966E1D04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KFNet</a:t>
            </a:r>
            <a:endParaRPr lang="zh-CN" altLang="en-US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F20D13FD-F624-FABC-F62E-28593C188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149752"/>
            <a:ext cx="4602027" cy="53413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5A48C88-586F-9799-E32C-A281688F894D}"/>
              </a:ext>
            </a:extLst>
          </p:cNvPr>
          <p:cNvSpPr txBox="1"/>
          <p:nvPr/>
        </p:nvSpPr>
        <p:spPr>
          <a:xfrm>
            <a:off x="6189015" y="1445834"/>
            <a:ext cx="5285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/>
              <a:t>OFGA</a:t>
            </a:r>
            <a:r>
              <a:rPr lang="zh-CN" altLang="en-US" sz="2000" dirty="0"/>
              <a:t>模块显式地学习</a:t>
            </a:r>
            <a:r>
              <a:rPr lang="zh-CN" altLang="en-US" sz="2000" dirty="0">
                <a:solidFill>
                  <a:srgbClr val="891D86"/>
                </a:solidFill>
              </a:rPr>
              <a:t>空间上的错位</a:t>
            </a:r>
            <a:r>
              <a:rPr lang="zh-CN" altLang="en-US" sz="2000" dirty="0"/>
              <a:t>，使得特征图在空间上对齐：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使用</a:t>
            </a:r>
            <a:r>
              <a:rPr lang="en-US" altLang="zh-CN" sz="2000" dirty="0"/>
              <a:t>3*3</a:t>
            </a:r>
            <a:r>
              <a:rPr lang="zh-CN" altLang="en-US" sz="2000" dirty="0"/>
              <a:t>卷积对于每个时相的特征图学习一个和特征图相同尺寸的</a:t>
            </a:r>
            <a:r>
              <a:rPr lang="zh-CN" altLang="en-US" sz="2000" dirty="0">
                <a:solidFill>
                  <a:srgbClr val="891D86"/>
                </a:solidFill>
              </a:rPr>
              <a:t>位移场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使用门控机制，通过</a:t>
            </a:r>
            <a:r>
              <a:rPr lang="en-US" altLang="zh-CN" sz="2000" dirty="0"/>
              <a:t>1*1</a:t>
            </a:r>
            <a:r>
              <a:rPr lang="zh-CN" altLang="en-US" sz="2000" dirty="0"/>
              <a:t>卷积学习一个权重矩阵来对双时相特征图加权融合，用于输出变化图</a:t>
            </a:r>
            <a:endParaRPr lang="zh-CN" altLang="en-US" sz="2000" dirty="0">
              <a:effectLst/>
            </a:endParaRPr>
          </a:p>
        </p:txBody>
      </p:sp>
      <p:pic>
        <p:nvPicPr>
          <p:cNvPr id="8" name="图片 7" descr="形状&#10;&#10;AI 生成的内容可能不正确。">
            <a:extLst>
              <a:ext uri="{FF2B5EF4-FFF2-40B4-BE49-F238E27FC236}">
                <a16:creationId xmlns:a16="http://schemas.microsoft.com/office/drawing/2014/main" id="{449C0C14-E1A8-FC6D-2F90-6F2C39B2E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90" y="3786493"/>
            <a:ext cx="2736419" cy="27046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9483F91-78BB-68B6-DCF4-8FC956EEA78B}"/>
              </a:ext>
            </a:extLst>
          </p:cNvPr>
          <p:cNvSpPr txBox="1"/>
          <p:nvPr/>
        </p:nvSpPr>
        <p:spPr>
          <a:xfrm>
            <a:off x="8663141" y="4323185"/>
            <a:ext cx="31512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SE</a:t>
            </a:r>
            <a:r>
              <a:rPr lang="zh-CN" altLang="en-US" sz="2000" dirty="0"/>
              <a:t>：对于双时相特征图，在空间上按间距选择一些像素交换，来融合另一个时相的特征信息</a:t>
            </a:r>
          </a:p>
        </p:txBody>
      </p:sp>
    </p:spTree>
    <p:extLst>
      <p:ext uri="{BB962C8B-B14F-4D97-AF65-F5344CB8AC3E}">
        <p14:creationId xmlns:p14="http://schemas.microsoft.com/office/powerpoint/2010/main" val="1627313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E7E2-91E8-9DD7-A069-B7C58BE3D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77DED68-E848-C111-33C4-75625337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FSCD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1E529A-8A23-30D0-ADD8-789B4B2863D3}"/>
              </a:ext>
            </a:extLst>
          </p:cNvPr>
          <p:cNvSpPr txBox="1"/>
          <p:nvPr/>
        </p:nvSpPr>
        <p:spPr>
          <a:xfrm>
            <a:off x="7980724" y="1374486"/>
            <a:ext cx="41326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FSCD</a:t>
            </a:r>
            <a:r>
              <a:rPr lang="zh-CN" altLang="zh-CN" b="1" dirty="0"/>
              <a:t>、</a:t>
            </a:r>
            <a:r>
              <a:rPr lang="en-US" altLang="zh-CN" b="1" dirty="0"/>
              <a:t>SSECOND</a:t>
            </a:r>
            <a:r>
              <a:rPr lang="zh-CN" altLang="en-US" b="1" dirty="0"/>
              <a:t>数据集</a:t>
            </a:r>
            <a:endParaRPr lang="zh-CN" altLang="zh-CN" dirty="0"/>
          </a:p>
          <a:p>
            <a:r>
              <a:rPr lang="zh-CN" altLang="zh-CN" dirty="0">
                <a:solidFill>
                  <a:srgbClr val="891D86"/>
                </a:solidFill>
              </a:rPr>
              <a:t>小样本预测单一新类别</a:t>
            </a:r>
            <a:r>
              <a:rPr lang="zh-CN" altLang="zh-CN" dirty="0"/>
              <a:t>的问题</a:t>
            </a:r>
            <a:endParaRPr lang="en-US" altLang="zh-CN" dirty="0"/>
          </a:p>
          <a:p>
            <a:r>
              <a:rPr lang="zh-CN" altLang="zh-CN" dirty="0"/>
              <a:t>模型有两个分支</a:t>
            </a:r>
            <a:r>
              <a:rPr lang="en-US" altLang="zh-CN" dirty="0"/>
              <a:t>-</a:t>
            </a:r>
            <a:r>
              <a:rPr lang="zh-CN" altLang="zh-CN" dirty="0">
                <a:solidFill>
                  <a:srgbClr val="891D86"/>
                </a:solidFill>
              </a:rPr>
              <a:t>支持分支和查询分支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如何理解模型架构？</a:t>
            </a:r>
            <a:endParaRPr lang="zh-CN" altLang="zh-CN" dirty="0"/>
          </a:p>
          <a:p>
            <a:r>
              <a:rPr lang="zh-CN" altLang="zh-CN" b="1" dirty="0"/>
              <a:t>将少样本学习问题转化为特征空间中的模板匹配问题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类似</a:t>
            </a:r>
            <a:r>
              <a:rPr lang="zh-CN" altLang="zh-CN" dirty="0"/>
              <a:t>一个</a:t>
            </a:r>
            <a:r>
              <a:rPr lang="en-US" altLang="zh-CN" dirty="0"/>
              <a:t>1*1</a:t>
            </a:r>
            <a:r>
              <a:rPr lang="zh-CN" altLang="zh-CN" dirty="0"/>
              <a:t>的卷积，支持分支上通过变化图筛选并平均后得到的就是一个</a:t>
            </a:r>
            <a:r>
              <a:rPr lang="en-US" altLang="zh-CN" dirty="0"/>
              <a:t>1*1</a:t>
            </a:r>
            <a:r>
              <a:rPr lang="zh-CN" altLang="zh-CN" dirty="0"/>
              <a:t>模板</a:t>
            </a:r>
            <a:r>
              <a:rPr lang="zh-CN" altLang="en-US" dirty="0"/>
              <a:t>（核）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区别在于，这里的模板是随着输入图像动态变化的，并且拼接后可以进行比直接点积更复杂的操作。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应用于常规</a:t>
            </a:r>
            <a:r>
              <a:rPr lang="en-US" altLang="zh-CN" dirty="0"/>
              <a:t>CD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zh-CN" dirty="0"/>
              <a:t>学习不变区域的特征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92A1ECF2-AFB9-53F2-7506-569516F57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2" y="1111612"/>
            <a:ext cx="7287642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24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67E8-B68E-AF18-F524-91A9B183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022CE5C-4AA6-882F-4D01-6FDA3060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FSCD-&gt;WSCD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1A0D73-3BAE-4A20-1ABA-EC1DC70ADC72}"/>
              </a:ext>
            </a:extLst>
          </p:cNvPr>
          <p:cNvSpPr txBox="1"/>
          <p:nvPr/>
        </p:nvSpPr>
        <p:spPr>
          <a:xfrm>
            <a:off x="1490011" y="1039012"/>
            <a:ext cx="9211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全监督变化检测（</a:t>
            </a:r>
            <a:r>
              <a:rPr lang="en-US" altLang="zh-CN" sz="2000" dirty="0"/>
              <a:t>FSCD</a:t>
            </a:r>
            <a:r>
              <a:rPr lang="zh-CN" altLang="en-US" sz="2000" dirty="0"/>
              <a:t>）方法需要大量像素级精确标注的标签，</a:t>
            </a:r>
            <a:endParaRPr lang="en-US" altLang="zh-CN" sz="2000" dirty="0"/>
          </a:p>
          <a:p>
            <a:r>
              <a:rPr lang="zh-CN" altLang="en-US" sz="2000" dirty="0"/>
              <a:t>需要较多的专业知识，标注难度大，且耗时耗力</a:t>
            </a:r>
            <a:endParaRPr lang="en-US" altLang="zh-CN" sz="2000" dirty="0"/>
          </a:p>
          <a:p>
            <a:r>
              <a:rPr lang="en-US" altLang="zh-CN" sz="2000" dirty="0"/>
              <a:t>-&gt;</a:t>
            </a:r>
            <a:r>
              <a:rPr lang="zh-CN" altLang="en-US" sz="2000" dirty="0"/>
              <a:t>不需要像素级标签的变化检测方法</a:t>
            </a:r>
            <a:r>
              <a:rPr lang="en-US" altLang="zh-CN" sz="2000" dirty="0"/>
              <a:t>-&gt;</a:t>
            </a:r>
            <a:r>
              <a:rPr lang="zh-CN" altLang="en-US" sz="2000" dirty="0">
                <a:solidFill>
                  <a:srgbClr val="891D86"/>
                </a:solidFill>
              </a:rPr>
              <a:t>弱监督变化检测</a:t>
            </a:r>
            <a:r>
              <a:rPr lang="zh-CN" altLang="en-US" sz="2000" dirty="0"/>
              <a:t>（</a:t>
            </a:r>
            <a:r>
              <a:rPr lang="en-US" altLang="zh-CN" sz="2000" dirty="0"/>
              <a:t>WSCD</a:t>
            </a:r>
            <a:r>
              <a:rPr lang="zh-CN" altLang="en-US" sz="2000" dirty="0"/>
              <a:t>）方法的研究</a:t>
            </a:r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15A65AD-9CD9-CEE0-9370-BFD0A640A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78" y="2054675"/>
            <a:ext cx="9211978" cy="47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94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9026-2899-4B11-F3B6-486172FD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FF4A127-E3B5-7896-9DF7-BEEB003C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WSCD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9CC0B3-7E05-D45A-AECF-90750FE80FEA}"/>
              </a:ext>
            </a:extLst>
          </p:cNvPr>
          <p:cNvSpPr txBox="1"/>
          <p:nvPr/>
        </p:nvSpPr>
        <p:spPr>
          <a:xfrm>
            <a:off x="886747" y="1392973"/>
            <a:ext cx="705587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CD</a:t>
            </a:r>
            <a:r>
              <a:rPr lang="zh-CN" altLang="en-US" sz="2000" dirty="0"/>
              <a:t>的本质是</a:t>
            </a:r>
            <a:r>
              <a:rPr lang="en-US" altLang="zh-CN" sz="2000" dirty="0"/>
              <a:t>SS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zh-CN" altLang="en-US" sz="2000" dirty="0"/>
              <a:t>相似的模型架构：全卷积</a:t>
            </a:r>
            <a:r>
              <a:rPr lang="en-US" altLang="zh-CN" sz="2000" dirty="0"/>
              <a:t>+</a:t>
            </a:r>
            <a:r>
              <a:rPr lang="zh-CN" altLang="en-US" sz="2000" dirty="0"/>
              <a:t>下采样上采样结构</a:t>
            </a:r>
            <a:endParaRPr lang="en-US" altLang="zh-CN" sz="2000" dirty="0"/>
          </a:p>
          <a:p>
            <a:pPr lvl="1"/>
            <a:r>
              <a:rPr lang="zh-CN" altLang="en-US" sz="2000" dirty="0"/>
              <a:t>共同面对的挑战：</a:t>
            </a:r>
            <a:endParaRPr lang="en-US" altLang="zh-CN" sz="2000" dirty="0"/>
          </a:p>
          <a:p>
            <a:pPr lvl="2"/>
            <a:r>
              <a:rPr lang="zh-CN" altLang="en-US" sz="2000" dirty="0"/>
              <a:t>分辨率和语义的权衡（层次化特征）</a:t>
            </a:r>
            <a:endParaRPr lang="en-US" altLang="zh-CN" sz="2000" dirty="0"/>
          </a:p>
          <a:p>
            <a:pPr lvl="2"/>
            <a:r>
              <a:rPr lang="zh-CN" altLang="en-US" sz="2000" dirty="0"/>
              <a:t>精确的分割边界</a:t>
            </a:r>
            <a:endParaRPr lang="en-US" altLang="zh-CN" sz="2000" dirty="0"/>
          </a:p>
          <a:p>
            <a:pPr lvl="2"/>
            <a:r>
              <a:rPr lang="zh-CN" altLang="en-US" sz="2000" dirty="0"/>
              <a:t>类别不平衡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r>
              <a:rPr lang="zh-CN" altLang="en-US" sz="2000" dirty="0"/>
              <a:t>可以通过改造</a:t>
            </a:r>
            <a:r>
              <a:rPr lang="en-US" altLang="zh-CN" sz="2000" dirty="0"/>
              <a:t>SS</a:t>
            </a:r>
            <a:r>
              <a:rPr lang="zh-CN" altLang="en-US" sz="2000" dirty="0"/>
              <a:t>模型为双分支结构来处理</a:t>
            </a:r>
            <a:r>
              <a:rPr lang="en-US" altLang="zh-CN" sz="2000" dirty="0"/>
              <a:t>CD</a:t>
            </a:r>
            <a:r>
              <a:rPr lang="zh-CN" altLang="en-US" sz="2000" dirty="0"/>
              <a:t>任务，</a:t>
            </a:r>
            <a:endParaRPr lang="en-US" altLang="zh-CN" sz="2000" dirty="0"/>
          </a:p>
          <a:p>
            <a:r>
              <a:rPr lang="zh-CN" altLang="en-US" sz="2000" dirty="0"/>
              <a:t>但不适用于所有情况，因为</a:t>
            </a:r>
            <a:r>
              <a:rPr lang="en-US" altLang="zh-CN" sz="2000" dirty="0"/>
              <a:t>CD</a:t>
            </a:r>
            <a:r>
              <a:rPr lang="zh-CN" altLang="en-US" sz="2000" dirty="0"/>
              <a:t>在此基础上带来新的挑战：</a:t>
            </a:r>
            <a:endParaRPr lang="en-US" altLang="zh-CN" sz="2000" dirty="0"/>
          </a:p>
          <a:p>
            <a:pPr lvl="1"/>
            <a:r>
              <a:rPr lang="zh-CN" altLang="en-US" sz="2000" dirty="0"/>
              <a:t>如何识别目标变化和无关变化</a:t>
            </a:r>
            <a:endParaRPr lang="en-US" altLang="zh-CN" sz="2000" dirty="0"/>
          </a:p>
          <a:p>
            <a:pPr lvl="1"/>
            <a:r>
              <a:rPr lang="en-US" altLang="zh-CN" sz="2000" dirty="0"/>
              <a:t>-&gt;</a:t>
            </a:r>
            <a:r>
              <a:rPr lang="zh-CN" altLang="zh-CN" sz="2000" dirty="0"/>
              <a:t>如何</a:t>
            </a:r>
            <a:r>
              <a:rPr lang="zh-CN" altLang="zh-CN" sz="2000" dirty="0">
                <a:solidFill>
                  <a:srgbClr val="891D86"/>
                </a:solidFill>
              </a:rPr>
              <a:t>对齐特征表示</a:t>
            </a:r>
            <a:r>
              <a:rPr lang="zh-CN" altLang="zh-CN" sz="2000" dirty="0"/>
              <a:t>，包括光谱和空间变化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000" dirty="0"/>
              <a:t>图像级标签的弱监督变化检测在此基础上带来新的挑战：</a:t>
            </a:r>
            <a:endParaRPr lang="en-US" altLang="zh-CN" sz="2000" dirty="0"/>
          </a:p>
          <a:p>
            <a:pPr lvl="1"/>
            <a:r>
              <a:rPr lang="zh-CN" altLang="en-US" sz="2000" dirty="0"/>
              <a:t>缺少像素级标签来约束训练</a:t>
            </a:r>
            <a:endParaRPr lang="en-US" altLang="zh-CN" sz="2000" dirty="0"/>
          </a:p>
          <a:p>
            <a:pPr lvl="1"/>
            <a:r>
              <a:rPr lang="en-US" altLang="zh-CN" sz="2000" dirty="0"/>
              <a:t>-&gt;</a:t>
            </a:r>
            <a:r>
              <a:rPr lang="zh-CN" altLang="en-US" sz="2000" dirty="0"/>
              <a:t>比如通过</a:t>
            </a:r>
            <a:r>
              <a:rPr lang="en-US" altLang="zh-CN" sz="2000" dirty="0">
                <a:solidFill>
                  <a:srgbClr val="891D86"/>
                </a:solidFill>
              </a:rPr>
              <a:t>CAM</a:t>
            </a:r>
            <a:r>
              <a:rPr lang="zh-CN" altLang="en-US" sz="2000" dirty="0">
                <a:solidFill>
                  <a:srgbClr val="891D86"/>
                </a:solidFill>
              </a:rPr>
              <a:t>提供伪标签</a:t>
            </a:r>
            <a:endParaRPr lang="en-US" altLang="zh-CN" sz="2000" dirty="0">
              <a:solidFill>
                <a:srgbClr val="891D86"/>
              </a:solidFill>
            </a:endParaRP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DE8B9D7F-B1D3-C422-3C20-16C957FA1BE2}"/>
              </a:ext>
            </a:extLst>
          </p:cNvPr>
          <p:cNvSpPr/>
          <p:nvPr/>
        </p:nvSpPr>
        <p:spPr>
          <a:xfrm>
            <a:off x="7373272" y="3429000"/>
            <a:ext cx="471948" cy="2541638"/>
          </a:xfrm>
          <a:prstGeom prst="leftBrace">
            <a:avLst>
              <a:gd name="adj1" fmla="val 8333"/>
              <a:gd name="adj2" fmla="val 65776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47C351-8633-9DB6-7EFF-52611D7DF69B}"/>
              </a:ext>
            </a:extLst>
          </p:cNvPr>
          <p:cNvSpPr txBox="1"/>
          <p:nvPr/>
        </p:nvSpPr>
        <p:spPr>
          <a:xfrm>
            <a:off x="8239432" y="3145547"/>
            <a:ext cx="31659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CAM</a:t>
            </a:r>
          </a:p>
          <a:p>
            <a:r>
              <a:rPr lang="en-US" altLang="zh-CN" sz="2400" dirty="0"/>
              <a:t>Grad-CAM</a:t>
            </a:r>
          </a:p>
          <a:p>
            <a:endParaRPr lang="en-US" altLang="zh-CN" sz="2400" dirty="0"/>
          </a:p>
          <a:p>
            <a:r>
              <a:rPr lang="zh-CN" altLang="en-US" sz="2400" dirty="0"/>
              <a:t>弱监督</a:t>
            </a:r>
            <a:r>
              <a:rPr lang="en-US" altLang="zh-CN" sz="2400" dirty="0"/>
              <a:t>CD</a:t>
            </a:r>
          </a:p>
          <a:p>
            <a:pPr lvl="1"/>
            <a:r>
              <a:rPr lang="en-US" altLang="zh-CN" sz="2000" dirty="0"/>
              <a:t>BDFR-Net</a:t>
            </a:r>
          </a:p>
          <a:p>
            <a:pPr lvl="1"/>
            <a:r>
              <a:rPr lang="en-US" altLang="zh-CN" sz="2000" dirty="0" err="1"/>
              <a:t>SSCMNet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TransWCD</a:t>
            </a:r>
            <a:endParaRPr lang="en-US" altLang="zh-CN" sz="2000" dirty="0"/>
          </a:p>
          <a:p>
            <a:pPr lvl="1"/>
            <a:r>
              <a:rPr lang="en-US" altLang="zh-CN" sz="2000" dirty="0"/>
              <a:t>KD-MSI</a:t>
            </a:r>
          </a:p>
          <a:p>
            <a:pPr lvl="1"/>
            <a:r>
              <a:rPr lang="en-US" altLang="zh-CN" sz="2000" dirty="0" err="1"/>
              <a:t>BGMix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8146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7ECD7-0D3D-34A4-E78A-A2E57605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4F0DAF8-AEA8-F131-931F-1F68FA52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CAM</a:t>
            </a:r>
            <a:r>
              <a:rPr lang="zh-CN" altLang="en-US" dirty="0"/>
              <a:t>和</a:t>
            </a:r>
            <a:r>
              <a:rPr lang="en-US" altLang="zh-CN" dirty="0"/>
              <a:t>Grad-CAM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21F99B-42CA-56FE-E226-02931EBEDC98}"/>
              </a:ext>
            </a:extLst>
          </p:cNvPr>
          <p:cNvSpPr txBox="1"/>
          <p:nvPr/>
        </p:nvSpPr>
        <p:spPr>
          <a:xfrm>
            <a:off x="8111611" y="1396182"/>
            <a:ext cx="33449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全局平均池化层不仅是一个正则化器，更是保留和暴露</a:t>
            </a:r>
            <a:r>
              <a:rPr lang="en-US" altLang="zh-CN" dirty="0"/>
              <a:t>CNN</a:t>
            </a:r>
            <a:r>
              <a:rPr lang="zh-CN" altLang="en-US" dirty="0"/>
              <a:t>“注意力”的关键。</a:t>
            </a:r>
            <a:endParaRPr lang="en-US" altLang="zh-CN" dirty="0"/>
          </a:p>
          <a:p>
            <a:r>
              <a:rPr lang="en-US" altLang="zh-CN" dirty="0"/>
              <a:t>CNN</a:t>
            </a:r>
            <a:r>
              <a:rPr lang="zh-CN" altLang="en-US" dirty="0"/>
              <a:t>中的特征图的</a:t>
            </a:r>
            <a:r>
              <a:rPr lang="zh-CN" altLang="en-US" dirty="0">
                <a:solidFill>
                  <a:srgbClr val="891D86"/>
                </a:solidFill>
              </a:rPr>
              <a:t>激活状态</a:t>
            </a:r>
            <a:r>
              <a:rPr lang="zh-CN" altLang="en-US" dirty="0"/>
              <a:t>可以用来进行</a:t>
            </a:r>
            <a:r>
              <a:rPr lang="zh-CN" altLang="en-US" dirty="0">
                <a:solidFill>
                  <a:srgbClr val="891D86"/>
                </a:solidFill>
              </a:rPr>
              <a:t>目标定位</a:t>
            </a:r>
            <a:r>
              <a:rPr lang="zh-CN" altLang="en-US" dirty="0"/>
              <a:t>，使用</a:t>
            </a:r>
            <a:r>
              <a:rPr lang="en-US" altLang="zh-CN" dirty="0"/>
              <a:t>GAP</a:t>
            </a:r>
            <a:r>
              <a:rPr lang="zh-CN" altLang="en-US" dirty="0"/>
              <a:t>获得每个通道的权重，再对每个通道的特征图加权获得</a:t>
            </a:r>
            <a:r>
              <a:rPr lang="en-US" altLang="zh-CN" dirty="0"/>
              <a:t>CAM</a:t>
            </a:r>
            <a:r>
              <a:rPr lang="zh-CN" altLang="en-US" dirty="0"/>
              <a:t>，用于目标定位。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但是模型中必须有</a:t>
            </a:r>
            <a:r>
              <a:rPr lang="en-US" altLang="zh-CN" sz="2000" dirty="0"/>
              <a:t>GAP</a:t>
            </a:r>
            <a:r>
              <a:rPr lang="zh-CN" altLang="en-US" sz="2000" dirty="0"/>
              <a:t>层，不能用于</a:t>
            </a:r>
            <a:r>
              <a:rPr lang="en-US" altLang="zh-CN" sz="2000" dirty="0"/>
              <a:t>FCN</a:t>
            </a:r>
          </a:p>
          <a:p>
            <a:endParaRPr lang="en-US" altLang="zh-CN" sz="2000" dirty="0"/>
          </a:p>
          <a:p>
            <a:r>
              <a:rPr lang="en-US" altLang="zh-CN" sz="2000" b="1" dirty="0"/>
              <a:t>Grad-CAM:</a:t>
            </a:r>
            <a:endParaRPr lang="zh-CN" altLang="en-US" sz="2000" dirty="0"/>
          </a:p>
          <a:p>
            <a:r>
              <a:rPr lang="en-US" altLang="zh-CN" sz="2000" dirty="0"/>
              <a:t>CAM</a:t>
            </a:r>
            <a:r>
              <a:rPr lang="zh-CN" altLang="en-US" sz="2000" dirty="0"/>
              <a:t>的推广，可以不用修改模型架构，对特征图求偏导，得到模型在某特征图对某类别的注意分布。</a:t>
            </a:r>
          </a:p>
        </p:txBody>
      </p:sp>
      <p:pic>
        <p:nvPicPr>
          <p:cNvPr id="5" name="图片 4" descr="图片包含 图示&#10;&#10;AI 生成的内容可能不正确。">
            <a:extLst>
              <a:ext uri="{FF2B5EF4-FFF2-40B4-BE49-F238E27FC236}">
                <a16:creationId xmlns:a16="http://schemas.microsoft.com/office/drawing/2014/main" id="{4D37B483-8229-222E-1F4D-1FEAFB4AA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10" y="1209369"/>
            <a:ext cx="7510759" cy="335202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78D2D9B-DAE0-0EF1-E07A-0E68C6885C64}"/>
              </a:ext>
            </a:extLst>
          </p:cNvPr>
          <p:cNvSpPr txBox="1"/>
          <p:nvPr/>
        </p:nvSpPr>
        <p:spPr>
          <a:xfrm>
            <a:off x="595262" y="4886633"/>
            <a:ext cx="70542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CAM</a:t>
            </a:r>
            <a:r>
              <a:rPr lang="zh-CN" altLang="en-US" sz="2000" dirty="0"/>
              <a:t>更倾向于标注实例的中心和大致位置，不能给出精确的轮廓，所以基于</a:t>
            </a:r>
            <a:r>
              <a:rPr lang="en-US" altLang="zh-CN" sz="2000" dirty="0"/>
              <a:t>CAM</a:t>
            </a:r>
            <a:r>
              <a:rPr lang="zh-CN" altLang="en-US" sz="2000" dirty="0"/>
              <a:t>伪标签的</a:t>
            </a:r>
            <a:r>
              <a:rPr lang="en-US" altLang="zh-CN" sz="2000" dirty="0"/>
              <a:t>WSCD</a:t>
            </a:r>
            <a:r>
              <a:rPr lang="zh-CN" altLang="en-US" sz="2000" dirty="0"/>
              <a:t>方法关注对</a:t>
            </a:r>
            <a:r>
              <a:rPr lang="en-US" altLang="zh-CN" sz="2000" dirty="0"/>
              <a:t>CAM</a:t>
            </a:r>
            <a:r>
              <a:rPr lang="zh-CN" altLang="en-US" sz="2000" dirty="0"/>
              <a:t>图的精炼和优化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70890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4141-898F-1280-70C4-47510500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E1B7A-3701-2355-6AD2-14676559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BDFR-Net</a:t>
            </a:r>
            <a:endParaRPr lang="zh-CN" altLang="en-US" dirty="0"/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7F376578-0108-E96E-F465-BE0306B7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9620"/>
            <a:ext cx="8242994" cy="41146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10A6A9F-82B2-6537-3FB3-7EB512FB1330}"/>
              </a:ext>
            </a:extLst>
          </p:cNvPr>
          <p:cNvSpPr txBox="1"/>
          <p:nvPr/>
        </p:nvSpPr>
        <p:spPr>
          <a:xfrm>
            <a:off x="8495071" y="2467898"/>
            <a:ext cx="33449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BDR</a:t>
            </a:r>
            <a:r>
              <a:rPr lang="zh-CN" altLang="en-US" sz="2000" dirty="0"/>
              <a:t>：与</a:t>
            </a:r>
            <a:r>
              <a:rPr lang="en-US" altLang="zh-CN" sz="2000" dirty="0"/>
              <a:t>FCD-GAN</a:t>
            </a:r>
            <a:r>
              <a:rPr lang="zh-CN" altLang="en-US" sz="2000" dirty="0"/>
              <a:t>类似，排除变化的区域后，模型应该可以把一个时相的图像重建为另一个时相的图像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FRL</a:t>
            </a:r>
            <a:r>
              <a:rPr lang="zh-CN" altLang="en-US" sz="2000" dirty="0"/>
              <a:t>：多尺度图像生成多尺度的</a:t>
            </a:r>
            <a:r>
              <a:rPr lang="en-US" altLang="zh-CN" sz="2000" dirty="0"/>
              <a:t>CAM</a:t>
            </a:r>
            <a:r>
              <a:rPr lang="zh-CN" altLang="en-US" sz="2000" dirty="0"/>
              <a:t>，通过亲和力学习维持训练的稳定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18865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4621-DE4B-D170-0914-BE40F8F9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030B6C-4AB5-4BDE-A8AB-65794CEE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SSCMNet</a:t>
            </a:r>
            <a:endParaRPr lang="zh-CN" altLang="en-US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C99B88A8-3D44-B187-2821-6FE9C42D5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34" y="1039012"/>
            <a:ext cx="11336332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08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2D67-F78E-200C-4835-1B8A8F6A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7D71E94-AB39-D17A-D364-DE6E38F1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SSCMNet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1211D86F-6A3B-DAD6-4A9F-E0DAB2A30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820" y="1355757"/>
            <a:ext cx="5601482" cy="46774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62859DD-9A5C-77F2-A6D8-5BDDCFAAE24D}"/>
              </a:ext>
            </a:extLst>
          </p:cNvPr>
          <p:cNvSpPr txBox="1"/>
          <p:nvPr/>
        </p:nvSpPr>
        <p:spPr>
          <a:xfrm>
            <a:off x="7767484" y="2338540"/>
            <a:ext cx="33449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FCD-GAN</a:t>
            </a:r>
            <a:r>
              <a:rPr lang="zh-CN" altLang="en-US" sz="2000" dirty="0"/>
              <a:t>：排除变化区域后，模型可以从一个时相的图像重建到另一个时相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CMG</a:t>
            </a:r>
            <a:r>
              <a:rPr lang="zh-CN" altLang="en-US" sz="2000" dirty="0"/>
              <a:t>模块：对于双时相图像，预测为变化区域的特征图差异应该大，非变化区域的特征图差异应该小，提供损失辅助特征提取器的训练</a:t>
            </a:r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653434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A35C-664F-EF0A-1BF1-65E4FF8E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B982D8-F727-DC5B-FE11-707EC2C0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SSCMNet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213E66-9098-6D1E-2430-AD856100B5AA}"/>
              </a:ext>
            </a:extLst>
          </p:cNvPr>
          <p:cNvSpPr txBox="1"/>
          <p:nvPr/>
        </p:nvSpPr>
        <p:spPr>
          <a:xfrm>
            <a:off x="6961240" y="1886257"/>
            <a:ext cx="41511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APP</a:t>
            </a:r>
            <a:r>
              <a:rPr lang="zh-CN" altLang="en-US" sz="2000" dirty="0"/>
              <a:t>模块：基于先验知识的后处理，让预测图边缘更清晰，减少噪点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比较预测图与特征图的相似性，选择</a:t>
            </a:r>
            <a:r>
              <a:rPr lang="en-US" altLang="zh-CN" sz="2000" dirty="0" err="1"/>
              <a:t>denseCRF</a:t>
            </a:r>
            <a:r>
              <a:rPr lang="zh-CN" altLang="en-US" sz="2000" dirty="0"/>
              <a:t>依据的原始图像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denseCRF</a:t>
            </a:r>
            <a:r>
              <a:rPr lang="zh-CN" altLang="en-US" sz="2000" dirty="0"/>
              <a:t>：最终的预测结果不仅与输入的预测图的预测有关，而且与周围像素的预测有关，在原始图像上距离且颜色相近的像素倾向于使用相同的标签</a:t>
            </a:r>
            <a:endParaRPr lang="en-US" altLang="zh-CN" sz="2000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31332373-E8F2-6E05-86AA-9A3AE8478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0" y="1185549"/>
            <a:ext cx="5611008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15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3355-EBFA-8B4B-071B-DF124397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519539-7A55-C63C-23B0-86CA22E4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TransWCD</a:t>
            </a:r>
            <a:endParaRPr lang="zh-CN" alt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D9012E85-6EF2-B73A-6F66-D8BF93CED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12" y="1252233"/>
            <a:ext cx="1164117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13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434C-45FA-8F0A-8E02-B12AAF6F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769EB6-B0BA-ABF7-0DC9-2B065A8E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KD-MSI</a:t>
            </a:r>
            <a:endParaRPr lang="zh-CN" altLang="en-US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488E7FDB-2D19-BD4A-33A2-0B7F4D51F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39012"/>
            <a:ext cx="6721270" cy="47308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EDCFBA-8658-6A1A-AD41-4C71B7F0E8D4}"/>
              </a:ext>
            </a:extLst>
          </p:cNvPr>
          <p:cNvSpPr txBox="1"/>
          <p:nvPr/>
        </p:nvSpPr>
        <p:spPr>
          <a:xfrm>
            <a:off x="7806814" y="1041168"/>
            <a:ext cx="415116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提供一个伪标签来训练</a:t>
            </a:r>
            <a:r>
              <a:rPr lang="en-US" altLang="zh-CN" sz="2000" dirty="0"/>
              <a:t>DeepLabv3+</a:t>
            </a:r>
            <a:r>
              <a:rPr lang="zh-CN" altLang="en-US" sz="2000" dirty="0"/>
              <a:t>改造的</a:t>
            </a:r>
            <a:r>
              <a:rPr lang="en-US" altLang="zh-CN" sz="2000" dirty="0"/>
              <a:t>CD</a:t>
            </a:r>
            <a:r>
              <a:rPr lang="zh-CN" altLang="en-US" sz="2000" dirty="0"/>
              <a:t>模型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b="1" dirty="0"/>
              <a:t>KD</a:t>
            </a:r>
            <a:r>
              <a:rPr lang="zh-CN" altLang="zh-CN" b="1" dirty="0"/>
              <a:t>：知识蒸馏方式：</a:t>
            </a:r>
            <a:endParaRPr lang="zh-CN" altLang="zh-CN" dirty="0"/>
          </a:p>
          <a:p>
            <a:r>
              <a:rPr lang="zh-CN" altLang="zh-CN" dirty="0"/>
              <a:t>使用一个学生网络，以相比更大的教师网络输出的软标签来训练，学习到更丰富以及鲁棒的特征。</a:t>
            </a:r>
          </a:p>
          <a:p>
            <a:r>
              <a:rPr lang="zh-CN" altLang="zh-CN" dirty="0"/>
              <a:t>教师网络：使用硬标签训练，输出预测的软标签</a:t>
            </a:r>
            <a:endParaRPr lang="en-US" altLang="zh-CN" dirty="0"/>
          </a:p>
          <a:p>
            <a:r>
              <a:rPr lang="zh-CN" altLang="zh-CN" dirty="0"/>
              <a:t>学生网络：使用一样的数据集，但用软标签来训练；这可以提高学生网络的泛化能力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教师网络使用</a:t>
            </a:r>
            <a:r>
              <a:rPr lang="en-US" altLang="zh-CN" dirty="0"/>
              <a:t>min-max</a:t>
            </a:r>
            <a:r>
              <a:rPr lang="zh-CN" altLang="zh-CN" dirty="0"/>
              <a:t>归一化，增加特征之间的差异，能够表示更多语义信息；学生网络使用</a:t>
            </a:r>
            <a:r>
              <a:rPr lang="en-US" altLang="zh-CN" dirty="0"/>
              <a:t>sigmoid</a:t>
            </a:r>
            <a:r>
              <a:rPr lang="zh-CN" altLang="zh-CN" dirty="0"/>
              <a:t>归一化，输出的预测图更平滑集中，利于作为伪标签</a:t>
            </a:r>
          </a:p>
          <a:p>
            <a:r>
              <a:rPr lang="zh-CN" altLang="zh-CN" dirty="0"/>
              <a:t>教师网络只在训练时使用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sz="2000" dirty="0"/>
              <a:t>MSI</a:t>
            </a:r>
            <a:r>
              <a:rPr lang="zh-CN" altLang="en-US" sz="2000" dirty="0"/>
              <a:t>：多</a:t>
            </a:r>
            <a:r>
              <a:rPr lang="en-US" altLang="zh-CN" sz="2000" dirty="0"/>
              <a:t>sigmoid</a:t>
            </a:r>
            <a:r>
              <a:rPr lang="zh-CN" altLang="en-US" sz="2000" dirty="0"/>
              <a:t>推理</a:t>
            </a: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0FEA14-BE66-5FC7-6290-2231F1AA246E}"/>
              </a:ext>
            </a:extLst>
          </p:cNvPr>
          <p:cNvSpPr txBox="1"/>
          <p:nvPr/>
        </p:nvSpPr>
        <p:spPr>
          <a:xfrm>
            <a:off x="667672" y="5779616"/>
            <a:ext cx="6096000" cy="71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>
              <a:lnSpc>
                <a:spcPct val="115000"/>
              </a:lnSpc>
              <a:buNone/>
            </a:pPr>
            <a:r>
              <a:rPr lang="en-US" altLang="zh-CN" sz="18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CAM</a:t>
            </a:r>
            <a:r>
              <a:rPr lang="zh-CN" altLang="zh-CN" sz="18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粗糙、三阶段耗时，单向传播，不反向优化，训练一个通用特征提取器</a:t>
            </a:r>
            <a:r>
              <a:rPr lang="zh-CN" altLang="en-US" i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或者集成到完整模型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13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7B74B-166E-9FF5-0EDF-5084BFF1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9F2052-61CD-9015-A813-4A07CB2A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BGMix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09CCF6-1598-AC30-8922-0E368D9AD83E}"/>
              </a:ext>
            </a:extLst>
          </p:cNvPr>
          <p:cNvSpPr txBox="1"/>
          <p:nvPr/>
        </p:nvSpPr>
        <p:spPr>
          <a:xfrm>
            <a:off x="7895303" y="1997839"/>
            <a:ext cx="4151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数据增强的方式：维护一个背景数据集</a:t>
            </a:r>
            <a:r>
              <a:rPr lang="en-US" altLang="zh-CN" sz="2000" dirty="0"/>
              <a:t>B</a:t>
            </a:r>
            <a:r>
              <a:rPr lang="zh-CN" altLang="en-US" sz="2000" dirty="0"/>
              <a:t>，将训练数据集的图像对背景按照</a:t>
            </a:r>
            <a:r>
              <a:rPr lang="en-US" altLang="zh-CN" sz="2000" dirty="0"/>
              <a:t>Mask</a:t>
            </a:r>
            <a:r>
              <a:rPr lang="zh-CN" altLang="en-US" sz="2000" dirty="0"/>
              <a:t>替换成</a:t>
            </a:r>
            <a:r>
              <a:rPr lang="en-US" altLang="zh-CN" sz="2000" dirty="0"/>
              <a:t>B</a:t>
            </a:r>
            <a:r>
              <a:rPr lang="zh-CN" altLang="en-US" sz="2000" dirty="0"/>
              <a:t>中的背景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损失函数设计：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原始图像对与增强图像对的预测结果一致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原始图像与增强图像的差异尽可能大</a:t>
            </a:r>
            <a:endParaRPr lang="en-US" altLang="zh-CN" sz="2000" dirty="0"/>
          </a:p>
        </p:txBody>
      </p:sp>
      <p:pic>
        <p:nvPicPr>
          <p:cNvPr id="5" name="图片 4" descr="图示, 工程绘图&#10;&#10;AI 生成的内容可能不正确。">
            <a:extLst>
              <a:ext uri="{FF2B5EF4-FFF2-40B4-BE49-F238E27FC236}">
                <a16:creationId xmlns:a16="http://schemas.microsoft.com/office/drawing/2014/main" id="{83AD7DAA-95F6-55E0-26CC-78A7FEAB0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37" y="1444064"/>
            <a:ext cx="7661277" cy="383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84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68B1A-3557-7064-D577-C1675094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04A0B2-FC39-7AAA-9F66-8A9D5A78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1894FC-7B03-17F9-D009-8762087AD6BB}"/>
              </a:ext>
            </a:extLst>
          </p:cNvPr>
          <p:cNvSpPr txBox="1"/>
          <p:nvPr/>
        </p:nvSpPr>
        <p:spPr>
          <a:xfrm>
            <a:off x="975236" y="2405696"/>
            <a:ext cx="99189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如何对齐特征表示，包括光谱和空间变化</a:t>
            </a:r>
            <a:endParaRPr lang="en-US" altLang="zh-CN" dirty="0"/>
          </a:p>
          <a:p>
            <a:pPr lvl="1"/>
            <a:r>
              <a:rPr lang="zh-CN" altLang="zh-CN" dirty="0"/>
              <a:t>特征交互（跨时相建模，</a:t>
            </a:r>
            <a:r>
              <a:rPr lang="en-US" altLang="zh-CN" dirty="0"/>
              <a:t>SE</a:t>
            </a:r>
            <a:r>
              <a:rPr lang="zh-CN" altLang="zh-CN" dirty="0"/>
              <a:t>），基于度量</a:t>
            </a:r>
            <a:r>
              <a:rPr lang="zh-CN" altLang="en-US" dirty="0"/>
              <a:t>映射到特征空间</a:t>
            </a:r>
            <a:r>
              <a:rPr lang="zh-CN" altLang="zh-CN" dirty="0"/>
              <a:t>，数据增强自我监督（弱监督中的数据增强），显式的空间变化学习</a:t>
            </a:r>
          </a:p>
          <a:p>
            <a:r>
              <a:rPr lang="zh-CN" altLang="zh-CN" dirty="0"/>
              <a:t>高分辨率的输出图，细粒度的表示</a:t>
            </a:r>
            <a:r>
              <a:rPr lang="zh-CN" altLang="en-US" dirty="0"/>
              <a:t>，清晰的边界</a:t>
            </a:r>
            <a:endParaRPr lang="en-US" altLang="zh-CN" dirty="0"/>
          </a:p>
          <a:p>
            <a:pPr lvl="1"/>
            <a:r>
              <a:rPr lang="zh-CN" altLang="zh-CN" dirty="0"/>
              <a:t>层次化特征（金字塔，缩放，</a:t>
            </a:r>
            <a:r>
              <a:rPr lang="en-US" altLang="zh-CN" dirty="0"/>
              <a:t>PSP Pooling</a:t>
            </a:r>
            <a:r>
              <a:rPr lang="zh-CN" altLang="zh-CN" dirty="0"/>
              <a:t>，并行空洞卷积，多尺度缩放分别通过网络）</a:t>
            </a:r>
            <a:endParaRPr lang="en-US" altLang="zh-CN" dirty="0"/>
          </a:p>
          <a:p>
            <a:pPr lvl="1"/>
            <a:r>
              <a:rPr lang="zh-CN" altLang="zh-CN" dirty="0"/>
              <a:t>自底向上融合，前景和背景的辅助训练，后处理如</a:t>
            </a:r>
            <a:r>
              <a:rPr lang="en-US" altLang="zh-CN" dirty="0" err="1"/>
              <a:t>DenseCRF</a:t>
            </a:r>
            <a:r>
              <a:rPr lang="zh-CN" altLang="zh-CN" dirty="0"/>
              <a:t>，池化下采样换成空洞卷积</a:t>
            </a:r>
          </a:p>
          <a:p>
            <a:pPr lvl="1"/>
            <a:r>
              <a:rPr lang="zh-CN" altLang="zh-CN" dirty="0"/>
              <a:t>边界细化实验</a:t>
            </a:r>
            <a:r>
              <a:rPr lang="zh-CN" altLang="en-US" dirty="0"/>
              <a:t>评估</a:t>
            </a:r>
            <a:r>
              <a:rPr lang="en-US" altLang="zh-CN" dirty="0" err="1"/>
              <a:t>Trimap</a:t>
            </a:r>
            <a:endParaRPr lang="zh-CN" altLang="zh-CN" dirty="0"/>
          </a:p>
          <a:p>
            <a:r>
              <a:rPr lang="zh-CN" altLang="zh-CN" dirty="0"/>
              <a:t>图像级标签（</a:t>
            </a:r>
            <a:r>
              <a:rPr lang="en-US" altLang="zh-CN" dirty="0"/>
              <a:t>CAM</a:t>
            </a:r>
            <a:r>
              <a:rPr lang="zh-CN" altLang="zh-CN" dirty="0"/>
              <a:t>提供伪标签）</a:t>
            </a:r>
          </a:p>
        </p:txBody>
      </p:sp>
    </p:spTree>
    <p:extLst>
      <p:ext uri="{BB962C8B-B14F-4D97-AF65-F5344CB8AC3E}">
        <p14:creationId xmlns:p14="http://schemas.microsoft.com/office/powerpoint/2010/main" val="909078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8F2EC-8247-DE55-A403-4806821C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4049981-4F01-AF8B-FE01-5571B298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000FC6-F858-4BC6-664E-90DC256CAA46}"/>
              </a:ext>
            </a:extLst>
          </p:cNvPr>
          <p:cNvSpPr txBox="1"/>
          <p:nvPr/>
        </p:nvSpPr>
        <p:spPr>
          <a:xfrm>
            <a:off x="562282" y="1039012"/>
            <a:ext cx="1080380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CD</a:t>
            </a:r>
            <a:r>
              <a:rPr lang="zh-CN" altLang="en-US" sz="2000" dirty="0"/>
              <a:t>的本质是</a:t>
            </a:r>
            <a:r>
              <a:rPr lang="en-US" altLang="zh-CN" sz="2000" dirty="0"/>
              <a:t>SS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zh-CN" altLang="en-US" sz="2000" dirty="0"/>
              <a:t>相似的模型架构：全卷积</a:t>
            </a:r>
            <a:r>
              <a:rPr lang="en-US" altLang="zh-CN" sz="2000" dirty="0"/>
              <a:t>+</a:t>
            </a:r>
            <a:r>
              <a:rPr lang="zh-CN" altLang="en-US" sz="2000" dirty="0"/>
              <a:t>下采样上采样结构</a:t>
            </a:r>
            <a:endParaRPr lang="en-US" altLang="zh-CN" sz="2000" dirty="0"/>
          </a:p>
          <a:p>
            <a:pPr lvl="1"/>
            <a:r>
              <a:rPr lang="zh-CN" altLang="en-US" sz="2000" dirty="0"/>
              <a:t>共同面对的挑战：</a:t>
            </a:r>
            <a:endParaRPr lang="en-US" altLang="zh-CN" sz="2000" dirty="0"/>
          </a:p>
          <a:p>
            <a:pPr lvl="2"/>
            <a:r>
              <a:rPr lang="zh-CN" altLang="en-US" sz="2000" dirty="0"/>
              <a:t>分辨率和语义的权衡（层次化特征）</a:t>
            </a:r>
            <a:endParaRPr lang="en-US" altLang="zh-CN" sz="2000" dirty="0"/>
          </a:p>
          <a:p>
            <a:pPr lvl="2"/>
            <a:r>
              <a:rPr lang="zh-CN" altLang="en-US" sz="2000" dirty="0"/>
              <a:t>精确的分割边界</a:t>
            </a:r>
            <a:endParaRPr lang="en-US" altLang="zh-CN" sz="2000" dirty="0"/>
          </a:p>
          <a:p>
            <a:pPr lvl="2"/>
            <a:r>
              <a:rPr lang="zh-CN" altLang="en-US" sz="2000" dirty="0"/>
              <a:t>类别不平衡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r>
              <a:rPr lang="zh-CN" altLang="en-US" sz="2000" dirty="0"/>
              <a:t>可以通过改造</a:t>
            </a:r>
            <a:r>
              <a:rPr lang="en-US" altLang="zh-CN" sz="2000" dirty="0"/>
              <a:t>SS</a:t>
            </a:r>
            <a:r>
              <a:rPr lang="zh-CN" altLang="en-US" sz="2000" dirty="0"/>
              <a:t>模型为双分支结构来处理</a:t>
            </a:r>
            <a:r>
              <a:rPr lang="en-US" altLang="zh-CN" sz="2000" dirty="0"/>
              <a:t>CD</a:t>
            </a:r>
            <a:r>
              <a:rPr lang="zh-CN" altLang="en-US" sz="2000" dirty="0"/>
              <a:t>任务，</a:t>
            </a:r>
            <a:endParaRPr lang="en-US" altLang="zh-CN" sz="2000" dirty="0"/>
          </a:p>
          <a:p>
            <a:r>
              <a:rPr lang="zh-CN" altLang="en-US" sz="2000" dirty="0"/>
              <a:t>但不适用于所有情况，因为</a:t>
            </a:r>
            <a:r>
              <a:rPr lang="en-US" altLang="zh-CN" sz="2000" dirty="0"/>
              <a:t>CD</a:t>
            </a:r>
            <a:r>
              <a:rPr lang="zh-CN" altLang="en-US" sz="2000" dirty="0"/>
              <a:t>在此基础上带来新的挑战：</a:t>
            </a:r>
            <a:endParaRPr lang="en-US" altLang="zh-CN" sz="2000" dirty="0"/>
          </a:p>
          <a:p>
            <a:pPr lvl="1"/>
            <a:r>
              <a:rPr lang="zh-CN" altLang="en-US" sz="2000" dirty="0"/>
              <a:t>如何识别目标变化和无关变化</a:t>
            </a:r>
            <a:endParaRPr lang="en-US" altLang="zh-CN" sz="2000" dirty="0"/>
          </a:p>
          <a:p>
            <a:pPr lvl="1"/>
            <a:r>
              <a:rPr lang="en-US" altLang="zh-CN" sz="2000" dirty="0"/>
              <a:t>-&gt;</a:t>
            </a:r>
            <a:r>
              <a:rPr lang="zh-CN" altLang="zh-CN" sz="2000" dirty="0"/>
              <a:t>如何</a:t>
            </a:r>
            <a:r>
              <a:rPr lang="zh-CN" altLang="zh-CN" sz="2000" dirty="0">
                <a:solidFill>
                  <a:srgbClr val="891D86"/>
                </a:solidFill>
              </a:rPr>
              <a:t>对齐特征表示</a:t>
            </a:r>
            <a:r>
              <a:rPr lang="zh-CN" altLang="zh-CN" sz="2000" dirty="0"/>
              <a:t>，包括光谱和空间变化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000" dirty="0"/>
              <a:t>图像级标签的弱监督变化检测在此基础上带来新的挑战：</a:t>
            </a:r>
            <a:endParaRPr lang="en-US" altLang="zh-CN" sz="2000" dirty="0"/>
          </a:p>
          <a:p>
            <a:pPr lvl="1"/>
            <a:r>
              <a:rPr lang="zh-CN" altLang="en-US" sz="2000" dirty="0"/>
              <a:t>缺少像素级标签来约束训练</a:t>
            </a:r>
            <a:endParaRPr lang="en-US" altLang="zh-CN" sz="2000" dirty="0"/>
          </a:p>
          <a:p>
            <a:pPr lvl="1"/>
            <a:r>
              <a:rPr lang="en-US" altLang="zh-CN" sz="2000" dirty="0"/>
              <a:t>-&gt;</a:t>
            </a:r>
            <a:r>
              <a:rPr lang="zh-CN" altLang="en-US" sz="2000" dirty="0"/>
              <a:t>比如通过</a:t>
            </a:r>
            <a:r>
              <a:rPr lang="en-US" altLang="zh-CN" sz="2000" dirty="0">
                <a:solidFill>
                  <a:srgbClr val="891D86"/>
                </a:solidFill>
              </a:rPr>
              <a:t>CAM</a:t>
            </a:r>
            <a:r>
              <a:rPr lang="zh-CN" altLang="en-US" sz="2000" dirty="0">
                <a:solidFill>
                  <a:srgbClr val="891D86"/>
                </a:solidFill>
              </a:rPr>
              <a:t>提供伪标签</a:t>
            </a:r>
            <a:endParaRPr lang="en-US" altLang="zh-CN" sz="2000" dirty="0">
              <a:solidFill>
                <a:srgbClr val="891D86"/>
              </a:solidFill>
            </a:endParaRPr>
          </a:p>
          <a:p>
            <a:pPr lvl="1"/>
            <a:endParaRPr lang="en-US" altLang="zh-CN" sz="2000" dirty="0">
              <a:solidFill>
                <a:srgbClr val="891D86"/>
              </a:solidFill>
            </a:endParaRPr>
          </a:p>
          <a:p>
            <a:r>
              <a:rPr lang="en-US" altLang="zh-CN" sz="2000" dirty="0"/>
              <a:t>CAM</a:t>
            </a:r>
            <a:r>
              <a:rPr lang="zh-CN" altLang="en-US" sz="2000" dirty="0"/>
              <a:t>伪标签的优化（更清晰的边界），解码器，考虑前景和背景的辅助任务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528158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10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38100"/>
            <a:ext cx="12192000" cy="6991350"/>
          </a:xfrm>
          <a:prstGeom prst="rect">
            <a:avLst/>
          </a:prstGeom>
          <a:gradFill flip="none" rotWithShape="1">
            <a:gsLst>
              <a:gs pos="51000">
                <a:srgbClr val="891D86"/>
              </a:gs>
              <a:gs pos="99083">
                <a:schemeClr val="bg1">
                  <a:alpha val="0"/>
                </a:schemeClr>
              </a:gs>
              <a:gs pos="66000">
                <a:srgbClr val="891D86">
                  <a:alpha val="28000"/>
                </a:srgbClr>
              </a:gs>
              <a:gs pos="0">
                <a:srgbClr val="891D8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0" y="2769478"/>
            <a:ext cx="12192000" cy="95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感谢聆听！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581150" y="4496299"/>
            <a:ext cx="864409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汇  报  人：</a:t>
            </a:r>
            <a:r>
              <a:rPr lang="zh-CN" altLang="en-US" sz="2400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夏泽宇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指  导  老  师：</a:t>
            </a:r>
            <a:r>
              <a:rPr lang="zh-CN" altLang="en-US" sz="2400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刘芳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8757996" y="5655104"/>
            <a:ext cx="2934494" cy="675437"/>
            <a:chOff x="-2189163" y="-1093788"/>
            <a:chExt cx="5924551" cy="1363663"/>
          </a:xfrm>
          <a:solidFill>
            <a:schemeClr val="bg1"/>
          </a:solidFill>
        </p:grpSpPr>
        <p:sp>
          <p:nvSpPr>
            <p:cNvPr id="69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3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4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6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7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8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9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0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1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2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3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4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5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6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7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9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0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9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2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3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4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5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6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8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9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0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1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2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3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4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5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6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7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8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9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0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1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2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3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4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7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8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9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8214;#78993;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黑体 CN Heavy"/>
        <a:cs typeface=""/>
      </a:majorFont>
      <a:minorFont>
        <a:latin typeface="Times New Roman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3083</TotalTime>
  <Words>2403</Words>
  <Application>Microsoft Office PowerPoint</Application>
  <PresentationFormat>宽屏</PresentationFormat>
  <Paragraphs>303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等线</vt:lpstr>
      <vt:lpstr>等线 Light</vt:lpstr>
      <vt:lpstr>思源黑体 CN Heavy</vt:lpstr>
      <vt:lpstr>思源黑体 CN Regular</vt:lpstr>
      <vt:lpstr>Arial</vt:lpstr>
      <vt:lpstr>Times New Roman</vt:lpstr>
      <vt:lpstr>自定义设计方案</vt:lpstr>
      <vt:lpstr>Office 主题​​</vt:lpstr>
      <vt:lpstr>1_OfficePLUS</vt:lpstr>
      <vt:lpstr>PowerPoint 演示文稿</vt:lpstr>
      <vt:lpstr>问题定义</vt:lpstr>
      <vt:lpstr>基本模型架构</vt:lpstr>
      <vt:lpstr>基本模型架构</vt:lpstr>
      <vt:lpstr>语义分割</vt:lpstr>
      <vt:lpstr>FCN</vt:lpstr>
      <vt:lpstr>U-net</vt:lpstr>
      <vt:lpstr>语义分割</vt:lpstr>
      <vt:lpstr>ResUnet-a</vt:lpstr>
      <vt:lpstr>ResUnet-a</vt:lpstr>
      <vt:lpstr>ResUnet-a</vt:lpstr>
      <vt:lpstr>ResUnet-a</vt:lpstr>
      <vt:lpstr>ResUnet-a</vt:lpstr>
      <vt:lpstr>DeepLabv3+</vt:lpstr>
      <vt:lpstr>DeepLabv3+</vt:lpstr>
      <vt:lpstr>DeepLabv3+</vt:lpstr>
      <vt:lpstr>语义分割-&gt;变化检测</vt:lpstr>
      <vt:lpstr>STANet</vt:lpstr>
      <vt:lpstr>KFNet</vt:lpstr>
      <vt:lpstr>KFNet</vt:lpstr>
      <vt:lpstr>KFNet</vt:lpstr>
      <vt:lpstr>FSCD</vt:lpstr>
      <vt:lpstr>FSCD-&gt;WSCD</vt:lpstr>
      <vt:lpstr>WSCD</vt:lpstr>
      <vt:lpstr>CAM和Grad-CAM</vt:lpstr>
      <vt:lpstr>BDFR-Net</vt:lpstr>
      <vt:lpstr>SSCMNet</vt:lpstr>
      <vt:lpstr>SSCMNet</vt:lpstr>
      <vt:lpstr>SSCMNet</vt:lpstr>
      <vt:lpstr>TransWCD</vt:lpstr>
      <vt:lpstr>KD-MSI</vt:lpstr>
      <vt:lpstr>BGMix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cocosunry</dc:creator>
  <cp:lastModifiedBy>2755644025@qq.com</cp:lastModifiedBy>
  <cp:revision>187</cp:revision>
  <dcterms:created xsi:type="dcterms:W3CDTF">2020-04-10T14:58:00Z</dcterms:created>
  <dcterms:modified xsi:type="dcterms:W3CDTF">2026-01-08T14:46:30Z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E2E9EA5297184991A38B7EA6C0F68501_13</vt:lpwstr>
  </property>
  <property fmtid="{D5CDD505-2E9C-101B-9397-08002B2CF9AE}" pid="3" name="KSOProductBuildVer">
    <vt:lpwstr>2052-12.1.0.16388</vt:lpwstr>
  </property>
</Properties>
</file>