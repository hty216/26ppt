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sldIdLst>
    <p:sldId id="256" r:id="rId3"/>
    <p:sldId id="439" r:id="rId4"/>
    <p:sldId id="398" r:id="rId5"/>
    <p:sldId id="379" r:id="rId6"/>
    <p:sldId id="381" r:id="rId7"/>
    <p:sldId id="424" r:id="rId8"/>
    <p:sldId id="383" r:id="rId9"/>
    <p:sldId id="418" r:id="rId10"/>
    <p:sldId id="384" r:id="rId11"/>
    <p:sldId id="392" r:id="rId12"/>
    <p:sldId id="405" r:id="rId13"/>
    <p:sldId id="426" r:id="rId14"/>
    <p:sldId id="427" r:id="rId15"/>
    <p:sldId id="388" r:id="rId16"/>
    <p:sldId id="407" r:id="rId17"/>
    <p:sldId id="429" r:id="rId18"/>
    <p:sldId id="430" r:id="rId19"/>
    <p:sldId id="433" r:id="rId20"/>
    <p:sldId id="438" r:id="rId21"/>
    <p:sldId id="399" r:id="rId22"/>
    <p:sldId id="389" r:id="rId23"/>
    <p:sldId id="390" r:id="rId24"/>
    <p:sldId id="391" r:id="rId25"/>
    <p:sldId id="443" r:id="rId26"/>
    <p:sldId id="442" r:id="rId27"/>
    <p:sldId id="437" r:id="rId28"/>
    <p:sldId id="397" r:id="rId29"/>
    <p:sldId id="371" r:id="rId30"/>
  </p:sldIdLst>
  <p:sldSz cx="12192000" cy="6858000"/>
  <p:notesSz cx="6858000" cy="9144000"/>
  <p:embeddedFontLst>
    <p:embeddedFont>
      <p:font typeface="Calibri" panose="020F0502020204030204" charset="0"/>
      <p:regular r:id="rId36"/>
      <p:bold r:id="rId37"/>
      <p:italic r:id="rId38"/>
      <p:boldItalic r:id="rId39"/>
    </p:embeddedFont>
  </p:embeddedFontLst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613148122" name="宋航" initials="宋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B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480" y="1002"/>
      </p:cViewPr>
      <p:guideLst>
        <p:guide orient="horz" pos="224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gs" Target="tags/tag1.xml"/><Relationship Id="rId4" Type="http://schemas.openxmlformats.org/officeDocument/2006/relationships/slide" Target="slides/slide2.xml"/><Relationship Id="rId39" Type="http://schemas.openxmlformats.org/officeDocument/2006/relationships/font" Target="fonts/font4.fntdata"/><Relationship Id="rId38" Type="http://schemas.openxmlformats.org/officeDocument/2006/relationships/font" Target="fonts/font3.fntdata"/><Relationship Id="rId37" Type="http://schemas.openxmlformats.org/officeDocument/2006/relationships/font" Target="fonts/font2.fntdata"/><Relationship Id="rId36" Type="http://schemas.openxmlformats.org/officeDocument/2006/relationships/font" Target="fonts/font1.fntdata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4B2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24719" y="474561"/>
            <a:ext cx="11308466" cy="6018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4B2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24719" y="474561"/>
            <a:ext cx="11308466" cy="6018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【公众号：阿拉丁PPT】_11"/>
          <p:cNvSpPr txBox="1"/>
          <p:nvPr userDrawn="1"/>
        </p:nvSpPr>
        <p:spPr>
          <a:xfrm>
            <a:off x="1556968" y="1637854"/>
            <a:ext cx="3041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 dirty="0">
                <a:solidFill>
                  <a:srgbClr val="D4B296">
                    <a:alpha val="45000"/>
                  </a:srgb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CONTENTS</a:t>
            </a:r>
            <a:endParaRPr lang="zh-CN" altLang="en-US" sz="3200" b="1" dirty="0">
              <a:solidFill>
                <a:srgbClr val="D4B296">
                  <a:alpha val="45000"/>
                </a:srgbClr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6" name="【公众号：阿拉丁PPT】_12"/>
          <p:cNvSpPr txBox="1"/>
          <p:nvPr userDrawn="1"/>
        </p:nvSpPr>
        <p:spPr>
          <a:xfrm>
            <a:off x="1994619" y="1849130"/>
            <a:ext cx="22138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3A466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目录</a:t>
            </a:r>
            <a:endParaRPr lang="zh-CN" altLang="en-US" sz="4000" b="1" spc="600" dirty="0">
              <a:solidFill>
                <a:srgbClr val="3A4660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7" name="【公众号：阿拉丁PPT】_13"/>
          <p:cNvSpPr/>
          <p:nvPr userDrawn="1"/>
        </p:nvSpPr>
        <p:spPr>
          <a:xfrm>
            <a:off x="2353362" y="3336169"/>
            <a:ext cx="2129987" cy="2207079"/>
          </a:xfrm>
          <a:prstGeom prst="rect">
            <a:avLst/>
          </a:prstGeom>
          <a:noFill/>
          <a:ln w="28575">
            <a:solidFill>
              <a:srgbClr val="D4B2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8" name="【公众号：阿拉丁PPT】_14"/>
          <p:cNvSpPr/>
          <p:nvPr userDrawn="1"/>
        </p:nvSpPr>
        <p:spPr>
          <a:xfrm>
            <a:off x="1830774" y="2813002"/>
            <a:ext cx="2435750" cy="253946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215900" dist="88900" dir="2700000" algn="tl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4B2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24719" y="474561"/>
            <a:ext cx="11308466" cy="6018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4B2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24719" y="474561"/>
            <a:ext cx="11308466" cy="6018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856527" y="856527"/>
            <a:ext cx="4213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请在此处输入标题</a:t>
            </a:r>
            <a:endParaRPr lang="zh-CN" alt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1AD17-DF23-4E4F-B1AC-211F2AB303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9CA4E-7FAC-4C93-8709-9A77590A06B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【公众号：阿拉丁PPT】_2"/>
          <p:cNvSpPr txBox="1"/>
          <p:nvPr/>
        </p:nvSpPr>
        <p:spPr>
          <a:xfrm>
            <a:off x="541655" y="2522220"/>
            <a:ext cx="113372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spc="300" dirty="0">
                <a:solidFill>
                  <a:srgbClr val="3A466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基于</a:t>
            </a:r>
            <a:r>
              <a:rPr lang="en-US" altLang="zh-CN" sz="6000" b="1" spc="300" dirty="0">
                <a:solidFill>
                  <a:srgbClr val="3A466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CLIP</a:t>
            </a:r>
            <a:r>
              <a:rPr lang="zh-CN" altLang="en-US" sz="6000" b="1" spc="300" dirty="0">
                <a:solidFill>
                  <a:srgbClr val="3A466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的遥感图像语义分割</a:t>
            </a:r>
            <a:endParaRPr lang="zh-CN" altLang="en-US" sz="6000" b="1" spc="300" dirty="0">
              <a:solidFill>
                <a:srgbClr val="3A466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77545" y="1103630"/>
            <a:ext cx="74898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闭集分割：最后一层通常是</a:t>
            </a:r>
            <a:r>
              <a:rPr lang="en-US" altLang="zh-CN"/>
              <a:t> 1</a:t>
            </a:r>
            <a:r>
              <a:rPr lang="en-US" altLang="en-US"/>
              <a:t>×</a:t>
            </a:r>
            <a:r>
              <a:rPr lang="en-US" altLang="zh-CN"/>
              <a:t>1 conv </a:t>
            </a:r>
            <a:r>
              <a:rPr lang="zh-CN" altLang="en-US"/>
              <a:t>或分类头，输出通道数固定为</a:t>
            </a:r>
            <a:r>
              <a:rPr lang="en-US" altLang="zh-CN"/>
              <a:t> K </a:t>
            </a:r>
            <a:r>
              <a:rPr lang="zh-CN" altLang="en-US"/>
              <a:t>类。推理时只能在这</a:t>
            </a:r>
            <a:r>
              <a:rPr lang="en-US" altLang="zh-CN"/>
              <a:t> K </a:t>
            </a:r>
            <a:r>
              <a:rPr lang="zh-CN" altLang="en-US"/>
              <a:t>类里选。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开放词汇分割：推理时类别集合是可变的，给定</a:t>
            </a:r>
            <a:r>
              <a:rPr lang="zh-CN" altLang="en-US"/>
              <a:t>任意数量类别，即便是训练时没见过的类别，也可</a:t>
            </a:r>
            <a:r>
              <a:rPr lang="zh-CN" altLang="en-US"/>
              <a:t>合理分割。</a:t>
            </a:r>
            <a:endParaRPr lang="zh-CN" altLang="en-US"/>
          </a:p>
        </p:txBody>
      </p:sp>
      <p:sp>
        <p:nvSpPr>
          <p:cNvPr id="3" name="右箭头 2"/>
          <p:cNvSpPr/>
          <p:nvPr/>
        </p:nvSpPr>
        <p:spPr>
          <a:xfrm>
            <a:off x="8240395" y="1311275"/>
            <a:ext cx="622300" cy="22987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101455" y="1103630"/>
            <a:ext cx="2025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趋向于被训练成将固定</a:t>
            </a:r>
            <a:r>
              <a:rPr lang="en-US" altLang="zh-CN"/>
              <a:t>K</a:t>
            </a:r>
            <a:r>
              <a:rPr lang="zh-CN" altLang="en-US"/>
              <a:t>类</a:t>
            </a:r>
            <a:r>
              <a:rPr lang="zh-CN" altLang="en-US"/>
              <a:t>区分开来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 rot="720000">
            <a:off x="8257540" y="2202815"/>
            <a:ext cx="622300" cy="22987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101455" y="2167255"/>
            <a:ext cx="22053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趋向于通过对比学习将对应的标签与像素在语义空间映射</a:t>
            </a:r>
            <a:r>
              <a:rPr lang="zh-CN" altLang="en-US"/>
              <a:t>的更</a:t>
            </a:r>
            <a:r>
              <a:rPr lang="zh-CN" altLang="en-US"/>
              <a:t>相近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545" y="3545205"/>
            <a:ext cx="11125200" cy="26136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47084" y="3015436"/>
            <a:ext cx="4151376" cy="8117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CLIP</a:t>
            </a:r>
            <a:r>
              <a:rPr kumimoji="1" lang="zh-CN" altLang="en-US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、</a:t>
            </a:r>
            <a:r>
              <a:rPr kumimoji="1" lang="en-US" altLang="zh-CN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DINO</a:t>
            </a:r>
            <a:r>
              <a:rPr kumimoji="1" lang="zh-CN" altLang="en-US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、</a:t>
            </a:r>
            <a:r>
              <a:rPr kumimoji="1" lang="en-US" altLang="zh-CN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SAM</a:t>
            </a:r>
            <a:endParaRPr kumimoji="1" lang="en-US" altLang="zh-CN" sz="36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74972" y="1180320"/>
            <a:ext cx="5417028" cy="5293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kumimoji="1" lang="en-US" altLang="zh-CN" sz="3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01</a:t>
            </a:r>
            <a:endParaRPr kumimoji="1" lang="zh-CN" altLang="en-US" sz="34400" dirty="0">
              <a:solidFill>
                <a:schemeClr val="accent1">
                  <a:lumMod val="20000"/>
                  <a:lumOff val="8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" y="1061720"/>
            <a:ext cx="4562475" cy="32905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61720"/>
            <a:ext cx="5151755" cy="34594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38885" y="4700905"/>
            <a:ext cx="3843655" cy="1123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把</a:t>
            </a:r>
            <a:r>
              <a:rPr lang="en-US" altLang="zh-CN"/>
              <a:t>“</a:t>
            </a:r>
            <a:r>
              <a:rPr lang="zh-CN" altLang="en-US"/>
              <a:t>图像</a:t>
            </a:r>
            <a:r>
              <a:rPr lang="en-US" altLang="zh-CN"/>
              <a:t>”</a:t>
            </a:r>
            <a:r>
              <a:rPr lang="zh-CN" altLang="en-US"/>
              <a:t>和</a:t>
            </a:r>
            <a:r>
              <a:rPr lang="en-US" altLang="zh-CN"/>
              <a:t>“</a:t>
            </a:r>
            <a:r>
              <a:rPr lang="zh-CN" altLang="en-US"/>
              <a:t>文本</a:t>
            </a:r>
            <a:r>
              <a:rPr lang="en-US" altLang="zh-CN"/>
              <a:t>”</a:t>
            </a:r>
            <a:r>
              <a:rPr lang="zh-CN" altLang="en-US"/>
              <a:t>映射到同一个语义空间（向量），用相似度（</a:t>
            </a:r>
            <a:r>
              <a:rPr lang="zh-CN" altLang="en-US"/>
              <a:t>点积）判断图像更像哪段文字。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70000" y="582485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对比学习：让匹配的图文对相似度高，不匹配的图文对相似度</a:t>
            </a:r>
            <a:r>
              <a:rPr lang="zh-CN" altLang="en-US"/>
              <a:t>低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22655" y="6121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CLIP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6947535" y="490283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不依赖于固定的分类头的特点使得</a:t>
            </a:r>
            <a:r>
              <a:rPr lang="en-US" altLang="zh-CN"/>
              <a:t>CLIP</a:t>
            </a:r>
            <a:r>
              <a:rPr lang="zh-CN" altLang="en-US"/>
              <a:t>能够识别新类别（用文本向量充当分类</a:t>
            </a:r>
            <a:r>
              <a:rPr lang="zh-CN" altLang="en-US"/>
              <a:t>头的权重）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3164205" y="1336675"/>
            <a:ext cx="5871845" cy="41370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22655" y="6121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DINO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3291840" y="5720715"/>
            <a:ext cx="5150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让</a:t>
            </a:r>
            <a:r>
              <a:rPr lang="en-US" altLang="zh-CN"/>
              <a:t>DINO</a:t>
            </a:r>
            <a:r>
              <a:rPr lang="zh-CN" altLang="en-US"/>
              <a:t>从局部的输入也能学到全局</a:t>
            </a:r>
            <a:r>
              <a:rPr lang="zh-CN" altLang="en-US"/>
              <a:t>特征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315" y="1268095"/>
            <a:ext cx="7580630" cy="26492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298190" y="4711065"/>
            <a:ext cx="5433060" cy="961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同一物体在不同视图、遮挡情况下都要输出一致的语义分布，于是区域内部</a:t>
            </a:r>
            <a:r>
              <a:rPr lang="en-US" altLang="zh-CN"/>
              <a:t> token </a:t>
            </a:r>
            <a:r>
              <a:rPr lang="zh-CN" altLang="en-US"/>
              <a:t>被拉得很近，</a:t>
            </a:r>
            <a:r>
              <a:rPr lang="zh-CN" altLang="en-US"/>
              <a:t>输出区域一致性强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22655" y="6121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DINO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270" y="3778250"/>
            <a:ext cx="11193780" cy="24917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22655" y="6121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SAM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305" y="1035050"/>
            <a:ext cx="7086600" cy="27432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623425" y="2451100"/>
            <a:ext cx="16313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只负责</a:t>
            </a:r>
            <a:r>
              <a:rPr lang="zh-CN" altLang="en-US"/>
              <a:t>切</a:t>
            </a:r>
            <a:endParaRPr lang="zh-CN" altLang="en-US"/>
          </a:p>
          <a:p>
            <a:r>
              <a:rPr lang="zh-CN" altLang="en-US"/>
              <a:t>类别无关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23425" y="19532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提示式分割模型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hatGPT Image 2026年1月15日 01_33_06"/>
          <p:cNvPicPr>
            <a:picLocks noChangeAspect="1"/>
          </p:cNvPicPr>
          <p:nvPr/>
        </p:nvPicPr>
        <p:blipFill>
          <a:blip r:embed="rId1"/>
          <a:srcRect t="17187" b="18674"/>
          <a:stretch>
            <a:fillRect/>
          </a:stretch>
        </p:blipFill>
        <p:spPr>
          <a:xfrm>
            <a:off x="1472565" y="1480185"/>
            <a:ext cx="9114155" cy="389763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860550" y="501015"/>
            <a:ext cx="7886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mask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conv</a:t>
            </a:r>
            <a:endParaRPr lang="en-US" altLang="zh-CN"/>
          </a:p>
          <a:p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108835" y="814705"/>
            <a:ext cx="185420" cy="27813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下箭头 3"/>
          <p:cNvSpPr/>
          <p:nvPr/>
        </p:nvSpPr>
        <p:spPr>
          <a:xfrm>
            <a:off x="2108835" y="1352550"/>
            <a:ext cx="185420" cy="27813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4"/>
          <p:cNvSpPr/>
          <p:nvPr/>
        </p:nvSpPr>
        <p:spPr>
          <a:xfrm>
            <a:off x="967740" y="885190"/>
            <a:ext cx="10577195" cy="497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Shape 5"/>
          <p:cNvSpPr/>
          <p:nvPr/>
        </p:nvSpPr>
        <p:spPr>
          <a:xfrm>
            <a:off x="967740" y="885190"/>
            <a:ext cx="10577195" cy="523875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4" name="Text 6"/>
          <p:cNvSpPr/>
          <p:nvPr/>
        </p:nvSpPr>
        <p:spPr>
          <a:xfrm>
            <a:off x="1242060" y="1022350"/>
            <a:ext cx="1046480" cy="262255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模型</a:t>
            </a:r>
            <a:endParaRPr lang="en-US" sz="1400" dirty="0"/>
          </a:p>
        </p:txBody>
      </p:sp>
      <p:sp>
        <p:nvSpPr>
          <p:cNvPr id="55" name="Text 7"/>
          <p:cNvSpPr/>
          <p:nvPr/>
        </p:nvSpPr>
        <p:spPr>
          <a:xfrm>
            <a:off x="2613660" y="1022350"/>
            <a:ext cx="1743710" cy="262255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预训练监督</a:t>
            </a:r>
            <a:endParaRPr lang="en-US" sz="1400" dirty="0"/>
          </a:p>
        </p:txBody>
      </p:sp>
      <p:sp>
        <p:nvSpPr>
          <p:cNvPr id="56" name="Text 8"/>
          <p:cNvSpPr/>
          <p:nvPr/>
        </p:nvSpPr>
        <p:spPr>
          <a:xfrm>
            <a:off x="4808220" y="1022350"/>
            <a:ext cx="2615565" cy="262255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输出/能力</a:t>
            </a:r>
            <a:endParaRPr lang="en-US" sz="1400" dirty="0"/>
          </a:p>
        </p:txBody>
      </p:sp>
      <p:sp>
        <p:nvSpPr>
          <p:cNvPr id="57" name="Text 9"/>
          <p:cNvSpPr/>
          <p:nvPr/>
        </p:nvSpPr>
        <p:spPr>
          <a:xfrm>
            <a:off x="7642860" y="1022350"/>
            <a:ext cx="2092325" cy="262255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适合什么</a:t>
            </a:r>
            <a:endParaRPr lang="en-US" sz="1400" dirty="0"/>
          </a:p>
        </p:txBody>
      </p:sp>
      <p:sp>
        <p:nvSpPr>
          <p:cNvPr id="58" name="Text 10"/>
          <p:cNvSpPr/>
          <p:nvPr/>
        </p:nvSpPr>
        <p:spPr>
          <a:xfrm>
            <a:off x="10111740" y="1022350"/>
            <a:ext cx="2353945" cy="262255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典型短板</a:t>
            </a:r>
            <a:endParaRPr lang="en-US" sz="1400" dirty="0"/>
          </a:p>
        </p:txBody>
      </p:sp>
      <p:sp>
        <p:nvSpPr>
          <p:cNvPr id="59" name="Shape 11"/>
          <p:cNvSpPr/>
          <p:nvPr/>
        </p:nvSpPr>
        <p:spPr>
          <a:xfrm>
            <a:off x="967740" y="1433830"/>
            <a:ext cx="10577195" cy="1483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Shape 12"/>
          <p:cNvSpPr/>
          <p:nvPr/>
        </p:nvSpPr>
        <p:spPr>
          <a:xfrm>
            <a:off x="967740" y="1433830"/>
            <a:ext cx="76200" cy="1483360"/>
          </a:xfrm>
          <a:prstGeom prst="rect">
            <a:avLst/>
          </a:prstGeom>
          <a:solidFill>
            <a:srgbClr val="E17A00"/>
          </a:solidFill>
          <a:ln w="12700">
            <a:solidFill>
              <a:srgbClr val="E17A00"/>
            </a:solidFill>
            <a:prstDash val="solid"/>
          </a:ln>
        </p:spPr>
      </p:sp>
      <p:sp>
        <p:nvSpPr>
          <p:cNvPr id="61" name="Text 13"/>
          <p:cNvSpPr/>
          <p:nvPr/>
        </p:nvSpPr>
        <p:spPr>
          <a:xfrm>
            <a:off x="1242060" y="1616710"/>
            <a:ext cx="1133475" cy="34925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800" b="1" dirty="0">
                <a:solidFill>
                  <a:srgbClr val="E17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CLIP</a:t>
            </a:r>
            <a:endParaRPr lang="en-US" sz="1800" dirty="0"/>
          </a:p>
        </p:txBody>
      </p:sp>
      <p:sp>
        <p:nvSpPr>
          <p:cNvPr id="62" name="Text 14"/>
          <p:cNvSpPr/>
          <p:nvPr/>
        </p:nvSpPr>
        <p:spPr>
          <a:xfrm>
            <a:off x="2613660" y="1662430"/>
            <a:ext cx="1918335" cy="113474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图文对（对比学习）</a:t>
            </a:r>
            <a:endParaRPr lang="en-US" sz="1350" dirty="0"/>
          </a:p>
        </p:txBody>
      </p:sp>
      <p:sp>
        <p:nvSpPr>
          <p:cNvPr id="63" name="Text 15"/>
          <p:cNvSpPr/>
          <p:nvPr/>
        </p:nvSpPr>
        <p:spPr>
          <a:xfrm>
            <a:off x="4808220" y="1662430"/>
            <a:ext cx="2615565" cy="113474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开放词汇语义空间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零样本分类</a:t>
            </a:r>
            <a:endParaRPr lang="en-US" sz="1350" dirty="0"/>
          </a:p>
        </p:txBody>
      </p:sp>
      <p:sp>
        <p:nvSpPr>
          <p:cNvPr id="64" name="Text 16"/>
          <p:cNvSpPr/>
          <p:nvPr/>
        </p:nvSpPr>
        <p:spPr>
          <a:xfrm>
            <a:off x="7642860" y="1662430"/>
            <a:ext cx="2179955" cy="113474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buNone/>
            </a:pPr>
            <a:r>
              <a:rPr lang="en-US" sz="135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open-vocab</a:t>
            </a:r>
            <a:endParaRPr lang="en-US" sz="1350" dirty="0">
              <a:solidFill>
                <a:srgbClr val="FF00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识别新类别</a:t>
            </a:r>
            <a:endParaRPr lang="en-US" sz="1350" dirty="0">
              <a:solidFill>
                <a:srgbClr val="FF00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65" name="Text 17"/>
          <p:cNvSpPr/>
          <p:nvPr/>
        </p:nvSpPr>
        <p:spPr>
          <a:xfrm>
            <a:off x="10111740" y="1662430"/>
            <a:ext cx="2528570" cy="113474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buNone/>
            </a:pPr>
            <a:r>
              <a:rPr lang="en-US" sz="135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整图级任务</a:t>
            </a:r>
            <a:endParaRPr lang="en-US" sz="1350" dirty="0">
              <a:solidFill>
                <a:srgbClr val="FF00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像素级任务需改造</a:t>
            </a:r>
            <a:endParaRPr lang="en-US" sz="1350" dirty="0">
              <a:solidFill>
                <a:srgbClr val="FF00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66" name="Shape 18"/>
          <p:cNvSpPr/>
          <p:nvPr/>
        </p:nvSpPr>
        <p:spPr>
          <a:xfrm>
            <a:off x="967740" y="2988310"/>
            <a:ext cx="10577195" cy="148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Shape 19"/>
          <p:cNvSpPr/>
          <p:nvPr/>
        </p:nvSpPr>
        <p:spPr>
          <a:xfrm>
            <a:off x="967740" y="2988310"/>
            <a:ext cx="76200" cy="148336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68" name="Text 20"/>
          <p:cNvSpPr/>
          <p:nvPr/>
        </p:nvSpPr>
        <p:spPr>
          <a:xfrm>
            <a:off x="1242060" y="3171190"/>
            <a:ext cx="1133475" cy="34925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800" b="1" dirty="0">
                <a:solidFill>
                  <a:srgbClr val="1F8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DINOv2</a:t>
            </a:r>
            <a:endParaRPr lang="en-US" sz="1800" dirty="0"/>
          </a:p>
        </p:txBody>
      </p:sp>
      <p:sp>
        <p:nvSpPr>
          <p:cNvPr id="69" name="Text 21"/>
          <p:cNvSpPr/>
          <p:nvPr/>
        </p:nvSpPr>
        <p:spPr>
          <a:xfrm>
            <a:off x="2613660" y="3216910"/>
            <a:ext cx="1918335" cy="113474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纯图像（自监督）</a:t>
            </a:r>
            <a:endParaRPr lang="en-US" sz="1350" dirty="0"/>
          </a:p>
        </p:txBody>
      </p:sp>
      <p:sp>
        <p:nvSpPr>
          <p:cNvPr id="70" name="Text 22"/>
          <p:cNvSpPr/>
          <p:nvPr/>
        </p:nvSpPr>
        <p:spPr>
          <a:xfrm>
            <a:off x="4808220" y="3216910"/>
            <a:ext cx="2615565" cy="113474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buNone/>
            </a:pPr>
            <a:r>
              <a:rPr lang="en-US" sz="135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区域一致性</a:t>
            </a:r>
            <a:endParaRPr lang="en-US" sz="1350" dirty="0">
              <a:solidFill>
                <a:srgbClr val="FF00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71" name="Text 23"/>
          <p:cNvSpPr/>
          <p:nvPr/>
        </p:nvSpPr>
        <p:spPr>
          <a:xfrm>
            <a:off x="7642860" y="3216910"/>
            <a:ext cx="2179955" cy="113474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分割/深度/检索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作为 backbone</a:t>
            </a:r>
            <a:endParaRPr lang="en-US" sz="1350" dirty="0"/>
          </a:p>
        </p:txBody>
      </p:sp>
      <p:sp>
        <p:nvSpPr>
          <p:cNvPr id="72" name="Text 24"/>
          <p:cNvSpPr/>
          <p:nvPr/>
        </p:nvSpPr>
        <p:spPr>
          <a:xfrm>
            <a:off x="10111740" y="3216910"/>
            <a:ext cx="2528570" cy="113474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buNone/>
            </a:pPr>
            <a:r>
              <a:rPr lang="zh-CN" altLang="en-US" sz="135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无</a:t>
            </a:r>
            <a:r>
              <a:rPr lang="en-US" sz="135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open-vocab</a:t>
            </a:r>
            <a:r>
              <a:rPr lang="zh-CN" altLang="en-US" sz="135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能力</a:t>
            </a:r>
            <a:r>
              <a:rPr lang="en-US" sz="135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350" dirty="0">
              <a:solidFill>
                <a:srgbClr val="FF00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73" name="Shape 25"/>
          <p:cNvSpPr/>
          <p:nvPr/>
        </p:nvSpPr>
        <p:spPr>
          <a:xfrm>
            <a:off x="967740" y="4542790"/>
            <a:ext cx="10577195" cy="1483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Shape 26"/>
          <p:cNvSpPr/>
          <p:nvPr/>
        </p:nvSpPr>
        <p:spPr>
          <a:xfrm>
            <a:off x="967740" y="4542790"/>
            <a:ext cx="76200" cy="148336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5" name="Text 27"/>
          <p:cNvSpPr/>
          <p:nvPr/>
        </p:nvSpPr>
        <p:spPr>
          <a:xfrm>
            <a:off x="1242060" y="4725670"/>
            <a:ext cx="1133475" cy="34925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800" b="1" dirty="0">
                <a:solidFill>
                  <a:srgbClr val="1E5A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</a:t>
            </a:r>
            <a:endParaRPr lang="en-US" sz="1800" dirty="0"/>
          </a:p>
        </p:txBody>
      </p:sp>
      <p:sp>
        <p:nvSpPr>
          <p:cNvPr id="76" name="Text 28"/>
          <p:cNvSpPr/>
          <p:nvPr/>
        </p:nvSpPr>
        <p:spPr>
          <a:xfrm>
            <a:off x="2613660" y="4771390"/>
            <a:ext cx="1918335" cy="113474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大规模分割掩码</a:t>
            </a:r>
            <a:endParaRPr lang="en-US" sz="1350" dirty="0"/>
          </a:p>
        </p:txBody>
      </p:sp>
      <p:sp>
        <p:nvSpPr>
          <p:cNvPr id="77" name="Text 29"/>
          <p:cNvSpPr/>
          <p:nvPr/>
        </p:nvSpPr>
        <p:spPr>
          <a:xfrm>
            <a:off x="4808220" y="4771390"/>
            <a:ext cx="2615565" cy="113474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buNone/>
            </a:pPr>
            <a:r>
              <a:rPr lang="zh-CN" altLang="en-US" sz="135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提示分割效果好</a:t>
            </a:r>
            <a:endParaRPr lang="zh-CN" altLang="en-US" sz="1350" dirty="0">
              <a:solidFill>
                <a:srgbClr val="FF00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zh-CN" altLang="en-US" sz="135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边界</a:t>
            </a:r>
            <a:r>
              <a:rPr lang="zh-CN" altLang="en-US" sz="135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清晰</a:t>
            </a:r>
            <a:endParaRPr lang="zh-CN" altLang="en-US" sz="1350" dirty="0">
              <a:solidFill>
                <a:srgbClr val="FF00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78" name="Text 30"/>
          <p:cNvSpPr/>
          <p:nvPr/>
        </p:nvSpPr>
        <p:spPr>
          <a:xfrm>
            <a:off x="7642860" y="4771390"/>
            <a:ext cx="2179955" cy="113474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交互分割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伪标签/候选区域</a:t>
            </a:r>
            <a:endParaRPr lang="en-US" sz="1350" dirty="0"/>
          </a:p>
        </p:txBody>
      </p:sp>
      <p:sp>
        <p:nvSpPr>
          <p:cNvPr id="79" name="Text 31"/>
          <p:cNvSpPr/>
          <p:nvPr/>
        </p:nvSpPr>
        <p:spPr>
          <a:xfrm>
            <a:off x="10111740" y="4771390"/>
            <a:ext cx="2528570" cy="113474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buNone/>
            </a:pPr>
            <a:r>
              <a:rPr lang="zh-CN" altLang="en-US" sz="135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+mn-ea"/>
              </a:rPr>
              <a:t>非分类模型</a:t>
            </a:r>
            <a:endParaRPr lang="zh-CN" altLang="en-US" sz="1350" dirty="0">
              <a:solidFill>
                <a:srgbClr val="FF0000"/>
              </a:solidFill>
              <a:latin typeface="Aptos" pitchFamily="34" charset="0"/>
              <a:ea typeface="Aptos" pitchFamily="34" charset="-122"/>
              <a:cs typeface="Aptos" pitchFamily="34" charset="-120"/>
              <a:sym typeface="+mn-ea"/>
            </a:endParaRPr>
          </a:p>
          <a:p>
            <a:pPr marL="0" indent="0">
              <a:buNone/>
            </a:pPr>
            <a:r>
              <a:rPr lang="zh-CN" altLang="en-US" sz="135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+mn-ea"/>
              </a:rPr>
              <a:t>无</a:t>
            </a:r>
            <a:r>
              <a:rPr lang="en-US" sz="135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+mn-ea"/>
              </a:rPr>
              <a:t>open-vocab</a:t>
            </a:r>
            <a:r>
              <a:rPr lang="zh-CN" altLang="en-US" sz="135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+mn-ea"/>
              </a:rPr>
              <a:t>能力</a:t>
            </a:r>
            <a:endParaRPr lang="zh-CN" altLang="en-US" sz="1350" dirty="0">
              <a:solidFill>
                <a:srgbClr val="FF0000"/>
              </a:solidFill>
              <a:latin typeface="Aptos" pitchFamily="34" charset="0"/>
              <a:ea typeface="Aptos" pitchFamily="34" charset="-122"/>
              <a:cs typeface="Aptos" pitchFamily="34" charset="-120"/>
              <a:sym typeface="+mn-ea"/>
            </a:endParaRPr>
          </a:p>
          <a:p>
            <a:pPr marL="0" indent="0">
              <a:buNone/>
            </a:pPr>
            <a:endParaRPr lang="zh-CN" altLang="en-US" sz="1350" dirty="0">
              <a:solidFill>
                <a:srgbClr val="FF0000"/>
              </a:solidFill>
              <a:latin typeface="Aptos" pitchFamily="34" charset="0"/>
              <a:ea typeface="Aptos" pitchFamily="34" charset="-122"/>
              <a:cs typeface="Aptos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47084" y="3015436"/>
            <a:ext cx="4151376" cy="8117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D</a:t>
            </a:r>
            <a:r>
              <a:rPr kumimoji="1" lang="en-US" altLang="zh-CN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enseCLIP</a:t>
            </a:r>
            <a:endParaRPr kumimoji="1" lang="en-US" altLang="zh-CN" sz="36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74972" y="1180320"/>
            <a:ext cx="5417028" cy="5293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kumimoji="1" lang="en-US" altLang="zh-CN" sz="3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02</a:t>
            </a:r>
            <a:endParaRPr kumimoji="1" lang="zh-CN" altLang="en-US" sz="34400" dirty="0">
              <a:solidFill>
                <a:schemeClr val="accent1">
                  <a:lumMod val="20000"/>
                  <a:lumOff val="8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22395" y="5002530"/>
            <a:ext cx="396938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CLIP </a:t>
            </a:r>
            <a:r>
              <a:rPr lang="zh-CN" altLang="en-US" sz="1600"/>
              <a:t>的 </a:t>
            </a:r>
            <a:r>
              <a:rPr lang="en-US" altLang="zh-CN" sz="1600"/>
              <a:t>ResNet </a:t>
            </a:r>
            <a:r>
              <a:rPr lang="zh-CN" altLang="en-US" sz="1600"/>
              <a:t>和普通 </a:t>
            </a:r>
            <a:r>
              <a:rPr lang="en-US" altLang="zh-CN" sz="1600"/>
              <a:t>ResNet </a:t>
            </a:r>
            <a:r>
              <a:rPr lang="zh-CN" altLang="en-US" sz="1600"/>
              <a:t>不同点之一是 最后加了 </a:t>
            </a:r>
            <a:r>
              <a:rPr lang="en-US" altLang="zh-CN" sz="1600"/>
              <a:t>attention pooling</a:t>
            </a:r>
            <a:endParaRPr lang="en-US" altLang="zh-CN" sz="16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4455" y="1965960"/>
            <a:ext cx="3139440" cy="27787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576320" y="1234440"/>
            <a:ext cx="5156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原始的</a:t>
            </a:r>
            <a:r>
              <a:rPr lang="en-US" altLang="zh-CN"/>
              <a:t>CLIP</a:t>
            </a:r>
            <a:r>
              <a:rPr lang="zh-CN" altLang="en-US"/>
              <a:t>图片编码器不适合语义分割</a:t>
            </a:r>
            <a:r>
              <a:rPr lang="zh-CN" altLang="en-US"/>
              <a:t>任务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04" t="58902" r="44151" b="7360"/>
          <a:stretch>
            <a:fillRect/>
          </a:stretch>
        </p:blipFill>
        <p:spPr>
          <a:xfrm>
            <a:off x="2197100" y="2237740"/>
            <a:ext cx="3617595" cy="18357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671445" y="3582035"/>
            <a:ext cx="6677025" cy="2629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ResNet </a:t>
            </a:r>
            <a:r>
              <a:rPr lang="zh-CN" altLang="en-US"/>
              <a:t>最后会得到一个最后层特征图：</a:t>
            </a:r>
            <a:r>
              <a:rPr lang="en-US" altLang="zh-CN"/>
              <a:t>x4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先对</a:t>
            </a:r>
            <a:r>
              <a:rPr lang="en-US" altLang="zh-CN"/>
              <a:t> x4 </a:t>
            </a:r>
            <a:r>
              <a:rPr lang="zh-CN" altLang="en-US"/>
              <a:t>做一次全局平均池化得到</a:t>
            </a:r>
            <a:r>
              <a:rPr lang="en-US" altLang="zh-CN"/>
              <a:t> </a:t>
            </a:r>
            <a:r>
              <a:rPr lang="zh-CN" altLang="en-US"/>
              <a:t>全局向量</a:t>
            </a:r>
            <a:r>
              <a:rPr lang="en-US" altLang="zh-CN"/>
              <a:t> x</a:t>
            </a:r>
            <a:r>
              <a:rPr lang="en-US" altLang="en-US"/>
              <a:t>̄</a:t>
            </a:r>
            <a:r>
              <a:rPr lang="en-US" altLang="zh-CN"/>
              <a:t>4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然后把</a:t>
            </a:r>
            <a:r>
              <a:rPr lang="en-US" altLang="zh-CN"/>
              <a:t> [x</a:t>
            </a:r>
            <a:r>
              <a:rPr lang="en-US" altLang="en-US"/>
              <a:t>̄</a:t>
            </a:r>
            <a:r>
              <a:rPr lang="en-US" altLang="zh-CN"/>
              <a:t>4, x4] </a:t>
            </a:r>
            <a:r>
              <a:rPr lang="zh-CN" altLang="en-US"/>
              <a:t>一起送进多头自注意力（</a:t>
            </a:r>
            <a:r>
              <a:rPr lang="en-US" altLang="zh-CN"/>
              <a:t>MHSA</a:t>
            </a:r>
            <a:r>
              <a:rPr lang="zh-CN" altLang="en-US"/>
              <a:t>）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z</a:t>
            </a:r>
            <a:r>
              <a:rPr lang="en-US" altLang="en-US"/>
              <a:t>̄</a:t>
            </a:r>
            <a:r>
              <a:rPr lang="zh-CN" altLang="en-US"/>
              <a:t>：全局向量（</a:t>
            </a:r>
            <a:r>
              <a:rPr lang="en-US" altLang="zh-CN"/>
              <a:t>CLIP </a:t>
            </a:r>
            <a:r>
              <a:rPr lang="zh-CN" altLang="en-US"/>
              <a:t>用的输出，用来做</a:t>
            </a:r>
            <a:r>
              <a:rPr lang="en-US" altLang="zh-CN"/>
              <a:t>“</a:t>
            </a:r>
            <a:r>
              <a:rPr lang="zh-CN" altLang="en-US"/>
              <a:t>整图</a:t>
            </a:r>
            <a:r>
              <a:rPr lang="en-US" altLang="zh-CN"/>
              <a:t>-</a:t>
            </a:r>
            <a:r>
              <a:rPr lang="zh-CN" altLang="en-US"/>
              <a:t>文本</a:t>
            </a:r>
            <a:r>
              <a:rPr lang="en-US" altLang="zh-CN"/>
              <a:t>”</a:t>
            </a:r>
            <a:r>
              <a:rPr lang="zh-CN" altLang="en-US"/>
              <a:t>匹配）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z</a:t>
            </a:r>
            <a:r>
              <a:rPr lang="zh-CN" altLang="en-US"/>
              <a:t>：带空间位置的输出</a:t>
            </a:r>
            <a:endParaRPr lang="zh-CN" altLang="en-US"/>
          </a:p>
          <a:p>
            <a:endParaRPr lang="en-US" altLang="zh-CN"/>
          </a:p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220" y="1032510"/>
            <a:ext cx="8988425" cy="23964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175" y="2162175"/>
            <a:ext cx="9290050" cy="268033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380" y="4514215"/>
            <a:ext cx="2346960" cy="3733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150" y="5354955"/>
            <a:ext cx="4370070" cy="5232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401185" y="59569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将</a:t>
            </a:r>
            <a:r>
              <a:rPr lang="en-US" altLang="zh-CN"/>
              <a:t>scoremap</a:t>
            </a:r>
            <a:r>
              <a:rPr lang="zh-CN" altLang="en-US"/>
              <a:t>上采样与</a:t>
            </a:r>
            <a:r>
              <a:rPr lang="en-US" altLang="zh-CN"/>
              <a:t>GT</a:t>
            </a:r>
            <a:r>
              <a:rPr lang="zh-CN" altLang="en-US"/>
              <a:t>相同</a:t>
            </a:r>
            <a:r>
              <a:rPr lang="zh-CN" altLang="en-US"/>
              <a:t>尺寸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939800"/>
            <a:ext cx="5227320" cy="8763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900" y="939800"/>
            <a:ext cx="5080000" cy="9378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838065" y="49149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语言引导密集预测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215" y="1190625"/>
            <a:ext cx="6431915" cy="47485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364730" y="2362200"/>
            <a:ext cx="40640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  <a:p>
            <a:r>
              <a:rPr lang="en-US">
                <a:sym typeface="+mn-ea"/>
              </a:rPr>
              <a:t>CAP</a:t>
            </a:r>
            <a:r>
              <a:rPr lang="zh-CN" altLang="en-US"/>
              <a:t>：利用图像的全局特征来动态调整文本</a:t>
            </a:r>
            <a:r>
              <a:rPr lang="en-US" altLang="zh-CN"/>
              <a:t> Embedding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使用一个</a:t>
            </a:r>
            <a:r>
              <a:rPr lang="en-US" altLang="zh-CN"/>
              <a:t> Transformer </a:t>
            </a:r>
            <a:r>
              <a:rPr lang="zh-CN" altLang="en-US"/>
              <a:t>（</a:t>
            </a:r>
            <a:r>
              <a:rPr lang="en-US" altLang="zh-CN"/>
              <a:t>Decoder </a:t>
            </a:r>
            <a:r>
              <a:rPr lang="zh-CN" altLang="en-US"/>
              <a:t>结构），将文本</a:t>
            </a:r>
            <a:r>
              <a:rPr lang="en-US" altLang="zh-CN"/>
              <a:t> Embedding </a:t>
            </a:r>
            <a:r>
              <a:rPr lang="zh-CN" altLang="en-US"/>
              <a:t>作为</a:t>
            </a:r>
            <a:r>
              <a:rPr lang="en-US" altLang="zh-CN"/>
              <a:t> Query</a:t>
            </a:r>
            <a:r>
              <a:rPr lang="zh-CN" altLang="en-US"/>
              <a:t>，将图像上下文特征作为</a:t>
            </a:r>
            <a:r>
              <a:rPr lang="en-US" altLang="zh-CN"/>
              <a:t> Key </a:t>
            </a:r>
            <a:r>
              <a:rPr lang="zh-CN" altLang="en-US"/>
              <a:t>和</a:t>
            </a:r>
            <a:r>
              <a:rPr lang="en-US" altLang="zh-CN"/>
              <a:t> Value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6440" y="808990"/>
            <a:ext cx="8047990" cy="23221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75690" y="4436110"/>
            <a:ext cx="1029843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DenseCLIP</a:t>
            </a:r>
            <a:r>
              <a:rPr lang="zh-CN" altLang="en-US"/>
              <a:t>：相似图</a:t>
            </a:r>
            <a:r>
              <a:rPr lang="en-US" altLang="zh-CN"/>
              <a:t> = </a:t>
            </a:r>
            <a:r>
              <a:rPr lang="zh-CN" altLang="en-US"/>
              <a:t>辅助信息；分类器</a:t>
            </a:r>
            <a:r>
              <a:rPr lang="en-US" altLang="zh-CN"/>
              <a:t> = K</a:t>
            </a:r>
            <a:r>
              <a:rPr lang="zh-CN" altLang="en-US"/>
              <a:t>个固定分类头</a:t>
            </a:r>
            <a:endParaRPr lang="zh-CN" altLang="en-US"/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CLIP</a:t>
            </a:r>
            <a:r>
              <a:rPr lang="zh-CN" altLang="en-US">
                <a:sym typeface="+mn-ea"/>
              </a:rPr>
              <a:t>：文本编码器</a:t>
            </a:r>
            <a:r>
              <a:rPr lang="en-US" altLang="zh-CN">
                <a:sym typeface="+mn-ea"/>
              </a:rPr>
              <a:t> = </a:t>
            </a:r>
            <a:r>
              <a:rPr lang="zh-CN" altLang="en-US">
                <a:sym typeface="+mn-ea"/>
              </a:rPr>
              <a:t>分类器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75690" y="5365115"/>
            <a:ext cx="96424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其实</a:t>
            </a:r>
            <a:r>
              <a:rPr lang="en-US" altLang="zh-CN"/>
              <a:t>scoremap</a:t>
            </a:r>
            <a:r>
              <a:rPr lang="zh-CN" altLang="en-US"/>
              <a:t>从直觉上是继承了</a:t>
            </a:r>
            <a:r>
              <a:rPr lang="en-US" altLang="zh-CN"/>
              <a:t>CLIP</a:t>
            </a:r>
            <a:r>
              <a:rPr lang="zh-CN" altLang="en-US"/>
              <a:t>的开放词汇能力，假设</a:t>
            </a:r>
            <a:r>
              <a:rPr lang="en-US" altLang="zh-CN"/>
              <a:t>Image Decoder</a:t>
            </a:r>
            <a:r>
              <a:rPr lang="zh-CN" altLang="en-US"/>
              <a:t>直接修改为对每个</a:t>
            </a:r>
            <a:r>
              <a:rPr lang="en-US" altLang="zh-CN"/>
              <a:t>scoremap</a:t>
            </a:r>
            <a:r>
              <a:rPr lang="zh-CN" altLang="en-US"/>
              <a:t>通道进行上采样，最后做</a:t>
            </a:r>
            <a:r>
              <a:rPr lang="en-US" altLang="zh-CN"/>
              <a:t>argmax</a:t>
            </a:r>
            <a:r>
              <a:rPr lang="zh-CN" altLang="en-US"/>
              <a:t>得到最终分割结果，也能训练出一个粗糙的开放词汇语义分割</a:t>
            </a:r>
            <a:r>
              <a:rPr lang="zh-CN" altLang="en-US"/>
              <a:t>模型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950" y="3429000"/>
            <a:ext cx="5227320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47084" y="3015436"/>
            <a:ext cx="4151376" cy="8117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GSN</a:t>
            </a:r>
            <a:r>
              <a:rPr kumimoji="1" lang="en-US" altLang="zh-CN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et</a:t>
            </a:r>
            <a:endParaRPr kumimoji="1" lang="en-US" altLang="zh-CN" sz="36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74972" y="1180320"/>
            <a:ext cx="5417028" cy="5293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kumimoji="1" lang="en-US" altLang="zh-CN" sz="3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03</a:t>
            </a:r>
            <a:endParaRPr kumimoji="1" lang="zh-CN" altLang="en-US" sz="34400" dirty="0">
              <a:solidFill>
                <a:schemeClr val="accent1">
                  <a:lumMod val="20000"/>
                  <a:lumOff val="8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415" y="3205480"/>
            <a:ext cx="6434455" cy="316674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869045" y="927735"/>
            <a:ext cx="295656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zh-CN"/>
              <a:t>Denseclip</a:t>
            </a:r>
            <a:endParaRPr lang="zh-CN" altLang="en-US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非开放</a:t>
            </a:r>
            <a:r>
              <a:rPr lang="zh-CN" altLang="en-US"/>
              <a:t>词汇</a:t>
            </a:r>
            <a:endParaRPr lang="zh-CN" altLang="en-US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zh-CN"/>
              <a:t>CLIP</a:t>
            </a:r>
            <a:r>
              <a:rPr lang="zh-CN" altLang="en-US"/>
              <a:t>遥感知识</a:t>
            </a:r>
            <a:r>
              <a:rPr lang="zh-CN" altLang="en-US"/>
              <a:t>不足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" y="643255"/>
            <a:ext cx="8047990" cy="23221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869045" y="3830955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GSN</a:t>
            </a:r>
            <a:r>
              <a:rPr lang="en-US" altLang="zh-CN"/>
              <a:t>et</a:t>
            </a:r>
            <a:endParaRPr lang="en-US" altLang="zh-CN"/>
          </a:p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/>
              <a:t>非固定</a:t>
            </a:r>
            <a:r>
              <a:rPr lang="zh-CN" altLang="en-US"/>
              <a:t>分类头</a:t>
            </a:r>
            <a:endParaRPr lang="zh-CN" altLang="en-US"/>
          </a:p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/>
              <a:t>引入遥感训练</a:t>
            </a:r>
            <a:r>
              <a:rPr lang="zh-CN" altLang="en-US"/>
              <a:t>的DINO</a:t>
            </a:r>
            <a:endParaRPr lang="zh-CN" altLang="en-US"/>
          </a:p>
          <a:p>
            <a:endParaRPr lang="en-US" altLang="zh-CN"/>
          </a:p>
        </p:txBody>
      </p:sp>
      <p:sp>
        <p:nvSpPr>
          <p:cNvPr id="5" name="圆角矩形 4"/>
          <p:cNvSpPr/>
          <p:nvPr/>
        </p:nvSpPr>
        <p:spPr>
          <a:xfrm>
            <a:off x="6260465" y="3268980"/>
            <a:ext cx="1127760" cy="891540"/>
          </a:xfrm>
          <a:prstGeom prst="roundRect">
            <a:avLst/>
          </a:prstGeom>
          <a:ln w="3810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4730" y="2965450"/>
            <a:ext cx="1746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accent1"/>
                </a:solidFill>
                <a:sym typeface="+mn-ea"/>
              </a:rPr>
              <a:t>维度由输入文本决定</a:t>
            </a:r>
            <a:endParaRPr lang="zh-CN" altLang="en-US" sz="1200">
              <a:solidFill>
                <a:schemeClr val="accent1"/>
              </a:solidFill>
            </a:endParaRPr>
          </a:p>
          <a:p>
            <a:endParaRPr lang="zh-CN" altLang="en-US" sz="1200">
              <a:solidFill>
                <a:schemeClr val="accent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833370" y="5786755"/>
            <a:ext cx="926465" cy="585470"/>
          </a:xfrm>
          <a:prstGeom prst="roundRect">
            <a:avLst/>
          </a:prstGeom>
          <a:ln w="3810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759835" y="619887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accent1"/>
                </a:solidFill>
              </a:rPr>
              <a:t>遥感DINO</a:t>
            </a:r>
            <a:endParaRPr lang="zh-CN" altLang="en-US" sz="1200">
              <a:solidFill>
                <a:schemeClr val="accent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640195" y="4450715"/>
            <a:ext cx="748030" cy="262255"/>
          </a:xfrm>
          <a:prstGeom prst="roundRect">
            <a:avLst/>
          </a:prstGeom>
          <a:ln w="3810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301230" y="4650740"/>
            <a:ext cx="13709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accent1"/>
                </a:solidFill>
              </a:rPr>
              <a:t>非固定分类头</a:t>
            </a:r>
            <a:endParaRPr lang="zh-CN" altLang="en-US" sz="12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5265"/>
            <a:ext cx="8302625" cy="40862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r="18302" b="4885"/>
          <a:stretch>
            <a:fillRect/>
          </a:stretch>
        </p:blipFill>
        <p:spPr>
          <a:xfrm>
            <a:off x="8446770" y="1640205"/>
            <a:ext cx="3299460" cy="4203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2175" y="2146300"/>
            <a:ext cx="2796540" cy="304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480" y="1058545"/>
            <a:ext cx="4137660" cy="4267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027920" y="2941320"/>
            <a:ext cx="18243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残差连接</a:t>
            </a:r>
            <a:r>
              <a:rPr lang="en-US" altLang="zh-CN" sz="1600"/>
              <a:t>CLIP</a:t>
            </a:r>
            <a:r>
              <a:rPr lang="zh-CN" altLang="en-US" sz="1600"/>
              <a:t>语义</a:t>
            </a:r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9742170" y="993140"/>
            <a:ext cx="14478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参考空间信息</a:t>
            </a:r>
            <a:endParaRPr lang="zh-CN" altLang="en-US" sz="1600"/>
          </a:p>
        </p:txBody>
      </p:sp>
      <p:sp>
        <p:nvSpPr>
          <p:cNvPr id="9" name="上箭头 8"/>
          <p:cNvSpPr/>
          <p:nvPr/>
        </p:nvSpPr>
        <p:spPr>
          <a:xfrm>
            <a:off x="10276840" y="1416685"/>
            <a:ext cx="201295" cy="29718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上箭头 9"/>
          <p:cNvSpPr/>
          <p:nvPr/>
        </p:nvSpPr>
        <p:spPr>
          <a:xfrm rot="10800000">
            <a:off x="11045825" y="2562225"/>
            <a:ext cx="201295" cy="29718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上箭头 10"/>
          <p:cNvSpPr/>
          <p:nvPr/>
        </p:nvSpPr>
        <p:spPr>
          <a:xfrm>
            <a:off x="5384800" y="825500"/>
            <a:ext cx="201295" cy="29718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930775" y="488315"/>
            <a:ext cx="14490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计算相似度</a:t>
            </a:r>
            <a:endParaRPr lang="zh-CN" altLang="en-US"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5265"/>
            <a:ext cx="8302625" cy="40862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1075" y="3610610"/>
            <a:ext cx="3216910" cy="4883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115425" y="3189605"/>
            <a:ext cx="2469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直接对相似图</a:t>
            </a:r>
            <a:r>
              <a:rPr lang="zh-CN" altLang="en-US"/>
              <a:t>上采样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47084" y="3015436"/>
            <a:ext cx="4151376" cy="8117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RSKT-Seg</a:t>
            </a:r>
            <a:endParaRPr kumimoji="1" lang="en-US" altLang="zh-CN" sz="36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74972" y="1180320"/>
            <a:ext cx="5417028" cy="5293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kumimoji="1" lang="en-US" altLang="zh-CN" sz="3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05</a:t>
            </a:r>
            <a:endParaRPr kumimoji="1" lang="en-US" altLang="zh-CN" sz="34400" dirty="0">
              <a:solidFill>
                <a:schemeClr val="accent1">
                  <a:lumMod val="20000"/>
                  <a:lumOff val="8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20" y="1067435"/>
            <a:ext cx="10866120" cy="41529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805940" y="5448935"/>
            <a:ext cx="4064000" cy="1050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Fusion</a:t>
            </a:r>
            <a:r>
              <a:rPr lang="zh-CN" altLang="en-US"/>
              <a:t>可优化</a:t>
            </a:r>
            <a:endParaRPr lang="zh-CN" altLang="en-US"/>
          </a:p>
          <a:p>
            <a:r>
              <a:rPr lang="en-US" altLang="zh-CN"/>
              <a:t>text</a:t>
            </a:r>
            <a:r>
              <a:rPr lang="zh-CN" altLang="en-US"/>
              <a:t>用大模型生成（输入提问和</a:t>
            </a:r>
            <a:r>
              <a:rPr lang="zh-CN" altLang="en-US"/>
              <a:t>图片）</a:t>
            </a:r>
            <a:endParaRPr lang="zh-CN" altLang="en-US"/>
          </a:p>
          <a:p>
            <a:r>
              <a:rPr lang="zh-CN" altLang="en-US"/>
              <a:t>用</a:t>
            </a:r>
            <a:r>
              <a:rPr lang="en-US" altLang="zh-CN"/>
              <a:t>SAM</a:t>
            </a:r>
            <a:r>
              <a:rPr lang="zh-CN" altLang="en-US"/>
              <a:t>提供</a:t>
            </a:r>
            <a:r>
              <a:rPr lang="zh-CN" altLang="en-US"/>
              <a:t>更多空间信息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25" y="692150"/>
            <a:ext cx="7067550" cy="33318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" y="4114165"/>
            <a:ext cx="4320540" cy="4495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58240" y="4563745"/>
            <a:ext cx="440118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五路取</a:t>
            </a:r>
            <a:r>
              <a:rPr lang="zh-CN" altLang="en-US"/>
              <a:t>平均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通道拼接后使用</a:t>
            </a:r>
            <a:r>
              <a:rPr lang="en-US" altLang="zh-CN"/>
              <a:t>1</a:t>
            </a:r>
            <a:r>
              <a:rPr lang="zh-CN" altLang="en-US"/>
              <a:t>×</a:t>
            </a:r>
            <a:r>
              <a:rPr lang="en-US" altLang="zh-CN"/>
              <a:t>1</a:t>
            </a:r>
            <a:r>
              <a:rPr lang="zh-CN" altLang="en-US"/>
              <a:t>卷积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计算</a:t>
            </a:r>
            <a:r>
              <a:rPr lang="en-US" altLang="zh-CN"/>
              <a:t>CLIP</a:t>
            </a:r>
            <a:r>
              <a:rPr lang="zh-CN" altLang="en-US"/>
              <a:t>、</a:t>
            </a:r>
            <a:r>
              <a:rPr lang="en-US" altLang="zh-CN"/>
              <a:t>DINO</a:t>
            </a:r>
            <a:r>
              <a:rPr lang="zh-CN" altLang="en-US"/>
              <a:t>置信，再拼接、</a:t>
            </a:r>
            <a:r>
              <a:rPr lang="zh-CN" altLang="en-US"/>
              <a:t>卷积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165" y="2985135"/>
            <a:ext cx="2072640" cy="4267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245" y="2985135"/>
            <a:ext cx="1706880" cy="3962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295" y="4289425"/>
            <a:ext cx="2567940" cy="4419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805" y="5556885"/>
            <a:ext cx="1310640" cy="411480"/>
          </a:xfrm>
          <a:prstGeom prst="rect">
            <a:avLst/>
          </a:prstGeom>
        </p:spPr>
      </p:pic>
      <p:cxnSp>
        <p:nvCxnSpPr>
          <p:cNvPr id="10" name="肘形连接符 9"/>
          <p:cNvCxnSpPr>
            <a:stCxn id="7" idx="2"/>
            <a:endCxn id="6" idx="2"/>
          </p:cNvCxnSpPr>
          <p:nvPr/>
        </p:nvCxnSpPr>
        <p:spPr>
          <a:xfrm rot="5400000" flipV="1">
            <a:off x="9745345" y="2418715"/>
            <a:ext cx="30480" cy="1955800"/>
          </a:xfrm>
          <a:prstGeom prst="bentConnector3">
            <a:avLst>
              <a:gd name="adj1" fmla="val 845833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9746615" y="3636010"/>
            <a:ext cx="10795" cy="6521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9757410" y="4731385"/>
            <a:ext cx="10795" cy="6521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肘形连接符 12"/>
          <p:cNvCxnSpPr>
            <a:endCxn id="9" idx="3"/>
          </p:cNvCxnSpPr>
          <p:nvPr/>
        </p:nvCxnSpPr>
        <p:spPr>
          <a:xfrm rot="5400000">
            <a:off x="9745345" y="3832860"/>
            <a:ext cx="2602865" cy="125603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hatGPT Image 2026年1月13日 04_26_43"/>
          <p:cNvPicPr>
            <a:picLocks noChangeAspect="1"/>
          </p:cNvPicPr>
          <p:nvPr/>
        </p:nvPicPr>
        <p:blipFill>
          <a:blip r:embed="rId1"/>
          <a:srcRect r="49843"/>
          <a:stretch>
            <a:fillRect/>
          </a:stretch>
        </p:blipFill>
        <p:spPr>
          <a:xfrm>
            <a:off x="1753870" y="822960"/>
            <a:ext cx="3211195" cy="4268470"/>
          </a:xfrm>
          <a:prstGeom prst="rect">
            <a:avLst/>
          </a:prstGeom>
        </p:spPr>
      </p:pic>
      <p:pic>
        <p:nvPicPr>
          <p:cNvPr id="6" name="图片 5" descr="ChatGPT Image 2026年1月13日 04_26_43"/>
          <p:cNvPicPr>
            <a:picLocks noChangeAspect="1"/>
          </p:cNvPicPr>
          <p:nvPr/>
        </p:nvPicPr>
        <p:blipFill>
          <a:blip r:embed="rId1"/>
          <a:srcRect l="50000" b="36537"/>
          <a:stretch>
            <a:fillRect/>
          </a:stretch>
        </p:blipFill>
        <p:spPr>
          <a:xfrm>
            <a:off x="6367780" y="822960"/>
            <a:ext cx="4127500" cy="34931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484120" y="541655"/>
            <a:ext cx="1706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空间</a:t>
            </a:r>
            <a:r>
              <a:rPr lang="zh-CN" altLang="en-US"/>
              <a:t>信息增强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715250" y="541655"/>
            <a:ext cx="1597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类别</a:t>
            </a:r>
            <a:r>
              <a:rPr lang="zh-CN" altLang="en-US"/>
              <a:t>区分增强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50" y="4625340"/>
            <a:ext cx="3068320" cy="4660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150" y="5091430"/>
            <a:ext cx="3014345" cy="40132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484120" y="5642610"/>
            <a:ext cx="2564130" cy="439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把空间上下文</a:t>
            </a:r>
            <a:r>
              <a:rPr lang="en-US" altLang="zh-CN"/>
              <a:t>“</a:t>
            </a:r>
            <a:r>
              <a:rPr lang="zh-CN" altLang="en-US"/>
              <a:t>注入回</a:t>
            </a:r>
            <a:r>
              <a:rPr lang="en-US" altLang="zh-CN"/>
              <a:t>”	​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0" y="4482465"/>
            <a:ext cx="2476500" cy="4191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400" y="4932045"/>
            <a:ext cx="3299460" cy="38862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33640" y="5454015"/>
            <a:ext cx="34251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文本向量与空间特征</a:t>
            </a:r>
            <a:r>
              <a:rPr lang="zh-CN" altLang="en-US"/>
              <a:t>拼接</a:t>
            </a:r>
            <a:endParaRPr lang="zh-CN" altLang="en-US"/>
          </a:p>
          <a:p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10202545" y="4191000"/>
            <a:ext cx="1478915" cy="434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repeat</a:t>
            </a:r>
            <a:endParaRPr lang="en-US" altLang="zh-CN"/>
          </a:p>
          <a:p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 rot="20460000">
            <a:off x="9800590" y="4531995"/>
            <a:ext cx="532765" cy="18478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47084" y="3015436"/>
            <a:ext cx="4151376" cy="8117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TEXT2SEG</a:t>
            </a:r>
            <a:endParaRPr kumimoji="1" lang="en-US" altLang="zh-CN" sz="36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74972" y="1180320"/>
            <a:ext cx="5417028" cy="5293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kumimoji="1" lang="en-US" altLang="zh-CN" sz="3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04</a:t>
            </a:r>
            <a:endParaRPr kumimoji="1" lang="zh-CN" altLang="en-US" sz="34400" dirty="0">
              <a:solidFill>
                <a:schemeClr val="accent1">
                  <a:lumMod val="20000"/>
                  <a:lumOff val="8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5295" y="474980"/>
            <a:ext cx="8322945" cy="60115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9095" y="588645"/>
            <a:ext cx="4921250" cy="39071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103120" y="4495800"/>
            <a:ext cx="83280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Prompt Augmentation</a:t>
            </a:r>
            <a:r>
              <a:rPr lang="zh-CN" altLang="en-US"/>
              <a:t>（文本增强）：用多个同义、近义词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用</a:t>
            </a:r>
            <a:r>
              <a:rPr lang="en-US" altLang="zh-CN"/>
              <a:t> GPT-4 </a:t>
            </a:r>
            <a:r>
              <a:rPr lang="zh-CN" altLang="en-US"/>
              <a:t>为每个类别生成最多</a:t>
            </a:r>
            <a:r>
              <a:rPr lang="en-US" altLang="zh-CN"/>
              <a:t> 10 </a:t>
            </a:r>
            <a:r>
              <a:rPr lang="zh-CN" altLang="en-US"/>
              <a:t>个同义词</a:t>
            </a:r>
            <a:r>
              <a:rPr lang="en-US" altLang="zh-CN"/>
              <a:t>/</a:t>
            </a:r>
            <a:r>
              <a:rPr lang="zh-CN" altLang="en-US"/>
              <a:t>相关词（如</a:t>
            </a:r>
            <a:r>
              <a:rPr lang="en-US" altLang="zh-CN"/>
              <a:t> plant</a:t>
            </a:r>
            <a:r>
              <a:rPr lang="en-US" altLang="en-US"/>
              <a:t>→</a:t>
            </a:r>
            <a:r>
              <a:rPr lang="en-US" altLang="zh-CN"/>
              <a:t>tree/grass/plant</a:t>
            </a:r>
            <a:r>
              <a:rPr lang="zh-CN" altLang="en-US"/>
              <a:t>），然后把这些文本都用于模型筛选，能够提升性能。</a:t>
            </a:r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985" y="2452370"/>
            <a:ext cx="2880360" cy="29108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53895" r="45235"/>
          <a:stretch>
            <a:fillRect/>
          </a:stretch>
        </p:blipFill>
        <p:spPr>
          <a:xfrm>
            <a:off x="2803525" y="784225"/>
            <a:ext cx="5495925" cy="1187450"/>
          </a:xfrm>
          <a:prstGeom prst="rect">
            <a:avLst/>
          </a:prstGeom>
        </p:spPr>
      </p:pic>
      <p:pic>
        <p:nvPicPr>
          <p:cNvPr id="3" name="图片 2" descr="8b874d6a277cb7ce2e2b7dcbffc072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160" y="4663440"/>
            <a:ext cx="6696075" cy="10858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905" y="2755265"/>
            <a:ext cx="4876800" cy="161544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8279130" y="5276850"/>
            <a:ext cx="555625" cy="1625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8942705" y="4170045"/>
            <a:ext cx="555625" cy="1625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99260" y="920750"/>
            <a:ext cx="11042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RSKT-Seg</a:t>
            </a:r>
            <a:endParaRPr kumimoji="1" lang="en-US" altLang="zh-CN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  <a:p>
            <a:endParaRPr lang="zh-CN" altLang="en-US"/>
          </a:p>
        </p:txBody>
      </p:sp>
      <p:pic>
        <p:nvPicPr>
          <p:cNvPr id="9" name="图片 8" descr="859cc49d8667fd61c0b6a5e4c280b17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950" y="546735"/>
            <a:ext cx="5480050" cy="5480050"/>
          </a:xfrm>
          <a:prstGeom prst="rect">
            <a:avLst/>
          </a:prstGeom>
        </p:spPr>
      </p:pic>
      <p:pic>
        <p:nvPicPr>
          <p:cNvPr id="10" name="图片 9" descr="7b01ca64423c65c9a15a42cb03b6b2d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5895" y="1225550"/>
            <a:ext cx="4625340" cy="46253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781810" y="2428875"/>
            <a:ext cx="8801735" cy="2030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8000"/>
              <a:t>THANK YOU</a:t>
            </a:r>
            <a:endParaRPr lang="en-US" altLang="zh-CN" sz="8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DA2NGM4M2Q0MTk3ZmNiZjdiODk3MzMwMTRmZjYwOTIifQ=="/>
  <p:tag name="KSO_WPP_MARK_KEY" val="1166db0c-4b7c-41cc-b0a4-0dfb7ed5b7d7"/>
  <p:tag name="commondata" val="eyJoZGlkIjoiNzg0NDE3YzllNzczMGY3MTQ1OTYyNGM3NDBkNmM5NTcifQ=="/>
</p:tagLst>
</file>

<file path=ppt/theme/theme1.xml><?xml version="1.0" encoding="utf-8"?>
<a:theme xmlns:a="http://schemas.openxmlformats.org/drawingml/2006/main" name="Office 主题​​">
  <a:themeElements>
    <a:clrScheme name="自定义 14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4B296"/>
      </a:accent1>
      <a:accent2>
        <a:srgbClr val="D4B29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8">
      <a:majorFont>
        <a:latin typeface="思源黑体 CN Medium"/>
        <a:ea typeface="思源黑体 CN Medium"/>
        <a:cs typeface=""/>
      </a:majorFont>
      <a:minorFont>
        <a:latin typeface="思源黑体 CN Medium"/>
        <a:ea typeface="思源黑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1449</Words>
  <Application>WPS 演示</Application>
  <PresentationFormat>宽屏</PresentationFormat>
  <Paragraphs>195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8" baseType="lpstr">
      <vt:lpstr>Arial</vt:lpstr>
      <vt:lpstr>宋体</vt:lpstr>
      <vt:lpstr>Wingdings</vt:lpstr>
      <vt:lpstr>思源黑体</vt:lpstr>
      <vt:lpstr>黑体</vt:lpstr>
      <vt:lpstr>思源黑体 CN Medium</vt:lpstr>
      <vt:lpstr>Aptos</vt:lpstr>
      <vt:lpstr>Segoe UI</vt:lpstr>
      <vt:lpstr>Aptos</vt:lpstr>
      <vt:lpstr>Aptos</vt:lpstr>
      <vt:lpstr>Aptos Display</vt:lpstr>
      <vt:lpstr>Aptos Display</vt:lpstr>
      <vt:lpstr>Aptos Display</vt:lpstr>
      <vt:lpstr>微软雅黑</vt:lpstr>
      <vt:lpstr>Arial Unicode MS</vt:lpstr>
      <vt:lpstr>Calibri</vt:lpstr>
      <vt:lpstr>Wingdings</vt:lpstr>
      <vt:lpstr>思源黑体 CN Medium</vt:lpstr>
      <vt:lpstr>Segoe UI Variable Display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翰星 昔</dc:creator>
  <cp:lastModifiedBy>宋航</cp:lastModifiedBy>
  <cp:revision>56</cp:revision>
  <dcterms:created xsi:type="dcterms:W3CDTF">2024-03-22T13:03:00Z</dcterms:created>
  <dcterms:modified xsi:type="dcterms:W3CDTF">2026-01-22T18:39:00Z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AFD5C178861C42509AEB73D327E69044_11</vt:lpwstr>
  </property>
  <property fmtid="{D5CDD505-2E9C-101B-9397-08002B2CF9AE}" pid="3" name="KSOProductBuildVer">
    <vt:lpwstr>2052-12.1.0.21541</vt:lpwstr>
  </property>
</Properties>
</file>