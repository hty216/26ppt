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256" r:id="rId3"/>
    <p:sldId id="258" r:id="rId4"/>
    <p:sldId id="259" r:id="rId5"/>
    <p:sldId id="265" r:id="rId6"/>
    <p:sldId id="264" r:id="rId7"/>
    <p:sldId id="266" r:id="rId8"/>
    <p:sldId id="262" r:id="rId9"/>
    <p:sldId id="270" r:id="rId10"/>
    <p:sldId id="260" r:id="rId11"/>
    <p:sldId id="261" r:id="rId12"/>
    <p:sldId id="268" r:id="rId13"/>
    <p:sldId id="272" r:id="rId14"/>
    <p:sldId id="269" r:id="rId15"/>
    <p:sldId id="267" r:id="rId16"/>
    <p:sldId id="271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6" d="100"/>
          <a:sy n="156" d="100"/>
        </p:scale>
        <p:origin x="45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9A03CA-99B4-4471-BAC6-6EE36A53A802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F2E919-D12E-4DD9-A3AF-D9C6D80579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1184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F2E919-D12E-4DD9-A3AF-D9C6D80579F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60574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F2E919-D12E-4DD9-A3AF-D9C6D80579FE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7451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F2E919-D12E-4DD9-A3AF-D9C6D80579FE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27571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F2E919-D12E-4DD9-A3AF-D9C6D80579FE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8182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E55D6C-71EE-DD51-8D6C-B0D79A7127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D4B4E1E-6EC4-0388-B91A-AB4FD18FF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938C3C-61C8-32F8-5DCF-06A1FBB4F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8CE14-DB69-476A-89ED-F37863CBA8A6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F380D8-09C0-BB87-4500-3823B2EEB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DD8E3F-6C6D-242C-1042-AEFB5B626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090A0-51ED-433D-95CF-2A6B14C32A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9892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849081-AED3-26D2-39A2-855A7F268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030D63-369D-292C-17D7-C71E98591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2AB119-BFF9-03A3-6655-DCF1C448A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8CE14-DB69-476A-89ED-F37863CBA8A6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2124B0-71FE-0D23-69D1-0CCF37C43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FB93F5-C8FB-EBBB-A8F7-F3801549D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090A0-51ED-433D-95CF-2A6B14C32A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6694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2D08EE-D4EE-7E5D-73D0-F2FF4B0F1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4E2D680-EBE4-8CE5-D759-0AB275DB8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122F49-578A-47A8-0FFB-147941427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8CE14-DB69-476A-89ED-F37863CBA8A6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E450FD-45DB-6773-D32F-51854E509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50B233-66FA-574F-CA0D-6B5916554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090A0-51ED-433D-95CF-2A6B14C32A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4220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D0DEDE-44A0-365A-E60C-BB3DF0DC3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F24708-5877-8EC7-EFA6-810B4BFF1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C8ECF75-1EB7-FCFC-5F18-BDB674A01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9396E3-E2BB-EF8F-DDD5-B9D846C76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8CE14-DB69-476A-89ED-F37863CBA8A6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145B187-77C6-073E-04AB-1E9D1395A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0FF987E-A649-E107-515F-5DBEF65B8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090A0-51ED-433D-95CF-2A6B14C32A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1600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11AD1D-6906-C3AA-21B6-1CF338854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2836A2-07BD-2BBC-0EFB-3CED9BBBFB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2EE1FC1-28FD-CFB3-5998-55D96800DB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1B47F53-19B4-76B2-504A-2DC12E0764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ED8F388-BD5A-4870-1D71-7143BB9207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BC27130-0F18-5DD4-13FD-41EAA1299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8CE14-DB69-476A-89ED-F37863CBA8A6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691FAFF-6703-648C-4C82-BED48E9E6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2D8287E-0D60-CEEC-DBD3-43C955C64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090A0-51ED-433D-95CF-2A6B14C32A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9935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5A9582-F641-465C-B7D6-9E25E27E6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946A89B-6AA3-8D10-2E08-D3C03C762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8CE14-DB69-476A-89ED-F37863CBA8A6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CC2F56B-DB2C-DA40-F973-6F9D7C2D2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7019B22-0C5D-F42B-6985-572438AD6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090A0-51ED-433D-95CF-2A6B14C32A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5358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0F59648-6417-88E0-5AB3-D0FD44FEA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8CE14-DB69-476A-89ED-F37863CBA8A6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D507453-D94D-D358-D8C6-EB3C6FA00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71C99E-FC85-9426-DC1F-D0CB122E1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090A0-51ED-433D-95CF-2A6B14C32A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4138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FB7D6D-7996-952D-20A8-B0EF310C9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F77375-7F6B-0662-EF1C-BF0DD0CFB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595EC6B-50AB-67B3-D125-5FB75325DF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F1591E-C906-AFE0-A631-5D450D7EE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8CE14-DB69-476A-89ED-F37863CBA8A6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6DD7E65-9061-FAA9-0BC3-0DDBE1792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A391E9-0DE4-6856-F96E-8FD64E507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090A0-51ED-433D-95CF-2A6B14C32A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7358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9CBF27-3F75-A457-133E-B6D0BBC57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9AE2A13-9AC4-3DF7-615C-3877176DBA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1201CFB-31F7-DD4B-7E0C-5F88932C3A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21753AD-1753-5582-DF16-ED2357C50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8CE14-DB69-476A-89ED-F37863CBA8A6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89B082A-D377-5FC1-4887-26AEF6AAB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B075166-2C15-3145-C3A3-FABC32985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090A0-51ED-433D-95CF-2A6B14C32A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5766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A006C6-6873-C932-5C67-798B7F7A2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FC83BAA-135A-3567-0261-6FBCC9AD02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7BB2FB-BE06-AB5E-477B-F6BF09201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8CE14-DB69-476A-89ED-F37863CBA8A6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2B30B3-8B6F-A3A3-DB4D-83FCF3A29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4DEE9F-24D3-4BBD-CA6C-4AADE6AE2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090A0-51ED-433D-95CF-2A6B14C32A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2597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01F5659-EBAC-D8B3-EB6C-70DA490CA4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935B0B7-57EF-14D1-4B46-D31913F745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F91573-8F6E-A94B-EF9E-06A58842F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8CE14-DB69-476A-89ED-F37863CBA8A6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A6D34E-AD6D-5B61-D43E-EDAD987EB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CD5538-BC74-A454-53F6-31E306576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090A0-51ED-433D-95CF-2A6B14C32A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221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F4E0C7B-C3D6-1354-5115-B0B9B0EEE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22FC4B-F4FB-7316-702B-077E728D69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FDFC16-998F-488E-39A3-B63BE773A5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48CE14-DB69-476A-89ED-F37863CBA8A6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5CD495-6B79-AF90-C9A9-92989570D2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EBE129-AF3A-26F7-CF1F-6A2B0D1943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1090A0-51ED-433D-95CF-2A6B14C32A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8574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1F4DE344-38ED-AE95-E7DF-E87425206ACF}"/>
              </a:ext>
            </a:extLst>
          </p:cNvPr>
          <p:cNvSpPr txBox="1"/>
          <p:nvPr/>
        </p:nvSpPr>
        <p:spPr>
          <a:xfrm>
            <a:off x="267462" y="320040"/>
            <a:ext cx="73769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Rethinking Multi-Modal Object Detection from the Perspective of</a:t>
            </a:r>
          </a:p>
          <a:p>
            <a:r>
              <a:rPr lang="en-US" altLang="zh-CN" dirty="0"/>
              <a:t>Mono-Modality Feature Learning</a:t>
            </a:r>
            <a:endParaRPr lang="zh-CN" altLang="en-US" dirty="0"/>
          </a:p>
        </p:txBody>
      </p:sp>
      <p:pic>
        <p:nvPicPr>
          <p:cNvPr id="21" name="图片 20" descr="图示&#10;&#10;AI 生成的内容可能不正确。">
            <a:extLst>
              <a:ext uri="{FF2B5EF4-FFF2-40B4-BE49-F238E27FC236}">
                <a16:creationId xmlns:a16="http://schemas.microsoft.com/office/drawing/2014/main" id="{9256074A-E3FE-6B74-A107-EDCE83F1B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808" y="1199838"/>
            <a:ext cx="9457004" cy="5164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473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4F8EA49-BD0D-5E06-7930-178B74A498D9}"/>
              </a:ext>
            </a:extLst>
          </p:cNvPr>
          <p:cNvSpPr txBox="1"/>
          <p:nvPr/>
        </p:nvSpPr>
        <p:spPr>
          <a:xfrm>
            <a:off x="292608" y="444725"/>
            <a:ext cx="10460736" cy="538333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# HSV</a:t>
            </a: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img_v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torch</a:t>
            </a:r>
            <a:r>
              <a:rPr lang="en-US" altLang="zh-CN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RGB_img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dim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keepdim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img_v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img_v</a:t>
            </a:r>
            <a:r>
              <a:rPr lang="en-US" altLang="zh-CN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detach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gt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pool_for_FIA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img_v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b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altLang="zh-CN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YCbCr</a:t>
            </a: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r = </a:t>
            </a:r>
            <a:r>
              <a:rPr lang="en-US" altLang="zh-CN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RGB_img</a:t>
            </a: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[:, 0, :, :]</a:t>
            </a: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g = </a:t>
            </a:r>
            <a:r>
              <a:rPr lang="en-US" altLang="zh-CN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RGB_img</a:t>
            </a: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[:, 1, :, :]</a:t>
            </a: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b = </a:t>
            </a:r>
            <a:r>
              <a:rPr lang="en-US" altLang="zh-CN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RGB_img</a:t>
            </a: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[:, 2, :, :]</a:t>
            </a: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y = 0.299 * r + 0.587 * g + 0.114 * b</a:t>
            </a: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altLang="zh-CN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gt</a:t>
            </a: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self.pool_for_FIA</a:t>
            </a: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(y)</a:t>
            </a: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b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FIA_module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altLang="zh-CN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.model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FIA_module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RGB_img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illumination_loss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torch</a:t>
            </a:r>
            <a:r>
              <a:rPr lang="en-US" altLang="zh-CN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abs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gt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altLang="zh-CN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mean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 </a:t>
            </a: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altLang="zh-CN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no_sup</a:t>
            </a: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illumination_loss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*=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1.3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weight</a:t>
            </a: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loss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illumination_loss</a:t>
            </a: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loss_items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torch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cat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(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    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loss_items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illumination_loss</a:t>
            </a:r>
            <a:r>
              <a:rPr lang="en-US" altLang="zh-CN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unsqueeze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altLang="zh-CN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detach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()),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dim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FF8F03A-00B5-F3F1-060C-3602DC9F9EF2}"/>
              </a:ext>
            </a:extLst>
          </p:cNvPr>
          <p:cNvSpPr txBox="1"/>
          <p:nvPr/>
        </p:nvSpPr>
        <p:spPr>
          <a:xfrm>
            <a:off x="685800" y="706776"/>
            <a:ext cx="1133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bg1">
                    <a:lumMod val="95000"/>
                  </a:schemeClr>
                </a:solidFill>
              </a:rPr>
              <a:t>HSV</a:t>
            </a:r>
          </a:p>
          <a:p>
            <a:r>
              <a:rPr lang="en-US" altLang="zh-CN" sz="1400" dirty="0" err="1">
                <a:solidFill>
                  <a:schemeClr val="bg1">
                    <a:lumMod val="95000"/>
                  </a:schemeClr>
                </a:solidFill>
              </a:rPr>
              <a:t>YCBCr</a:t>
            </a:r>
            <a:endParaRPr lang="zh-CN" alt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0DC300C-1A29-F6FA-BC90-5F8546CEB5F7}"/>
              </a:ext>
            </a:extLst>
          </p:cNvPr>
          <p:cNvSpPr txBox="1"/>
          <p:nvPr/>
        </p:nvSpPr>
        <p:spPr>
          <a:xfrm>
            <a:off x="7293864" y="860664"/>
            <a:ext cx="27828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</a:rPr>
              <a:t>取最高值作为</a:t>
            </a:r>
            <a:r>
              <a:rPr lang="en-US" altLang="zh-CN" sz="1400" dirty="0">
                <a:solidFill>
                  <a:schemeClr val="bg1">
                    <a:lumMod val="95000"/>
                  </a:schemeClr>
                </a:solidFill>
              </a:rPr>
              <a:t>V</a:t>
            </a: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</a:rPr>
              <a:t>值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A23D76E-CB61-DBF6-183E-5E88FFF3B490}"/>
              </a:ext>
            </a:extLst>
          </p:cNvPr>
          <p:cNvSpPr txBox="1"/>
          <p:nvPr/>
        </p:nvSpPr>
        <p:spPr>
          <a:xfrm>
            <a:off x="7586472" y="4103736"/>
            <a:ext cx="27828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</a:rPr>
              <a:t>提取的亮度值用作监督</a:t>
            </a:r>
            <a:endParaRPr lang="en-US" altLang="zh-CN" sz="14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</a:rPr>
              <a:t>加到总损失里面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E0182C4-CBB5-6456-CFF5-578A332AE031}"/>
              </a:ext>
            </a:extLst>
          </p:cNvPr>
          <p:cNvSpPr txBox="1"/>
          <p:nvPr/>
        </p:nvSpPr>
        <p:spPr>
          <a:xfrm>
            <a:off x="6096000" y="2009309"/>
            <a:ext cx="27828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</a:rPr>
              <a:t>相比于</a:t>
            </a:r>
            <a:r>
              <a:rPr lang="en-US" altLang="zh-CN" sz="1400" dirty="0">
                <a:solidFill>
                  <a:schemeClr val="bg1">
                    <a:lumMod val="95000"/>
                  </a:schemeClr>
                </a:solidFill>
              </a:rPr>
              <a:t>HSV</a:t>
            </a: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</a:rPr>
              <a:t>，</a:t>
            </a:r>
            <a:r>
              <a:rPr lang="en-US" altLang="zh-CN" sz="1400" dirty="0">
                <a:solidFill>
                  <a:schemeClr val="bg1">
                    <a:lumMod val="95000"/>
                  </a:schemeClr>
                </a:solidFill>
              </a:rPr>
              <a:t>YUV</a:t>
            </a: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</a:rPr>
              <a:t>基于人眼对颜色的感受加权了一下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3A274E0-35B9-B73D-C860-FF6D55F6C999}"/>
              </a:ext>
            </a:extLst>
          </p:cNvPr>
          <p:cNvSpPr txBox="1"/>
          <p:nvPr/>
        </p:nvSpPr>
        <p:spPr>
          <a:xfrm>
            <a:off x="6096000" y="2825302"/>
            <a:ext cx="29839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</a:rPr>
              <a:t>没用</a:t>
            </a:r>
            <a:r>
              <a:rPr lang="en-US" altLang="zh-CN" sz="1400" dirty="0">
                <a:solidFill>
                  <a:schemeClr val="bg1">
                    <a:lumMod val="95000"/>
                  </a:schemeClr>
                </a:solidFill>
              </a:rPr>
              <a:t>LAB</a:t>
            </a: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</a:rPr>
              <a:t>可能是因为计算复杂</a:t>
            </a:r>
          </a:p>
        </p:txBody>
      </p:sp>
    </p:spTree>
    <p:extLst>
      <p:ext uri="{BB962C8B-B14F-4D97-AF65-F5344CB8AC3E}">
        <p14:creationId xmlns:p14="http://schemas.microsoft.com/office/powerpoint/2010/main" val="3949371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EF2C302-828D-25F8-F70D-F0C86CEB0BB9}"/>
              </a:ext>
            </a:extLst>
          </p:cNvPr>
          <p:cNvSpPr txBox="1"/>
          <p:nvPr/>
        </p:nvSpPr>
        <p:spPr>
          <a:xfrm>
            <a:off x="246888" y="287199"/>
            <a:ext cx="11826240" cy="608243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zh-CN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Parameters</a:t>
            </a: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nc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number of classes</a:t>
            </a: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scales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model compound scaling constants, i.e. 'model=yolov8n.yaml' will call yolov8.yaml with scale 'n'</a:t>
            </a: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[depth, width, </a:t>
            </a:r>
            <a:r>
              <a:rPr lang="en-US" altLang="zh-CN" sz="14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max_channels</a:t>
            </a:r>
            <a:r>
              <a:rPr lang="en-US" altLang="zh-CN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]</a:t>
            </a: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0.33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0.25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1024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zh-CN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YOLOv8n summary: 225 layers,  3157200 parameters,  3157184 gradients,   8.9 GFLOPs</a:t>
            </a: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0.33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0.50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1024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zh-CN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YOLOv8s summary: 225 layers, 11166560 parameters, 11166544 gradients,  28.8 GFLOPs</a:t>
            </a: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0.67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0.75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768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zh-CN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YOLOv8m summary: 295 layers, 25902640 parameters, 25902624 gradients,  79.3 GFLOPs</a:t>
            </a: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1.00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1.00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512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zh-CN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YOLOv8l summary: 365 layers, 43691520 parameters, 43691504 gradients, 165.7 GFLOPs</a:t>
            </a: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1.00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1.25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512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zh-CN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YOLOv8x summary: 365 layers, 68229648 parameters, 68229632 gradients, 258.5 GFLOPs</a:t>
            </a: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b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YOLOv8.0n backbone</a:t>
            </a: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backbone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[from, repeats, module, </a:t>
            </a:r>
            <a:r>
              <a:rPr lang="en-US" altLang="zh-CN" sz="14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zh-CN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]</a:t>
            </a: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Conv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]] </a:t>
            </a:r>
            <a:r>
              <a:rPr lang="en-US" altLang="zh-CN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0-P1/2</a:t>
            </a: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Conv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128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]] </a:t>
            </a:r>
            <a:r>
              <a:rPr lang="en-US" altLang="zh-CN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1-P2/4</a:t>
            </a: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C2f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128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]]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Conv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256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]] </a:t>
            </a:r>
            <a:r>
              <a:rPr lang="en-US" altLang="zh-CN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3-P3/8</a:t>
            </a: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C2f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256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]]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Conv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512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]] </a:t>
            </a:r>
            <a:r>
              <a:rPr lang="en-US" altLang="zh-CN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5-P4/16</a:t>
            </a: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C2f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512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]]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Conv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1024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]] </a:t>
            </a:r>
            <a:r>
              <a:rPr lang="en-US" altLang="zh-CN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7-P5/32</a:t>
            </a: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C2f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1024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]]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SPPF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1024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]] </a:t>
            </a:r>
            <a:r>
              <a:rPr lang="en-US" altLang="zh-CN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9</a:t>
            </a: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b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8729C35-E4A7-2B82-948E-2DB3C83F881C}"/>
              </a:ext>
            </a:extLst>
          </p:cNvPr>
          <p:cNvSpPr txBox="1"/>
          <p:nvPr/>
        </p:nvSpPr>
        <p:spPr>
          <a:xfrm>
            <a:off x="6031993" y="633446"/>
            <a:ext cx="5797296" cy="5389937"/>
          </a:xfrm>
          <a:prstGeom prst="rect">
            <a:avLst/>
          </a:prstGeom>
          <a:solidFill>
            <a:schemeClr val="dk1"/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# YOLOv8.0n head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方正姚体" panose="02010601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head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  - [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-1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1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nn.Upsample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, [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None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2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"nearest"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]]</a:t>
            </a: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  - [[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-1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6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],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1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Concat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, [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1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]]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# cat backbone P4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方正姚体" panose="02010601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  - [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-1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C2f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, [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512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]]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# 12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方正姚体" panose="02010601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</a:b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方正姚体" panose="02010601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  - [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-1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1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nn.Upsample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, [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None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2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"nearest"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]]</a:t>
            </a: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  - [[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-1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4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],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1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Concat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, [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1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]]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# cat backbone P3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方正姚体" panose="02010601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  - [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-1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C2f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, [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256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]]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# 15 (P3/8-small)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方正姚体" panose="02010601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</a:b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方正姚体" panose="02010601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  - [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-1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1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Conv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, [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256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2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]]</a:t>
            </a: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  - [[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-1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12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],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1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Concat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, [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1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]]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# cat head P4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方正姚体" panose="02010601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  - [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-1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C2f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, [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512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]]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# 18 (P4/16-medium)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方正姚体" panose="02010601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</a:b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方正姚体" panose="02010601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  - [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-1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1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Conv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, [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512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2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]]</a:t>
            </a: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  - [[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-1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9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],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1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Concat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, [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1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]]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# cat head P5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方正姚体" panose="02010601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  - [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-1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C2f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, [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1024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]]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# 21 (P5/32-large)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方正姚体" panose="02010601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</a:b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方正姚体" panose="02010601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  - [[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15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18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21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],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1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Detect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, [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nc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]]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方正姚体" panose="02010601030101010101" pitchFamily="2" charset="-122"/>
                <a:cs typeface="+mn-cs"/>
              </a:rPr>
              <a:t># Detect(P3, P4, P5)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92E4CC7-0A00-A600-E294-97189382B420}"/>
              </a:ext>
            </a:extLst>
          </p:cNvPr>
          <p:cNvSpPr txBox="1"/>
          <p:nvPr/>
        </p:nvSpPr>
        <p:spPr>
          <a:xfrm>
            <a:off x="726947" y="3328415"/>
            <a:ext cx="2883027" cy="229173"/>
          </a:xfrm>
          <a:prstGeom prst="rect">
            <a:avLst/>
          </a:prstGeom>
          <a:noFill/>
          <a:ln w="285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96B755C-C5A9-EDEC-41A7-7CF571DB2E74}"/>
              </a:ext>
            </a:extLst>
          </p:cNvPr>
          <p:cNvSpPr txBox="1"/>
          <p:nvPr/>
        </p:nvSpPr>
        <p:spPr>
          <a:xfrm>
            <a:off x="3590545" y="5445537"/>
            <a:ext cx="2441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</a:rPr>
              <a:t>层数索引</a:t>
            </a:r>
            <a:endParaRPr lang="en-US" altLang="zh-CN" sz="1400" dirty="0">
              <a:solidFill>
                <a:schemeClr val="bg1"/>
              </a:solidFill>
            </a:endParaRPr>
          </a:p>
          <a:p>
            <a:r>
              <a:rPr lang="zh-CN" altLang="en-US" sz="1400" dirty="0">
                <a:solidFill>
                  <a:schemeClr val="bg1"/>
                </a:solidFill>
              </a:rPr>
              <a:t>第</a:t>
            </a:r>
            <a:r>
              <a:rPr lang="en-US" altLang="zh-CN" sz="1400" dirty="0">
                <a:solidFill>
                  <a:schemeClr val="bg1"/>
                </a:solidFill>
              </a:rPr>
              <a:t>n</a:t>
            </a:r>
            <a:r>
              <a:rPr lang="zh-CN" altLang="en-US" sz="1400" dirty="0">
                <a:solidFill>
                  <a:schemeClr val="bg1"/>
                </a:solidFill>
              </a:rPr>
              <a:t>特征层</a:t>
            </a:r>
            <a:r>
              <a:rPr lang="en-US" altLang="zh-CN" sz="1400" dirty="0">
                <a:solidFill>
                  <a:schemeClr val="bg1"/>
                </a:solidFill>
              </a:rPr>
              <a:t>/</a:t>
            </a:r>
            <a:r>
              <a:rPr lang="zh-CN" altLang="en-US" sz="1400" dirty="0">
                <a:solidFill>
                  <a:schemeClr val="bg1"/>
                </a:solidFill>
              </a:rPr>
              <a:t>是原图</a:t>
            </a:r>
            <a:r>
              <a:rPr lang="en-US" altLang="zh-CN" sz="1400" dirty="0">
                <a:solidFill>
                  <a:schemeClr val="bg1"/>
                </a:solidFill>
              </a:rPr>
              <a:t>m</a:t>
            </a:r>
            <a:r>
              <a:rPr lang="zh-CN" altLang="en-US" sz="1400" dirty="0">
                <a:solidFill>
                  <a:schemeClr val="bg1"/>
                </a:solidFill>
              </a:rPr>
              <a:t>分之一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D529DBA-7782-D54A-C590-8B4D25BCC490}"/>
              </a:ext>
            </a:extLst>
          </p:cNvPr>
          <p:cNvSpPr txBox="1"/>
          <p:nvPr/>
        </p:nvSpPr>
        <p:spPr>
          <a:xfrm>
            <a:off x="726947" y="2378496"/>
            <a:ext cx="17922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</a:rPr>
              <a:t>堆叠块数量，通道数</a:t>
            </a:r>
          </a:p>
        </p:txBody>
      </p:sp>
    </p:spTree>
    <p:extLst>
      <p:ext uri="{BB962C8B-B14F-4D97-AF65-F5344CB8AC3E}">
        <p14:creationId xmlns:p14="http://schemas.microsoft.com/office/powerpoint/2010/main" val="3134765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11DB268-3858-E3DF-E2CF-AA3343723786}"/>
              </a:ext>
            </a:extLst>
          </p:cNvPr>
          <p:cNvSpPr txBox="1"/>
          <p:nvPr/>
        </p:nvSpPr>
        <p:spPr>
          <a:xfrm>
            <a:off x="73152" y="70388"/>
            <a:ext cx="12006072" cy="671722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ts val="1200"/>
              </a:lnSpc>
              <a:buNone/>
            </a:pPr>
            <a:r>
              <a:rPr lang="en-US" altLang="zh-CN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</a:t>
            </a: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nc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FLIR</a:t>
            </a: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endParaRPr lang="en-US" altLang="zh-CN" sz="1400" b="0" dirty="0">
              <a:solidFill>
                <a:srgbClr val="569CD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backbone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 ] ]  </a:t>
            </a:r>
            <a:r>
              <a:rPr lang="en-US" altLang="zh-CN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0</a:t>
            </a: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Multiin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 ]  </a:t>
            </a:r>
            <a:r>
              <a:rPr lang="en-US" altLang="zh-CN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1</a:t>
            </a: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LIF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[] ] </a:t>
            </a:r>
            <a:r>
              <a:rPr lang="en-US" altLang="zh-CN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2</a:t>
            </a: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-3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Multiin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 ]  </a:t>
            </a:r>
            <a:r>
              <a:rPr lang="en-US" altLang="zh-CN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3</a:t>
            </a: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-3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Conv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 ]  </a:t>
            </a:r>
            <a:r>
              <a:rPr lang="en-US" altLang="zh-CN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4-P1/2</a:t>
            </a: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-2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Conv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 ]</a:t>
            </a:r>
          </a:p>
          <a:p>
            <a:pPr>
              <a:lnSpc>
                <a:spcPts val="1200"/>
              </a:lnSpc>
              <a:buNone/>
            </a:pP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-2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Conv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128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 ]  </a:t>
            </a:r>
            <a:r>
              <a:rPr lang="en-US" altLang="zh-CN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6-P2/4</a:t>
            </a: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-2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Conv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128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 ]</a:t>
            </a:r>
            <a:b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-2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C2f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128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 ]  </a:t>
            </a:r>
            <a:r>
              <a:rPr lang="en-US" altLang="zh-CN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8</a:t>
            </a: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-2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C2f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128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 ]</a:t>
            </a:r>
          </a:p>
          <a:p>
            <a:pPr>
              <a:lnSpc>
                <a:spcPts val="1200"/>
              </a:lnSpc>
              <a:buNone/>
            </a:pP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-2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Conv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256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 ]  </a:t>
            </a:r>
            <a:r>
              <a:rPr lang="en-US" altLang="zh-CN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10-P3/8</a:t>
            </a: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-2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Conv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256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 ]</a:t>
            </a:r>
            <a:b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-2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C2f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256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 ]  </a:t>
            </a:r>
            <a:r>
              <a:rPr lang="en-US" altLang="zh-CN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12</a:t>
            </a: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-2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C2f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256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 ]</a:t>
            </a:r>
            <a:b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 [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-2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LIFAdd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 ]  </a:t>
            </a:r>
            <a:r>
              <a:rPr lang="en-US" altLang="zh-CN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14</a:t>
            </a:r>
            <a:b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-3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Conv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512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 ]  </a:t>
            </a:r>
            <a:r>
              <a:rPr lang="en-US" altLang="zh-CN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15-P4/16</a:t>
            </a: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-3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Conv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512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 ]</a:t>
            </a:r>
            <a:b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-2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C2f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512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 ]  </a:t>
            </a:r>
            <a:r>
              <a:rPr lang="en-US" altLang="zh-CN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17</a:t>
            </a: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-2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C2f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512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 ]</a:t>
            </a:r>
            <a:b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 [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-2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LIFAdd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 ]  </a:t>
            </a:r>
            <a:r>
              <a:rPr lang="en-US" altLang="zh-CN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19</a:t>
            </a:r>
            <a:b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-3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Conv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1024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 ]  </a:t>
            </a:r>
            <a:r>
              <a:rPr lang="en-US" altLang="zh-CN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20-P5/32</a:t>
            </a: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-3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Conv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1024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 ]</a:t>
            </a:r>
            <a:b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-2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C2f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1024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 ] </a:t>
            </a:r>
            <a:r>
              <a:rPr lang="en-US" altLang="zh-CN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22</a:t>
            </a: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-2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C2f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1024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 ]</a:t>
            </a:r>
          </a:p>
          <a:p>
            <a:pPr>
              <a:lnSpc>
                <a:spcPts val="1200"/>
              </a:lnSpc>
              <a:buNone/>
            </a:pP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 [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-2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LIFAdd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 ] </a:t>
            </a:r>
            <a:r>
              <a:rPr lang="en-US" altLang="zh-CN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24</a:t>
            </a:r>
            <a:b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SPPF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512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 ] </a:t>
            </a:r>
            <a:r>
              <a:rPr lang="en-US" altLang="zh-CN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25</a:t>
            </a: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00CC5B5-D5AD-566D-8D2D-0F0922EA8BFD}"/>
              </a:ext>
            </a:extLst>
          </p:cNvPr>
          <p:cNvSpPr/>
          <p:nvPr/>
        </p:nvSpPr>
        <p:spPr>
          <a:xfrm>
            <a:off x="5501640" y="438912"/>
            <a:ext cx="1463040" cy="3200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MUL IN</a:t>
            </a: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B52D7D9-4911-DFAB-3BBC-9BE9D17AD12D}"/>
              </a:ext>
            </a:extLst>
          </p:cNvPr>
          <p:cNvSpPr/>
          <p:nvPr/>
        </p:nvSpPr>
        <p:spPr>
          <a:xfrm>
            <a:off x="5501640" y="847344"/>
            <a:ext cx="682752" cy="3200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RGB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A957DA4-ED7C-55C0-E200-9EA0A4C45F51}"/>
              </a:ext>
            </a:extLst>
          </p:cNvPr>
          <p:cNvSpPr/>
          <p:nvPr/>
        </p:nvSpPr>
        <p:spPr>
          <a:xfrm>
            <a:off x="5501640" y="1255776"/>
            <a:ext cx="1463040" cy="3200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LIF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B87E835-E1FA-87A2-1016-E56F51A64569}"/>
              </a:ext>
            </a:extLst>
          </p:cNvPr>
          <p:cNvSpPr/>
          <p:nvPr/>
        </p:nvSpPr>
        <p:spPr>
          <a:xfrm>
            <a:off x="7278624" y="438912"/>
            <a:ext cx="1463040" cy="3200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MUL IN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974B0A7-A79E-2727-51FF-8C80BB0BF5EF}"/>
              </a:ext>
            </a:extLst>
          </p:cNvPr>
          <p:cNvSpPr/>
          <p:nvPr/>
        </p:nvSpPr>
        <p:spPr>
          <a:xfrm>
            <a:off x="7278624" y="847344"/>
            <a:ext cx="682752" cy="3200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RGB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CF8B7F2-EC98-FC05-F969-F21C56A938AA}"/>
              </a:ext>
            </a:extLst>
          </p:cNvPr>
          <p:cNvSpPr/>
          <p:nvPr/>
        </p:nvSpPr>
        <p:spPr>
          <a:xfrm>
            <a:off x="9055608" y="438912"/>
            <a:ext cx="1463040" cy="3200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MUL IN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7ADDF52-6AA3-CADC-9361-8F1ACED66628}"/>
              </a:ext>
            </a:extLst>
          </p:cNvPr>
          <p:cNvSpPr/>
          <p:nvPr/>
        </p:nvSpPr>
        <p:spPr>
          <a:xfrm>
            <a:off x="9835896" y="847344"/>
            <a:ext cx="682752" cy="3200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IR</a:t>
            </a:r>
            <a:endParaRPr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7051986-B642-4808-710D-006094F32061}"/>
              </a:ext>
            </a:extLst>
          </p:cNvPr>
          <p:cNvSpPr/>
          <p:nvPr/>
        </p:nvSpPr>
        <p:spPr>
          <a:xfrm>
            <a:off x="7278624" y="1255776"/>
            <a:ext cx="1463040" cy="3200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Conv</a:t>
            </a:r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C901B81-5D42-1C65-89C7-1B09D8D3E0B6}"/>
              </a:ext>
            </a:extLst>
          </p:cNvPr>
          <p:cNvSpPr/>
          <p:nvPr/>
        </p:nvSpPr>
        <p:spPr>
          <a:xfrm>
            <a:off x="7278624" y="1664208"/>
            <a:ext cx="1463040" cy="3200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C2F</a:t>
            </a:r>
            <a:endParaRPr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D567D1A-BDDF-CE95-1D8A-9252C5D51E8A}"/>
              </a:ext>
            </a:extLst>
          </p:cNvPr>
          <p:cNvSpPr/>
          <p:nvPr/>
        </p:nvSpPr>
        <p:spPr>
          <a:xfrm>
            <a:off x="9055608" y="1255776"/>
            <a:ext cx="1463040" cy="3200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Conv</a:t>
            </a:r>
            <a:endParaRPr lang="zh-CN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193FBEF-F8BB-D3F0-CFF4-8D706085D9A4}"/>
              </a:ext>
            </a:extLst>
          </p:cNvPr>
          <p:cNvSpPr/>
          <p:nvPr/>
        </p:nvSpPr>
        <p:spPr>
          <a:xfrm>
            <a:off x="9055608" y="1664208"/>
            <a:ext cx="1463040" cy="3200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C2F</a:t>
            </a:r>
            <a:endParaRPr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53E13DB-48DD-3E8D-4C67-CE0B8F3F6ECC}"/>
              </a:ext>
            </a:extLst>
          </p:cNvPr>
          <p:cNvSpPr/>
          <p:nvPr/>
        </p:nvSpPr>
        <p:spPr>
          <a:xfrm>
            <a:off x="7278624" y="2494026"/>
            <a:ext cx="3240024" cy="3200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LIF ADD</a:t>
            </a:r>
            <a:endParaRPr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33187B2-FD5C-900A-072E-2D247849784A}"/>
              </a:ext>
            </a:extLst>
          </p:cNvPr>
          <p:cNvSpPr/>
          <p:nvPr/>
        </p:nvSpPr>
        <p:spPr>
          <a:xfrm>
            <a:off x="7278624" y="2079117"/>
            <a:ext cx="1463040" cy="3200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F12E3EE-BF1B-BC62-4E4D-52E08F2CC8D2}"/>
              </a:ext>
            </a:extLst>
          </p:cNvPr>
          <p:cNvSpPr/>
          <p:nvPr/>
        </p:nvSpPr>
        <p:spPr>
          <a:xfrm>
            <a:off x="9055608" y="2079117"/>
            <a:ext cx="1463040" cy="3200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3FD6E1B-51EA-D329-5AD6-1F5FBA3348FE}"/>
              </a:ext>
            </a:extLst>
          </p:cNvPr>
          <p:cNvSpPr/>
          <p:nvPr/>
        </p:nvSpPr>
        <p:spPr>
          <a:xfrm>
            <a:off x="7278624" y="2925841"/>
            <a:ext cx="1463040" cy="3200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Conv</a:t>
            </a:r>
            <a:endParaRPr lang="zh-CN" altLang="en-US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C2A0CE6-AB1A-199C-2E06-2F85AED3185D}"/>
              </a:ext>
            </a:extLst>
          </p:cNvPr>
          <p:cNvSpPr/>
          <p:nvPr/>
        </p:nvSpPr>
        <p:spPr>
          <a:xfrm>
            <a:off x="7278624" y="3334273"/>
            <a:ext cx="1463040" cy="3200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C2F</a:t>
            </a:r>
            <a:endParaRPr lang="zh-CN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3B86C3E-3D1D-1D35-9168-9815181CEC22}"/>
              </a:ext>
            </a:extLst>
          </p:cNvPr>
          <p:cNvSpPr/>
          <p:nvPr/>
        </p:nvSpPr>
        <p:spPr>
          <a:xfrm>
            <a:off x="9055608" y="2925841"/>
            <a:ext cx="1463040" cy="3200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Conv</a:t>
            </a:r>
            <a:endParaRPr lang="zh-CN" altLang="en-US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F1CC987-451B-FBDA-196A-4D15EE412493}"/>
              </a:ext>
            </a:extLst>
          </p:cNvPr>
          <p:cNvSpPr/>
          <p:nvPr/>
        </p:nvSpPr>
        <p:spPr>
          <a:xfrm>
            <a:off x="9055608" y="3334273"/>
            <a:ext cx="1463040" cy="3200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C2F</a:t>
            </a:r>
            <a:endParaRPr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CDEB248-8148-77DA-780C-76F9DBD6F005}"/>
              </a:ext>
            </a:extLst>
          </p:cNvPr>
          <p:cNvSpPr/>
          <p:nvPr/>
        </p:nvSpPr>
        <p:spPr>
          <a:xfrm>
            <a:off x="7278624" y="4138375"/>
            <a:ext cx="3240024" cy="3200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LIF ADD</a:t>
            </a:r>
            <a:endParaRPr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BAFBC21-22B6-0016-629A-E454CEE5ACEF}"/>
              </a:ext>
            </a:extLst>
          </p:cNvPr>
          <p:cNvSpPr/>
          <p:nvPr/>
        </p:nvSpPr>
        <p:spPr>
          <a:xfrm>
            <a:off x="7278624" y="3736324"/>
            <a:ext cx="1463040" cy="3200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7874574-E393-C532-70AC-DE802E9C516D}"/>
              </a:ext>
            </a:extLst>
          </p:cNvPr>
          <p:cNvSpPr/>
          <p:nvPr/>
        </p:nvSpPr>
        <p:spPr>
          <a:xfrm>
            <a:off x="9055608" y="3736324"/>
            <a:ext cx="1463040" cy="3200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648DE13-5E9D-27D9-279B-9F3720479122}"/>
              </a:ext>
            </a:extLst>
          </p:cNvPr>
          <p:cNvSpPr/>
          <p:nvPr/>
        </p:nvSpPr>
        <p:spPr>
          <a:xfrm>
            <a:off x="7278624" y="4540426"/>
            <a:ext cx="1463040" cy="3200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Conv</a:t>
            </a:r>
            <a:endParaRPr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F378229-64EF-050B-4219-7513A8730859}"/>
              </a:ext>
            </a:extLst>
          </p:cNvPr>
          <p:cNvSpPr/>
          <p:nvPr/>
        </p:nvSpPr>
        <p:spPr>
          <a:xfrm>
            <a:off x="7278624" y="4948858"/>
            <a:ext cx="1463040" cy="3200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C2F</a:t>
            </a:r>
            <a:endParaRPr lang="zh-CN" altLang="en-US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DF546B9-B36B-0579-94CA-41A5F3C63F7C}"/>
              </a:ext>
            </a:extLst>
          </p:cNvPr>
          <p:cNvSpPr/>
          <p:nvPr/>
        </p:nvSpPr>
        <p:spPr>
          <a:xfrm>
            <a:off x="9055608" y="4540426"/>
            <a:ext cx="1463040" cy="3200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Conv</a:t>
            </a:r>
            <a:endParaRPr lang="zh-CN" altLang="en-US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9CC1C2F-A4A9-541B-4C80-4078647ED3D9}"/>
              </a:ext>
            </a:extLst>
          </p:cNvPr>
          <p:cNvSpPr/>
          <p:nvPr/>
        </p:nvSpPr>
        <p:spPr>
          <a:xfrm>
            <a:off x="9055608" y="4948858"/>
            <a:ext cx="1463040" cy="3200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C2F</a:t>
            </a:r>
            <a:endParaRPr lang="zh-CN" altLang="en-US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AB83778-8B64-0380-F750-D0DDD5718D0D}"/>
              </a:ext>
            </a:extLst>
          </p:cNvPr>
          <p:cNvSpPr/>
          <p:nvPr/>
        </p:nvSpPr>
        <p:spPr>
          <a:xfrm>
            <a:off x="7278624" y="5752960"/>
            <a:ext cx="3240024" cy="3200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LIF ADD</a:t>
            </a:r>
            <a:endParaRPr lang="zh-CN" altLang="en-US" dirty="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D50C8E0-6906-7C5A-A82C-791D7E0694F4}"/>
              </a:ext>
            </a:extLst>
          </p:cNvPr>
          <p:cNvSpPr/>
          <p:nvPr/>
        </p:nvSpPr>
        <p:spPr>
          <a:xfrm>
            <a:off x="7278624" y="5350909"/>
            <a:ext cx="1463040" cy="3200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5DEE9B9-1C6E-032A-D8BE-91ABF9D17B33}"/>
              </a:ext>
            </a:extLst>
          </p:cNvPr>
          <p:cNvSpPr/>
          <p:nvPr/>
        </p:nvSpPr>
        <p:spPr>
          <a:xfrm>
            <a:off x="9055608" y="5350909"/>
            <a:ext cx="1463040" cy="3200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75382E1-92F1-C454-2DB4-03783DB1E10B}"/>
              </a:ext>
            </a:extLst>
          </p:cNvPr>
          <p:cNvSpPr/>
          <p:nvPr/>
        </p:nvSpPr>
        <p:spPr>
          <a:xfrm>
            <a:off x="7278624" y="6151413"/>
            <a:ext cx="3240024" cy="3200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SPPF</a:t>
            </a:r>
          </a:p>
        </p:txBody>
      </p:sp>
      <p:cxnSp>
        <p:nvCxnSpPr>
          <p:cNvPr id="38" name="连接符: 肘形 37">
            <a:extLst>
              <a:ext uri="{FF2B5EF4-FFF2-40B4-BE49-F238E27FC236}">
                <a16:creationId xmlns:a16="http://schemas.microsoft.com/office/drawing/2014/main" id="{28645F3C-8B85-EF1D-E2DD-69AFD530A6F1}"/>
              </a:ext>
            </a:extLst>
          </p:cNvPr>
          <p:cNvCxnSpPr>
            <a:stCxn id="6" idx="2"/>
            <a:endCxn id="19" idx="1"/>
          </p:cNvCxnSpPr>
          <p:nvPr/>
        </p:nvCxnSpPr>
        <p:spPr>
          <a:xfrm rot="16200000" flipH="1">
            <a:off x="6216777" y="1592199"/>
            <a:ext cx="1078230" cy="1045464"/>
          </a:xfrm>
          <a:prstGeom prst="bentConnector2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73D2B2FC-D1E0-2A47-2FAC-6C931A5FBC75}"/>
              </a:ext>
            </a:extLst>
          </p:cNvPr>
          <p:cNvCxnSpPr>
            <a:cxnSpLocks/>
            <a:endCxn id="26" idx="1"/>
          </p:cNvCxnSpPr>
          <p:nvPr/>
        </p:nvCxnSpPr>
        <p:spPr>
          <a:xfrm rot="16200000" flipH="1">
            <a:off x="5933718" y="2953488"/>
            <a:ext cx="1644349" cy="1045464"/>
          </a:xfrm>
          <a:prstGeom prst="bentConnector2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连接符: 肘形 41">
            <a:extLst>
              <a:ext uri="{FF2B5EF4-FFF2-40B4-BE49-F238E27FC236}">
                <a16:creationId xmlns:a16="http://schemas.microsoft.com/office/drawing/2014/main" id="{77FF6C81-D0E1-01AD-A600-885AE7E1CD31}"/>
              </a:ext>
            </a:extLst>
          </p:cNvPr>
          <p:cNvCxnSpPr>
            <a:cxnSpLocks/>
            <a:endCxn id="33" idx="1"/>
          </p:cNvCxnSpPr>
          <p:nvPr/>
        </p:nvCxnSpPr>
        <p:spPr>
          <a:xfrm rot="16200000" flipH="1">
            <a:off x="5948600" y="4582955"/>
            <a:ext cx="1614585" cy="1045464"/>
          </a:xfrm>
          <a:prstGeom prst="bentConnector2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0492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A361B0E-8FB1-C403-FADB-83E09F077179}"/>
              </a:ext>
            </a:extLst>
          </p:cNvPr>
          <p:cNvSpPr txBox="1"/>
          <p:nvPr/>
        </p:nvSpPr>
        <p:spPr>
          <a:xfrm>
            <a:off x="473964" y="484632"/>
            <a:ext cx="6887718" cy="5389937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zh-C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nn</a:t>
            </a:r>
            <a:r>
              <a:rPr lang="en-US" altLang="zh-CN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altLang="zh-CN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altLang="zh-CN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zh-CN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altLang="zh-CN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altLang="zh-CN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800"/>
              </a:lnSpc>
              <a:buNone/>
            </a:pPr>
            <a:b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forward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b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Multiin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nn</a:t>
            </a:r>
            <a:r>
              <a:rPr lang="en-US" altLang="zh-CN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  </a:t>
            </a:r>
            <a:r>
              <a:rPr lang="en-US" altLang="zh-CN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stereo attention block</a:t>
            </a: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altLang="zh-CN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altLang="zh-CN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zh-CN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altLang="zh-CN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altLang="zh-CN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</a:t>
            </a: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b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forward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x1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x2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[:, :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:, :], </a:t>
            </a:r>
            <a:r>
              <a:rPr lang="en-US" altLang="zh-C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[:,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:, :, :]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x1</a:t>
            </a: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x2</a:t>
            </a: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2348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6D57EA5-E81B-36DB-3589-5886343366A0}"/>
              </a:ext>
            </a:extLst>
          </p:cNvPr>
          <p:cNvSpPr txBox="1"/>
          <p:nvPr/>
        </p:nvSpPr>
        <p:spPr>
          <a:xfrm>
            <a:off x="242316" y="257628"/>
            <a:ext cx="5143500" cy="492827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zh-C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LIF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nn</a:t>
            </a:r>
            <a:r>
              <a:rPr lang="en-US" altLang="zh-CN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forward</a:t>
            </a:r>
            <a:r>
              <a:rPr lang="zh-CN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返回一个</a:t>
            </a: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80*80</a:t>
            </a:r>
            <a:r>
              <a:rPr lang="zh-CN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的权重图</a:t>
            </a:r>
            <a:endParaRPr lang="zh-CN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CN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altLang="zh-CN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altLang="zh-CN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LIF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altLang="zh-CN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altLang="zh-CN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altLang="zh-CN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640*640 -&gt; 80*80</a:t>
            </a: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conv1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Conv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32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conv2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Conv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32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conv3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Conv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conv4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Conv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relu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nn</a:t>
            </a:r>
            <a:r>
              <a:rPr lang="en-US" altLang="zh-CN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ReLU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800"/>
              </a:lnSpc>
              <a:buNone/>
            </a:pPr>
            <a:b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pool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nn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AvgPool2d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kernel_size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stride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b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forward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pool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conv1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pool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conv2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pool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conv3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relu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conv4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2FF342B-5AE6-985F-5BEC-77D0F1DD4692}"/>
              </a:ext>
            </a:extLst>
          </p:cNvPr>
          <p:cNvSpPr txBox="1"/>
          <p:nvPr/>
        </p:nvSpPr>
        <p:spPr>
          <a:xfrm>
            <a:off x="5832348" y="208342"/>
            <a:ext cx="6117336" cy="644131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ts val="1600"/>
              </a:lnSpc>
              <a:buNone/>
            </a:pPr>
            <a:r>
              <a:rPr lang="en-US" altLang="zh-C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LIFAdd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nn</a:t>
            </a:r>
            <a:r>
              <a:rPr lang="en-US" altLang="zh-CN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6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altLang="zh-CN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altLang="zh-CN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layer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6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LIFAdd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altLang="zh-CN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altLang="zh-CN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altLang="zh-CN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6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layer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layer</a:t>
            </a: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pool_layer4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nn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AvgPool2d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kernel_size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stride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pool_layer5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nn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AvgPool2d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kernel_size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stride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beta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0.4</a:t>
            </a: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  <a:buNone/>
            </a:pPr>
            <a:b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forward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6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x_ir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6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x_rgb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6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6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step1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0.31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0.63</a:t>
            </a: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  <a:buNone/>
            </a:pPr>
            <a:b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step2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torch</a:t>
            </a:r>
            <a:r>
              <a:rPr lang="en-US" altLang="zh-CN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clamp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step1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0.5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00"/>
              </a:lnSpc>
              <a:buNone/>
            </a:pPr>
            <a:b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beta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step2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0.5</a:t>
            </a: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layer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6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pass</a:t>
            </a: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2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layer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6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pool_layer4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2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layer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6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pool_layer5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h, w = </a:t>
            </a:r>
            <a:r>
              <a:rPr lang="en-US" altLang="zh-CN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x_rgb.shape</a:t>
            </a: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[2:]</a:t>
            </a: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print(h, w)</a:t>
            </a: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weight_rgb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</a:t>
            </a: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weight_ir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</a:t>
            </a: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weight_rgb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x_rgb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weight_ir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x_ir</a:t>
            </a: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E5600C5-6E8A-11DF-A3A5-9D74467ECDAB}"/>
              </a:ext>
            </a:extLst>
          </p:cNvPr>
          <p:cNvSpPr txBox="1"/>
          <p:nvPr/>
        </p:nvSpPr>
        <p:spPr>
          <a:xfrm>
            <a:off x="9272016" y="2659558"/>
            <a:ext cx="17465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</a:rPr>
              <a:t>这里其实是归一化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0F90B83-D1EA-3A66-1120-79F0F9E10EAC}"/>
              </a:ext>
            </a:extLst>
          </p:cNvPr>
          <p:cNvSpPr txBox="1"/>
          <p:nvPr/>
        </p:nvSpPr>
        <p:spPr>
          <a:xfrm>
            <a:off x="9272015" y="2967335"/>
            <a:ext cx="2677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</a:rPr>
              <a:t>将数值压缩到</a:t>
            </a:r>
            <a:r>
              <a:rPr lang="en-US" altLang="zh-CN" sz="1200" dirty="0">
                <a:solidFill>
                  <a:schemeClr val="bg1"/>
                </a:solidFill>
              </a:rPr>
              <a:t>0.3-0.7</a:t>
            </a:r>
            <a:r>
              <a:rPr lang="zh-CN" altLang="en-US" sz="1200" dirty="0">
                <a:solidFill>
                  <a:schemeClr val="bg1"/>
                </a:solidFill>
              </a:rPr>
              <a:t>之间</a:t>
            </a:r>
            <a:endParaRPr lang="en-US" altLang="zh-CN" sz="1200" dirty="0">
              <a:solidFill>
                <a:schemeClr val="bg1"/>
              </a:solidFill>
            </a:endParaRPr>
          </a:p>
          <a:p>
            <a:r>
              <a:rPr lang="zh-CN" altLang="en-US" sz="1200" dirty="0">
                <a:solidFill>
                  <a:schemeClr val="bg1"/>
                </a:solidFill>
              </a:rPr>
              <a:t>这么做可能源于后面要说的一个问题</a:t>
            </a:r>
          </a:p>
        </p:txBody>
      </p:sp>
    </p:spTree>
    <p:extLst>
      <p:ext uri="{BB962C8B-B14F-4D97-AF65-F5344CB8AC3E}">
        <p14:creationId xmlns:p14="http://schemas.microsoft.com/office/powerpoint/2010/main" val="2962557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8A34736-08F5-5674-DE44-A72F54CE1CFA}"/>
              </a:ext>
            </a:extLst>
          </p:cNvPr>
          <p:cNvSpPr txBox="1"/>
          <p:nvPr/>
        </p:nvSpPr>
        <p:spPr>
          <a:xfrm>
            <a:off x="347472" y="195410"/>
            <a:ext cx="1819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Drone Vehicle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0AF3FF2-6F23-33BF-217E-D4158BBB47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81" t="12144" r="10426" b="12068"/>
          <a:stretch>
            <a:fillRect/>
          </a:stretch>
        </p:blipFill>
        <p:spPr>
          <a:xfrm>
            <a:off x="7253830" y="65981"/>
            <a:ext cx="4187707" cy="336301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D97727B-26E8-E28A-046D-84FD6C6E88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49" t="12370" r="10122" b="12190"/>
          <a:stretch>
            <a:fillRect/>
          </a:stretch>
        </p:blipFill>
        <p:spPr>
          <a:xfrm>
            <a:off x="7309062" y="3336946"/>
            <a:ext cx="4143605" cy="334001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1DC4C8D-6265-BBA0-80EF-DE474EFB3368}"/>
              </a:ext>
            </a:extLst>
          </p:cNvPr>
          <p:cNvSpPr txBox="1"/>
          <p:nvPr/>
        </p:nvSpPr>
        <p:spPr>
          <a:xfrm>
            <a:off x="456819" y="564742"/>
            <a:ext cx="2055114" cy="147899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zh-C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names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car</a:t>
            </a: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truck</a:t>
            </a: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feright_car</a:t>
            </a: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bus</a:t>
            </a: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van</a:t>
            </a: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DB495EA-42BD-CE3F-6D7A-452C187FDE8D}"/>
              </a:ext>
            </a:extLst>
          </p:cNvPr>
          <p:cNvSpPr txBox="1"/>
          <p:nvPr/>
        </p:nvSpPr>
        <p:spPr>
          <a:xfrm>
            <a:off x="347472" y="2141324"/>
            <a:ext cx="4774692" cy="4716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&lt;annotation&gt;</a:t>
            </a:r>
          </a:p>
          <a:p>
            <a:pPr algn="l">
              <a:lnSpc>
                <a:spcPts val="1200"/>
              </a:lnSpc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&lt;folder&gt;5-11&lt;/folder&gt;</a:t>
            </a:r>
          </a:p>
          <a:p>
            <a:pPr algn="l">
              <a:lnSpc>
                <a:spcPts val="1200"/>
              </a:lnSpc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&lt;filename&gt;DJI_0318&lt;/filename&gt;</a:t>
            </a:r>
          </a:p>
          <a:p>
            <a:pPr algn="l">
              <a:lnSpc>
                <a:spcPts val="1200"/>
              </a:lnSpc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&lt;path&gt;E:\program\ProcessedData-20190617.part\5-11\DJI_0318.jpg&lt;/path&gt;</a:t>
            </a:r>
          </a:p>
          <a:p>
            <a:pPr algn="l">
              <a:lnSpc>
                <a:spcPts val="1200"/>
              </a:lnSpc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&lt;source&gt;</a:t>
            </a:r>
          </a:p>
          <a:p>
            <a:pPr algn="l">
              <a:lnSpc>
                <a:spcPts val="1200"/>
              </a:lnSpc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&lt;database&gt;Unknown&lt;/database&gt;</a:t>
            </a:r>
          </a:p>
          <a:p>
            <a:pPr algn="l">
              <a:lnSpc>
                <a:spcPts val="1200"/>
              </a:lnSpc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&lt;/source&gt;</a:t>
            </a:r>
          </a:p>
          <a:p>
            <a:pPr algn="l">
              <a:lnSpc>
                <a:spcPts val="1200"/>
              </a:lnSpc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&lt;size&gt;</a:t>
            </a:r>
          </a:p>
          <a:p>
            <a:pPr algn="l">
              <a:lnSpc>
                <a:spcPts val="1200"/>
              </a:lnSpc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&lt;width&gt;840&lt;/width&gt;</a:t>
            </a:r>
          </a:p>
          <a:p>
            <a:pPr algn="l">
              <a:lnSpc>
                <a:spcPts val="1200"/>
              </a:lnSpc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&lt;height&gt;712&lt;/height&gt;</a:t>
            </a:r>
          </a:p>
          <a:p>
            <a:pPr algn="l">
              <a:lnSpc>
                <a:spcPts val="1200"/>
              </a:lnSpc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&lt;depth&gt;3&lt;/depth&gt;</a:t>
            </a:r>
          </a:p>
          <a:p>
            <a:pPr algn="l">
              <a:lnSpc>
                <a:spcPts val="1200"/>
              </a:lnSpc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&lt;/size&gt;</a:t>
            </a:r>
          </a:p>
          <a:p>
            <a:pPr algn="l">
              <a:lnSpc>
                <a:spcPts val="1200"/>
              </a:lnSpc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&lt;segmented&gt;0&lt;/segmented&gt;</a:t>
            </a:r>
          </a:p>
          <a:p>
            <a:pPr algn="l">
              <a:lnSpc>
                <a:spcPts val="1200"/>
              </a:lnSpc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&lt;object&gt;</a:t>
            </a:r>
          </a:p>
          <a:p>
            <a:pPr algn="l">
              <a:lnSpc>
                <a:spcPts val="1200"/>
              </a:lnSpc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&lt;name&gt;car&lt;/name&gt;</a:t>
            </a:r>
          </a:p>
          <a:p>
            <a:pPr algn="l">
              <a:lnSpc>
                <a:spcPts val="1200"/>
              </a:lnSpc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&lt;pose&gt;Unspecified&lt;/pose&gt;</a:t>
            </a:r>
          </a:p>
          <a:p>
            <a:pPr algn="l">
              <a:lnSpc>
                <a:spcPts val="1200"/>
              </a:lnSpc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&lt;truncated&gt;0&lt;/truncated&gt;</a:t>
            </a:r>
          </a:p>
          <a:p>
            <a:pPr algn="l">
              <a:lnSpc>
                <a:spcPts val="1200"/>
              </a:lnSpc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&lt;difficult&gt;0&lt;/difficult&gt;</a:t>
            </a:r>
          </a:p>
          <a:p>
            <a:pPr algn="l">
              <a:lnSpc>
                <a:spcPts val="1200"/>
              </a:lnSpc>
              <a:buNone/>
            </a:pPr>
            <a:r>
              <a:rPr lang="en-US" altLang="zh-CN" sz="1200" b="0" i="0" dirty="0">
                <a:solidFill>
                  <a:schemeClr val="accent5">
                    <a:lumMod val="75000"/>
                  </a:schemeClr>
                </a:solidFill>
                <a:effectLst/>
                <a:latin typeface="Courier New" panose="02070309020205020404" pitchFamily="49" charset="0"/>
              </a:rPr>
              <a:t>&lt;polygon&gt;</a:t>
            </a:r>
          </a:p>
          <a:p>
            <a:pPr algn="l">
              <a:lnSpc>
                <a:spcPts val="1200"/>
              </a:lnSpc>
              <a:buNone/>
            </a:pPr>
            <a:r>
              <a:rPr lang="en-US" altLang="zh-CN" sz="1200" b="0" i="0" dirty="0">
                <a:solidFill>
                  <a:schemeClr val="accent5">
                    <a:lumMod val="75000"/>
                  </a:schemeClr>
                </a:solidFill>
                <a:effectLst/>
                <a:latin typeface="Courier New" panose="02070309020205020404" pitchFamily="49" charset="0"/>
              </a:rPr>
              <a:t>&lt;x1&gt;269&lt;/x1&gt;</a:t>
            </a:r>
          </a:p>
          <a:p>
            <a:pPr algn="l">
              <a:lnSpc>
                <a:spcPts val="1200"/>
              </a:lnSpc>
              <a:buNone/>
            </a:pPr>
            <a:r>
              <a:rPr lang="en-US" altLang="zh-CN" sz="1200" b="0" i="0" dirty="0">
                <a:solidFill>
                  <a:schemeClr val="accent5">
                    <a:lumMod val="75000"/>
                  </a:schemeClr>
                </a:solidFill>
                <a:effectLst/>
                <a:latin typeface="Courier New" panose="02070309020205020404" pitchFamily="49" charset="0"/>
              </a:rPr>
              <a:t>&lt;y1&gt;148&lt;/y1&gt;</a:t>
            </a:r>
          </a:p>
          <a:p>
            <a:pPr algn="l">
              <a:lnSpc>
                <a:spcPts val="1200"/>
              </a:lnSpc>
              <a:buNone/>
            </a:pPr>
            <a:r>
              <a:rPr lang="en-US" altLang="zh-CN" sz="1200" b="0" i="0" dirty="0">
                <a:solidFill>
                  <a:schemeClr val="accent5">
                    <a:lumMod val="75000"/>
                  </a:schemeClr>
                </a:solidFill>
                <a:effectLst/>
                <a:latin typeface="Courier New" panose="02070309020205020404" pitchFamily="49" charset="0"/>
              </a:rPr>
              <a:t>&lt;x2&gt;295&lt;/x2&gt;</a:t>
            </a:r>
          </a:p>
          <a:p>
            <a:pPr algn="l">
              <a:lnSpc>
                <a:spcPts val="1200"/>
              </a:lnSpc>
              <a:buNone/>
            </a:pPr>
            <a:r>
              <a:rPr lang="en-US" altLang="zh-CN" sz="1200" b="0" i="0" dirty="0">
                <a:solidFill>
                  <a:schemeClr val="accent5">
                    <a:lumMod val="75000"/>
                  </a:schemeClr>
                </a:solidFill>
                <a:effectLst/>
                <a:latin typeface="Courier New" panose="02070309020205020404" pitchFamily="49" charset="0"/>
              </a:rPr>
              <a:t>&lt;y2&gt;148&lt;/y2&gt;</a:t>
            </a:r>
          </a:p>
          <a:p>
            <a:pPr algn="l">
              <a:lnSpc>
                <a:spcPts val="1200"/>
              </a:lnSpc>
              <a:buNone/>
            </a:pPr>
            <a:r>
              <a:rPr lang="en-US" altLang="zh-CN" sz="1200" b="0" i="0" dirty="0">
                <a:solidFill>
                  <a:schemeClr val="accent5">
                    <a:lumMod val="75000"/>
                  </a:schemeClr>
                </a:solidFill>
                <a:effectLst/>
                <a:latin typeface="Courier New" panose="02070309020205020404" pitchFamily="49" charset="0"/>
              </a:rPr>
              <a:t>&lt;x3&gt;289&lt;/x3&gt;</a:t>
            </a:r>
          </a:p>
          <a:p>
            <a:pPr algn="l">
              <a:lnSpc>
                <a:spcPts val="1200"/>
              </a:lnSpc>
              <a:buNone/>
            </a:pPr>
            <a:r>
              <a:rPr lang="en-US" altLang="zh-CN" sz="1200" b="0" i="0" dirty="0">
                <a:solidFill>
                  <a:schemeClr val="accent5">
                    <a:lumMod val="75000"/>
                  </a:schemeClr>
                </a:solidFill>
                <a:effectLst/>
                <a:latin typeface="Courier New" panose="02070309020205020404" pitchFamily="49" charset="0"/>
              </a:rPr>
              <a:t>&lt;y3&gt;87&lt;/y3&gt;</a:t>
            </a:r>
          </a:p>
          <a:p>
            <a:pPr algn="l">
              <a:lnSpc>
                <a:spcPts val="1200"/>
              </a:lnSpc>
              <a:buNone/>
            </a:pPr>
            <a:r>
              <a:rPr lang="en-US" altLang="zh-CN" sz="1200" b="0" i="0" dirty="0">
                <a:solidFill>
                  <a:schemeClr val="accent5">
                    <a:lumMod val="75000"/>
                  </a:schemeClr>
                </a:solidFill>
                <a:effectLst/>
                <a:latin typeface="Courier New" panose="02070309020205020404" pitchFamily="49" charset="0"/>
              </a:rPr>
              <a:t>&lt;x4&gt;262&lt;/x4&gt;</a:t>
            </a:r>
          </a:p>
          <a:p>
            <a:pPr algn="l">
              <a:lnSpc>
                <a:spcPts val="1200"/>
              </a:lnSpc>
              <a:buNone/>
            </a:pPr>
            <a:r>
              <a:rPr lang="en-US" altLang="zh-CN" sz="1200" b="0" i="0" dirty="0">
                <a:solidFill>
                  <a:schemeClr val="accent5">
                    <a:lumMod val="75000"/>
                  </a:schemeClr>
                </a:solidFill>
                <a:effectLst/>
                <a:latin typeface="Courier New" panose="02070309020205020404" pitchFamily="49" charset="0"/>
              </a:rPr>
              <a:t>&lt;y4&gt;90&lt;/y4&gt;</a:t>
            </a:r>
          </a:p>
          <a:p>
            <a:pPr algn="l">
              <a:lnSpc>
                <a:spcPts val="1200"/>
              </a:lnSpc>
              <a:buNone/>
            </a:pPr>
            <a:r>
              <a:rPr lang="en-US" altLang="zh-CN" sz="1200" b="0" i="0" dirty="0">
                <a:solidFill>
                  <a:schemeClr val="accent5">
                    <a:lumMod val="75000"/>
                  </a:schemeClr>
                </a:solidFill>
                <a:effectLst/>
                <a:latin typeface="Courier New" panose="02070309020205020404" pitchFamily="49" charset="0"/>
              </a:rPr>
              <a:t>&lt;/polygon&gt;</a:t>
            </a:r>
          </a:p>
          <a:p>
            <a:pPr algn="l">
              <a:lnSpc>
                <a:spcPts val="1200"/>
              </a:lnSpc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&lt;/object&gt;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95DFCF8-9D73-1A35-6621-6CEDC9A45469}"/>
              </a:ext>
            </a:extLst>
          </p:cNvPr>
          <p:cNvSpPr txBox="1"/>
          <p:nvPr/>
        </p:nvSpPr>
        <p:spPr>
          <a:xfrm>
            <a:off x="4137661" y="4023629"/>
            <a:ext cx="3070098" cy="2562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方正姚体" panose="02010601030101010101" pitchFamily="2" charset="-122"/>
                <a:cs typeface="+mn-cs"/>
              </a:rPr>
              <a:t>&lt;object&gt;</a:t>
            </a:r>
          </a:p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方正姚体" panose="02010601030101010101" pitchFamily="2" charset="-122"/>
                <a:cs typeface="+mn-cs"/>
              </a:rPr>
              <a:t>&lt;name&gt;car&lt;/name&gt;</a:t>
            </a:r>
          </a:p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方正姚体" panose="02010601030101010101" pitchFamily="2" charset="-122"/>
                <a:cs typeface="+mn-cs"/>
              </a:rPr>
              <a:t>&lt;pose&gt;Unspecified&lt;/pose&gt;</a:t>
            </a:r>
          </a:p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方正姚体" panose="02010601030101010101" pitchFamily="2" charset="-122"/>
                <a:cs typeface="+mn-cs"/>
              </a:rPr>
              <a:t>&lt;truncated&gt;0&lt;/truncated&gt;</a:t>
            </a:r>
          </a:p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方正姚体" panose="02010601030101010101" pitchFamily="2" charset="-122"/>
                <a:cs typeface="+mn-cs"/>
              </a:rPr>
              <a:t>&lt;difficult&gt;0&lt;/difficult&gt;</a:t>
            </a:r>
          </a:p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Courier New" panose="02070309020205020404" pitchFamily="49" charset="0"/>
                <a:ea typeface="方正姚体" panose="02010601030101010101" pitchFamily="2" charset="-122"/>
                <a:cs typeface="+mn-cs"/>
              </a:rPr>
              <a:t>&lt;polygon&gt;</a:t>
            </a:r>
          </a:p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Courier New" panose="02070309020205020404" pitchFamily="49" charset="0"/>
                <a:ea typeface="方正姚体" panose="02010601030101010101" pitchFamily="2" charset="-122"/>
                <a:cs typeface="+mn-cs"/>
              </a:rPr>
              <a:t>&lt;x1&gt;234&lt;/x1&gt;</a:t>
            </a:r>
          </a:p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Courier New" panose="02070309020205020404" pitchFamily="49" charset="0"/>
                <a:ea typeface="方正姚体" panose="02010601030101010101" pitchFamily="2" charset="-122"/>
                <a:cs typeface="+mn-cs"/>
              </a:rPr>
              <a:t>&lt;y1&gt;275&lt;/y1&gt;</a:t>
            </a:r>
          </a:p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Courier New" panose="02070309020205020404" pitchFamily="49" charset="0"/>
                <a:ea typeface="方正姚体" panose="02010601030101010101" pitchFamily="2" charset="-122"/>
                <a:cs typeface="+mn-cs"/>
              </a:rPr>
              <a:t>&lt;x2&gt;258&lt;/x2&gt;</a:t>
            </a:r>
          </a:p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Courier New" panose="02070309020205020404" pitchFamily="49" charset="0"/>
                <a:ea typeface="方正姚体" panose="02010601030101010101" pitchFamily="2" charset="-122"/>
                <a:cs typeface="+mn-cs"/>
              </a:rPr>
              <a:t>&lt;y2&gt;276&lt;/y2&gt;</a:t>
            </a:r>
          </a:p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Courier New" panose="02070309020205020404" pitchFamily="49" charset="0"/>
                <a:ea typeface="方正姚体" panose="02010601030101010101" pitchFamily="2" charset="-122"/>
                <a:cs typeface="+mn-cs"/>
              </a:rPr>
              <a:t>&lt;x3&gt;258&lt;/x3&gt;</a:t>
            </a:r>
          </a:p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Courier New" panose="02070309020205020404" pitchFamily="49" charset="0"/>
                <a:ea typeface="方正姚体" panose="02010601030101010101" pitchFamily="2" charset="-122"/>
                <a:cs typeface="+mn-cs"/>
              </a:rPr>
              <a:t>&lt;y3&gt;336&lt;/y3&gt;</a:t>
            </a:r>
          </a:p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Courier New" panose="02070309020205020404" pitchFamily="49" charset="0"/>
                <a:ea typeface="方正姚体" panose="02010601030101010101" pitchFamily="2" charset="-122"/>
                <a:cs typeface="+mn-cs"/>
              </a:rPr>
              <a:t>&lt;x4&gt;234&lt;/x4&gt;</a:t>
            </a:r>
          </a:p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Courier New" panose="02070309020205020404" pitchFamily="49" charset="0"/>
                <a:ea typeface="方正姚体" panose="02010601030101010101" pitchFamily="2" charset="-122"/>
                <a:cs typeface="+mn-cs"/>
              </a:rPr>
              <a:t>&lt;y4&gt;332&lt;/y4&gt;</a:t>
            </a:r>
          </a:p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Courier New" panose="02070309020205020404" pitchFamily="49" charset="0"/>
                <a:ea typeface="方正姚体" panose="02010601030101010101" pitchFamily="2" charset="-122"/>
                <a:cs typeface="+mn-cs"/>
              </a:rPr>
              <a:t>&lt;/polygon&gt;</a:t>
            </a:r>
          </a:p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方正姚体" panose="02010601030101010101" pitchFamily="2" charset="-122"/>
                <a:cs typeface="+mn-cs"/>
              </a:rPr>
              <a:t>&lt;/object&gt;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C39C38E-4DCC-346D-F6FC-B2FB907F1A1E}"/>
              </a:ext>
            </a:extLst>
          </p:cNvPr>
          <p:cNvSpPr txBox="1"/>
          <p:nvPr/>
        </p:nvSpPr>
        <p:spPr>
          <a:xfrm>
            <a:off x="3485766" y="2141324"/>
            <a:ext cx="1681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VOC</a:t>
            </a:r>
            <a:r>
              <a:rPr lang="zh-CN" altLang="en-US" sz="1400" dirty="0"/>
              <a:t>格式</a:t>
            </a:r>
          </a:p>
        </p:txBody>
      </p:sp>
    </p:spTree>
    <p:extLst>
      <p:ext uri="{BB962C8B-B14F-4D97-AF65-F5344CB8AC3E}">
        <p14:creationId xmlns:p14="http://schemas.microsoft.com/office/powerpoint/2010/main" val="3270248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B5734EE8-A826-561E-4929-6EDD9D3C9B52}"/>
              </a:ext>
            </a:extLst>
          </p:cNvPr>
          <p:cNvSpPr txBox="1"/>
          <p:nvPr/>
        </p:nvSpPr>
        <p:spPr>
          <a:xfrm>
            <a:off x="230580" y="3180552"/>
            <a:ext cx="1056848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YOLOv8_LIF_obb summary (fused): 354 layers, 37070899 parameters, 0 gradients, </a:t>
            </a:r>
            <a:r>
              <a:rPr lang="zh-CN" altLang="en-US" sz="1200" dirty="0">
                <a:solidFill>
                  <a:schemeClr val="accent2">
                    <a:lumMod val="75000"/>
                  </a:schemeClr>
                </a:solidFill>
              </a:rPr>
              <a:t>124.6 GFLOPs</a:t>
            </a:r>
          </a:p>
          <a:p>
            <a:r>
              <a:rPr lang="zh-CN" altLang="en-US" sz="1200" dirty="0"/>
              <a:t>val: Scanning D:\DeepLearning\Dataset\DroneVehicle_YOLO_OBB\labels\val... 954 images, 0 backgrounds, 0 corrupt: 100%|██████████| 954/954 [00:00&lt;00:00, 1839.94it/s]</a:t>
            </a:r>
          </a:p>
          <a:p>
            <a:r>
              <a:rPr lang="zh-CN" altLang="en-US" sz="1200" dirty="0"/>
              <a:t>val: New cache created: D:\DeepLearning\Dataset\DroneVehicle_YOLO_OBB\labels\val.cache</a:t>
            </a:r>
          </a:p>
          <a:p>
            <a:r>
              <a:rPr lang="zh-CN" altLang="en-US" sz="1200" dirty="0"/>
              <a:t>                 Class     Images  Instances      Box(P          R      mAP50  mAP50-95): 100%|██████████| 954/954 [00:18&lt;00:00, 52.60it/s]</a:t>
            </a:r>
          </a:p>
          <a:p>
            <a:r>
              <a:rPr lang="zh-CN" altLang="en-US" sz="1200" dirty="0"/>
              <a:t>                   all        954      15387      0.828       0.81      0.833      0.631</a:t>
            </a:r>
          </a:p>
          <a:p>
            <a:r>
              <a:rPr lang="zh-CN" altLang="en-US" sz="1200" dirty="0"/>
              <a:t>                   car        954      13701      0.873      0.958      0.905      </a:t>
            </a:r>
            <a:r>
              <a:rPr lang="zh-CN" altLang="en-US" sz="1200" dirty="0">
                <a:solidFill>
                  <a:schemeClr val="accent2">
                    <a:lumMod val="75000"/>
                  </a:schemeClr>
                </a:solidFill>
              </a:rPr>
              <a:t>0.664</a:t>
            </a:r>
          </a:p>
          <a:p>
            <a:r>
              <a:rPr lang="zh-CN" altLang="en-US" sz="1200" dirty="0"/>
              <a:t>                 truck        954        688      0.865      0.741      0.833      0.612</a:t>
            </a:r>
          </a:p>
          <a:p>
            <a:r>
              <a:rPr lang="zh-CN" altLang="en-US" sz="1200" dirty="0"/>
              <a:t>                   bus        954        560        0.9      0.929      0.932      0.744</a:t>
            </a:r>
          </a:p>
          <a:p>
            <a:r>
              <a:rPr lang="zh-CN" altLang="en-US" sz="1200" dirty="0"/>
              <a:t>                   van        954        438      0.672      0.614      0.661      0.505</a:t>
            </a:r>
          </a:p>
          <a:p>
            <a:r>
              <a:rPr lang="zh-CN" altLang="en-US" sz="1200" dirty="0"/>
              <a:t>Speed: 0.3ms preprocess, 14.0ms inference, 0.0ms loss, 2.1ms postprocess per image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56BA4EF-3BCF-13A4-BC5B-95FF57151F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85" t="14832" r="12810" b="15167"/>
          <a:stretch>
            <a:fillRect/>
          </a:stretch>
        </p:blipFill>
        <p:spPr>
          <a:xfrm>
            <a:off x="7694632" y="109729"/>
            <a:ext cx="3184919" cy="255117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C85787F-86AA-980F-ACC0-E550B767DE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47" t="14501" r="11810" b="15499"/>
          <a:stretch>
            <a:fillRect/>
          </a:stretch>
        </p:blipFill>
        <p:spPr>
          <a:xfrm>
            <a:off x="3888464" y="128016"/>
            <a:ext cx="3237563" cy="255117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B61687C-21D9-3053-2B6C-F5831A4AD4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63" t="14333" r="12096" b="15668"/>
          <a:stretch>
            <a:fillRect/>
          </a:stretch>
        </p:blipFill>
        <p:spPr>
          <a:xfrm>
            <a:off x="82296" y="109728"/>
            <a:ext cx="3257424" cy="256682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EA13106-5FC5-8443-65F9-863B9195FCD8}"/>
              </a:ext>
            </a:extLst>
          </p:cNvPr>
          <p:cNvSpPr txBox="1"/>
          <p:nvPr/>
        </p:nvSpPr>
        <p:spPr>
          <a:xfrm>
            <a:off x="166572" y="2780556"/>
            <a:ext cx="1926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这是他的多模态模型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70E115C-DBC3-4EDF-2DBE-2B7AE9FF61AB}"/>
              </a:ext>
            </a:extLst>
          </p:cNvPr>
          <p:cNvSpPr txBox="1"/>
          <p:nvPr/>
        </p:nvSpPr>
        <p:spPr>
          <a:xfrm>
            <a:off x="1962128" y="2780555"/>
            <a:ext cx="1926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/>
              <a:t>DroneVehicle</a:t>
            </a:r>
            <a:endParaRPr lang="zh-CN" altLang="en-US" sz="14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F5FE97C-3819-7043-0B20-FF370589E114}"/>
              </a:ext>
            </a:extLst>
          </p:cNvPr>
          <p:cNvSpPr txBox="1"/>
          <p:nvPr/>
        </p:nvSpPr>
        <p:spPr>
          <a:xfrm rot="10800000">
            <a:off x="5030474" y="4165754"/>
            <a:ext cx="3474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5">
                    <a:lumMod val="75000"/>
                  </a:schemeClr>
                </a:solidFill>
              </a:rPr>
              <a:t>?</a:t>
            </a:r>
            <a:endParaRPr lang="zh-CN" altLang="en-US" sz="2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2761DF3-06DE-10E6-AC22-C2D9DC517D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7784" y="3309348"/>
            <a:ext cx="3929940" cy="2779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345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7AEA616-75C7-FADB-EE42-0B4E78901F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148" y="2754352"/>
            <a:ext cx="6802940" cy="343175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277CFBB-6731-B8DC-D67A-C20A884643EE}"/>
              </a:ext>
            </a:extLst>
          </p:cNvPr>
          <p:cNvSpPr txBox="1"/>
          <p:nvPr/>
        </p:nvSpPr>
        <p:spPr>
          <a:xfrm>
            <a:off x="248868" y="501360"/>
            <a:ext cx="1056848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YOLOv8_LIF_obb summary (fused): 354 layers, 37070899 parameters, 0 gradients, 124.6 GFLOPs</a:t>
            </a:r>
          </a:p>
          <a:p>
            <a:r>
              <a:rPr lang="zh-CN" altLang="en-US" sz="1200" dirty="0"/>
              <a:t>val: Scanning D:\DeepLearning\Dataset\DroneVehicle_YOLO_OBB\labels\val... 954 images, 0 backgrounds, 0 corrupt: 100%|██████████| 954/954 [00:00&lt;00:00, 1839.94it/s]</a:t>
            </a:r>
          </a:p>
          <a:p>
            <a:r>
              <a:rPr lang="zh-CN" altLang="en-US" sz="1200" dirty="0"/>
              <a:t>val: New cache created: D:\DeepLearning\Dataset\DroneVehicle_YOLO_OBB\labels\val.cache</a:t>
            </a:r>
          </a:p>
          <a:p>
            <a:r>
              <a:rPr lang="zh-CN" altLang="en-US" sz="1200" dirty="0"/>
              <a:t>                 Class     Images  Instances      Box(P          R      mAP50  mAP50-95): 100%|██████████| 954/954 [00:18&lt;00:00, 52.60it/s]</a:t>
            </a:r>
          </a:p>
          <a:p>
            <a:r>
              <a:rPr lang="zh-CN" altLang="en-US" sz="1200" dirty="0"/>
              <a:t>                   all        954      15387      0.828       0.81      </a:t>
            </a:r>
            <a:r>
              <a:rPr lang="zh-CN" altLang="en-US" sz="1200" dirty="0">
                <a:solidFill>
                  <a:schemeClr val="accent2">
                    <a:lumMod val="75000"/>
                  </a:schemeClr>
                </a:solidFill>
              </a:rPr>
              <a:t>0.833      0.631</a:t>
            </a:r>
          </a:p>
          <a:p>
            <a:r>
              <a:rPr lang="zh-CN" altLang="en-US" sz="1200" dirty="0"/>
              <a:t>                   car        954      13701      0.873      0.958      </a:t>
            </a:r>
            <a:r>
              <a:rPr lang="zh-CN" altLang="en-US" sz="1200" dirty="0">
                <a:solidFill>
                  <a:schemeClr val="accent2">
                    <a:lumMod val="75000"/>
                  </a:schemeClr>
                </a:solidFill>
              </a:rPr>
              <a:t>0.905      0.664</a:t>
            </a:r>
          </a:p>
          <a:p>
            <a:r>
              <a:rPr lang="zh-CN" altLang="en-US" sz="1200" dirty="0"/>
              <a:t>                 truck        954        688      0.865      0.741      </a:t>
            </a:r>
            <a:r>
              <a:rPr lang="zh-CN" altLang="en-US" sz="1200" dirty="0">
                <a:solidFill>
                  <a:schemeClr val="accent2">
                    <a:lumMod val="75000"/>
                  </a:schemeClr>
                </a:solidFill>
              </a:rPr>
              <a:t>0.833      0.612</a:t>
            </a:r>
          </a:p>
          <a:p>
            <a:r>
              <a:rPr lang="zh-CN" altLang="en-US" sz="1200" dirty="0"/>
              <a:t>                   bus        954        560        0.9      0.929      </a:t>
            </a:r>
            <a:r>
              <a:rPr lang="zh-CN" altLang="en-US" sz="1200" dirty="0">
                <a:solidFill>
                  <a:schemeClr val="accent2">
                    <a:lumMod val="75000"/>
                  </a:schemeClr>
                </a:solidFill>
              </a:rPr>
              <a:t>0.932      0.744</a:t>
            </a:r>
          </a:p>
          <a:p>
            <a:r>
              <a:rPr lang="zh-CN" altLang="en-US" sz="1200" dirty="0"/>
              <a:t>                   van        954        438      0.672      0.614    </a:t>
            </a:r>
            <a:r>
              <a:rPr lang="zh-CN" altLang="en-US" sz="1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zh-CN" altLang="en-US" sz="1200" dirty="0"/>
              <a:t> </a:t>
            </a:r>
            <a:r>
              <a:rPr lang="zh-CN" altLang="en-US" sz="1200" dirty="0">
                <a:solidFill>
                  <a:schemeClr val="accent2">
                    <a:lumMod val="75000"/>
                  </a:schemeClr>
                </a:solidFill>
              </a:rPr>
              <a:t>0.661      0.505</a:t>
            </a:r>
          </a:p>
          <a:p>
            <a:r>
              <a:rPr lang="zh-CN" altLang="en-US" sz="1200" dirty="0"/>
              <a:t>Speed: 0.3ms preprocess, 14.0ms inference, 0.0ms loss, 2.1ms postprocess per image</a:t>
            </a:r>
          </a:p>
        </p:txBody>
      </p:sp>
    </p:spTree>
    <p:extLst>
      <p:ext uri="{BB962C8B-B14F-4D97-AF65-F5344CB8AC3E}">
        <p14:creationId xmlns:p14="http://schemas.microsoft.com/office/powerpoint/2010/main" val="3112198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A8E70C0-A0DE-DE09-4607-4CBB5B7536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1" t="14833" r="12239" b="14833"/>
          <a:stretch>
            <a:fillRect/>
          </a:stretch>
        </p:blipFill>
        <p:spPr>
          <a:xfrm>
            <a:off x="3704996" y="145824"/>
            <a:ext cx="3304032" cy="265581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C1C1361-ADAB-E5A6-A86D-4CF35AE433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89" t="13494" r="11911" b="14458"/>
          <a:stretch>
            <a:fillRect/>
          </a:stretch>
        </p:blipFill>
        <p:spPr>
          <a:xfrm>
            <a:off x="7038136" y="40513"/>
            <a:ext cx="3389072" cy="276112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331D379-46DB-A4A6-6C5E-343F2B0B73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37" t="11784" r="11465" b="13694"/>
          <a:stretch>
            <a:fillRect/>
          </a:stretch>
        </p:blipFill>
        <p:spPr>
          <a:xfrm>
            <a:off x="228600" y="58529"/>
            <a:ext cx="3447288" cy="283040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3F7C3779-15B6-59A6-0FA3-485866C246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110" y="2855381"/>
            <a:ext cx="4493354" cy="385679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07AB0247-0755-DEF4-1FE5-1BF21DF95A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8176" y="2855381"/>
            <a:ext cx="4493354" cy="3856795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9381633C-C2FF-E9A0-8CF6-E38998A07890}"/>
              </a:ext>
            </a:extLst>
          </p:cNvPr>
          <p:cNvSpPr txBox="1"/>
          <p:nvPr/>
        </p:nvSpPr>
        <p:spPr>
          <a:xfrm>
            <a:off x="10371276" y="1178852"/>
            <a:ext cx="1926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这是他的多模态模型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7475A01-C2CA-52C8-F786-43CA8EE1C851}"/>
              </a:ext>
            </a:extLst>
          </p:cNvPr>
          <p:cNvSpPr txBox="1"/>
          <p:nvPr/>
        </p:nvSpPr>
        <p:spPr>
          <a:xfrm>
            <a:off x="10074242" y="4629889"/>
            <a:ext cx="16672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这是我的</a:t>
            </a:r>
            <a:r>
              <a:rPr lang="en-US" altLang="zh-CN" sz="1400" dirty="0"/>
              <a:t>nano</a:t>
            </a:r>
            <a:endParaRPr lang="zh-CN" altLang="en-US" sz="1400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62105A8-52F4-F5B8-0BBB-03C9399E2D54}"/>
              </a:ext>
            </a:extLst>
          </p:cNvPr>
          <p:cNvSpPr/>
          <p:nvPr/>
        </p:nvSpPr>
        <p:spPr>
          <a:xfrm>
            <a:off x="1563624" y="4846320"/>
            <a:ext cx="970026" cy="839466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F0954F7-4B3E-0B03-885A-A23B1F98E2A7}"/>
              </a:ext>
            </a:extLst>
          </p:cNvPr>
          <p:cNvSpPr/>
          <p:nvPr/>
        </p:nvSpPr>
        <p:spPr>
          <a:xfrm>
            <a:off x="6425184" y="4830763"/>
            <a:ext cx="970026" cy="839466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2873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79AABA8F-60A4-E7B4-7DF1-C462DA93CDCA}"/>
              </a:ext>
            </a:extLst>
          </p:cNvPr>
          <p:cNvSpPr txBox="1"/>
          <p:nvPr/>
        </p:nvSpPr>
        <p:spPr>
          <a:xfrm>
            <a:off x="422910" y="475476"/>
            <a:ext cx="4716018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未知类别统计</a:t>
            </a:r>
            <a:r>
              <a:rPr lang="en-US" altLang="zh-CN" sz="1400" dirty="0"/>
              <a:t>(Total: 6022)</a:t>
            </a:r>
          </a:p>
          <a:p>
            <a:r>
              <a:rPr lang="en-US" altLang="zh-CN" sz="1400" dirty="0"/>
              <a:t>  - '</a:t>
            </a:r>
            <a:r>
              <a:rPr lang="en-US" altLang="zh-CN" sz="1400" dirty="0" err="1"/>
              <a:t>feright_car</a:t>
            </a:r>
            <a:r>
              <a:rPr lang="en-US" altLang="zh-CN" sz="1400" dirty="0"/>
              <a:t>': </a:t>
            </a:r>
            <a:r>
              <a:rPr lang="zh-CN" altLang="en-US" sz="1400" dirty="0"/>
              <a:t>出现 </a:t>
            </a:r>
            <a:r>
              <a:rPr lang="en-US" altLang="zh-CN" sz="1400" dirty="0"/>
              <a:t>6019 </a:t>
            </a:r>
            <a:r>
              <a:rPr lang="zh-CN" altLang="en-US" sz="1400" dirty="0"/>
              <a:t>次</a:t>
            </a:r>
          </a:p>
          <a:p>
            <a:r>
              <a:rPr lang="zh-CN" altLang="en-US" sz="1400" dirty="0"/>
              <a:t>  </a:t>
            </a:r>
            <a:r>
              <a:rPr lang="en-US" altLang="zh-CN" sz="1400" dirty="0"/>
              <a:t>- '</a:t>
            </a:r>
            <a:r>
              <a:rPr lang="en-US" altLang="zh-CN" sz="1400" dirty="0" err="1"/>
              <a:t>feright</a:t>
            </a:r>
            <a:r>
              <a:rPr lang="en-US" altLang="zh-CN" sz="1400" dirty="0"/>
              <a:t>': </a:t>
            </a:r>
            <a:r>
              <a:rPr lang="zh-CN" altLang="en-US" sz="1400" dirty="0"/>
              <a:t>出现 </a:t>
            </a:r>
            <a:r>
              <a:rPr lang="en-US" altLang="zh-CN" sz="1400" dirty="0"/>
              <a:t>1 </a:t>
            </a:r>
            <a:r>
              <a:rPr lang="zh-CN" altLang="en-US" sz="1400" dirty="0"/>
              <a:t>次</a:t>
            </a:r>
          </a:p>
          <a:p>
            <a:r>
              <a:rPr lang="zh-CN" altLang="en-US" sz="1400" dirty="0"/>
              <a:t>  </a:t>
            </a:r>
            <a:r>
              <a:rPr lang="en-US" altLang="zh-CN" sz="1400" dirty="0"/>
              <a:t>- '*': </a:t>
            </a:r>
            <a:r>
              <a:rPr lang="zh-CN" altLang="en-US" sz="1400" dirty="0"/>
              <a:t>出现 </a:t>
            </a:r>
            <a:r>
              <a:rPr lang="en-US" altLang="zh-CN" sz="1400" dirty="0"/>
              <a:t>1 </a:t>
            </a:r>
            <a:r>
              <a:rPr lang="zh-CN" altLang="en-US" sz="1400" dirty="0"/>
              <a:t>次</a:t>
            </a:r>
          </a:p>
          <a:p>
            <a:r>
              <a:rPr lang="zh-CN" altLang="en-US" sz="1400" dirty="0"/>
              <a:t>  </a:t>
            </a:r>
            <a:r>
              <a:rPr lang="en-US" altLang="zh-CN" sz="1400" dirty="0"/>
              <a:t>- '</a:t>
            </a:r>
            <a:r>
              <a:rPr lang="en-US" altLang="zh-CN" sz="1400" dirty="0" err="1"/>
              <a:t>truvk</a:t>
            </a:r>
            <a:r>
              <a:rPr lang="en-US" altLang="zh-CN" sz="1400" dirty="0"/>
              <a:t>': </a:t>
            </a:r>
            <a:r>
              <a:rPr lang="zh-CN" altLang="en-US" sz="1400" dirty="0"/>
              <a:t>出现 </a:t>
            </a:r>
            <a:r>
              <a:rPr lang="en-US" altLang="zh-CN" sz="1400" dirty="0"/>
              <a:t>1 </a:t>
            </a:r>
            <a:r>
              <a:rPr lang="zh-CN" altLang="en-US" sz="1400" dirty="0"/>
              <a:t>次</a:t>
            </a:r>
          </a:p>
          <a:p>
            <a:endParaRPr lang="zh-CN" altLang="en-US" sz="1400" dirty="0"/>
          </a:p>
          <a:p>
            <a:endParaRPr lang="zh-CN" altLang="en-US" sz="1400" dirty="0"/>
          </a:p>
          <a:p>
            <a:r>
              <a:rPr lang="en-US" altLang="zh-CN" sz="1400" dirty="0"/>
              <a:t>		Total        Train          Val</a:t>
            </a:r>
          </a:p>
          <a:p>
            <a:r>
              <a:rPr lang="en-US" altLang="zh-CN" sz="1400" dirty="0"/>
              <a:t>---------------------------------------------------------------</a:t>
            </a:r>
          </a:p>
          <a:p>
            <a:r>
              <a:rPr lang="en-US" altLang="zh-CN" sz="1400" dirty="0"/>
              <a:t>XML </a:t>
            </a:r>
            <a:r>
              <a:rPr lang="zh-CN" altLang="en-US" sz="1400" dirty="0"/>
              <a:t>文件数                   </a:t>
            </a:r>
            <a:r>
              <a:rPr lang="en-US" altLang="zh-CN" sz="1400" dirty="0"/>
              <a:t>19459       17990        1469</a:t>
            </a:r>
          </a:p>
          <a:p>
            <a:r>
              <a:rPr lang="zh-CN" altLang="en-US" sz="1400" dirty="0"/>
              <a:t>标注对象总数                </a:t>
            </a:r>
            <a:r>
              <a:rPr lang="en-US" altLang="zh-CN" sz="1400" dirty="0"/>
              <a:t>309278     286815      22463</a:t>
            </a:r>
          </a:p>
          <a:p>
            <a:r>
              <a:rPr lang="zh-CN" altLang="en-US" sz="1400" dirty="0"/>
              <a:t>有效对象数                    </a:t>
            </a:r>
            <a:r>
              <a:rPr lang="en-US" altLang="zh-CN" sz="1400" dirty="0"/>
              <a:t>280645     259947      20698</a:t>
            </a:r>
          </a:p>
          <a:p>
            <a:r>
              <a:rPr lang="zh-CN" altLang="en-US" sz="1400" dirty="0"/>
              <a:t>缺失 </a:t>
            </a:r>
            <a:r>
              <a:rPr lang="en-US" altLang="zh-CN" sz="1400" dirty="0"/>
              <a:t>Polygon                22611       21361        1250</a:t>
            </a:r>
          </a:p>
          <a:p>
            <a:r>
              <a:rPr lang="zh-CN" altLang="en-US" sz="1400" dirty="0"/>
              <a:t>未知类别                        </a:t>
            </a:r>
            <a:r>
              <a:rPr lang="en-US" altLang="zh-CN" sz="1400" dirty="0"/>
              <a:t>6022         5507          515</a:t>
            </a:r>
          </a:p>
        </p:txBody>
      </p:sp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86079209-7F48-033B-8473-01603B901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8260" y="278892"/>
            <a:ext cx="2144422" cy="6300216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DC2CB0F-8A53-0C48-223F-BE0A3055F158}"/>
              </a:ext>
            </a:extLst>
          </p:cNvPr>
          <p:cNvSpPr/>
          <p:nvPr/>
        </p:nvSpPr>
        <p:spPr>
          <a:xfrm>
            <a:off x="8328260" y="1078992"/>
            <a:ext cx="1858156" cy="1572768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B5D686D-5D48-FA45-B0C0-B8FECAE50241}"/>
              </a:ext>
            </a:extLst>
          </p:cNvPr>
          <p:cNvSpPr/>
          <p:nvPr/>
        </p:nvSpPr>
        <p:spPr>
          <a:xfrm>
            <a:off x="8328260" y="5458968"/>
            <a:ext cx="1958740" cy="954024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 descr="屏幕上有字&#10;&#10;AI 生成的内容可能不正确。">
            <a:extLst>
              <a:ext uri="{FF2B5EF4-FFF2-40B4-BE49-F238E27FC236}">
                <a16:creationId xmlns:a16="http://schemas.microsoft.com/office/drawing/2014/main" id="{43CF6F6E-E7E2-1D05-4282-1A156724EE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34" y="3974117"/>
            <a:ext cx="7399136" cy="248044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9647BEF7-2A2B-1A17-A8D0-421F32C6200E}"/>
              </a:ext>
            </a:extLst>
          </p:cNvPr>
          <p:cNvSpPr txBox="1"/>
          <p:nvPr/>
        </p:nvSpPr>
        <p:spPr>
          <a:xfrm>
            <a:off x="3557185" y="4552617"/>
            <a:ext cx="72923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还存在标注缺失的情况</a:t>
            </a: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84104BC4-1CC4-9BF3-98BF-D2798FB5CE3F}"/>
              </a:ext>
            </a:extLst>
          </p:cNvPr>
          <p:cNvCxnSpPr/>
          <p:nvPr/>
        </p:nvCxnSpPr>
        <p:spPr>
          <a:xfrm>
            <a:off x="301752" y="3739896"/>
            <a:ext cx="712317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AC6CCFBB-D308-2702-D5E3-AE63B1B78051}"/>
              </a:ext>
            </a:extLst>
          </p:cNvPr>
          <p:cNvCxnSpPr>
            <a:cxnSpLocks/>
          </p:cNvCxnSpPr>
          <p:nvPr/>
        </p:nvCxnSpPr>
        <p:spPr>
          <a:xfrm>
            <a:off x="7927848" y="365760"/>
            <a:ext cx="0" cy="60472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4739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EAEB7D4-D14F-ED62-18F5-2EF11B05527D}"/>
              </a:ext>
            </a:extLst>
          </p:cNvPr>
          <p:cNvSpPr txBox="1"/>
          <p:nvPr/>
        </p:nvSpPr>
        <p:spPr>
          <a:xfrm>
            <a:off x="347472" y="195410"/>
            <a:ext cx="1819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LLVIP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AAD5D93-4F87-2A48-5CDD-3AA34FD31F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473" y="742493"/>
            <a:ext cx="3483866" cy="278709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D9CD3AD-580F-D11E-80BA-9FF3CD6C87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4902" y="742492"/>
            <a:ext cx="3483866" cy="278709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71B689D-A924-F939-0557-B967FE9BBB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4902" y="3807832"/>
            <a:ext cx="3483867" cy="278709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E2B3CC3-69AE-A0BF-C717-8F812E701E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472" y="3807832"/>
            <a:ext cx="3483866" cy="2787093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CB170FA5-102A-D335-AC05-CD5C16B78C49}"/>
              </a:ext>
            </a:extLst>
          </p:cNvPr>
          <p:cNvSpPr txBox="1"/>
          <p:nvPr/>
        </p:nvSpPr>
        <p:spPr>
          <a:xfrm>
            <a:off x="8156448" y="1088136"/>
            <a:ext cx="2560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只有“人”一个类别</a:t>
            </a:r>
          </a:p>
        </p:txBody>
      </p:sp>
    </p:spTree>
    <p:extLst>
      <p:ext uri="{BB962C8B-B14F-4D97-AF65-F5344CB8AC3E}">
        <p14:creationId xmlns:p14="http://schemas.microsoft.com/office/powerpoint/2010/main" val="30281514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580CB09-EE8F-E720-8D76-1469544AF4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930" t="20800" r="21221" b="45467"/>
          <a:stretch>
            <a:fillRect/>
          </a:stretch>
        </p:blipFill>
        <p:spPr>
          <a:xfrm>
            <a:off x="5492495" y="516636"/>
            <a:ext cx="4191001" cy="348790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1E8B9C0-696C-D14C-8260-5C2D92D718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856" t="20933" r="18196" b="45334"/>
          <a:stretch>
            <a:fillRect/>
          </a:stretch>
        </p:blipFill>
        <p:spPr>
          <a:xfrm>
            <a:off x="402336" y="516636"/>
            <a:ext cx="4727148" cy="349758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3211F4C-6CDA-337B-DE0E-8FA5AD120051}"/>
              </a:ext>
            </a:extLst>
          </p:cNvPr>
          <p:cNvSpPr txBox="1"/>
          <p:nvPr/>
        </p:nvSpPr>
        <p:spPr>
          <a:xfrm>
            <a:off x="10689336" y="2048256"/>
            <a:ext cx="4389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</a:rPr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11364455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6DA7FB0F-C25D-321D-9528-04545E0462A5}"/>
              </a:ext>
            </a:extLst>
          </p:cNvPr>
          <p:cNvSpPr txBox="1"/>
          <p:nvPr/>
        </p:nvSpPr>
        <p:spPr>
          <a:xfrm>
            <a:off x="249224" y="5423789"/>
            <a:ext cx="1169355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YOLOv8-LIF summary (fused): 335 layers, 36508276 parameters, 0 gradients, </a:t>
            </a:r>
            <a:r>
              <a:rPr lang="zh-CN" altLang="en-US" sz="1200" dirty="0">
                <a:solidFill>
                  <a:schemeClr val="accent2">
                    <a:lumMod val="75000"/>
                  </a:schemeClr>
                </a:solidFill>
              </a:rPr>
              <a:t>122.4 GFLOPs</a:t>
            </a:r>
          </a:p>
          <a:p>
            <a:r>
              <a:rPr lang="zh-CN" altLang="en-US" sz="1200" dirty="0"/>
              <a:t>val: Scanning D:\DeepLearning\Dataset\LLVIP_YOLO\labels\val... 3463 images, 0 backgrounds, 0 corrupt: 100%|██████████| 3463/3463 [00:01&lt;00:00, 2770.41it/s]</a:t>
            </a:r>
          </a:p>
          <a:p>
            <a:r>
              <a:rPr lang="zh-CN" altLang="en-US" sz="1200" dirty="0"/>
              <a:t>val: New cache created: D:\DeepLearning\Dataset\LLVIP_YOLO\labels\val.cache</a:t>
            </a:r>
          </a:p>
          <a:p>
            <a:r>
              <a:rPr lang="zh-CN" altLang="en-US" sz="1200" dirty="0"/>
              <a:t>                 Class     Images  Instances      Box(P          R      mAP50  mAP50-95): 100%|██████████| 3463/3463 [01:04&lt;00:00, 53.49it/s]</a:t>
            </a:r>
          </a:p>
          <a:p>
            <a:r>
              <a:rPr lang="zh-CN" altLang="en-US" sz="1200" dirty="0"/>
              <a:t>                   all       3463       8302      0.972      0.895      </a:t>
            </a:r>
            <a:r>
              <a:rPr lang="zh-CN" altLang="en-US" sz="1200" dirty="0">
                <a:solidFill>
                  <a:schemeClr val="accent2">
                    <a:lumMod val="75000"/>
                  </a:schemeClr>
                </a:solidFill>
              </a:rPr>
              <a:t>0.944      0.685</a:t>
            </a:r>
          </a:p>
          <a:p>
            <a:r>
              <a:rPr lang="zh-CN" altLang="en-US" sz="1200" dirty="0"/>
              <a:t>Speed: 0.3ms preprocess, 12.5ms inference, 0.0ms loss, 0.9ms postprocess per image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0968520-F224-6A4E-F740-129D4A2BF3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45" y="547557"/>
            <a:ext cx="5716526" cy="437537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ACF182A-DDAE-0FD3-CE86-EC8FF6143029}"/>
              </a:ext>
            </a:extLst>
          </p:cNvPr>
          <p:cNvSpPr txBox="1"/>
          <p:nvPr/>
        </p:nvSpPr>
        <p:spPr>
          <a:xfrm>
            <a:off x="502919" y="4753652"/>
            <a:ext cx="20391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mAP@50-95</a:t>
            </a:r>
            <a:r>
              <a:rPr lang="zh-CN" altLang="en-US" sz="1600" dirty="0"/>
              <a:t>在</a:t>
            </a:r>
            <a:r>
              <a:rPr lang="en-US" altLang="zh-CN" sz="1600" dirty="0"/>
              <a:t>68.5</a:t>
            </a:r>
            <a:endParaRPr lang="zh-CN" altLang="en-US" sz="16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2F0BBA5-FE1C-FC34-8D21-FF5CBD9D51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8543" y="547557"/>
            <a:ext cx="4711206" cy="4544649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4C2A879-0F5E-2B66-9A54-89685EBEDADF}"/>
              </a:ext>
            </a:extLst>
          </p:cNvPr>
          <p:cNvSpPr/>
          <p:nvPr/>
        </p:nvSpPr>
        <p:spPr>
          <a:xfrm>
            <a:off x="10024672" y="1009223"/>
            <a:ext cx="514912" cy="1990009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12D100E-8C00-E147-6F19-3D8C0AA706BA}"/>
              </a:ext>
            </a:extLst>
          </p:cNvPr>
          <p:cNvSpPr txBox="1"/>
          <p:nvPr/>
        </p:nvSpPr>
        <p:spPr>
          <a:xfrm rot="10800000">
            <a:off x="9934595" y="132059"/>
            <a:ext cx="3474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5">
                    <a:lumMod val="75000"/>
                  </a:schemeClr>
                </a:solidFill>
              </a:rPr>
              <a:t>?</a:t>
            </a:r>
            <a:endParaRPr lang="zh-CN" altLang="en-US" sz="2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A491D1-520F-CE68-6190-A89317C2408A}"/>
              </a:ext>
            </a:extLst>
          </p:cNvPr>
          <p:cNvSpPr txBox="1"/>
          <p:nvPr/>
        </p:nvSpPr>
        <p:spPr>
          <a:xfrm>
            <a:off x="432317" y="5085235"/>
            <a:ext cx="46817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与论文的差别可能是我的数据集不怎么干净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48787EC1-104D-7458-4744-D3B48C69EFD5}"/>
              </a:ext>
            </a:extLst>
          </p:cNvPr>
          <p:cNvCxnSpPr>
            <a:cxnSpLocks/>
          </p:cNvCxnSpPr>
          <p:nvPr/>
        </p:nvCxnSpPr>
        <p:spPr>
          <a:xfrm flipH="1" flipV="1">
            <a:off x="4105656" y="3749040"/>
            <a:ext cx="2692887" cy="11064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4084C874-0D2C-2A1A-17B6-E121DF10F2F6}"/>
              </a:ext>
            </a:extLst>
          </p:cNvPr>
          <p:cNvSpPr/>
          <p:nvPr/>
        </p:nvSpPr>
        <p:spPr>
          <a:xfrm>
            <a:off x="6986016" y="2770632"/>
            <a:ext cx="932688" cy="228600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DDB9D8C-2196-96FD-95C2-81B21A4E77E3}"/>
              </a:ext>
            </a:extLst>
          </p:cNvPr>
          <p:cNvSpPr txBox="1"/>
          <p:nvPr/>
        </p:nvSpPr>
        <p:spPr>
          <a:xfrm>
            <a:off x="7104389" y="6470230"/>
            <a:ext cx="46817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用他的</a:t>
            </a:r>
            <a:r>
              <a:rPr lang="en-US" altLang="zh-CN" sz="1400" dirty="0" err="1"/>
              <a:t>val</a:t>
            </a:r>
            <a:r>
              <a:rPr lang="zh-CN" altLang="en-US" sz="1400" dirty="0"/>
              <a:t>代码，用它提供的模型</a:t>
            </a:r>
          </a:p>
        </p:txBody>
      </p:sp>
    </p:spTree>
    <p:extLst>
      <p:ext uri="{BB962C8B-B14F-4D97-AF65-F5344CB8AC3E}">
        <p14:creationId xmlns:p14="http://schemas.microsoft.com/office/powerpoint/2010/main" val="26844031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>
            <a:extLst>
              <a:ext uri="{FF2B5EF4-FFF2-40B4-BE49-F238E27FC236}">
                <a16:creationId xmlns:a16="http://schemas.microsoft.com/office/drawing/2014/main" id="{914D3C29-6102-E81D-6DDC-5324647E0F29}"/>
              </a:ext>
            </a:extLst>
          </p:cNvPr>
          <p:cNvSpPr txBox="1"/>
          <p:nvPr/>
        </p:nvSpPr>
        <p:spPr>
          <a:xfrm>
            <a:off x="443109" y="5540162"/>
            <a:ext cx="1114423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/>
              <a:t>YOLOv8n summary (fused): 168 layers, 3005843 parameters, 0 gradients, </a:t>
            </a:r>
            <a:r>
              <a:rPr lang="zh-CN" altLang="en-US" sz="1100" dirty="0">
                <a:solidFill>
                  <a:schemeClr val="accent2">
                    <a:lumMod val="75000"/>
                  </a:schemeClr>
                </a:solidFill>
              </a:rPr>
              <a:t>8.1 GFLOPs</a:t>
            </a:r>
          </a:p>
          <a:p>
            <a:r>
              <a:rPr lang="zh-CN" altLang="en-US" sz="1100" dirty="0"/>
              <a:t>val: Scanning D:\DeepLearning\Dataset\LLVIP_YOLO\labels\val... 3463 images, 0 backgrounds, 0 corrupt: 100%|██████████| 3463/3463 [00:01&lt;00:00, 2135.02it/s]</a:t>
            </a:r>
          </a:p>
          <a:p>
            <a:r>
              <a:rPr lang="zh-CN" altLang="en-US" sz="1100" dirty="0"/>
              <a:t>val: New cache created: D:\DeepLearning\Dataset\LLVIP_YOLO\labels\val.cache</a:t>
            </a:r>
          </a:p>
          <a:p>
            <a:r>
              <a:rPr lang="zh-CN" altLang="en-US" sz="1100" dirty="0"/>
              <a:t>                 Class     Images  Instances      Box(P          R      mAP50  mAP50-95): 100%|██████████| 3463/3463 [00:31&lt;00:00, 110.28it/s]</a:t>
            </a:r>
          </a:p>
          <a:p>
            <a:r>
              <a:rPr lang="zh-CN" altLang="en-US" sz="1100" dirty="0"/>
              <a:t>                   all       3463       8302      0.945      0.866      </a:t>
            </a:r>
            <a:r>
              <a:rPr lang="zh-CN" altLang="en-US" sz="1100" dirty="0">
                <a:solidFill>
                  <a:schemeClr val="accent2">
                    <a:lumMod val="75000"/>
                  </a:schemeClr>
                </a:solidFill>
              </a:rPr>
              <a:t>0.934      0.657</a:t>
            </a:r>
          </a:p>
          <a:p>
            <a:r>
              <a:rPr lang="zh-CN" altLang="en-US" sz="1100" dirty="0"/>
              <a:t>Speed: 0.2ms preprocess, 5.1ms inference, 0.0ms loss, 1.2ms postprocess per image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078AD9D-0388-38C6-5464-52651E89DF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980" y="549003"/>
            <a:ext cx="4657355" cy="232867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BCA1DA8-D078-68BF-9AC7-B84B8AF98018}"/>
              </a:ext>
            </a:extLst>
          </p:cNvPr>
          <p:cNvSpPr txBox="1"/>
          <p:nvPr/>
        </p:nvSpPr>
        <p:spPr>
          <a:xfrm>
            <a:off x="1758690" y="164592"/>
            <a:ext cx="17739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YOLOv8n RGB</a:t>
            </a:r>
            <a:endParaRPr lang="zh-CN" altLang="en-US" sz="16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0CA0A50-677E-9FE6-EDB2-0597C151CF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394" y="3211484"/>
            <a:ext cx="4657355" cy="232867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85DC6F7-8596-3448-CFC5-0CF06E054DA8}"/>
              </a:ext>
            </a:extLst>
          </p:cNvPr>
          <p:cNvSpPr txBox="1"/>
          <p:nvPr/>
        </p:nvSpPr>
        <p:spPr>
          <a:xfrm>
            <a:off x="1338066" y="2886465"/>
            <a:ext cx="17739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YOLOv8n IR</a:t>
            </a:r>
            <a:endParaRPr lang="zh-CN" altLang="en-US" sz="16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6973FA8-E80B-0337-C8EB-225567199A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6046" y="487757"/>
            <a:ext cx="4657355" cy="2328678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5F31325-5033-B17E-2BE0-924CA3B0830D}"/>
              </a:ext>
            </a:extLst>
          </p:cNvPr>
          <p:cNvSpPr txBox="1"/>
          <p:nvPr/>
        </p:nvSpPr>
        <p:spPr>
          <a:xfrm>
            <a:off x="7382267" y="164592"/>
            <a:ext cx="17739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YOLOv8n RGB</a:t>
            </a:r>
            <a:endParaRPr lang="zh-CN" altLang="en-US" sz="16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400D9FD-293D-BDFA-B088-5E0F3C1E15E5}"/>
              </a:ext>
            </a:extLst>
          </p:cNvPr>
          <p:cNvSpPr txBox="1"/>
          <p:nvPr/>
        </p:nvSpPr>
        <p:spPr>
          <a:xfrm>
            <a:off x="2779776" y="2886465"/>
            <a:ext cx="1773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30epoch</a:t>
            </a:r>
            <a:r>
              <a:rPr lang="zh-CN" altLang="en-US" sz="1400" dirty="0"/>
              <a:t>的那个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5D426A5-9D43-AA81-DE6A-98172C325660}"/>
              </a:ext>
            </a:extLst>
          </p:cNvPr>
          <p:cNvSpPr txBox="1"/>
          <p:nvPr/>
        </p:nvSpPr>
        <p:spPr>
          <a:xfrm>
            <a:off x="9299465" y="181399"/>
            <a:ext cx="1773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50epoch</a:t>
            </a:r>
            <a:r>
              <a:rPr lang="zh-CN" altLang="en-US" sz="1400" dirty="0"/>
              <a:t>的那个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F2E6CFD-F04B-29C1-A663-A56BDD68032A}"/>
              </a:ext>
            </a:extLst>
          </p:cNvPr>
          <p:cNvSpPr txBox="1"/>
          <p:nvPr/>
        </p:nvSpPr>
        <p:spPr>
          <a:xfrm>
            <a:off x="3593589" y="179980"/>
            <a:ext cx="20116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mAP@50-95</a:t>
            </a:r>
            <a:r>
              <a:rPr lang="zh-CN" altLang="en-US" sz="1400" dirty="0"/>
              <a:t>在</a:t>
            </a:r>
            <a:r>
              <a:rPr lang="en-US" altLang="zh-CN" sz="1400" dirty="0">
                <a:solidFill>
                  <a:schemeClr val="accent2">
                    <a:lumMod val="75000"/>
                  </a:schemeClr>
                </a:solidFill>
              </a:rPr>
              <a:t>52.8</a:t>
            </a:r>
            <a:endParaRPr lang="zh-CN" altLang="en-US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707B0B8-5737-0D7F-9C7C-D98AFE312D1C}"/>
              </a:ext>
            </a:extLst>
          </p:cNvPr>
          <p:cNvSpPr txBox="1"/>
          <p:nvPr/>
        </p:nvSpPr>
        <p:spPr>
          <a:xfrm>
            <a:off x="4323580" y="2862292"/>
            <a:ext cx="20116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mAP@50-95</a:t>
            </a:r>
            <a:r>
              <a:rPr lang="zh-CN" altLang="en-US" sz="1400" dirty="0"/>
              <a:t>在</a:t>
            </a:r>
            <a:r>
              <a:rPr lang="en-US" altLang="zh-CN" sz="1400" dirty="0">
                <a:solidFill>
                  <a:schemeClr val="accent2">
                    <a:lumMod val="75000"/>
                  </a:schemeClr>
                </a:solidFill>
              </a:rPr>
              <a:t>65.7</a:t>
            </a:r>
            <a:endParaRPr lang="zh-CN" altLang="en-US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D5870C9-1CE4-EB62-9183-0DE463631954}"/>
              </a:ext>
            </a:extLst>
          </p:cNvPr>
          <p:cNvSpPr txBox="1"/>
          <p:nvPr/>
        </p:nvSpPr>
        <p:spPr>
          <a:xfrm>
            <a:off x="6905616" y="5215578"/>
            <a:ext cx="468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用他的</a:t>
            </a:r>
            <a:r>
              <a:rPr lang="en-US" altLang="zh-CN" sz="1600" dirty="0" err="1"/>
              <a:t>val</a:t>
            </a:r>
            <a:r>
              <a:rPr lang="zh-CN" altLang="en-US" sz="1600" dirty="0"/>
              <a:t>代码，用我的单模态</a:t>
            </a:r>
            <a:r>
              <a:rPr lang="en-US" altLang="zh-CN" sz="1600" dirty="0"/>
              <a:t>n</a:t>
            </a:r>
            <a:r>
              <a:rPr lang="zh-CN" altLang="en-US" sz="1600" dirty="0"/>
              <a:t>模型</a:t>
            </a:r>
            <a:r>
              <a:rPr lang="en-US" altLang="zh-CN" sz="1600" dirty="0"/>
              <a:t>IR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709960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E67152B9-D507-26A7-C7AF-B4DF92A412EF}"/>
              </a:ext>
            </a:extLst>
          </p:cNvPr>
          <p:cNvSpPr txBox="1"/>
          <p:nvPr/>
        </p:nvSpPr>
        <p:spPr>
          <a:xfrm>
            <a:off x="190119" y="5760006"/>
            <a:ext cx="95413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YOLOv8n-LIF summary (fused): 255 layers, 4053332 parameters, 0 gradients, </a:t>
            </a:r>
            <a:r>
              <a:rPr lang="zh-CN" altLang="en-US" sz="1200" dirty="0">
                <a:solidFill>
                  <a:schemeClr val="accent2">
                    <a:lumMod val="75000"/>
                  </a:schemeClr>
                </a:solidFill>
              </a:rPr>
              <a:t>17.4 GFLOPs</a:t>
            </a:r>
          </a:p>
          <a:p>
            <a:r>
              <a:rPr lang="zh-CN" altLang="en-US" sz="1200" dirty="0"/>
              <a:t>                 Class     Images  Instances      Box(P          R      mAP50  mAP50-95): 100%|██████████| 217/217 [00:32&lt;00:00,  6.58it/s]</a:t>
            </a:r>
          </a:p>
          <a:p>
            <a:r>
              <a:rPr lang="zh-CN" altLang="en-US" sz="1200" dirty="0"/>
              <a:t>                   all       3463       8302      0.936      0.867      </a:t>
            </a:r>
            <a:r>
              <a:rPr lang="zh-CN" altLang="en-US" sz="1200" dirty="0">
                <a:solidFill>
                  <a:schemeClr val="accent2">
                    <a:lumMod val="75000"/>
                  </a:schemeClr>
                </a:solidFill>
              </a:rPr>
              <a:t>0.941      0.657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584F1C4-321D-DCC9-FDFB-CA15E875426D}"/>
              </a:ext>
            </a:extLst>
          </p:cNvPr>
          <p:cNvSpPr txBox="1"/>
          <p:nvPr/>
        </p:nvSpPr>
        <p:spPr>
          <a:xfrm>
            <a:off x="59055" y="260479"/>
            <a:ext cx="104288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 Epoch    GPU_mem   box_loss   cls_loss   dfl_loss   lif_loss    im_loss    cm_loss  Instances       Size</a:t>
            </a:r>
          </a:p>
          <a:p>
            <a:r>
              <a:rPr lang="zh-CN" altLang="en-US" sz="1200" dirty="0"/>
              <a:t>        1/1      </a:t>
            </a:r>
            <a:r>
              <a:rPr lang="zh-CN" altLang="en-US" sz="1200" dirty="0">
                <a:solidFill>
                  <a:schemeClr val="accent2">
                    <a:lumMod val="75000"/>
                  </a:schemeClr>
                </a:solidFill>
              </a:rPr>
              <a:t>16.6G      </a:t>
            </a:r>
            <a:r>
              <a:rPr lang="zh-CN" altLang="en-US" sz="1200" dirty="0"/>
              <a:t>1.924      1.887       6.48     0.1261      7.274      4.303          7       1280: 100%|██████████| 6013/6013 [</a:t>
            </a:r>
            <a:r>
              <a:rPr lang="zh-CN" altLang="en-US" sz="1200" dirty="0">
                <a:solidFill>
                  <a:schemeClr val="accent2">
                    <a:lumMod val="75000"/>
                  </a:schemeClr>
                </a:solidFill>
              </a:rPr>
              <a:t>3:03:46</a:t>
            </a:r>
            <a:r>
              <a:rPr lang="zh-CN" altLang="en-US" sz="1200" dirty="0"/>
              <a:t>&lt;00:00,  1.83s/it]</a:t>
            </a:r>
          </a:p>
          <a:p>
            <a:r>
              <a:rPr lang="zh-CN" altLang="en-US" sz="1200" dirty="0"/>
              <a:t>                 Class     Images  Instances      Box(P          R      mAP50  mAP50-95): 100%|██████████| 866/866 [04:38&lt;00:00,  3.10it/s]</a:t>
            </a:r>
          </a:p>
          <a:p>
            <a:r>
              <a:rPr lang="zh-CN" altLang="en-US" sz="1200" dirty="0"/>
              <a:t>                   all       3463       8302      0.826      0.672      0.762      0.486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1EF8B1F-13BB-2EB4-223F-ED0B9BA3ABEF}"/>
              </a:ext>
            </a:extLst>
          </p:cNvPr>
          <p:cNvSpPr txBox="1"/>
          <p:nvPr/>
        </p:nvSpPr>
        <p:spPr>
          <a:xfrm>
            <a:off x="59055" y="1449199"/>
            <a:ext cx="102877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 Epoch    GPU_mem   box_loss   cls_loss   dfl_loss   lif_loss    im_loss    cm_loss  Instances       Size</a:t>
            </a:r>
          </a:p>
          <a:p>
            <a:r>
              <a:rPr lang="zh-CN" altLang="en-US" sz="1200" dirty="0"/>
              <a:t>        1/1      </a:t>
            </a:r>
            <a:r>
              <a:rPr lang="zh-CN" altLang="en-US" sz="1200" dirty="0">
                <a:solidFill>
                  <a:schemeClr val="accent2">
                    <a:lumMod val="75000"/>
                  </a:schemeClr>
                </a:solidFill>
              </a:rPr>
              <a:t>4.72G      </a:t>
            </a:r>
            <a:r>
              <a:rPr lang="zh-CN" altLang="en-US" sz="1200" dirty="0"/>
              <a:t>2.265      1.822       5.88     0.1833      12.24      4.587         10        640: 100%|██████████| 3007/3007 [</a:t>
            </a:r>
            <a:r>
              <a:rPr lang="zh-CN" altLang="en-US" sz="1200" dirty="0">
                <a:solidFill>
                  <a:schemeClr val="accent2">
                    <a:lumMod val="75000"/>
                  </a:schemeClr>
                </a:solidFill>
              </a:rPr>
              <a:t>07:59</a:t>
            </a:r>
            <a:r>
              <a:rPr lang="zh-CN" altLang="en-US" sz="1200" dirty="0"/>
              <a:t>&lt;00:00,  6.28it/s]</a:t>
            </a:r>
          </a:p>
          <a:p>
            <a:r>
              <a:rPr lang="zh-CN" altLang="en-US" sz="1200" dirty="0"/>
              <a:t>                 Class     Images  Instances      Box(P          R      mAP50  mAP50-95): 100%|██████████| 433/433 [00:27&lt;00:00, 16.01it/s]</a:t>
            </a:r>
          </a:p>
          <a:p>
            <a:r>
              <a:rPr lang="zh-CN" altLang="en-US" sz="1200" dirty="0"/>
              <a:t>                   all       3463       8302      0.842      0.669      0.788      0.451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E5C930F-3C44-0BFB-E084-2FB4217DCBC8}"/>
              </a:ext>
            </a:extLst>
          </p:cNvPr>
          <p:cNvSpPr txBox="1"/>
          <p:nvPr/>
        </p:nvSpPr>
        <p:spPr>
          <a:xfrm>
            <a:off x="10346817" y="413039"/>
            <a:ext cx="1655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满血模型</a:t>
            </a:r>
            <a:r>
              <a:rPr lang="en-US" altLang="zh-CN" sz="1400" dirty="0"/>
              <a:t>1 epoch</a:t>
            </a:r>
            <a:endParaRPr lang="zh-CN" altLang="en-US" sz="14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66696E9-1F62-9928-079F-E5978CEFA41F}"/>
              </a:ext>
            </a:extLst>
          </p:cNvPr>
          <p:cNvSpPr txBox="1"/>
          <p:nvPr/>
        </p:nvSpPr>
        <p:spPr>
          <a:xfrm>
            <a:off x="10453497" y="1607420"/>
            <a:ext cx="11612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n</a:t>
            </a:r>
            <a:r>
              <a:rPr lang="zh-CN" altLang="en-US" sz="1400" dirty="0"/>
              <a:t>版</a:t>
            </a:r>
            <a:r>
              <a:rPr lang="en-US" altLang="zh-CN" sz="1400" dirty="0"/>
              <a:t>1 epoch</a:t>
            </a:r>
            <a:endParaRPr lang="zh-CN" altLang="en-US" sz="14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CE3C294-537D-ED89-5A4A-F84E8F8B00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616" y="2280196"/>
            <a:ext cx="6774953" cy="3387477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3A87F539-CDFB-0906-CCE7-95313255FED5}"/>
              </a:ext>
            </a:extLst>
          </p:cNvPr>
          <p:cNvSpPr txBox="1"/>
          <p:nvPr/>
        </p:nvSpPr>
        <p:spPr>
          <a:xfrm>
            <a:off x="9731501" y="5929282"/>
            <a:ext cx="20551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/>
              <a:t>Nnn</a:t>
            </a:r>
            <a:r>
              <a:rPr lang="zh-CN" altLang="en-US" sz="1400" dirty="0"/>
              <a:t>多模态训练结果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073D0E3-4C52-1BB7-D2A1-A23760DF5EEB}"/>
              </a:ext>
            </a:extLst>
          </p:cNvPr>
          <p:cNvCxnSpPr/>
          <p:nvPr/>
        </p:nvCxnSpPr>
        <p:spPr>
          <a:xfrm>
            <a:off x="356616" y="2280196"/>
            <a:ext cx="1110713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02394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>
            <a:extLst>
              <a:ext uri="{FF2B5EF4-FFF2-40B4-BE49-F238E27FC236}">
                <a16:creationId xmlns:a16="http://schemas.microsoft.com/office/drawing/2014/main" id="{19878E5E-5BCD-32D1-0C20-EDF4EDF2F9CA}"/>
              </a:ext>
            </a:extLst>
          </p:cNvPr>
          <p:cNvSpPr txBox="1"/>
          <p:nvPr/>
        </p:nvSpPr>
        <p:spPr>
          <a:xfrm>
            <a:off x="7454256" y="1342377"/>
            <a:ext cx="4259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用他的</a:t>
            </a:r>
            <a:r>
              <a:rPr lang="en-US" altLang="zh-CN" sz="1400" dirty="0" err="1"/>
              <a:t>val</a:t>
            </a:r>
            <a:r>
              <a:rPr lang="zh-CN" altLang="en-US" sz="1400" dirty="0"/>
              <a:t>代码，我的多模态</a:t>
            </a:r>
            <a:r>
              <a:rPr lang="en-US" altLang="zh-CN" sz="1400" dirty="0" err="1"/>
              <a:t>nnn</a:t>
            </a:r>
            <a:r>
              <a:rPr lang="zh-CN" altLang="en-US" sz="1400" dirty="0"/>
              <a:t>版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D1621BF-DCDC-C256-55E7-1919D14B75F9}"/>
              </a:ext>
            </a:extLst>
          </p:cNvPr>
          <p:cNvSpPr txBox="1"/>
          <p:nvPr/>
        </p:nvSpPr>
        <p:spPr>
          <a:xfrm>
            <a:off x="322326" y="311325"/>
            <a:ext cx="104035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YOLOv8n-LIF summary (fused): 255 layers, 4053332 parameters, 0 gradients, </a:t>
            </a:r>
            <a:r>
              <a:rPr lang="zh-CN" altLang="en-US" sz="1200" dirty="0">
                <a:solidFill>
                  <a:schemeClr val="accent2">
                    <a:lumMod val="75000"/>
                  </a:schemeClr>
                </a:solidFill>
              </a:rPr>
              <a:t>17.4 GFLOPs</a:t>
            </a:r>
          </a:p>
          <a:p>
            <a:r>
              <a:rPr lang="zh-CN" altLang="en-US" sz="1200" dirty="0"/>
              <a:t>val: Scanning D:\DeepLearning\Dataset\LLVIP_YOLO\labels\val.cache... 3463 images, 0 backgrounds, 0 corrupt: 100%|██████████| 3463/3463 [00:00&lt;?, ?it/s]</a:t>
            </a:r>
          </a:p>
          <a:p>
            <a:r>
              <a:rPr lang="zh-CN" altLang="en-US" sz="1200" dirty="0"/>
              <a:t>                 Class     Images  Instances      Box(P          R      mAP50  mAP50-95): 100%|██████████| 3463/3463 [01:08&lt;00:00, 50.45it/s]</a:t>
            </a:r>
          </a:p>
          <a:p>
            <a:r>
              <a:rPr lang="zh-CN" altLang="en-US" sz="1200" dirty="0"/>
              <a:t>                   all       3463       8302      0.942      0.874      </a:t>
            </a:r>
            <a:r>
              <a:rPr lang="zh-CN" altLang="en-US" sz="1200" dirty="0">
                <a:solidFill>
                  <a:schemeClr val="accent2">
                    <a:lumMod val="75000"/>
                  </a:schemeClr>
                </a:solidFill>
              </a:rPr>
              <a:t>0.936      0.652</a:t>
            </a:r>
          </a:p>
          <a:p>
            <a:r>
              <a:rPr lang="zh-CN" altLang="en-US" sz="1200" dirty="0"/>
              <a:t>Speed: 0.4ms preprocess, 8.6ms inference, 0.0ms loss, 1.0ms postprocess per image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C45D418-8406-0648-950F-05FFBBF8FADC}"/>
              </a:ext>
            </a:extLst>
          </p:cNvPr>
          <p:cNvSpPr txBox="1"/>
          <p:nvPr/>
        </p:nvSpPr>
        <p:spPr>
          <a:xfrm>
            <a:off x="322326" y="1914216"/>
            <a:ext cx="1153858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YOLOv8s summary (fused): 168 layers, 11125971 parameters, 0 gradients, </a:t>
            </a:r>
            <a:r>
              <a:rPr lang="zh-CN" altLang="en-US" sz="1200" dirty="0">
                <a:solidFill>
                  <a:schemeClr val="accent2">
                    <a:lumMod val="75000"/>
                  </a:schemeClr>
                </a:solidFill>
              </a:rPr>
              <a:t>28.4 GFLOPs</a:t>
            </a:r>
          </a:p>
          <a:p>
            <a:r>
              <a:rPr lang="zh-CN" altLang="en-US" sz="1200" dirty="0"/>
              <a:t>val: Scanning D:\DeepLearning\Dataset\LLVIP_YOLO\labels\val.cache... 3463 images, 0 backgrounds, 0 corrupt: 100%|██████████| 3463/3463 [00:00&lt;?, ?it/s]</a:t>
            </a:r>
          </a:p>
          <a:p>
            <a:r>
              <a:rPr lang="zh-CN" altLang="en-US" sz="1200" dirty="0"/>
              <a:t>                 Class     Images  Instances      Box(P          R      mAP50  mAP50-95): 100%|██████████| 3463/3463 [00:29&lt;00:00, 117.02it/s]</a:t>
            </a:r>
          </a:p>
          <a:p>
            <a:r>
              <a:rPr lang="zh-CN" altLang="en-US" sz="1200" dirty="0"/>
              <a:t>                   all       3463       8302      0.956       0.89      </a:t>
            </a:r>
            <a:r>
              <a:rPr lang="zh-CN" altLang="en-US" sz="1200" dirty="0">
                <a:solidFill>
                  <a:schemeClr val="accent2">
                    <a:lumMod val="75000"/>
                  </a:schemeClr>
                </a:solidFill>
              </a:rPr>
              <a:t>0.945      0.676</a:t>
            </a:r>
          </a:p>
          <a:p>
            <a:r>
              <a:rPr lang="zh-CN" altLang="en-US" sz="1200" dirty="0"/>
              <a:t>Speed: 0.2ms preprocess, 4.6ms inference, 0.0ms loss, 1.0ms postprocess per image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229F451-3EFD-C292-EBF5-19C9529E6885}"/>
              </a:ext>
            </a:extLst>
          </p:cNvPr>
          <p:cNvSpPr txBox="1"/>
          <p:nvPr/>
        </p:nvSpPr>
        <p:spPr>
          <a:xfrm>
            <a:off x="7454256" y="2700564"/>
            <a:ext cx="4259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用他的</a:t>
            </a:r>
            <a:r>
              <a:rPr lang="en-US" altLang="zh-CN" sz="1400" dirty="0" err="1"/>
              <a:t>val</a:t>
            </a:r>
            <a:r>
              <a:rPr lang="zh-CN" altLang="en-US" sz="1400" dirty="0"/>
              <a:t>代码，</a:t>
            </a:r>
            <a:r>
              <a:rPr lang="en-US" altLang="zh-CN" sz="1400" dirty="0"/>
              <a:t>yolo s </a:t>
            </a:r>
            <a:r>
              <a:rPr lang="en-US" altLang="zh-CN" sz="1400" dirty="0" err="1"/>
              <a:t>ir</a:t>
            </a:r>
            <a:endParaRPr lang="zh-CN" altLang="en-US" sz="1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B8C09CB-C885-AF9B-D324-BA3A03F8DFB8}"/>
              </a:ext>
            </a:extLst>
          </p:cNvPr>
          <p:cNvSpPr txBox="1"/>
          <p:nvPr/>
        </p:nvSpPr>
        <p:spPr>
          <a:xfrm>
            <a:off x="370215" y="3429000"/>
            <a:ext cx="34837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假设他的流程没问题（策略合理）</a:t>
            </a:r>
            <a:endParaRPr lang="en-US" altLang="zh-CN" sz="14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2B8A793-E5F1-EB80-8500-607D391497D3}"/>
              </a:ext>
            </a:extLst>
          </p:cNvPr>
          <p:cNvSpPr txBox="1"/>
          <p:nvPr/>
        </p:nvSpPr>
        <p:spPr>
          <a:xfrm>
            <a:off x="5420820" y="3730811"/>
            <a:ext cx="3929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低光数据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IR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更加准确，模型更加倾向于相信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IR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树过多导致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RGB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纹理信息噪声大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014CF95-8EBA-0785-743B-18766C167D93}"/>
              </a:ext>
            </a:extLst>
          </p:cNvPr>
          <p:cNvSpPr txBox="1"/>
          <p:nvPr/>
        </p:nvSpPr>
        <p:spPr>
          <a:xfrm>
            <a:off x="708016" y="3730811"/>
            <a:ext cx="37182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低光数据过多（上万张图片只有几张是白天）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ckwell" panose="02060603020205020403"/>
              <a:ea typeface="方正姚体" panose="02010601030101010101" pitchFamily="2" charset="-122"/>
              <a:cs typeface="+mn-cs"/>
            </a:endParaRPr>
          </a:p>
          <a:p>
            <a:pPr>
              <a:defRPr/>
            </a:pPr>
            <a:r>
              <a:rPr lang="zh-CN" altLang="en-US" sz="1400" dirty="0">
                <a:solidFill>
                  <a:prstClr val="black"/>
                </a:solidFill>
              </a:rPr>
              <a:t>场景中树过多</a:t>
            </a:r>
            <a:endParaRPr lang="zh-CN" altLang="en-US" sz="1400" dirty="0"/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F035E9E1-6CAB-2C36-A3F9-04699BDDDA30}"/>
              </a:ext>
            </a:extLst>
          </p:cNvPr>
          <p:cNvCxnSpPr/>
          <p:nvPr/>
        </p:nvCxnSpPr>
        <p:spPr>
          <a:xfrm>
            <a:off x="4606121" y="3992421"/>
            <a:ext cx="7241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B45E74D3-648A-5D36-F3DB-D643EA3B4C6A}"/>
              </a:ext>
            </a:extLst>
          </p:cNvPr>
          <p:cNvSpPr txBox="1"/>
          <p:nvPr/>
        </p:nvSpPr>
        <p:spPr>
          <a:xfrm>
            <a:off x="676987" y="4401953"/>
            <a:ext cx="80676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反而也能印证他的架构有自适应融合的能力（某种程度上也解答了“为什么不直接用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L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通道”的问题）</a:t>
            </a: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4AFBA4A0-40DE-B840-A469-EF377CCCB7B3}"/>
              </a:ext>
            </a:extLst>
          </p:cNvPr>
          <p:cNvCxnSpPr>
            <a:cxnSpLocks/>
          </p:cNvCxnSpPr>
          <p:nvPr/>
        </p:nvCxnSpPr>
        <p:spPr>
          <a:xfrm flipV="1">
            <a:off x="770550" y="4300729"/>
            <a:ext cx="8407571" cy="272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79D0CFD4-3112-459C-93D7-1040CD154B4A}"/>
              </a:ext>
            </a:extLst>
          </p:cNvPr>
          <p:cNvSpPr txBox="1"/>
          <p:nvPr/>
        </p:nvSpPr>
        <p:spPr>
          <a:xfrm>
            <a:off x="676986" y="4709730"/>
            <a:ext cx="59704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我训练出来多模态效果差</a:t>
            </a:r>
            <a:r>
              <a:rPr lang="en-US" altLang="zh-CN" sz="1400" dirty="0">
                <a:solidFill>
                  <a:prstClr val="black"/>
                </a:solidFill>
                <a:latin typeface="Rockwell" panose="02060603020205020403"/>
                <a:ea typeface="方正姚体" panose="02010601030101010101" pitchFamily="2" charset="-122"/>
              </a:rPr>
              <a:t>IR</a:t>
            </a:r>
            <a:r>
              <a:rPr lang="zh-CN" altLang="en-US" sz="1400" dirty="0">
                <a:solidFill>
                  <a:prstClr val="black"/>
                </a:solidFill>
                <a:latin typeface="Rockwell" panose="02060603020205020403"/>
                <a:ea typeface="方正姚体" panose="02010601030101010101" pitchFamily="2" charset="-122"/>
              </a:rPr>
              <a:t>一些可能是因为</a:t>
            </a:r>
            <a:r>
              <a:rPr lang="en-US" altLang="zh-CN" sz="1400" dirty="0">
                <a:solidFill>
                  <a:prstClr val="black"/>
                </a:solidFill>
                <a:latin typeface="Rockwell" panose="02060603020205020403"/>
                <a:ea typeface="方正姚体" panose="02010601030101010101" pitchFamily="2" charset="-122"/>
              </a:rPr>
              <a:t>epoch</a:t>
            </a:r>
            <a:r>
              <a:rPr lang="zh-CN" altLang="en-US" sz="1400" dirty="0">
                <a:solidFill>
                  <a:prstClr val="black"/>
                </a:solidFill>
                <a:latin typeface="Rockwell" panose="02060603020205020403"/>
                <a:ea typeface="方正姚体" panose="02010601030101010101" pitchFamily="2" charset="-122"/>
              </a:rPr>
              <a:t>不够（曲线未完全收敛）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ckwell" panose="02060603020205020403"/>
              <a:ea typeface="方正姚体" panose="02010601030101010101" pitchFamily="2" charset="-122"/>
              <a:cs typeface="+mn-cs"/>
            </a:endParaRP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6BCB500B-86E5-EDBA-87E8-7FE91F507607}"/>
              </a:ext>
            </a:extLst>
          </p:cNvPr>
          <p:cNvCxnSpPr/>
          <p:nvPr/>
        </p:nvCxnSpPr>
        <p:spPr>
          <a:xfrm>
            <a:off x="8846727" y="4559393"/>
            <a:ext cx="7241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CA136F3D-6FAC-FBCD-6303-4B0A07A55139}"/>
              </a:ext>
            </a:extLst>
          </p:cNvPr>
          <p:cNvSpPr txBox="1"/>
          <p:nvPr/>
        </p:nvSpPr>
        <p:spPr>
          <a:xfrm>
            <a:off x="9673022" y="4401953"/>
            <a:ext cx="19134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Echo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归一化至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0.3-0.7</a:t>
            </a:r>
            <a:endParaRPr lang="zh-CN" altLang="en-US" sz="1400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56ED87B-5AD3-4C11-256F-FAF914F76F25}"/>
              </a:ext>
            </a:extLst>
          </p:cNvPr>
          <p:cNvSpPr txBox="1"/>
          <p:nvPr/>
        </p:nvSpPr>
        <p:spPr>
          <a:xfrm>
            <a:off x="676987" y="5171395"/>
            <a:ext cx="13175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消除融合退化</a:t>
            </a:r>
          </a:p>
        </p:txBody>
      </p:sp>
      <p:cxnSp>
        <p:nvCxnSpPr>
          <p:cNvPr id="34" name="连接符: 肘形 33">
            <a:extLst>
              <a:ext uri="{FF2B5EF4-FFF2-40B4-BE49-F238E27FC236}">
                <a16:creationId xmlns:a16="http://schemas.microsoft.com/office/drawing/2014/main" id="{4568B275-18E5-12EE-278B-CC9CB1F24990}"/>
              </a:ext>
            </a:extLst>
          </p:cNvPr>
          <p:cNvCxnSpPr>
            <a:cxnSpLocks/>
            <a:stCxn id="31" idx="2"/>
            <a:endCxn id="32" idx="3"/>
          </p:cNvCxnSpPr>
          <p:nvPr/>
        </p:nvCxnSpPr>
        <p:spPr>
          <a:xfrm rot="5400000">
            <a:off x="6004350" y="699877"/>
            <a:ext cx="615554" cy="8635260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A7FC29E5-5F50-18F5-4078-285BC3276AA4}"/>
              </a:ext>
            </a:extLst>
          </p:cNvPr>
          <p:cNvSpPr txBox="1"/>
          <p:nvPr/>
        </p:nvSpPr>
        <p:spPr>
          <a:xfrm>
            <a:off x="8979146" y="4976501"/>
            <a:ext cx="16506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最小化无用模态影响</a:t>
            </a:r>
          </a:p>
        </p:txBody>
      </p:sp>
    </p:spTree>
    <p:extLst>
      <p:ext uri="{BB962C8B-B14F-4D97-AF65-F5344CB8AC3E}">
        <p14:creationId xmlns:p14="http://schemas.microsoft.com/office/powerpoint/2010/main" val="4123931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C025131-7D7F-1556-435D-6C7DA7F4600C}"/>
              </a:ext>
            </a:extLst>
          </p:cNvPr>
          <p:cNvSpPr txBox="1"/>
          <p:nvPr/>
        </p:nvSpPr>
        <p:spPr>
          <a:xfrm>
            <a:off x="487244" y="178483"/>
            <a:ext cx="5823547" cy="640284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ts val="1200"/>
              </a:lnSpc>
              <a:buNone/>
            </a:pPr>
            <a:r>
              <a:rPr lang="en-US" altLang="zh-C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backbone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[from, repeats, module, </a:t>
            </a:r>
            <a:r>
              <a:rPr lang="en-US" altLang="zh-CN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]</a:t>
            </a: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 ] ]            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Multiin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 ]     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Multiin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 ]      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LIF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[] ]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         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Stream 1: RGB (from index 1)</a:t>
            </a: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Conv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 ]  </a:t>
            </a: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4  P1</a:t>
            </a: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Conv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128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 ] </a:t>
            </a: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5  P2</a:t>
            </a: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C2f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128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 ]  </a:t>
            </a: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6</a:t>
            </a: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Conv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256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 ] </a:t>
            </a: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7  P3</a:t>
            </a: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C2f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256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 ]  </a:t>
            </a: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8</a:t>
            </a: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Conv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512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 ] </a:t>
            </a: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9  P4</a:t>
            </a: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C2f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512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 ]  </a:t>
            </a: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10</a:t>
            </a: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Conv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512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 ] </a:t>
            </a: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11 P5 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C2f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512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 ]  </a:t>
            </a: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12</a:t>
            </a:r>
          </a:p>
          <a:p>
            <a:pPr>
              <a:lnSpc>
                <a:spcPts val="1200"/>
              </a:lnSpc>
              <a:buNone/>
            </a:pP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Stream 2: IR (from index 2)</a:t>
            </a: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Conv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 ]  </a:t>
            </a: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13 P1</a:t>
            </a: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Conv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128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 ] </a:t>
            </a: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14 P2</a:t>
            </a: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C2f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128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 ]  </a:t>
            </a: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15</a:t>
            </a: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Conv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256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 ] </a:t>
            </a: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16 P3</a:t>
            </a: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C2f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256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 ]  </a:t>
            </a: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17</a:t>
            </a: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Conv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512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 ] </a:t>
            </a: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18 P4</a:t>
            </a: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C2f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512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 ]  </a:t>
            </a: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19</a:t>
            </a: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Conv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512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 ] </a:t>
            </a: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20 P5</a:t>
            </a: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C2f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512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 ]  </a:t>
            </a: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21</a:t>
            </a: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--- LIF Fusion Blocks ---</a:t>
            </a: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17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LIFAdd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 ] </a:t>
            </a: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22</a:t>
            </a: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19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LIFAdd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 ] </a:t>
            </a: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23</a:t>
            </a: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LIFAdd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 ] </a:t>
            </a: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24</a:t>
            </a: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24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SPPF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512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 ]     </a:t>
            </a: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25</a:t>
            </a: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849FE66-E526-C082-3377-157786022DFA}"/>
              </a:ext>
            </a:extLst>
          </p:cNvPr>
          <p:cNvSpPr txBox="1"/>
          <p:nvPr/>
        </p:nvSpPr>
        <p:spPr>
          <a:xfrm>
            <a:off x="6280235" y="2582987"/>
            <a:ext cx="4100993" cy="399833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zh-C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backbone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800"/>
              </a:lnSpc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[from, repeats, module, </a:t>
            </a:r>
            <a:r>
              <a:rPr lang="en-US" altLang="zh-CN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]</a:t>
            </a: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Conv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 ]  </a:t>
            </a: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0-P1/2</a:t>
            </a: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Conv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128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 ]  </a:t>
            </a: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1-P2/4</a:t>
            </a: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C2f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128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 ]</a:t>
            </a:r>
          </a:p>
          <a:p>
            <a:pPr>
              <a:lnSpc>
                <a:spcPts val="1800"/>
              </a:lnSpc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pPr>
              <a:lnSpc>
                <a:spcPts val="1800"/>
              </a:lnSpc>
            </a:pPr>
            <a:r>
              <a:rPr lang="en-US" altLang="zh-CN" sz="1200" dirty="0">
                <a:solidFill>
                  <a:srgbClr val="CCCCCC"/>
                </a:solidFill>
                <a:latin typeface="Consolas" panose="020B0609020204030204" pitchFamily="49" charset="0"/>
              </a:rPr>
              <a:t>  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Conv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256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 ]  </a:t>
            </a: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3-P3/8</a:t>
            </a: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C2f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256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 ]</a:t>
            </a:r>
          </a:p>
          <a:p>
            <a:pPr>
              <a:lnSpc>
                <a:spcPts val="1800"/>
              </a:lnSpc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pPr>
              <a:lnSpc>
                <a:spcPts val="1800"/>
              </a:lnSpc>
            </a:pPr>
            <a:r>
              <a:rPr lang="en-US" altLang="zh-CN" sz="1200" dirty="0">
                <a:solidFill>
                  <a:srgbClr val="CCCCCC"/>
                </a:solidFill>
                <a:latin typeface="Consolas" panose="020B0609020204030204" pitchFamily="49" charset="0"/>
              </a:rPr>
              <a:t>  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Conv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512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 ]  </a:t>
            </a: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5-P4/16</a:t>
            </a: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C2f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512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 ]</a:t>
            </a:r>
          </a:p>
          <a:p>
            <a:pPr>
              <a:lnSpc>
                <a:spcPts val="1800"/>
              </a:lnSpc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pPr>
              <a:lnSpc>
                <a:spcPts val="1800"/>
              </a:lnSpc>
            </a:pPr>
            <a:r>
              <a:rPr lang="en-US" altLang="zh-CN" sz="1200" dirty="0">
                <a:solidFill>
                  <a:srgbClr val="CCCCCC"/>
                </a:solidFill>
                <a:latin typeface="Consolas" panose="020B0609020204030204" pitchFamily="49" charset="0"/>
              </a:rPr>
              <a:t>  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Conv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1024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 ]  </a:t>
            </a: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7-P5/32</a:t>
            </a: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-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C2f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1024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 ]</a:t>
            </a:r>
          </a:p>
          <a:p>
            <a:pPr>
              <a:lnSpc>
                <a:spcPts val="1800"/>
              </a:lnSpc>
            </a:pP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</a:pPr>
            <a:endParaRPr lang="en-US" altLang="zh-CN" sz="12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</a:pP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-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SPPF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1024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] ]  </a:t>
            </a: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9</a:t>
            </a:r>
            <a:endParaRPr lang="en-US" altLang="zh-C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16565FD8-3882-EDEC-A011-A00686430218}"/>
              </a:ext>
            </a:extLst>
          </p:cNvPr>
          <p:cNvCxnSpPr>
            <a:cxnSpLocks/>
          </p:cNvCxnSpPr>
          <p:nvPr/>
        </p:nvCxnSpPr>
        <p:spPr>
          <a:xfrm flipV="1">
            <a:off x="4265154" y="4357208"/>
            <a:ext cx="2203152" cy="139308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D66F730A-F206-200A-F00C-D9CA7AD5610D}"/>
              </a:ext>
            </a:extLst>
          </p:cNvPr>
          <p:cNvCxnSpPr>
            <a:cxnSpLocks/>
          </p:cNvCxnSpPr>
          <p:nvPr/>
        </p:nvCxnSpPr>
        <p:spPr>
          <a:xfrm flipV="1">
            <a:off x="4400166" y="5053748"/>
            <a:ext cx="2068140" cy="82566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95CB35BA-B95B-5C64-C8A0-40960DB2151E}"/>
              </a:ext>
            </a:extLst>
          </p:cNvPr>
          <p:cNvCxnSpPr>
            <a:cxnSpLocks/>
          </p:cNvCxnSpPr>
          <p:nvPr/>
        </p:nvCxnSpPr>
        <p:spPr>
          <a:xfrm flipV="1">
            <a:off x="4400166" y="5707329"/>
            <a:ext cx="2068140" cy="35594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56B2BEDB-5A30-120D-C4DE-D14ED28EE021}"/>
              </a:ext>
            </a:extLst>
          </p:cNvPr>
          <p:cNvSpPr txBox="1"/>
          <p:nvPr/>
        </p:nvSpPr>
        <p:spPr>
          <a:xfrm>
            <a:off x="7781605" y="1609873"/>
            <a:ext cx="20558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中间特征层蒸馏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E5529CB-8698-F246-ED73-3629F1486C3B}"/>
              </a:ext>
            </a:extLst>
          </p:cNvPr>
          <p:cNvSpPr txBox="1"/>
          <p:nvPr/>
        </p:nvSpPr>
        <p:spPr>
          <a:xfrm>
            <a:off x="6554223" y="636760"/>
            <a:ext cx="4265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基于跨模态知识蒸馏的无人机遥感实时目标检测</a:t>
            </a:r>
          </a:p>
        </p:txBody>
      </p:sp>
    </p:spTree>
    <p:extLst>
      <p:ext uri="{BB962C8B-B14F-4D97-AF65-F5344CB8AC3E}">
        <p14:creationId xmlns:p14="http://schemas.microsoft.com/office/powerpoint/2010/main" val="36215201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FBFAEF7-97F2-B0FD-2AB5-AE76881973D1}"/>
              </a:ext>
            </a:extLst>
          </p:cNvPr>
          <p:cNvSpPr txBox="1"/>
          <p:nvPr/>
        </p:nvSpPr>
        <p:spPr>
          <a:xfrm>
            <a:off x="282298" y="376256"/>
            <a:ext cx="1054321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/>
              <a:t>YOLOv8n summary (fused): 168 layers, 3005843 parameters, 0 gradients, 8.1 GFLOPs</a:t>
            </a:r>
          </a:p>
          <a:p>
            <a:r>
              <a:rPr lang="zh-CN" altLang="en-US" sz="1100" dirty="0"/>
              <a:t>                 Class     Images  Instances      Box(P          R      mAP50  mAP50-95): 100%|██████████| 109/109 [00:19&lt;00:00,  5.51it/s]</a:t>
            </a:r>
          </a:p>
          <a:p>
            <a:r>
              <a:rPr lang="zh-CN" altLang="en-US" sz="1100" dirty="0"/>
              <a:t>                   all       3463       8302      0.838      0.764      </a:t>
            </a:r>
            <a:r>
              <a:rPr lang="zh-CN" altLang="en-US" sz="1100" dirty="0">
                <a:solidFill>
                  <a:schemeClr val="accent2">
                    <a:lumMod val="75000"/>
                  </a:schemeClr>
                </a:solidFill>
              </a:rPr>
              <a:t>0.854      0.508</a:t>
            </a:r>
          </a:p>
          <a:p>
            <a:r>
              <a:rPr lang="zh-CN" altLang="en-US" sz="1100" dirty="0"/>
              <a:t>Speed: 0.2ms preprocess, 2.2ms inference, 0.0ms loss, 0.9ms postprocess per image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4E62805-CA8B-9448-FCE3-9CD3A4366D1B}"/>
              </a:ext>
            </a:extLst>
          </p:cNvPr>
          <p:cNvSpPr txBox="1"/>
          <p:nvPr/>
        </p:nvSpPr>
        <p:spPr>
          <a:xfrm>
            <a:off x="9463119" y="532980"/>
            <a:ext cx="2446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CWD</a:t>
            </a:r>
            <a:r>
              <a:rPr lang="zh-CN" altLang="en-US" sz="1400" dirty="0"/>
              <a:t>蒸馏结果 </a:t>
            </a:r>
            <a:r>
              <a:rPr lang="en-US" altLang="zh-CN" sz="1400" dirty="0"/>
              <a:t>30epoch</a:t>
            </a:r>
            <a:endParaRPr lang="zh-CN" altLang="en-US" sz="14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FD2219A-12C6-4839-69E7-D74E394D3C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298" y="1243890"/>
            <a:ext cx="5762572" cy="2881286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F9F6134D-BAF4-F591-7CB9-C077358E03BE}"/>
              </a:ext>
            </a:extLst>
          </p:cNvPr>
          <p:cNvSpPr txBox="1"/>
          <p:nvPr/>
        </p:nvSpPr>
        <p:spPr>
          <a:xfrm>
            <a:off x="6153568" y="1302421"/>
            <a:ext cx="1773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YOLOv8n RGB</a:t>
            </a:r>
            <a:endParaRPr lang="zh-CN" altLang="en-US" sz="14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C918846-16F3-7855-CBB3-928B8ACD246B}"/>
              </a:ext>
            </a:extLst>
          </p:cNvPr>
          <p:cNvSpPr txBox="1"/>
          <p:nvPr/>
        </p:nvSpPr>
        <p:spPr>
          <a:xfrm>
            <a:off x="7593544" y="1305258"/>
            <a:ext cx="20116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mAP@50-95</a:t>
            </a:r>
            <a:r>
              <a:rPr lang="zh-CN" altLang="en-US" sz="1400" dirty="0"/>
              <a:t>在</a:t>
            </a:r>
            <a:r>
              <a:rPr lang="en-US" altLang="zh-CN" sz="1400" dirty="0">
                <a:solidFill>
                  <a:schemeClr val="accent2">
                    <a:lumMod val="75000"/>
                  </a:schemeClr>
                </a:solidFill>
              </a:rPr>
              <a:t>52.8</a:t>
            </a:r>
            <a:endParaRPr lang="zh-CN" altLang="en-US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B39CE68-4CB4-5046-42BD-190DBEEBA609}"/>
              </a:ext>
            </a:extLst>
          </p:cNvPr>
          <p:cNvSpPr txBox="1"/>
          <p:nvPr/>
        </p:nvSpPr>
        <p:spPr>
          <a:xfrm>
            <a:off x="6044870" y="2180330"/>
            <a:ext cx="1773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accent2">
                    <a:lumMod val="75000"/>
                  </a:schemeClr>
                </a:solidFill>
              </a:rPr>
              <a:t>没有</a:t>
            </a:r>
            <a:r>
              <a:rPr lang="en-US" altLang="zh-CN" sz="1400" dirty="0"/>
              <a:t>baseline</a:t>
            </a:r>
            <a:r>
              <a:rPr lang="zh-CN" altLang="en-US" sz="1400" dirty="0"/>
              <a:t>效果好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80F556C-734F-AA06-DFEA-B13E69D41531}"/>
              </a:ext>
            </a:extLst>
          </p:cNvPr>
          <p:cNvSpPr txBox="1"/>
          <p:nvPr/>
        </p:nvSpPr>
        <p:spPr>
          <a:xfrm>
            <a:off x="6153567" y="2553379"/>
            <a:ext cx="47824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/>
              <a:t>Baseline</a:t>
            </a:r>
            <a:r>
              <a:rPr lang="zh-CN" altLang="en-US" sz="1400" dirty="0"/>
              <a:t>作为</a:t>
            </a:r>
            <a:r>
              <a:rPr lang="zh-CN" altLang="en-US" sz="1400" dirty="0">
                <a:solidFill>
                  <a:schemeClr val="accent5">
                    <a:lumMod val="75000"/>
                  </a:schemeClr>
                </a:solidFill>
              </a:rPr>
              <a:t>教师的教师</a:t>
            </a:r>
            <a:r>
              <a:rPr lang="zh-CN" altLang="en-US" sz="1400" dirty="0"/>
              <a:t>，模型不如教师是合理的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447C015-25E1-9A1D-4A35-D4307C3ACB07}"/>
              </a:ext>
            </a:extLst>
          </p:cNvPr>
          <p:cNvSpPr txBox="1"/>
          <p:nvPr/>
        </p:nvSpPr>
        <p:spPr>
          <a:xfrm>
            <a:off x="6391884" y="2848603"/>
            <a:ext cx="51105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作为测试，</a:t>
            </a:r>
            <a:r>
              <a:rPr lang="zh-CN" altLang="en-US" sz="1400" dirty="0">
                <a:solidFill>
                  <a:schemeClr val="accent5">
                    <a:lumMod val="75000"/>
                  </a:schemeClr>
                </a:solidFill>
              </a:rPr>
              <a:t>训练策略</a:t>
            </a:r>
            <a:r>
              <a:rPr lang="zh-CN" altLang="en-US" sz="1400" dirty="0"/>
              <a:t>不对，应该用</a:t>
            </a:r>
            <a:r>
              <a:rPr lang="en-US" altLang="zh-CN" sz="1400" dirty="0"/>
              <a:t>s/m</a:t>
            </a:r>
            <a:r>
              <a:rPr lang="zh-CN" altLang="en-US" sz="1400" dirty="0"/>
              <a:t>当老师测试这个想法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0D03F00-17F8-0D29-2A90-8CA9F6A2EA37}"/>
              </a:ext>
            </a:extLst>
          </p:cNvPr>
          <p:cNvSpPr txBox="1"/>
          <p:nvPr/>
        </p:nvSpPr>
        <p:spPr>
          <a:xfrm>
            <a:off x="6153568" y="3308903"/>
            <a:ext cx="41214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/>
              <a:t>数据集对</a:t>
            </a:r>
            <a:r>
              <a:rPr lang="en-US" altLang="zh-CN" sz="1400" dirty="0"/>
              <a:t>RGB</a:t>
            </a:r>
            <a:r>
              <a:rPr lang="zh-CN" altLang="en-US" sz="1400" dirty="0"/>
              <a:t>不怎么友好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233F7AA-91A8-B6F4-2BB6-82AE5A3E8B60}"/>
              </a:ext>
            </a:extLst>
          </p:cNvPr>
          <p:cNvSpPr txBox="1"/>
          <p:nvPr/>
        </p:nvSpPr>
        <p:spPr>
          <a:xfrm>
            <a:off x="6428706" y="3599903"/>
            <a:ext cx="51105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老师依赖</a:t>
            </a:r>
            <a:r>
              <a:rPr lang="en-US" altLang="zh-CN" sz="1400" dirty="0"/>
              <a:t>IR</a:t>
            </a:r>
            <a:r>
              <a:rPr lang="zh-CN" altLang="en-US" sz="1400" dirty="0"/>
              <a:t>较多，但</a:t>
            </a:r>
            <a:r>
              <a:rPr lang="zh-CN" altLang="en-US" sz="1400" dirty="0">
                <a:solidFill>
                  <a:schemeClr val="accent5">
                    <a:lumMod val="75000"/>
                  </a:schemeClr>
                </a:solidFill>
              </a:rPr>
              <a:t>单一</a:t>
            </a:r>
            <a:r>
              <a:rPr lang="en-US" altLang="zh-CN" sz="1400" dirty="0">
                <a:solidFill>
                  <a:schemeClr val="accent5">
                    <a:lumMod val="75000"/>
                  </a:schemeClr>
                </a:solidFill>
              </a:rPr>
              <a:t>RGB</a:t>
            </a:r>
            <a:r>
              <a:rPr lang="zh-CN" altLang="en-US" sz="1400" dirty="0"/>
              <a:t>学生难以学习自己看不见的表征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D9F8D1E-EF3F-91EC-E34C-87331951A664}"/>
              </a:ext>
            </a:extLst>
          </p:cNvPr>
          <p:cNvSpPr txBox="1"/>
          <p:nvPr/>
        </p:nvSpPr>
        <p:spPr>
          <a:xfrm>
            <a:off x="6753124" y="3853640"/>
            <a:ext cx="43741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可以训练</a:t>
            </a:r>
            <a:r>
              <a:rPr lang="en-US" altLang="zh-CN" sz="1400" dirty="0"/>
              <a:t>MM2IR</a:t>
            </a:r>
            <a:r>
              <a:rPr lang="zh-CN" altLang="en-US" sz="1400" dirty="0"/>
              <a:t>测试一下这个想法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B7C8C89-2940-3F32-98DE-D0FEE14FE354}"/>
              </a:ext>
            </a:extLst>
          </p:cNvPr>
          <p:cNvSpPr txBox="1"/>
          <p:nvPr/>
        </p:nvSpPr>
        <p:spPr>
          <a:xfrm>
            <a:off x="6147132" y="4296079"/>
            <a:ext cx="41214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/>
              <a:t>LIF</a:t>
            </a:r>
            <a:r>
              <a:rPr lang="zh-CN" altLang="en-US" sz="1400" dirty="0"/>
              <a:t>模块与</a:t>
            </a:r>
            <a:r>
              <a:rPr lang="en-US" altLang="zh-CN" sz="1400" dirty="0"/>
              <a:t>YOLO</a:t>
            </a:r>
            <a:r>
              <a:rPr lang="zh-CN" altLang="en-US" sz="1400" dirty="0"/>
              <a:t>标准特征层差距较大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0251C25-F834-04EB-41DB-CD776D2B51B1}"/>
              </a:ext>
            </a:extLst>
          </p:cNvPr>
          <p:cNvSpPr txBox="1"/>
          <p:nvPr/>
        </p:nvSpPr>
        <p:spPr>
          <a:xfrm>
            <a:off x="9473068" y="802512"/>
            <a:ext cx="2446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50 epoch </a:t>
            </a:r>
            <a:r>
              <a:rPr lang="zh-CN" altLang="en-US" sz="1400" dirty="0"/>
              <a:t>效果类似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A54C57-54BC-504D-3BEC-E3124BFED881}"/>
              </a:ext>
            </a:extLst>
          </p:cNvPr>
          <p:cNvSpPr txBox="1"/>
          <p:nvPr/>
        </p:nvSpPr>
        <p:spPr>
          <a:xfrm>
            <a:off x="6412321" y="4635607"/>
            <a:ext cx="43741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蒸馏细节有误，梯度不稳定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E5E1C5D-3CE5-17B6-BBFD-13634161B87A}"/>
              </a:ext>
            </a:extLst>
          </p:cNvPr>
          <p:cNvSpPr txBox="1"/>
          <p:nvPr/>
        </p:nvSpPr>
        <p:spPr>
          <a:xfrm>
            <a:off x="6746688" y="4920371"/>
            <a:ext cx="5237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没用</a:t>
            </a:r>
            <a:r>
              <a:rPr lang="en-US" altLang="zh-CN" sz="1400" dirty="0"/>
              <a:t>PKD</a:t>
            </a:r>
            <a:r>
              <a:rPr lang="zh-CN" altLang="en-US" sz="1400" dirty="0"/>
              <a:t>，只用了</a:t>
            </a:r>
            <a:r>
              <a:rPr lang="en-US" altLang="zh-CN" sz="1400" dirty="0"/>
              <a:t>CWD</a:t>
            </a:r>
            <a:r>
              <a:rPr lang="zh-CN" altLang="en-US" sz="1400" dirty="0"/>
              <a:t>，如果</a:t>
            </a:r>
            <a:r>
              <a:rPr lang="en-US" altLang="zh-CN" sz="1400" dirty="0"/>
              <a:t>CWD</a:t>
            </a:r>
            <a:r>
              <a:rPr lang="zh-CN" altLang="en-US" sz="1400" dirty="0"/>
              <a:t>糟糕，那么</a:t>
            </a:r>
            <a:r>
              <a:rPr lang="en-US" altLang="zh-CN" sz="1400" dirty="0"/>
              <a:t>PKD</a:t>
            </a:r>
            <a:r>
              <a:rPr lang="zh-CN" altLang="en-US" sz="1400" dirty="0"/>
              <a:t>只会更糟糕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2D62A72-5578-6D08-52B7-E38F4A652017}"/>
              </a:ext>
            </a:extLst>
          </p:cNvPr>
          <p:cNvSpPr txBox="1"/>
          <p:nvPr/>
        </p:nvSpPr>
        <p:spPr>
          <a:xfrm>
            <a:off x="6159703" y="1706140"/>
            <a:ext cx="13957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/>
              <a:t>Nnn</a:t>
            </a:r>
            <a:r>
              <a:rPr lang="zh-CN" altLang="en-US" sz="1400" dirty="0"/>
              <a:t>多模态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E7B4D03-9F2C-2A99-AD9E-AD386F3A549F}"/>
              </a:ext>
            </a:extLst>
          </p:cNvPr>
          <p:cNvSpPr txBox="1"/>
          <p:nvPr/>
        </p:nvSpPr>
        <p:spPr>
          <a:xfrm>
            <a:off x="7595107" y="1693657"/>
            <a:ext cx="20116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mAP@50-95</a:t>
            </a:r>
            <a:r>
              <a:rPr lang="zh-CN" altLang="en-US" sz="1400" dirty="0"/>
              <a:t>在</a:t>
            </a:r>
            <a:r>
              <a:rPr lang="en-US" altLang="zh-CN" sz="1400" dirty="0">
                <a:solidFill>
                  <a:schemeClr val="accent2">
                    <a:lumMod val="75000"/>
                  </a:schemeClr>
                </a:solidFill>
              </a:rPr>
              <a:t>65.7</a:t>
            </a:r>
            <a:endParaRPr lang="zh-CN" altLang="en-US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4261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纸张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Tw Cen MT-Rockwell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1094</TotalTime>
  <Words>4921</Words>
  <Application>Microsoft Office PowerPoint</Application>
  <PresentationFormat>宽屏</PresentationFormat>
  <Paragraphs>447</Paragraphs>
  <Slides>19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6" baseType="lpstr">
      <vt:lpstr>等线</vt:lpstr>
      <vt:lpstr>Arial</vt:lpstr>
      <vt:lpstr>Consolas</vt:lpstr>
      <vt:lpstr>Courier New</vt:lpstr>
      <vt:lpstr>Rockwell</vt:lpstr>
      <vt:lpstr>Tw Cen MT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浩宇 曹</dc:creator>
  <cp:lastModifiedBy>浩宇 曹</cp:lastModifiedBy>
  <cp:revision>359</cp:revision>
  <dcterms:created xsi:type="dcterms:W3CDTF">2026-01-13T01:29:16Z</dcterms:created>
  <dcterms:modified xsi:type="dcterms:W3CDTF">2026-01-22T02:54:58Z</dcterms:modified>
</cp:coreProperties>
</file>