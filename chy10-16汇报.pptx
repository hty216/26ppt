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84" r:id="rId18"/>
    <p:sldId id="273" r:id="rId19"/>
    <p:sldId id="274" r:id="rId20"/>
    <p:sldId id="275" r:id="rId21"/>
    <p:sldId id="277" r:id="rId22"/>
    <p:sldId id="276" r:id="rId23"/>
    <p:sldId id="278" r:id="rId24"/>
    <p:sldId id="279" r:id="rId25"/>
    <p:sldId id="280" r:id="rId26"/>
    <p:sldId id="281" r:id="rId27"/>
    <p:sldId id="285" r:id="rId28"/>
    <p:sldId id="282" r:id="rId29"/>
    <p:sldId id="283" r:id="rId3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1" autoAdjust="0"/>
    <p:restoredTop sz="94660"/>
  </p:normalViewPr>
  <p:slideViewPr>
    <p:cSldViewPr snapToGrid="0">
      <p:cViewPr varScale="1">
        <p:scale>
          <a:sx n="156" d="100"/>
          <a:sy n="156" d="100"/>
        </p:scale>
        <p:origin x="74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F401B-0F0D-4D0E-8026-90859DAD5B10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519A33-3002-4799-B3D6-4F716D3AF79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5744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19A33-3002-4799-B3D6-4F716D3AF796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5077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519A33-3002-4799-B3D6-4F716D3AF796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835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B7D2686-7F79-4CE7-813D-4ED53FD0C8E2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4739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9DD9460-3289-2C3E-D9BC-598F537CBE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9E2813E-9C81-BEAB-CF93-0C949F82B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20634FF-44D8-5965-4816-BB71B7CB5F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208AE48-5C37-C8B4-0FB6-3DF2FF730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34AF6C-6134-36C4-05DF-72E92C12D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4978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3D9583-1F83-479A-417E-0870AA65E5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DE038B-3B0E-83C4-71E6-C2A8834AC5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A801E2-31B9-F68B-811B-669672A9A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3892F5-8A36-0920-71BE-6750EFE3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C470BAC-3530-553C-2790-EA923951F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621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51DBC3-C8E7-50BC-0A2B-477827D4E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4E1BFB3-B29B-85CE-F372-BC5F00F16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5B2FF8-7BEA-FD7E-4D35-426B0DE15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226A77-B105-D88C-128B-6173CBD9A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A7F555F-6548-DF71-09A0-FCD83CEDD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088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095B93-13DC-F0C5-19FD-8D734A591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18C59F-EAF7-CD35-F456-9DC4D02132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7BAFF61-45E6-8619-51CB-E38AF5285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72ACE9A-B9DF-7ECA-A4F5-7F772D156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AB333B-041D-000B-A92F-5785128F3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FFF53F-B69D-CE2C-1B76-5A91CED62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726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FB93B7-9342-4F34-F02D-C408A24FE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9E88549-20C9-E851-A549-62EA52BF9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45F644F-324F-F372-DEEC-22904B3661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9C0BFA7-C8B1-6DB0-06D4-CB1573F20F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7AE8CEE-E630-78B8-8925-A62AC6E46F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84B778A-5286-901E-04F9-47D2E430A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0FDBD9C-E567-3030-8F3F-C35E2EA7F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96E9576-DE89-176B-6C6C-5F10EF0C0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80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1BE680-5A8D-0C91-FD70-51EBE7B7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9CE49B-EC8B-BD36-7CBE-3C14B4C99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1590F54-1AD9-9C3C-374F-158932099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E2FA36E-0FDE-D70E-5365-5BE35F369C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379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883A83-CF29-C782-6C76-464955CAD0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CC0047A-4BC1-6691-97D4-1E49C2B343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ABC94B3-AC48-BF01-3D62-978BADBBB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785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060314-C31F-106E-6D1E-18359B6FC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1BDD8E-0615-BED0-B4B0-5F7B805EF9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1679D7-3CB7-170E-A503-BB9371EF6D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9D02AD-45E5-B4AC-0CDF-511228FCF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74588A-6DF0-2228-27AE-61D0D9CE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A525BF-AF66-040B-42D0-B33324A5B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32498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4884D2-E466-8FFE-6850-D10D5E158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7C8C3A8-0600-3099-4895-1E9CD16343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799082-0A99-95DB-F11F-8FE62D4E0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75EA8C4-69E3-46E9-F9A3-7CC12E719C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2CD4C86-1C23-F563-12EB-DC43B613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FD5585-B3A6-5C69-159A-FB6CF09D9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944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0FA179-2DE8-CC4D-60E8-0C8835413A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B249BCE-E406-7E47-B71A-7BBAB8D9B2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C4CB1BF-2375-4097-1E12-E2F702B04C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9576E4-0487-E0C8-836C-287B22882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05ABDCB-3A95-21A7-804F-59944BAB1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260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FA6E84DD-7C06-1324-5BCA-F02F293652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82ACACC-DC49-68BD-46F9-8A171E206A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4DF311-BBB4-4CBD-B3A7-C252AF047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51C2EA-232C-59DD-B898-ECA0F7533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B2960C7-67FF-C3DC-DE1E-D2882E54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258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D3DA18D0-3D68-838F-F251-965F1A23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283A005-466C-540E-525F-B3B385A413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3AAD4A8-C55E-5489-BD33-FEC2CAB0726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FB5B2B-7CD3-4D56-B4E1-B5C91053970B}" type="datetimeFigureOut">
              <a:rPr lang="zh-CN" altLang="en-US" smtClean="0"/>
              <a:t>2025/10/16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93D2B93-3EE6-80D4-89E7-E48AB49924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429184-1DA9-75A5-8C0C-B592731635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C3906C-38C1-4DD6-8D07-17D5AE58FE2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9861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A25CD7E2-DBCC-7913-8AEC-2D5541CCAC2B}"/>
              </a:ext>
            </a:extLst>
          </p:cNvPr>
          <p:cNvSpPr txBox="1"/>
          <p:nvPr/>
        </p:nvSpPr>
        <p:spPr>
          <a:xfrm>
            <a:off x="839606" y="965474"/>
            <a:ext cx="9275943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</a:rPr>
              <a:t>Change-Agent</a:t>
            </a:r>
            <a:r>
              <a:rPr lang="en-US" altLang="zh-CN" sz="3200" dirty="0"/>
              <a:t>: </a:t>
            </a:r>
          </a:p>
          <a:p>
            <a:endParaRPr lang="en-US" altLang="zh-CN" sz="3200" dirty="0"/>
          </a:p>
          <a:p>
            <a:r>
              <a:rPr lang="en-US" altLang="zh-CN" sz="3200" dirty="0"/>
              <a:t>Towards Interactive Comprehensive</a:t>
            </a:r>
          </a:p>
          <a:p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Change Interpretation and Analysis</a:t>
            </a:r>
            <a:r>
              <a:rPr lang="en-US" altLang="zh-CN" sz="3200" dirty="0"/>
              <a:t> </a:t>
            </a:r>
          </a:p>
          <a:p>
            <a:r>
              <a:rPr lang="en-US" altLang="zh-CN" sz="3200" dirty="0"/>
              <a:t>from 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Change Detection</a:t>
            </a:r>
            <a:r>
              <a:rPr lang="en-US" altLang="zh-CN" sz="3200" dirty="0"/>
              <a:t> and </a:t>
            </a:r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Change Captioning</a:t>
            </a:r>
            <a:endParaRPr lang="zh-CN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6B39B1C-2655-3087-BF57-E47B5EAD635F}"/>
              </a:ext>
            </a:extLst>
          </p:cNvPr>
          <p:cNvSpPr txBox="1"/>
          <p:nvPr/>
        </p:nvSpPr>
        <p:spPr>
          <a:xfrm>
            <a:off x="839606" y="4709160"/>
            <a:ext cx="2857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IEEE TGRS 2024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590724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0F33C247-7396-D334-9773-CC6CC51D5CAA}"/>
              </a:ext>
            </a:extLst>
          </p:cNvPr>
          <p:cNvSpPr txBox="1"/>
          <p:nvPr/>
        </p:nvSpPr>
        <p:spPr>
          <a:xfrm>
            <a:off x="574431" y="773723"/>
            <a:ext cx="29190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Change-Agent</a:t>
            </a:r>
            <a:endParaRPr lang="zh-CN" altLang="en-US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444CF67-EE22-BD4E-8B35-FF6D5D09458C}"/>
              </a:ext>
            </a:extLst>
          </p:cNvPr>
          <p:cNvSpPr txBox="1"/>
          <p:nvPr/>
        </p:nvSpPr>
        <p:spPr>
          <a:xfrm>
            <a:off x="574431" y="2157315"/>
            <a:ext cx="81358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Change Interpretation and Analysis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E59B5EC7-669D-0D00-A213-C0B8C462B461}"/>
              </a:ext>
            </a:extLst>
          </p:cNvPr>
          <p:cNvSpPr txBox="1"/>
          <p:nvPr/>
        </p:nvSpPr>
        <p:spPr>
          <a:xfrm>
            <a:off x="574431" y="3429000"/>
            <a:ext cx="413824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Change Detection</a:t>
            </a:r>
            <a:r>
              <a:rPr lang="zh-CN" altLang="en-US" sz="2800" dirty="0">
                <a:solidFill>
                  <a:srgbClr val="9C85C0">
                    <a:lumMod val="75000"/>
                  </a:srgbClr>
                </a:solidFill>
                <a:latin typeface="Rockwell" panose="02060603020205020403"/>
                <a:ea typeface="方正姚体" panose="02010601030101010101" pitchFamily="2" charset="-122"/>
              </a:rPr>
              <a:t> </a:t>
            </a:r>
            <a:r>
              <a:rPr lang="en-US" altLang="zh-CN" sz="2800" dirty="0">
                <a:solidFill>
                  <a:srgbClr val="9C85C0">
                    <a:lumMod val="75000"/>
                  </a:srgbClr>
                </a:solidFill>
                <a:latin typeface="Rockwell" panose="02060603020205020403"/>
                <a:ea typeface="方正姚体" panose="02010601030101010101" pitchFamily="2" charset="-122"/>
              </a:rPr>
              <a:t>(CD)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9C85C0">
                  <a:lumMod val="75000"/>
                </a:srgbClr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2C701B-3758-0E00-0B4C-9D298C520452}"/>
              </a:ext>
            </a:extLst>
          </p:cNvPr>
          <p:cNvSpPr txBox="1"/>
          <p:nvPr/>
        </p:nvSpPr>
        <p:spPr>
          <a:xfrm>
            <a:off x="574431" y="5048304"/>
            <a:ext cx="60842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Change Captioning (CC)</a:t>
            </a:r>
            <a:endParaRPr lang="zh-CN" altLang="en-US" sz="1600" dirty="0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A36243B2-1C47-107F-5DFC-67990C9A3FB7}"/>
              </a:ext>
            </a:extLst>
          </p:cNvPr>
          <p:cNvSpPr txBox="1"/>
          <p:nvPr/>
        </p:nvSpPr>
        <p:spPr>
          <a:xfrm>
            <a:off x="1309700" y="1375455"/>
            <a:ext cx="91003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本文制作了一个</a:t>
            </a:r>
            <a:r>
              <a:rPr lang="en-US" altLang="zh-CN" sz="2400" dirty="0"/>
              <a:t>AI</a:t>
            </a:r>
            <a:r>
              <a:rPr lang="zh-CN" altLang="en-US" sz="2400" dirty="0"/>
              <a:t>智能体，一个捕捉“变化”的，整合的智能体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E3987660-3630-CEA1-F071-8953A6876FB3}"/>
              </a:ext>
            </a:extLst>
          </p:cNvPr>
          <p:cNvSpPr txBox="1"/>
          <p:nvPr/>
        </p:nvSpPr>
        <p:spPr>
          <a:xfrm>
            <a:off x="1309700" y="2702248"/>
            <a:ext cx="8725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该智能体主要任务为对不同时相遥感图像的变化的解释与分析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9F69C6A-2EC4-4689-71A8-048D148D3AF8}"/>
              </a:ext>
            </a:extLst>
          </p:cNvPr>
          <p:cNvSpPr txBox="1"/>
          <p:nvPr/>
        </p:nvSpPr>
        <p:spPr>
          <a:xfrm>
            <a:off x="1309700" y="3952220"/>
            <a:ext cx="8010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针对双时相遥感图像的变化检测</a:t>
            </a:r>
            <a:endParaRPr lang="en-US" altLang="zh-CN" sz="2400" dirty="0"/>
          </a:p>
          <a:p>
            <a:r>
              <a:rPr lang="zh-CN" altLang="en-US" sz="2400" dirty="0"/>
              <a:t>在像素水平上准确定位变化的空间位置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4E6071-5725-C348-1EEA-9C34F6DD68B0}"/>
              </a:ext>
            </a:extLst>
          </p:cNvPr>
          <p:cNvSpPr txBox="1"/>
          <p:nvPr/>
        </p:nvSpPr>
        <p:spPr>
          <a:xfrm>
            <a:off x="1309700" y="5571524"/>
            <a:ext cx="801014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针对双时相遥感图像的变化描述</a:t>
            </a:r>
            <a:endParaRPr lang="en-US" altLang="zh-CN" sz="2400" dirty="0"/>
          </a:p>
          <a:p>
            <a:r>
              <a:rPr lang="zh-CN" altLang="en-US" sz="2400" dirty="0"/>
              <a:t>使用自然语言来表达变化的属性和含义</a:t>
            </a:r>
          </a:p>
        </p:txBody>
      </p:sp>
    </p:spTree>
    <p:extLst>
      <p:ext uri="{BB962C8B-B14F-4D97-AF65-F5344CB8AC3E}">
        <p14:creationId xmlns:p14="http://schemas.microsoft.com/office/powerpoint/2010/main" val="1288265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文本框 22">
            <a:extLst>
              <a:ext uri="{FF2B5EF4-FFF2-40B4-BE49-F238E27FC236}">
                <a16:creationId xmlns:a16="http://schemas.microsoft.com/office/drawing/2014/main" id="{9B183797-8D30-C520-99A0-64BE5C49CCD3}"/>
              </a:ext>
            </a:extLst>
          </p:cNvPr>
          <p:cNvSpPr txBox="1"/>
          <p:nvPr/>
        </p:nvSpPr>
        <p:spPr>
          <a:xfrm>
            <a:off x="521753" y="486280"/>
            <a:ext cx="3621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Background</a:t>
            </a:r>
            <a:endParaRPr lang="zh-CN" altLang="en-US" sz="3200" dirty="0"/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74BFF1C-96BE-2943-806C-B3AB07FAD5AE}"/>
              </a:ext>
            </a:extLst>
          </p:cNvPr>
          <p:cNvSpPr txBox="1"/>
          <p:nvPr/>
        </p:nvSpPr>
        <p:spPr>
          <a:xfrm>
            <a:off x="521753" y="1591274"/>
            <a:ext cx="9217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CD</a:t>
            </a:r>
            <a:r>
              <a:rPr lang="zh-CN" altLang="en-US" sz="2400" dirty="0"/>
              <a:t>可以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准确检测变化区域</a:t>
            </a:r>
            <a:r>
              <a:rPr lang="zh-CN" altLang="en-US" sz="2400" dirty="0"/>
              <a:t>，但缺乏对潜在含义的更深层次理解</a:t>
            </a: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8B9378B7-D29A-A4DA-7D56-4C520F435551}"/>
              </a:ext>
            </a:extLst>
          </p:cNvPr>
          <p:cNvSpPr/>
          <p:nvPr/>
        </p:nvSpPr>
        <p:spPr>
          <a:xfrm>
            <a:off x="2000346" y="3593986"/>
            <a:ext cx="4628209" cy="704088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既可以精准定位又可以深度思考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69F5917B-C468-783E-DC8C-30144280B04C}"/>
              </a:ext>
            </a:extLst>
          </p:cNvPr>
          <p:cNvSpPr txBox="1"/>
          <p:nvPr/>
        </p:nvSpPr>
        <p:spPr>
          <a:xfrm>
            <a:off x="2000346" y="2881273"/>
            <a:ext cx="62601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两方面割裂，缺少统一的，相结合的框架</a:t>
            </a: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BA57E2B4-8F13-EDA9-3E6C-6CB8BFB514B4}"/>
              </a:ext>
            </a:extLst>
          </p:cNvPr>
          <p:cNvCxnSpPr/>
          <p:nvPr/>
        </p:nvCxnSpPr>
        <p:spPr>
          <a:xfrm>
            <a:off x="720656" y="3241060"/>
            <a:ext cx="118238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70A46AA7-058E-0290-8A34-4A220DCE4F6E}"/>
              </a:ext>
            </a:extLst>
          </p:cNvPr>
          <p:cNvCxnSpPr/>
          <p:nvPr/>
        </p:nvCxnSpPr>
        <p:spPr>
          <a:xfrm>
            <a:off x="720656" y="4008395"/>
            <a:ext cx="118238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EF69DEEC-8573-8989-335C-706FB5F224E3}"/>
              </a:ext>
            </a:extLst>
          </p:cNvPr>
          <p:cNvSpPr txBox="1"/>
          <p:nvPr/>
        </p:nvSpPr>
        <p:spPr>
          <a:xfrm>
            <a:off x="916368" y="2848201"/>
            <a:ext cx="755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不足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12C221D-338A-C58C-6D9E-E8E1C7260980}"/>
              </a:ext>
            </a:extLst>
          </p:cNvPr>
          <p:cNvSpPr txBox="1"/>
          <p:nvPr/>
        </p:nvSpPr>
        <p:spPr>
          <a:xfrm>
            <a:off x="521753" y="2111493"/>
            <a:ext cx="103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2.</a:t>
            </a:r>
            <a:r>
              <a:rPr lang="en-US" altLang="zh-CN" sz="2400" dirty="0">
                <a:solidFill>
                  <a:schemeClr val="accent5">
                    <a:lumMod val="75000"/>
                  </a:schemeClr>
                </a:solidFill>
              </a:rPr>
              <a:t>CC</a:t>
            </a:r>
            <a:r>
              <a:rPr lang="zh-CN" altLang="en-US" sz="2400" dirty="0"/>
              <a:t>可以</a:t>
            </a:r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提供丰富的解释信息</a:t>
            </a:r>
            <a:r>
              <a:rPr lang="zh-CN" altLang="en-US" sz="2400" dirty="0"/>
              <a:t>，但在提供精确的像素级定位方面存在不足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9B3F2D56-096C-88C1-7271-A2A1B1280658}"/>
              </a:ext>
            </a:extLst>
          </p:cNvPr>
          <p:cNvSpPr txBox="1"/>
          <p:nvPr/>
        </p:nvSpPr>
        <p:spPr>
          <a:xfrm>
            <a:off x="3250410" y="4575074"/>
            <a:ext cx="66088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M</a:t>
            </a:r>
            <a:r>
              <a:rPr lang="en-US" altLang="zh-CN" sz="2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ulti-level </a:t>
            </a:r>
            <a:r>
              <a:rPr lang="en-US" altLang="zh-CN" sz="2400" b="1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C</a:t>
            </a:r>
            <a:r>
              <a:rPr lang="en-US" altLang="zh-CN" sz="2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hange </a:t>
            </a:r>
            <a:r>
              <a:rPr lang="en-US" altLang="zh-CN" sz="2400" b="1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I</a:t>
            </a:r>
            <a:r>
              <a:rPr lang="en-US" altLang="zh-CN" sz="2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nterpretation (MCI)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方法</a:t>
            </a:r>
            <a:endParaRPr lang="zh-CN" altLang="en-US" dirty="0"/>
          </a:p>
        </p:txBody>
      </p: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36CF22CB-D0A3-81EF-E4BE-F469155CB9FD}"/>
              </a:ext>
            </a:extLst>
          </p:cNvPr>
          <p:cNvCxnSpPr>
            <a:cxnSpLocks/>
          </p:cNvCxnSpPr>
          <p:nvPr/>
        </p:nvCxnSpPr>
        <p:spPr>
          <a:xfrm>
            <a:off x="2214090" y="4876245"/>
            <a:ext cx="10363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3" name="文本框 42">
            <a:extLst>
              <a:ext uri="{FF2B5EF4-FFF2-40B4-BE49-F238E27FC236}">
                <a16:creationId xmlns:a16="http://schemas.microsoft.com/office/drawing/2014/main" id="{398458BB-D8BF-88F6-7E10-8881BEF6D664}"/>
              </a:ext>
            </a:extLst>
          </p:cNvPr>
          <p:cNvSpPr txBox="1"/>
          <p:nvPr/>
        </p:nvSpPr>
        <p:spPr>
          <a:xfrm>
            <a:off x="933982" y="3636011"/>
            <a:ext cx="755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A38B4768-A50E-3CEA-D559-9CB95C505E45}"/>
              </a:ext>
            </a:extLst>
          </p:cNvPr>
          <p:cNvSpPr txBox="1"/>
          <p:nvPr/>
        </p:nvSpPr>
        <p:spPr>
          <a:xfrm>
            <a:off x="2473033" y="4473722"/>
            <a:ext cx="7557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提出</a:t>
            </a: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57EED9A-5A70-898D-233E-0AABD41F1783}"/>
              </a:ext>
            </a:extLst>
          </p:cNvPr>
          <p:cNvSpPr txBox="1"/>
          <p:nvPr/>
        </p:nvSpPr>
        <p:spPr>
          <a:xfrm>
            <a:off x="3250410" y="5313739"/>
            <a:ext cx="26580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Change-Agent</a:t>
            </a:r>
            <a:endParaRPr lang="zh-CN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9E982A65-B627-CAF0-76CE-7314CE92085F}"/>
              </a:ext>
            </a:extLst>
          </p:cNvPr>
          <p:cNvCxnSpPr>
            <a:cxnSpLocks/>
          </p:cNvCxnSpPr>
          <p:nvPr/>
        </p:nvCxnSpPr>
        <p:spPr>
          <a:xfrm>
            <a:off x="2214090" y="5614910"/>
            <a:ext cx="10363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165FA6DC-E87F-9444-D76A-76255ACE8061}"/>
              </a:ext>
            </a:extLst>
          </p:cNvPr>
          <p:cNvSpPr txBox="1"/>
          <p:nvPr/>
        </p:nvSpPr>
        <p:spPr>
          <a:xfrm>
            <a:off x="2332740" y="5199411"/>
            <a:ext cx="1036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+ LLM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18532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C38557C-4560-B189-56AB-8618F568299A}"/>
              </a:ext>
            </a:extLst>
          </p:cNvPr>
          <p:cNvSpPr txBox="1"/>
          <p:nvPr/>
        </p:nvSpPr>
        <p:spPr>
          <a:xfrm>
            <a:off x="499714" y="621792"/>
            <a:ext cx="26537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Contribution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FA7632A-9F0D-D8D4-8430-0005C36F1167}"/>
              </a:ext>
            </a:extLst>
          </p:cNvPr>
          <p:cNvSpPr txBox="1"/>
          <p:nvPr/>
        </p:nvSpPr>
        <p:spPr>
          <a:xfrm>
            <a:off x="499714" y="1871007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LEVIR-MCI Dataset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E5829AC-AD5E-152B-B589-A36AB23C8BCE}"/>
              </a:ext>
            </a:extLst>
          </p:cNvPr>
          <p:cNvSpPr txBox="1"/>
          <p:nvPr/>
        </p:nvSpPr>
        <p:spPr>
          <a:xfrm>
            <a:off x="3913632" y="1871007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为</a:t>
            </a:r>
            <a:r>
              <a:rPr lang="en-US" altLang="zh-CN" sz="2400" dirty="0"/>
              <a:t>CC</a:t>
            </a:r>
            <a:r>
              <a:rPr lang="zh-CN" altLang="en-US" sz="2400" dirty="0"/>
              <a:t>与</a:t>
            </a:r>
            <a:r>
              <a:rPr lang="en-US" altLang="zh-CN" sz="2400" dirty="0"/>
              <a:t>CD</a:t>
            </a:r>
            <a:r>
              <a:rPr lang="zh-CN" altLang="en-US" sz="2400" dirty="0"/>
              <a:t>结合任务专门准备的数据集</a:t>
            </a:r>
            <a:endParaRPr lang="en-US" altLang="zh-CN" sz="2400" dirty="0"/>
          </a:p>
          <a:p>
            <a:r>
              <a:rPr lang="zh-CN" altLang="en-US" sz="2400" dirty="0"/>
              <a:t>包含双时相图像对和详细的掩码以及自然语言描述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7565206-D3B5-68D2-E471-0A50904275CB}"/>
              </a:ext>
            </a:extLst>
          </p:cNvPr>
          <p:cNvSpPr txBox="1"/>
          <p:nvPr/>
        </p:nvSpPr>
        <p:spPr>
          <a:xfrm>
            <a:off x="499713" y="3084111"/>
            <a:ext cx="28765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Dual-branch MCI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14B0E74-9950-167B-802F-3A8C29DAF38D}"/>
              </a:ext>
            </a:extLst>
          </p:cNvPr>
          <p:cNvSpPr txBox="1"/>
          <p:nvPr/>
        </p:nvSpPr>
        <p:spPr>
          <a:xfrm>
            <a:off x="3913632" y="3084111"/>
            <a:ext cx="7620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可以提供像素级和语义级变化解释</a:t>
            </a:r>
            <a:endParaRPr lang="en-US" altLang="zh-CN" sz="2400" dirty="0"/>
          </a:p>
          <a:p>
            <a:r>
              <a:rPr lang="zh-CN" altLang="en-US" sz="2400" dirty="0"/>
              <a:t>模型在架构上创新</a:t>
            </a:r>
            <a:r>
              <a:rPr lang="en-US" altLang="zh-CN" sz="2400" dirty="0"/>
              <a:t>BI3</a:t>
            </a:r>
            <a:r>
              <a:rPr lang="zh-CN" altLang="en-US" sz="2400" dirty="0"/>
              <a:t>层，包含</a:t>
            </a:r>
            <a:r>
              <a:rPr lang="en-US" altLang="zh-CN" sz="2400" dirty="0"/>
              <a:t>LPE</a:t>
            </a:r>
            <a:r>
              <a:rPr lang="zh-CN" altLang="en-US" sz="2400" dirty="0"/>
              <a:t>与</a:t>
            </a:r>
            <a:r>
              <a:rPr lang="en-US" altLang="zh-CN" sz="2400" dirty="0"/>
              <a:t>GDFA</a:t>
            </a:r>
            <a:endParaRPr lang="zh-CN" altLang="en-US" sz="24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CF7A36B-4FCA-368E-9CDB-7E61B059C012}"/>
              </a:ext>
            </a:extLst>
          </p:cNvPr>
          <p:cNvSpPr txBox="1"/>
          <p:nvPr/>
        </p:nvSpPr>
        <p:spPr>
          <a:xfrm>
            <a:off x="499713" y="4525329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Change-Agent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2A88EFA-107C-FD70-D64F-0BDD0C531C65}"/>
              </a:ext>
            </a:extLst>
          </p:cNvPr>
          <p:cNvSpPr txBox="1"/>
          <p:nvPr/>
        </p:nvSpPr>
        <p:spPr>
          <a:xfrm>
            <a:off x="3913631" y="4525329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MCI</a:t>
            </a:r>
            <a:r>
              <a:rPr lang="zh-CN" altLang="en-US" sz="2400" dirty="0"/>
              <a:t>与</a:t>
            </a:r>
            <a:r>
              <a:rPr lang="en-US" altLang="zh-CN" sz="2400" dirty="0"/>
              <a:t>LLM</a:t>
            </a:r>
            <a:r>
              <a:rPr lang="zh-CN" altLang="en-US" sz="2400" dirty="0"/>
              <a:t>融合</a:t>
            </a:r>
            <a:endParaRPr lang="en-US" altLang="zh-CN" sz="2400" dirty="0"/>
          </a:p>
          <a:p>
            <a:r>
              <a:rPr lang="zh-CN" altLang="en-US" sz="2400" dirty="0"/>
              <a:t>借助</a:t>
            </a:r>
            <a:r>
              <a:rPr lang="en-US" altLang="zh-CN" sz="2400" dirty="0"/>
              <a:t>LLM</a:t>
            </a:r>
            <a:r>
              <a:rPr lang="zh-CN" altLang="en-US" sz="2400" dirty="0"/>
              <a:t>实现自然语言的交互与智能对话</a:t>
            </a:r>
            <a:endParaRPr lang="en-US" altLang="zh-CN" sz="2400" dirty="0"/>
          </a:p>
          <a:p>
            <a:r>
              <a:rPr lang="zh-CN" altLang="en-US" sz="2400" dirty="0"/>
              <a:t>借助</a:t>
            </a:r>
            <a:r>
              <a:rPr lang="en-US" altLang="zh-CN" sz="2400" dirty="0"/>
              <a:t>LLM</a:t>
            </a:r>
            <a:r>
              <a:rPr lang="zh-CN" altLang="en-US" sz="2400" dirty="0"/>
              <a:t>的丰富知识实现全面解释与分析</a:t>
            </a:r>
          </a:p>
        </p:txBody>
      </p:sp>
    </p:spTree>
    <p:extLst>
      <p:ext uri="{BB962C8B-B14F-4D97-AF65-F5344CB8AC3E}">
        <p14:creationId xmlns:p14="http://schemas.microsoft.com/office/powerpoint/2010/main" val="1396937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FEAB13-3827-FF5E-2914-000A2F0F0350}"/>
              </a:ext>
            </a:extLst>
          </p:cNvPr>
          <p:cNvSpPr txBox="1"/>
          <p:nvPr/>
        </p:nvSpPr>
        <p:spPr>
          <a:xfrm>
            <a:off x="194992" y="365980"/>
            <a:ext cx="20116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相关研究</a:t>
            </a:r>
            <a:endParaRPr lang="en-US" altLang="zh-CN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2C2483-1845-8E4D-AEB6-B7B2183C02EB}"/>
              </a:ext>
            </a:extLst>
          </p:cNvPr>
          <p:cNvSpPr txBox="1"/>
          <p:nvPr/>
        </p:nvSpPr>
        <p:spPr>
          <a:xfrm>
            <a:off x="999429" y="1924932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传统方法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39EDD00-4B73-3C1B-7933-DAA5B7F922D2}"/>
              </a:ext>
            </a:extLst>
          </p:cNvPr>
          <p:cNvSpPr txBox="1"/>
          <p:nvPr/>
        </p:nvSpPr>
        <p:spPr>
          <a:xfrm>
            <a:off x="3379371" y="1924932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基于代数，基于变换，基于分类的方法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53B7E4E-85E1-A3CA-8550-3688B5B45874}"/>
              </a:ext>
            </a:extLst>
          </p:cNvPr>
          <p:cNvSpPr txBox="1"/>
          <p:nvPr/>
        </p:nvSpPr>
        <p:spPr>
          <a:xfrm>
            <a:off x="999428" y="2506505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深度学习方法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D1753B-2282-CF91-1ED5-03B8EC7A14B7}"/>
              </a:ext>
            </a:extLst>
          </p:cNvPr>
          <p:cNvSpPr txBox="1"/>
          <p:nvPr/>
        </p:nvSpPr>
        <p:spPr>
          <a:xfrm>
            <a:off x="3379370" y="2506505"/>
            <a:ext cx="8482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相关研究使用了各种框架，包括</a:t>
            </a:r>
            <a:r>
              <a:rPr lang="en-US" altLang="zh-CN" sz="2400" dirty="0"/>
              <a:t>CNN</a:t>
            </a:r>
            <a:r>
              <a:rPr lang="zh-CN" altLang="en-US" sz="2400" dirty="0"/>
              <a:t>，</a:t>
            </a:r>
            <a:r>
              <a:rPr lang="en-US" altLang="zh-CN" sz="2400" dirty="0"/>
              <a:t>RNN</a:t>
            </a:r>
            <a:r>
              <a:rPr lang="zh-CN" altLang="en-US" sz="2400" dirty="0"/>
              <a:t>，</a:t>
            </a:r>
            <a:r>
              <a:rPr lang="en-US" altLang="zh-CN" sz="2400" dirty="0"/>
              <a:t>Transformer</a:t>
            </a:r>
            <a:r>
              <a:rPr lang="zh-CN" altLang="en-US" sz="2400" dirty="0"/>
              <a:t>等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D2A92FD-A570-1610-899F-A3095218BBC6}"/>
              </a:ext>
            </a:extLst>
          </p:cNvPr>
          <p:cNvSpPr txBox="1"/>
          <p:nvPr/>
        </p:nvSpPr>
        <p:spPr>
          <a:xfrm>
            <a:off x="499714" y="1318380"/>
            <a:ext cx="426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遥感变化检测方面</a:t>
            </a:r>
            <a:r>
              <a:rPr lang="zh-CN" altLang="en-US" sz="2400" dirty="0">
                <a:solidFill>
                  <a:srgbClr val="9C85C0">
                    <a:lumMod val="75000"/>
                  </a:srgbClr>
                </a:solidFill>
                <a:latin typeface="Rockwell" panose="02060603020205020403"/>
                <a:ea typeface="方正姚体" panose="02010601030101010101" pitchFamily="2" charset="-122"/>
              </a:rPr>
              <a:t>（</a:t>
            </a:r>
            <a:r>
              <a:rPr lang="en-US" altLang="zh-CN" sz="2400" dirty="0">
                <a:solidFill>
                  <a:srgbClr val="9C85C0">
                    <a:lumMod val="75000"/>
                  </a:srgbClr>
                </a:solidFill>
                <a:latin typeface="Rockwell" panose="02060603020205020403"/>
                <a:ea typeface="方正姚体" panose="02010601030101010101" pitchFamily="2" charset="-122"/>
              </a:rPr>
              <a:t>CC</a:t>
            </a:r>
            <a:r>
              <a:rPr lang="zh-CN" altLang="en-US" sz="2400" dirty="0">
                <a:solidFill>
                  <a:srgbClr val="9C85C0">
                    <a:lumMod val="75000"/>
                  </a:srgbClr>
                </a:solidFill>
                <a:latin typeface="Rockwell" panose="02060603020205020403"/>
                <a:ea typeface="方正姚体" panose="02010601030101010101" pitchFamily="2" charset="-122"/>
              </a:rPr>
              <a:t>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C85C0">
                  <a:lumMod val="75000"/>
                </a:srgbClr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0491FE78-0E78-6139-4CEE-6BB746F2B043}"/>
              </a:ext>
            </a:extLst>
          </p:cNvPr>
          <p:cNvSpPr txBox="1"/>
          <p:nvPr/>
        </p:nvSpPr>
        <p:spPr>
          <a:xfrm>
            <a:off x="499714" y="3656257"/>
            <a:ext cx="426866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遥感变化解释方面（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）</a:t>
            </a:r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56050F2-EE96-5CB8-9DBD-D75D016F2F84}"/>
              </a:ext>
            </a:extLst>
          </p:cNvPr>
          <p:cNvCxnSpPr/>
          <p:nvPr/>
        </p:nvCxnSpPr>
        <p:spPr>
          <a:xfrm>
            <a:off x="632577" y="3312213"/>
            <a:ext cx="112288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9BA93A4-C1D4-001E-133A-B831F4C37EEE}"/>
              </a:ext>
            </a:extLst>
          </p:cNvPr>
          <p:cNvSpPr txBox="1"/>
          <p:nvPr/>
        </p:nvSpPr>
        <p:spPr>
          <a:xfrm>
            <a:off x="999428" y="4262809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深度学习方法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3E33073-B2DB-B7ED-DD80-65D6B438B719}"/>
              </a:ext>
            </a:extLst>
          </p:cNvPr>
          <p:cNvSpPr txBox="1"/>
          <p:nvPr/>
        </p:nvSpPr>
        <p:spPr>
          <a:xfrm>
            <a:off x="3379369" y="4262809"/>
            <a:ext cx="848203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早期大多使用</a:t>
            </a:r>
            <a:r>
              <a:rPr lang="en-US" altLang="zh-CN" sz="2400" dirty="0"/>
              <a:t>encoder-decoder</a:t>
            </a:r>
            <a:r>
              <a:rPr lang="zh-CN" altLang="en-US" sz="2400" dirty="0"/>
              <a:t>方法，</a:t>
            </a:r>
            <a:r>
              <a:rPr lang="en-US" altLang="zh-CN" sz="2400" dirty="0"/>
              <a:t>encoder</a:t>
            </a:r>
            <a:r>
              <a:rPr lang="zh-CN" altLang="en-US" sz="2400" dirty="0"/>
              <a:t>负责提取特征并融合，</a:t>
            </a:r>
            <a:r>
              <a:rPr lang="en-US" altLang="zh-CN" sz="2400" dirty="0"/>
              <a:t>decoder</a:t>
            </a:r>
            <a:r>
              <a:rPr lang="zh-CN" altLang="en-US" sz="2400" dirty="0"/>
              <a:t>负责将视觉特征转化成自然语言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9F00B0A-830B-093C-BB59-66F01B780F70}"/>
              </a:ext>
            </a:extLst>
          </p:cNvPr>
          <p:cNvSpPr txBox="1"/>
          <p:nvPr/>
        </p:nvSpPr>
        <p:spPr>
          <a:xfrm>
            <a:off x="3379370" y="5439717"/>
            <a:ext cx="84820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随后引入基于注意力的改进以提升对不同尺寸变化对象的感知</a:t>
            </a:r>
          </a:p>
        </p:txBody>
      </p:sp>
    </p:spTree>
    <p:extLst>
      <p:ext uri="{BB962C8B-B14F-4D97-AF65-F5344CB8AC3E}">
        <p14:creationId xmlns:p14="http://schemas.microsoft.com/office/powerpoint/2010/main" val="9072565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36A1C3A-0228-3301-4A92-B827A3D4D6A2}"/>
              </a:ext>
            </a:extLst>
          </p:cNvPr>
          <p:cNvSpPr txBox="1"/>
          <p:nvPr/>
        </p:nvSpPr>
        <p:spPr>
          <a:xfrm>
            <a:off x="622162" y="253090"/>
            <a:ext cx="38494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LEVIR-MCI Dataset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5FBE0E6-BA36-768B-EAA6-8545DB738FC8}"/>
              </a:ext>
            </a:extLst>
          </p:cNvPr>
          <p:cNvSpPr txBox="1"/>
          <p:nvPr/>
        </p:nvSpPr>
        <p:spPr>
          <a:xfrm>
            <a:off x="622162" y="1047733"/>
            <a:ext cx="534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双时相图像对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E71A482-1EB1-0C5F-0651-10854B70F69E}"/>
              </a:ext>
            </a:extLst>
          </p:cNvPr>
          <p:cNvSpPr txBox="1"/>
          <p:nvPr/>
        </p:nvSpPr>
        <p:spPr>
          <a:xfrm>
            <a:off x="622162" y="1689079"/>
            <a:ext cx="103005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包含变化检测掩码形式的像素级变化信息</a:t>
            </a:r>
            <a:endParaRPr lang="en-US" altLang="zh-CN" sz="2400" dirty="0"/>
          </a:p>
          <a:p>
            <a:r>
              <a:rPr lang="zh-CN" altLang="en-US" sz="2400" dirty="0"/>
              <a:t>包含描述性句子形式的语义级解释（包含不同视角</a:t>
            </a:r>
            <a:r>
              <a:rPr lang="en-US" altLang="zh-CN" sz="2400" dirty="0"/>
              <a:t>5</a:t>
            </a:r>
            <a:r>
              <a:rPr lang="zh-CN" altLang="en-US" sz="2400" dirty="0"/>
              <a:t>条注释）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9633C18-4A43-A867-F0E0-0A26CAB3B6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288" r="33322"/>
          <a:stretch>
            <a:fillRect/>
          </a:stretch>
        </p:blipFill>
        <p:spPr>
          <a:xfrm>
            <a:off x="494872" y="2699757"/>
            <a:ext cx="4070960" cy="356839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7A80F2F4-0262-3F63-30AA-E3C22A83D4AE}"/>
              </a:ext>
            </a:extLst>
          </p:cNvPr>
          <p:cNvSpPr txBox="1"/>
          <p:nvPr/>
        </p:nvSpPr>
        <p:spPr>
          <a:xfrm>
            <a:off x="4784944" y="2699757"/>
            <a:ext cx="53400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变化的建筑标注成红色</a:t>
            </a:r>
            <a:endParaRPr lang="en-US" altLang="zh-CN" sz="2400" dirty="0"/>
          </a:p>
          <a:p>
            <a:r>
              <a:rPr lang="zh-CN" altLang="en-US" sz="2400" dirty="0"/>
              <a:t>变化的道路标注成黄色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962824-00C4-50DA-EF3D-06B382ED314C}"/>
              </a:ext>
            </a:extLst>
          </p:cNvPr>
          <p:cNvSpPr txBox="1"/>
          <p:nvPr/>
        </p:nvSpPr>
        <p:spPr>
          <a:xfrm>
            <a:off x="4784944" y="3704783"/>
            <a:ext cx="72149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将道路与建筑各自的掩码面积与边界框面积进行对比</a:t>
            </a:r>
            <a:endParaRPr lang="en-US" altLang="zh-CN" sz="2400" dirty="0"/>
          </a:p>
          <a:p>
            <a:r>
              <a:rPr lang="zh-CN" altLang="en-US" sz="2400" dirty="0"/>
              <a:t>总结道路较建筑占地面积更大，边界框面积与掩码面积相差更大</a:t>
            </a:r>
            <a:endParaRPr lang="en-US" altLang="zh-CN" sz="24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E8F9E4BE-8932-F949-15F3-8736152280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6170"/>
          <a:stretch>
            <a:fillRect/>
          </a:stretch>
        </p:blipFill>
        <p:spPr>
          <a:xfrm>
            <a:off x="9161088" y="4649810"/>
            <a:ext cx="2838846" cy="2088896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6FFC50A-AC81-B598-F362-E3E8750258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5130" y="4649810"/>
            <a:ext cx="2476846" cy="2191056"/>
          </a:xfrm>
          <a:prstGeom prst="rect">
            <a:avLst/>
          </a:prstGeom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0D1EEDE-01D9-F351-E5C4-B0CB9A37C34D}"/>
              </a:ext>
            </a:extLst>
          </p:cNvPr>
          <p:cNvCxnSpPr>
            <a:cxnSpLocks/>
          </p:cNvCxnSpPr>
          <p:nvPr/>
        </p:nvCxnSpPr>
        <p:spPr>
          <a:xfrm>
            <a:off x="4784944" y="3614642"/>
            <a:ext cx="7280226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6209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A429D31-55D7-315B-AFFE-B59BF222D0A1}"/>
              </a:ext>
            </a:extLst>
          </p:cNvPr>
          <p:cNvSpPr/>
          <p:nvPr/>
        </p:nvSpPr>
        <p:spPr>
          <a:xfrm>
            <a:off x="3482238" y="2574996"/>
            <a:ext cx="1490596" cy="120786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MCI</a:t>
            </a:r>
            <a:endParaRPr lang="zh-CN" altLang="en-US" sz="24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7EE130-9E46-3CD8-206A-FC8F435EBFD7}"/>
              </a:ext>
            </a:extLst>
          </p:cNvPr>
          <p:cNvSpPr txBox="1"/>
          <p:nvPr/>
        </p:nvSpPr>
        <p:spPr>
          <a:xfrm>
            <a:off x="438537" y="560168"/>
            <a:ext cx="28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Framework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69521C-C658-9740-2029-123225344F6E}"/>
              </a:ext>
            </a:extLst>
          </p:cNvPr>
          <p:cNvSpPr txBox="1"/>
          <p:nvPr/>
        </p:nvSpPr>
        <p:spPr>
          <a:xfrm>
            <a:off x="569351" y="2574996"/>
            <a:ext cx="252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Img</a:t>
            </a:r>
            <a:r>
              <a:rPr lang="en-US" altLang="zh-CN" sz="2400" dirty="0"/>
              <a:t> (before)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59908BD-9298-6D01-36BC-18DF4584756B}"/>
              </a:ext>
            </a:extLst>
          </p:cNvPr>
          <p:cNvSpPr txBox="1"/>
          <p:nvPr/>
        </p:nvSpPr>
        <p:spPr>
          <a:xfrm>
            <a:off x="569351" y="3321194"/>
            <a:ext cx="25245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/>
              <a:t>Img</a:t>
            </a:r>
            <a:r>
              <a:rPr lang="en-US" altLang="zh-CN" sz="2400" dirty="0"/>
              <a:t> (after)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EF8142-0CC3-7B58-445D-99BBE6AB6EFD}"/>
              </a:ext>
            </a:extLst>
          </p:cNvPr>
          <p:cNvSpPr txBox="1"/>
          <p:nvPr/>
        </p:nvSpPr>
        <p:spPr>
          <a:xfrm>
            <a:off x="5635378" y="2574996"/>
            <a:ext cx="1767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像素级解释</a:t>
            </a:r>
            <a:endParaRPr lang="en-US" altLang="zh-CN" sz="24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BDEDE2-D297-5E00-3443-DB948605BCFA}"/>
              </a:ext>
            </a:extLst>
          </p:cNvPr>
          <p:cNvSpPr txBox="1"/>
          <p:nvPr/>
        </p:nvSpPr>
        <p:spPr>
          <a:xfrm>
            <a:off x="5635378" y="3321194"/>
            <a:ext cx="17675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语义级解释</a:t>
            </a:r>
            <a:endParaRPr lang="en-US" altLang="zh-CN" sz="2400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7B3746F9-92B9-EC9C-49C4-17213A3C06DB}"/>
              </a:ext>
            </a:extLst>
          </p:cNvPr>
          <p:cNvCxnSpPr>
            <a:cxnSpLocks/>
          </p:cNvCxnSpPr>
          <p:nvPr/>
        </p:nvCxnSpPr>
        <p:spPr>
          <a:xfrm>
            <a:off x="2670791" y="2805828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43FB8E7-B70B-0083-8595-ED75FAF88679}"/>
              </a:ext>
            </a:extLst>
          </p:cNvPr>
          <p:cNvCxnSpPr>
            <a:cxnSpLocks/>
          </p:cNvCxnSpPr>
          <p:nvPr/>
        </p:nvCxnSpPr>
        <p:spPr>
          <a:xfrm>
            <a:off x="2670791" y="3546951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72E20CCA-62D8-41EC-0874-D93B86019257}"/>
              </a:ext>
            </a:extLst>
          </p:cNvPr>
          <p:cNvCxnSpPr>
            <a:cxnSpLocks/>
            <a:stCxn id="2" idx="3"/>
            <a:endCxn id="6" idx="1"/>
          </p:cNvCxnSpPr>
          <p:nvPr/>
        </p:nvCxnSpPr>
        <p:spPr>
          <a:xfrm flipV="1">
            <a:off x="4972834" y="2805829"/>
            <a:ext cx="662544" cy="37309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5262BDB6-0A0C-B01E-223F-3EFDE7F74FA9}"/>
              </a:ext>
            </a:extLst>
          </p:cNvPr>
          <p:cNvCxnSpPr>
            <a:cxnSpLocks/>
            <a:stCxn id="2" idx="3"/>
            <a:endCxn id="7" idx="1"/>
          </p:cNvCxnSpPr>
          <p:nvPr/>
        </p:nvCxnSpPr>
        <p:spPr>
          <a:xfrm>
            <a:off x="4972834" y="3178928"/>
            <a:ext cx="662544" cy="37309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1" name="矩形 20">
            <a:extLst>
              <a:ext uri="{FF2B5EF4-FFF2-40B4-BE49-F238E27FC236}">
                <a16:creationId xmlns:a16="http://schemas.microsoft.com/office/drawing/2014/main" id="{56C1D38E-1053-592C-3FA8-AB87AB8CFC09}"/>
              </a:ext>
            </a:extLst>
          </p:cNvPr>
          <p:cNvSpPr/>
          <p:nvPr/>
        </p:nvSpPr>
        <p:spPr>
          <a:xfrm>
            <a:off x="8215663" y="2574996"/>
            <a:ext cx="1490596" cy="1207863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/>
              <a:t>Agent</a:t>
            </a:r>
            <a:endParaRPr lang="zh-CN" altLang="en-US" sz="2400" dirty="0"/>
          </a:p>
        </p:txBody>
      </p: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62C19AEF-5A3F-4F2B-51F1-0E721D778674}"/>
              </a:ext>
            </a:extLst>
          </p:cNvPr>
          <p:cNvCxnSpPr>
            <a:cxnSpLocks/>
          </p:cNvCxnSpPr>
          <p:nvPr/>
        </p:nvCxnSpPr>
        <p:spPr>
          <a:xfrm>
            <a:off x="7402883" y="2805828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95AA942-770F-8149-EA74-A978E650DE74}"/>
              </a:ext>
            </a:extLst>
          </p:cNvPr>
          <p:cNvCxnSpPr>
            <a:cxnSpLocks/>
          </p:cNvCxnSpPr>
          <p:nvPr/>
        </p:nvCxnSpPr>
        <p:spPr>
          <a:xfrm>
            <a:off x="7402883" y="3552026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5AAFFB7-813B-2912-7C12-8D1C0A03CABA}"/>
              </a:ext>
            </a:extLst>
          </p:cNvPr>
          <p:cNvCxnSpPr>
            <a:cxnSpLocks/>
          </p:cNvCxnSpPr>
          <p:nvPr/>
        </p:nvCxnSpPr>
        <p:spPr>
          <a:xfrm>
            <a:off x="9988079" y="3145522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文本框 28">
            <a:extLst>
              <a:ext uri="{FF2B5EF4-FFF2-40B4-BE49-F238E27FC236}">
                <a16:creationId xmlns:a16="http://schemas.microsoft.com/office/drawing/2014/main" id="{0B054E64-F26A-D3BC-4DAE-46F720E7B189}"/>
              </a:ext>
            </a:extLst>
          </p:cNvPr>
          <p:cNvSpPr txBox="1"/>
          <p:nvPr/>
        </p:nvSpPr>
        <p:spPr>
          <a:xfrm>
            <a:off x="10654722" y="2914690"/>
            <a:ext cx="13431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</a:t>
            </a:r>
            <a:endParaRPr lang="en-US" altLang="zh-CN" sz="2400" dirty="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7EBF8547-9577-A55A-5D5C-7C38E3D9A507}"/>
              </a:ext>
            </a:extLst>
          </p:cNvPr>
          <p:cNvSpPr txBox="1"/>
          <p:nvPr/>
        </p:nvSpPr>
        <p:spPr>
          <a:xfrm>
            <a:off x="2677899" y="1521495"/>
            <a:ext cx="3099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CC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与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CD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结合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42B39C6F-0B38-0F8B-9CED-B52C2C62ACE2}"/>
              </a:ext>
            </a:extLst>
          </p:cNvPr>
          <p:cNvSpPr txBox="1"/>
          <p:nvPr/>
        </p:nvSpPr>
        <p:spPr>
          <a:xfrm>
            <a:off x="7228070" y="1521521"/>
            <a:ext cx="32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深度思考与智能交互</a:t>
            </a:r>
          </a:p>
        </p:txBody>
      </p: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98A91183-E4D9-2B48-8924-5233834AD91C}"/>
              </a:ext>
            </a:extLst>
          </p:cNvPr>
          <p:cNvCxnSpPr>
            <a:cxnSpLocks/>
          </p:cNvCxnSpPr>
          <p:nvPr/>
        </p:nvCxnSpPr>
        <p:spPr>
          <a:xfrm flipH="1">
            <a:off x="4227536" y="2054294"/>
            <a:ext cx="1" cy="38720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B952863E-5096-BF9C-A2D5-4A6E52194F30}"/>
              </a:ext>
            </a:extLst>
          </p:cNvPr>
          <p:cNvCxnSpPr>
            <a:cxnSpLocks/>
          </p:cNvCxnSpPr>
          <p:nvPr/>
        </p:nvCxnSpPr>
        <p:spPr>
          <a:xfrm flipH="1">
            <a:off x="8953285" y="2054294"/>
            <a:ext cx="1" cy="38720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4" name="矩形 33">
            <a:extLst>
              <a:ext uri="{FF2B5EF4-FFF2-40B4-BE49-F238E27FC236}">
                <a16:creationId xmlns:a16="http://schemas.microsoft.com/office/drawing/2014/main" id="{BE95830E-3ABA-B85D-E44B-B1E9F63BB4D8}"/>
              </a:ext>
            </a:extLst>
          </p:cNvPr>
          <p:cNvSpPr/>
          <p:nvPr/>
        </p:nvSpPr>
        <p:spPr>
          <a:xfrm>
            <a:off x="438537" y="4155958"/>
            <a:ext cx="7501679" cy="1841323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863BF07E-E515-D84B-E8BC-9A4DC7675D4B}"/>
              </a:ext>
            </a:extLst>
          </p:cNvPr>
          <p:cNvSpPr txBox="1"/>
          <p:nvPr/>
        </p:nvSpPr>
        <p:spPr>
          <a:xfrm>
            <a:off x="2395344" y="4591686"/>
            <a:ext cx="8690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BI3</a:t>
            </a: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F715A893-25C1-5634-9ADE-F76547F6C653}"/>
              </a:ext>
            </a:extLst>
          </p:cNvPr>
          <p:cNvSpPr txBox="1"/>
          <p:nvPr/>
        </p:nvSpPr>
        <p:spPr>
          <a:xfrm>
            <a:off x="1752808" y="5146556"/>
            <a:ext cx="21313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增强融合特征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D6B80DF4-4B19-094B-D253-9A2644B1C2CF}"/>
              </a:ext>
            </a:extLst>
          </p:cNvPr>
          <p:cNvCxnSpPr>
            <a:cxnSpLocks/>
          </p:cNvCxnSpPr>
          <p:nvPr/>
        </p:nvCxnSpPr>
        <p:spPr>
          <a:xfrm>
            <a:off x="906835" y="4824156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D32C6818-DE22-F8EF-A21F-32B24B9AB908}"/>
              </a:ext>
            </a:extLst>
          </p:cNvPr>
          <p:cNvCxnSpPr>
            <a:cxnSpLocks/>
          </p:cNvCxnSpPr>
          <p:nvPr/>
        </p:nvCxnSpPr>
        <p:spPr>
          <a:xfrm>
            <a:off x="906835" y="5377388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矩形: 圆角 38">
            <a:extLst>
              <a:ext uri="{FF2B5EF4-FFF2-40B4-BE49-F238E27FC236}">
                <a16:creationId xmlns:a16="http://schemas.microsoft.com/office/drawing/2014/main" id="{D47B51B8-D6A6-2886-5C41-AB8494F0730F}"/>
              </a:ext>
            </a:extLst>
          </p:cNvPr>
          <p:cNvSpPr/>
          <p:nvPr/>
        </p:nvSpPr>
        <p:spPr>
          <a:xfrm>
            <a:off x="1745762" y="4456584"/>
            <a:ext cx="1955021" cy="1352808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9714195C-AE2F-9010-1118-4B0809AEDA82}"/>
              </a:ext>
            </a:extLst>
          </p:cNvPr>
          <p:cNvCxnSpPr>
            <a:cxnSpLocks/>
          </p:cNvCxnSpPr>
          <p:nvPr/>
        </p:nvCxnSpPr>
        <p:spPr>
          <a:xfrm>
            <a:off x="3952089" y="4734242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74F4DF28-8EC2-8ADF-B956-C12571A4BAE5}"/>
              </a:ext>
            </a:extLst>
          </p:cNvPr>
          <p:cNvCxnSpPr>
            <a:cxnSpLocks/>
          </p:cNvCxnSpPr>
          <p:nvPr/>
        </p:nvCxnSpPr>
        <p:spPr>
          <a:xfrm>
            <a:off x="3952089" y="5498307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3EAD591-3F54-BC73-3CBF-415329833BBB}"/>
              </a:ext>
            </a:extLst>
          </p:cNvPr>
          <p:cNvSpPr/>
          <p:nvPr/>
        </p:nvSpPr>
        <p:spPr>
          <a:xfrm>
            <a:off x="4785480" y="4356375"/>
            <a:ext cx="1955021" cy="688618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F666A3FE-6460-4062-64FD-41B44951F4F0}"/>
              </a:ext>
            </a:extLst>
          </p:cNvPr>
          <p:cNvSpPr txBox="1"/>
          <p:nvPr/>
        </p:nvSpPr>
        <p:spPr>
          <a:xfrm>
            <a:off x="5151910" y="4430050"/>
            <a:ext cx="1337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CC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分支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C970FA8E-9987-56D2-699C-298D70BFFDD3}"/>
              </a:ext>
            </a:extLst>
          </p:cNvPr>
          <p:cNvSpPr/>
          <p:nvPr/>
        </p:nvSpPr>
        <p:spPr>
          <a:xfrm>
            <a:off x="4785480" y="5162351"/>
            <a:ext cx="1955021" cy="688618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8425F978-CF28-0739-3DA0-407EF3D8B9F7}"/>
              </a:ext>
            </a:extLst>
          </p:cNvPr>
          <p:cNvSpPr txBox="1"/>
          <p:nvPr/>
        </p:nvSpPr>
        <p:spPr>
          <a:xfrm>
            <a:off x="5151910" y="5236026"/>
            <a:ext cx="13372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50000"/>
                  </a:schemeClr>
                </a:solidFill>
              </a:rPr>
              <a:t>CD</a:t>
            </a:r>
            <a:r>
              <a:rPr lang="zh-CN" altLang="en-US" sz="2400" dirty="0">
                <a:solidFill>
                  <a:schemeClr val="accent6">
                    <a:lumMod val="50000"/>
                  </a:schemeClr>
                </a:solidFill>
              </a:rPr>
              <a:t>分支</a:t>
            </a:r>
            <a:endParaRPr lang="en-US" altLang="zh-CN" sz="2400" dirty="0">
              <a:solidFill>
                <a:schemeClr val="accent6">
                  <a:lumMod val="50000"/>
                </a:schemeClr>
              </a:solidFill>
            </a:endParaRPr>
          </a:p>
        </p:txBody>
      </p: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D635ADAD-0ED7-6AF8-A4FB-936A2A55D88D}"/>
              </a:ext>
            </a:extLst>
          </p:cNvPr>
          <p:cNvCxnSpPr>
            <a:cxnSpLocks/>
          </p:cNvCxnSpPr>
          <p:nvPr/>
        </p:nvCxnSpPr>
        <p:spPr>
          <a:xfrm>
            <a:off x="6988935" y="4734242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556D03D0-5BDF-2EA0-3CC9-A05320D8E4E8}"/>
              </a:ext>
            </a:extLst>
          </p:cNvPr>
          <p:cNvCxnSpPr>
            <a:cxnSpLocks/>
          </p:cNvCxnSpPr>
          <p:nvPr/>
        </p:nvCxnSpPr>
        <p:spPr>
          <a:xfrm>
            <a:off x="6988935" y="5466858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矩形 49">
            <a:extLst>
              <a:ext uri="{FF2B5EF4-FFF2-40B4-BE49-F238E27FC236}">
                <a16:creationId xmlns:a16="http://schemas.microsoft.com/office/drawing/2014/main" id="{97FC4985-3E14-D62D-D9DB-712DA3410683}"/>
              </a:ext>
            </a:extLst>
          </p:cNvPr>
          <p:cNvSpPr/>
          <p:nvPr/>
        </p:nvSpPr>
        <p:spPr>
          <a:xfrm>
            <a:off x="8130711" y="4155958"/>
            <a:ext cx="3622751" cy="1841301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400" dirty="0"/>
          </a:p>
        </p:txBody>
      </p:sp>
      <p:sp>
        <p:nvSpPr>
          <p:cNvPr id="51" name="矩形: 圆角 50">
            <a:extLst>
              <a:ext uri="{FF2B5EF4-FFF2-40B4-BE49-F238E27FC236}">
                <a16:creationId xmlns:a16="http://schemas.microsoft.com/office/drawing/2014/main" id="{5CFB4ED9-8E66-DD20-4B91-FE1A81A050C7}"/>
              </a:ext>
            </a:extLst>
          </p:cNvPr>
          <p:cNvSpPr/>
          <p:nvPr/>
        </p:nvSpPr>
        <p:spPr>
          <a:xfrm>
            <a:off x="8318085" y="4414777"/>
            <a:ext cx="3248002" cy="493953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D7076C0D-B415-83BE-4DD6-D00DC673DE1A}"/>
              </a:ext>
            </a:extLst>
          </p:cNvPr>
          <p:cNvSpPr txBox="1"/>
          <p:nvPr/>
        </p:nvSpPr>
        <p:spPr>
          <a:xfrm>
            <a:off x="9289583" y="4440949"/>
            <a:ext cx="17725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</a:rPr>
              <a:t>LLM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</a:rPr>
              <a:t>驱动</a:t>
            </a:r>
            <a:endParaRPr lang="en-US" altLang="zh-C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3" name="矩形: 圆角 52">
            <a:extLst>
              <a:ext uri="{FF2B5EF4-FFF2-40B4-BE49-F238E27FC236}">
                <a16:creationId xmlns:a16="http://schemas.microsoft.com/office/drawing/2014/main" id="{9DFF0534-010E-58CB-94C7-03531A76653D}"/>
              </a:ext>
            </a:extLst>
          </p:cNvPr>
          <p:cNvSpPr/>
          <p:nvPr/>
        </p:nvSpPr>
        <p:spPr>
          <a:xfrm>
            <a:off x="8306646" y="5208299"/>
            <a:ext cx="3248002" cy="493953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5840B3A-8178-DB8A-97F0-A33103493C46}"/>
              </a:ext>
            </a:extLst>
          </p:cNvPr>
          <p:cNvSpPr txBox="1"/>
          <p:nvPr/>
        </p:nvSpPr>
        <p:spPr>
          <a:xfrm>
            <a:off x="8620500" y="5236025"/>
            <a:ext cx="30793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</a:rPr>
              <a:t>可调用</a:t>
            </a:r>
            <a:r>
              <a:rPr lang="en-US" altLang="zh-CN" sz="2400" dirty="0">
                <a:solidFill>
                  <a:schemeClr val="accent1">
                    <a:lumMod val="50000"/>
                  </a:schemeClr>
                </a:solidFill>
              </a:rPr>
              <a:t>python</a:t>
            </a:r>
            <a:r>
              <a:rPr lang="zh-CN" altLang="en-US" sz="2400" dirty="0">
                <a:solidFill>
                  <a:schemeClr val="accent1">
                    <a:lumMod val="50000"/>
                  </a:schemeClr>
                </a:solidFill>
              </a:rPr>
              <a:t>脚本</a:t>
            </a:r>
            <a:endParaRPr lang="en-US" altLang="zh-CN" sz="240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33034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4B82268-7E85-A53A-C5AC-A4FF3243968D}"/>
              </a:ext>
            </a:extLst>
          </p:cNvPr>
          <p:cNvSpPr txBox="1"/>
          <p:nvPr/>
        </p:nvSpPr>
        <p:spPr>
          <a:xfrm>
            <a:off x="526220" y="422382"/>
            <a:ext cx="28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MCI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E4EADCA-9000-E80A-50D1-CA8BB73D14F0}"/>
              </a:ext>
            </a:extLst>
          </p:cNvPr>
          <p:cNvSpPr txBox="1"/>
          <p:nvPr/>
        </p:nvSpPr>
        <p:spPr>
          <a:xfrm>
            <a:off x="1944373" y="48393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双时相迭代交互（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BI3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）结构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D51BE7B2-7C84-C939-0E19-5BB4F1912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891" y="1414544"/>
            <a:ext cx="4906060" cy="442974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A267E99-B940-D34B-C9C4-0E2084AF215F}"/>
              </a:ext>
            </a:extLst>
          </p:cNvPr>
          <p:cNvSpPr txBox="1"/>
          <p:nvPr/>
        </p:nvSpPr>
        <p:spPr>
          <a:xfrm>
            <a:off x="5141951" y="1737042"/>
            <a:ext cx="648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孪生网络结构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E3EEAA-2F95-3E54-DF8C-CD39DE58FA87}"/>
              </a:ext>
            </a:extLst>
          </p:cNvPr>
          <p:cNvSpPr/>
          <p:nvPr/>
        </p:nvSpPr>
        <p:spPr>
          <a:xfrm>
            <a:off x="3513551" y="5423770"/>
            <a:ext cx="263046" cy="27557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9A54A8C-80FF-E0F3-B8E3-431DF744822F}"/>
              </a:ext>
            </a:extLst>
          </p:cNvPr>
          <p:cNvSpPr/>
          <p:nvPr/>
        </p:nvSpPr>
        <p:spPr>
          <a:xfrm>
            <a:off x="1514599" y="5423770"/>
            <a:ext cx="263046" cy="27557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BD2AA5C-535A-BF63-A61C-1F4119587F39}"/>
              </a:ext>
            </a:extLst>
          </p:cNvPr>
          <p:cNvSpPr/>
          <p:nvPr/>
        </p:nvSpPr>
        <p:spPr>
          <a:xfrm>
            <a:off x="3513551" y="1528242"/>
            <a:ext cx="263046" cy="26094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0D5D172-C11C-227C-3704-501979282912}"/>
              </a:ext>
            </a:extLst>
          </p:cNvPr>
          <p:cNvSpPr/>
          <p:nvPr/>
        </p:nvSpPr>
        <p:spPr>
          <a:xfrm>
            <a:off x="1402915" y="1476100"/>
            <a:ext cx="374730" cy="36522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5BD22EA-87EF-2874-90FF-7203CD2E4364}"/>
              </a:ext>
            </a:extLst>
          </p:cNvPr>
          <p:cNvSpPr txBox="1"/>
          <p:nvPr/>
        </p:nvSpPr>
        <p:spPr>
          <a:xfrm>
            <a:off x="5141951" y="2375261"/>
            <a:ext cx="7077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LPE</a:t>
            </a:r>
            <a:endParaRPr lang="zh-CN" altLang="en-US" sz="24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8A97F001-C093-FAF1-6644-0B30D94C6645}"/>
              </a:ext>
            </a:extLst>
          </p:cNvPr>
          <p:cNvSpPr txBox="1"/>
          <p:nvPr/>
        </p:nvSpPr>
        <p:spPr>
          <a:xfrm>
            <a:off x="6096001" y="2381305"/>
            <a:ext cx="58601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残差结构</a:t>
            </a:r>
            <a:endParaRPr lang="en-US" altLang="zh-CN" sz="2400" dirty="0"/>
          </a:p>
          <a:p>
            <a:r>
              <a:rPr lang="zh-CN" altLang="en-US" sz="2400" dirty="0"/>
              <a:t>利用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不同大小卷积核</a:t>
            </a:r>
            <a:r>
              <a:rPr lang="zh-CN" altLang="en-US" sz="2400" dirty="0"/>
              <a:t>提取跨尺度特征</a:t>
            </a:r>
            <a:endParaRPr lang="en-US" altLang="zh-CN" sz="2400" dirty="0"/>
          </a:p>
          <a:p>
            <a:r>
              <a:rPr lang="zh-CN" altLang="en-US" sz="2400" dirty="0"/>
              <a:t>提取的跨尺寸特征直接拼接递交激活函数</a:t>
            </a:r>
            <a:endParaRPr lang="en-US" altLang="zh-CN" sz="2400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39504B7B-A79A-F314-6B91-8A11A27C8F16}"/>
              </a:ext>
            </a:extLst>
          </p:cNvPr>
          <p:cNvSpPr txBox="1"/>
          <p:nvPr/>
        </p:nvSpPr>
        <p:spPr>
          <a:xfrm>
            <a:off x="8655485" y="2290372"/>
            <a:ext cx="27872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chemeClr val="accent6">
                    <a:lumMod val="75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(1x5) (5x1) (3x3)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1A1FD540-04FB-F0FB-5234-9B4208FE9D4D}"/>
              </a:ext>
            </a:extLst>
          </p:cNvPr>
          <p:cNvSpPr txBox="1"/>
          <p:nvPr/>
        </p:nvSpPr>
        <p:spPr>
          <a:xfrm>
            <a:off x="8655485" y="714768"/>
            <a:ext cx="260338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由先前分析，道路多细长，有水平和垂直，而建筑多规整方形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99660EE5-572C-D150-3985-8E198522AE6F}"/>
              </a:ext>
            </a:extLst>
          </p:cNvPr>
          <p:cNvSpPr/>
          <p:nvPr/>
        </p:nvSpPr>
        <p:spPr>
          <a:xfrm>
            <a:off x="8555277" y="714769"/>
            <a:ext cx="2703589" cy="1569660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</a:endParaRP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6DDC6C48-DD7A-6FE9-F9EC-B5EEFD07E5F2}"/>
              </a:ext>
            </a:extLst>
          </p:cNvPr>
          <p:cNvCxnSpPr>
            <a:cxnSpLocks/>
          </p:cNvCxnSpPr>
          <p:nvPr/>
        </p:nvCxnSpPr>
        <p:spPr>
          <a:xfrm>
            <a:off x="8292230" y="714768"/>
            <a:ext cx="0" cy="194075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F6CCED5B-9E6F-F843-B7CE-4CD9842E34AF}"/>
              </a:ext>
            </a:extLst>
          </p:cNvPr>
          <p:cNvSpPr txBox="1"/>
          <p:nvPr/>
        </p:nvSpPr>
        <p:spPr>
          <a:xfrm>
            <a:off x="4988499" y="3737420"/>
            <a:ext cx="1014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C00000"/>
                </a:solidFill>
              </a:rPr>
              <a:t>GDFA</a:t>
            </a:r>
            <a:endParaRPr lang="zh-CN" altLang="en-US" sz="2400" dirty="0">
              <a:solidFill>
                <a:srgbClr val="C00000"/>
              </a:solidFill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7E7650B8-B223-6D07-A060-8B6F7CA89CFD}"/>
              </a:ext>
            </a:extLst>
          </p:cNvPr>
          <p:cNvSpPr txBox="1"/>
          <p:nvPr/>
        </p:nvSpPr>
        <p:spPr>
          <a:xfrm>
            <a:off x="6096001" y="3737420"/>
            <a:ext cx="5860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注意力机制（</a:t>
            </a:r>
            <a:r>
              <a:rPr lang="en-US" altLang="zh-CN" sz="2400" dirty="0"/>
              <a:t>QKV</a:t>
            </a:r>
            <a:r>
              <a:rPr lang="zh-CN" altLang="en-US" sz="2400" dirty="0"/>
              <a:t>矩阵）</a:t>
            </a:r>
            <a:endParaRPr lang="en-US" altLang="zh-CN" sz="2400" dirty="0"/>
          </a:p>
          <a:p>
            <a:r>
              <a:rPr lang="zh-CN" altLang="en-US" sz="2400" dirty="0"/>
              <a:t>实现特征间的交互和融合</a:t>
            </a:r>
            <a:endParaRPr lang="en-US" altLang="zh-CN" sz="2400" dirty="0"/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077321-F6DA-5E8A-531F-C5A44BED31E7}"/>
              </a:ext>
            </a:extLst>
          </p:cNvPr>
          <p:cNvSpPr txBox="1"/>
          <p:nvPr/>
        </p:nvSpPr>
        <p:spPr>
          <a:xfrm>
            <a:off x="5081392" y="4806527"/>
            <a:ext cx="10146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MLP</a:t>
            </a:r>
            <a:endParaRPr lang="zh-CN" altLang="en-US" sz="2400" dirty="0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17341E1-ADFE-77D0-31A6-53CF2764DA3F}"/>
              </a:ext>
            </a:extLst>
          </p:cNvPr>
          <p:cNvSpPr txBox="1"/>
          <p:nvPr/>
        </p:nvSpPr>
        <p:spPr>
          <a:xfrm>
            <a:off x="6099219" y="4847839"/>
            <a:ext cx="586010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带残差的多层感知机</a:t>
            </a:r>
            <a:endParaRPr lang="en-US" altLang="zh-CN" sz="2400" dirty="0"/>
          </a:p>
          <a:p>
            <a:r>
              <a:rPr lang="zh-CN" altLang="en-US" sz="2400" dirty="0"/>
              <a:t>进一步优化归一化之后的特征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798574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EBB5EAF-76B6-ADA5-5934-C6DA0903349F}"/>
              </a:ext>
            </a:extLst>
          </p:cNvPr>
          <p:cNvSpPr txBox="1"/>
          <p:nvPr/>
        </p:nvSpPr>
        <p:spPr>
          <a:xfrm>
            <a:off x="526220" y="422382"/>
            <a:ext cx="28363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MCI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E75868-DD64-ABB2-5F0A-4F7758CD1ED1}"/>
              </a:ext>
            </a:extLst>
          </p:cNvPr>
          <p:cNvSpPr txBox="1"/>
          <p:nvPr/>
        </p:nvSpPr>
        <p:spPr>
          <a:xfrm>
            <a:off x="1944373" y="483936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CC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与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CD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分支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B107658-1D4B-24ED-1342-7E1392A50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20" y="1068711"/>
            <a:ext cx="4410691" cy="332468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74A9ED6-383F-1F9F-2F0B-42BD07DDB3D2}"/>
              </a:ext>
            </a:extLst>
          </p:cNvPr>
          <p:cNvSpPr txBox="1"/>
          <p:nvPr/>
        </p:nvSpPr>
        <p:spPr>
          <a:xfrm>
            <a:off x="4992373" y="1068711"/>
            <a:ext cx="648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CC</a:t>
            </a:r>
            <a:r>
              <a:rPr lang="zh-CN" altLang="en-US" sz="2400" dirty="0"/>
              <a:t>分支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3CE9DD-AD97-CA55-F793-7A48D4498A94}"/>
              </a:ext>
            </a:extLst>
          </p:cNvPr>
          <p:cNvSpPr txBox="1"/>
          <p:nvPr/>
        </p:nvSpPr>
        <p:spPr>
          <a:xfrm>
            <a:off x="4992373" y="1653486"/>
            <a:ext cx="6482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利用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CBF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模块</a:t>
            </a:r>
            <a:r>
              <a:rPr lang="zh-CN" altLang="en-US" sz="2400" dirty="0"/>
              <a:t>融合双时相特征</a:t>
            </a:r>
            <a:endParaRPr lang="en-US" altLang="zh-CN" sz="2400" dirty="0"/>
          </a:p>
          <a:p>
            <a:r>
              <a:rPr lang="zh-CN" altLang="en-US" sz="2400" dirty="0"/>
              <a:t>通过反卷积逐步整合不同尺度特征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F7D5553-9CC8-E972-97A4-9E08B5D88543}"/>
              </a:ext>
            </a:extLst>
          </p:cNvPr>
          <p:cNvSpPr txBox="1"/>
          <p:nvPr/>
        </p:nvSpPr>
        <p:spPr>
          <a:xfrm>
            <a:off x="6209498" y="2828835"/>
            <a:ext cx="418369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CBF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模块将双时相特征的差与余弦相似度相加，再将得到结果与原特征融合，做卷积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269EBD9C-D4AE-F26C-0571-E0AFC63173AE}"/>
              </a:ext>
            </a:extLst>
          </p:cNvPr>
          <p:cNvSpPr/>
          <p:nvPr/>
        </p:nvSpPr>
        <p:spPr>
          <a:xfrm>
            <a:off x="6096000" y="2752241"/>
            <a:ext cx="4410691" cy="1323088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</a:endParaRP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51C0227E-E051-1C7A-0969-411ECFFA7B6E}"/>
              </a:ext>
            </a:extLst>
          </p:cNvPr>
          <p:cNvCxnSpPr>
            <a:cxnSpLocks/>
          </p:cNvCxnSpPr>
          <p:nvPr/>
        </p:nvCxnSpPr>
        <p:spPr>
          <a:xfrm flipV="1">
            <a:off x="5807902" y="2484483"/>
            <a:ext cx="0" cy="159084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15" name="图片 14">
            <a:extLst>
              <a:ext uri="{FF2B5EF4-FFF2-40B4-BE49-F238E27FC236}">
                <a16:creationId xmlns:a16="http://schemas.microsoft.com/office/drawing/2014/main" id="{CA4E901A-A8B9-199B-F114-CEA3D2CBE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378" y="4704764"/>
            <a:ext cx="4715533" cy="1857634"/>
          </a:xfrm>
          <a:prstGeom prst="rect">
            <a:avLst/>
          </a:prstGeom>
        </p:spPr>
      </p:pic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E8DB3F6C-4C39-051E-7AFA-05D056AF8613}"/>
              </a:ext>
            </a:extLst>
          </p:cNvPr>
          <p:cNvCxnSpPr>
            <a:cxnSpLocks/>
          </p:cNvCxnSpPr>
          <p:nvPr/>
        </p:nvCxnSpPr>
        <p:spPr>
          <a:xfrm>
            <a:off x="221378" y="4552290"/>
            <a:ext cx="1174560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B8952528-216D-BD52-575F-70BCC1F8DC9A}"/>
              </a:ext>
            </a:extLst>
          </p:cNvPr>
          <p:cNvSpPr txBox="1"/>
          <p:nvPr/>
        </p:nvSpPr>
        <p:spPr>
          <a:xfrm>
            <a:off x="5130159" y="4704764"/>
            <a:ext cx="648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CD</a:t>
            </a:r>
            <a:r>
              <a:rPr lang="zh-CN" altLang="en-US" sz="2400" dirty="0"/>
              <a:t>分支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D474D67-E381-E55D-3EAB-B4770F5D8ECB}"/>
              </a:ext>
            </a:extLst>
          </p:cNvPr>
          <p:cNvSpPr txBox="1"/>
          <p:nvPr/>
        </p:nvSpPr>
        <p:spPr>
          <a:xfrm>
            <a:off x="5130159" y="5373790"/>
            <a:ext cx="648220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将</a:t>
            </a:r>
            <a:r>
              <a:rPr lang="en-US" altLang="zh-CN" sz="2400" dirty="0"/>
              <a:t>BI3</a:t>
            </a:r>
            <a:r>
              <a:rPr lang="zh-CN" altLang="en-US" sz="2400" dirty="0"/>
              <a:t>层提取的高层特征转化为文本形式的特征</a:t>
            </a:r>
            <a:endParaRPr lang="en-US" altLang="zh-CN" sz="2400" dirty="0"/>
          </a:p>
          <a:p>
            <a:r>
              <a:rPr lang="zh-CN" altLang="en-US" sz="2400" dirty="0"/>
              <a:t>送入</a:t>
            </a:r>
            <a:r>
              <a:rPr lang="en-US" altLang="zh-CN" sz="2400" dirty="0"/>
              <a:t>Transformer Decoder</a:t>
            </a:r>
            <a:r>
              <a:rPr lang="zh-CN" altLang="en-US" sz="2400" dirty="0"/>
              <a:t>生成解释</a:t>
            </a:r>
          </a:p>
        </p:txBody>
      </p:sp>
    </p:spTree>
    <p:extLst>
      <p:ext uri="{BB962C8B-B14F-4D97-AF65-F5344CB8AC3E}">
        <p14:creationId xmlns:p14="http://schemas.microsoft.com/office/powerpoint/2010/main" val="5360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79E88FE-E28F-B226-2187-EEC952AD0D9E}"/>
              </a:ext>
            </a:extLst>
          </p:cNvPr>
          <p:cNvSpPr txBox="1"/>
          <p:nvPr/>
        </p:nvSpPr>
        <p:spPr>
          <a:xfrm>
            <a:off x="526221" y="422382"/>
            <a:ext cx="21794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LLM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B7191A8-2B88-82DA-BCDD-3C16A13C07C0}"/>
              </a:ext>
            </a:extLst>
          </p:cNvPr>
          <p:cNvSpPr/>
          <p:nvPr/>
        </p:nvSpPr>
        <p:spPr>
          <a:xfrm>
            <a:off x="3578268" y="2063663"/>
            <a:ext cx="1920658" cy="3623152"/>
          </a:xfrm>
          <a:prstGeom prst="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3200" dirty="0"/>
              <a:t>LLM</a:t>
            </a:r>
            <a:endParaRPr lang="zh-CN" altLang="en-US" sz="32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0358092-C96E-9B2F-E74A-BE3B64493232}"/>
              </a:ext>
            </a:extLst>
          </p:cNvPr>
          <p:cNvSpPr txBox="1"/>
          <p:nvPr/>
        </p:nvSpPr>
        <p:spPr>
          <a:xfrm>
            <a:off x="1878014" y="3026242"/>
            <a:ext cx="119509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擅长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77785F2-2113-F9C8-9085-D1B6628E99B5}"/>
              </a:ext>
            </a:extLst>
          </p:cNvPr>
          <p:cNvSpPr/>
          <p:nvPr/>
        </p:nvSpPr>
        <p:spPr>
          <a:xfrm>
            <a:off x="526221" y="3682652"/>
            <a:ext cx="2703589" cy="2004164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30FE0B8-6E1A-63B2-4EB1-4D2A7EBE6B9B}"/>
              </a:ext>
            </a:extLst>
          </p:cNvPr>
          <p:cNvSpPr txBox="1"/>
          <p:nvPr/>
        </p:nvSpPr>
        <p:spPr>
          <a:xfrm>
            <a:off x="843573" y="3875239"/>
            <a:ext cx="206888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理解指令</a:t>
            </a:r>
            <a:endParaRPr kumimoji="0" lang="en-US" altLang="zh-CN" sz="24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  <a:p>
            <a:pPr algn="ctr"/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规划推理</a:t>
            </a:r>
            <a:endParaRPr lang="en-US" altLang="zh-CN" sz="2400" dirty="0">
              <a:latin typeface="Rockwell" panose="02060603020205020403"/>
              <a:ea typeface="方正姚体" panose="02010601030101010101" pitchFamily="2" charset="-122"/>
            </a:endParaRPr>
          </a:p>
          <a:p>
            <a:pPr algn="ctr"/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组件协调</a:t>
            </a:r>
            <a:endParaRPr lang="en-US" altLang="zh-CN" sz="2400" dirty="0">
              <a:latin typeface="Rockwell" panose="02060603020205020403"/>
              <a:ea typeface="方正姚体" panose="02010601030101010101" pitchFamily="2" charset="-122"/>
            </a:endParaRPr>
          </a:p>
          <a:p>
            <a:pPr algn="ctr"/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自然语言交互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04F45204-67E4-9D37-F742-D27EDA83E8DC}"/>
              </a:ext>
            </a:extLst>
          </p:cNvPr>
          <p:cNvSpPr txBox="1"/>
          <p:nvPr/>
        </p:nvSpPr>
        <p:spPr>
          <a:xfrm>
            <a:off x="1406115" y="1298526"/>
            <a:ext cx="139360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特点</a:t>
            </a:r>
            <a:endParaRPr lang="zh-CN" altLang="en-US" sz="2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3BFEFF43-3570-AC30-2F65-7915746A7244}"/>
              </a:ext>
            </a:extLst>
          </p:cNvPr>
          <p:cNvSpPr/>
          <p:nvPr/>
        </p:nvSpPr>
        <p:spPr>
          <a:xfrm>
            <a:off x="484407" y="1950165"/>
            <a:ext cx="2703589" cy="947658"/>
          </a:xfrm>
          <a:prstGeom prst="roundRect">
            <a:avLst/>
          </a:prstGeom>
          <a:noFill/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dk1"/>
                </a:solidFill>
              </a:rPr>
              <a:t>具有丰富知识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BB89A368-31F3-2F26-87E5-387B6F1993F7}"/>
              </a:ext>
            </a:extLst>
          </p:cNvPr>
          <p:cNvCxnSpPr>
            <a:cxnSpLocks/>
          </p:cNvCxnSpPr>
          <p:nvPr/>
        </p:nvCxnSpPr>
        <p:spPr>
          <a:xfrm>
            <a:off x="1836201" y="3053533"/>
            <a:ext cx="0" cy="495929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87CD002-3ECD-1A2F-F90D-78A70803D47B}"/>
              </a:ext>
            </a:extLst>
          </p:cNvPr>
          <p:cNvSpPr txBox="1"/>
          <p:nvPr/>
        </p:nvSpPr>
        <p:spPr>
          <a:xfrm>
            <a:off x="1388250" y="2936294"/>
            <a:ext cx="47437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所以</a:t>
            </a:r>
            <a:endParaRPr lang="zh-CN" altLang="en-US" sz="1600" dirty="0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1B46176-0059-D151-02B3-EAEEA2E13A29}"/>
              </a:ext>
            </a:extLst>
          </p:cNvPr>
          <p:cNvSpPr/>
          <p:nvPr/>
        </p:nvSpPr>
        <p:spPr>
          <a:xfrm>
            <a:off x="5785522" y="1950165"/>
            <a:ext cx="1488631" cy="742931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5">
                    <a:lumMod val="75000"/>
                  </a:schemeClr>
                </a:solidFill>
              </a:rPr>
              <a:t>基于文本</a:t>
            </a:r>
          </a:p>
        </p:txBody>
      </p: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6A0A38A-9A03-A60E-051D-9E50646756FF}"/>
              </a:ext>
            </a:extLst>
          </p:cNvPr>
          <p:cNvCxnSpPr>
            <a:cxnSpLocks/>
            <a:stCxn id="14" idx="3"/>
            <a:endCxn id="20" idx="1"/>
          </p:cNvCxnSpPr>
          <p:nvPr/>
        </p:nvCxnSpPr>
        <p:spPr>
          <a:xfrm>
            <a:off x="7274153" y="2321631"/>
            <a:ext cx="2597526" cy="939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8E414D64-7471-4E9A-9C3A-20497FADF086}"/>
              </a:ext>
            </a:extLst>
          </p:cNvPr>
          <p:cNvSpPr txBox="1"/>
          <p:nvPr/>
        </p:nvSpPr>
        <p:spPr>
          <a:xfrm>
            <a:off x="8243218" y="1921520"/>
            <a:ext cx="1195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缺乏</a:t>
            </a:r>
            <a:endParaRPr lang="zh-CN" altLang="en-US" sz="1600" dirty="0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16CBFCA8-5F35-AF09-A6EE-D62D6E01281B}"/>
              </a:ext>
            </a:extLst>
          </p:cNvPr>
          <p:cNvSpPr/>
          <p:nvPr/>
        </p:nvSpPr>
        <p:spPr>
          <a:xfrm>
            <a:off x="9871679" y="1959560"/>
            <a:ext cx="2204580" cy="742931"/>
          </a:xfrm>
          <a:prstGeom prst="round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2400" dirty="0">
                <a:solidFill>
                  <a:schemeClr val="accent4">
                    <a:lumMod val="75000"/>
                  </a:schemeClr>
                </a:solidFill>
              </a:rPr>
              <a:t>视觉感知能力</a:t>
            </a:r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7609006F-DEB5-FBF4-3070-D35BD44CE0E0}"/>
              </a:ext>
            </a:extLst>
          </p:cNvPr>
          <p:cNvCxnSpPr>
            <a:cxnSpLocks/>
          </p:cNvCxnSpPr>
          <p:nvPr/>
        </p:nvCxnSpPr>
        <p:spPr>
          <a:xfrm>
            <a:off x="5885607" y="2880240"/>
            <a:ext cx="591031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连接符: 肘形 22">
            <a:extLst>
              <a:ext uri="{FF2B5EF4-FFF2-40B4-BE49-F238E27FC236}">
                <a16:creationId xmlns:a16="http://schemas.microsoft.com/office/drawing/2014/main" id="{39F8DE65-B769-0474-7BD2-12CC5A869BC1}"/>
              </a:ext>
            </a:extLst>
          </p:cNvPr>
          <p:cNvCxnSpPr>
            <a:cxnSpLocks/>
            <a:stCxn id="14" idx="2"/>
            <a:endCxn id="20" idx="2"/>
          </p:cNvCxnSpPr>
          <p:nvPr/>
        </p:nvCxnSpPr>
        <p:spPr>
          <a:xfrm rot="16200000" flipH="1">
            <a:off x="8747206" y="475727"/>
            <a:ext cx="9395" cy="4444131"/>
          </a:xfrm>
          <a:prstGeom prst="bentConnector3">
            <a:avLst>
              <a:gd name="adj1" fmla="val 31598393"/>
            </a:avLst>
          </a:prstGeom>
          <a:ln w="38100"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6" name="矩形 35">
            <a:extLst>
              <a:ext uri="{FF2B5EF4-FFF2-40B4-BE49-F238E27FC236}">
                <a16:creationId xmlns:a16="http://schemas.microsoft.com/office/drawing/2014/main" id="{4E4175AC-E855-0BDE-19A4-E87DDE3FF9B5}"/>
              </a:ext>
            </a:extLst>
          </p:cNvPr>
          <p:cNvSpPr/>
          <p:nvPr/>
        </p:nvSpPr>
        <p:spPr>
          <a:xfrm>
            <a:off x="6693077" y="3038194"/>
            <a:ext cx="1761992" cy="629114"/>
          </a:xfrm>
          <a:prstGeom prst="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5">
                    <a:lumMod val="50000"/>
                  </a:schemeClr>
                </a:solidFill>
              </a:rPr>
              <a:t>作为认知核心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E0429A03-B551-BA86-0B3D-FE97E7B30A78}"/>
              </a:ext>
            </a:extLst>
          </p:cNvPr>
          <p:cNvSpPr/>
          <p:nvPr/>
        </p:nvSpPr>
        <p:spPr>
          <a:xfrm>
            <a:off x="6693076" y="3955091"/>
            <a:ext cx="4166990" cy="1489807"/>
          </a:xfrm>
          <a:prstGeom prst="rect">
            <a:avLst/>
          </a:prstGeom>
          <a:gradFill flip="none" rotWithShape="1">
            <a:gsLst>
              <a:gs pos="55000">
                <a:schemeClr val="accent4">
                  <a:lumMod val="100000"/>
                  <a:alpha val="20000"/>
                </a:schemeClr>
              </a:gs>
              <a:gs pos="45000">
                <a:schemeClr val="accent5">
                  <a:alpha val="20000"/>
                  <a:lumMod val="100000"/>
                </a:schemeClr>
              </a:gs>
              <a:gs pos="100000">
                <a:schemeClr val="accent4">
                  <a:lumMod val="100000"/>
                  <a:alpha val="20000"/>
                </a:schemeClr>
              </a:gs>
              <a:gs pos="0">
                <a:schemeClr val="accent5">
                  <a:lumMod val="100000"/>
                </a:schemeClr>
              </a:gs>
            </a:gsLst>
            <a:lin ang="0" scaled="0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提示词工程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algn="ctr"/>
            <a:r>
              <a:rPr lang="zh-CN" altLang="en-US" sz="2000" dirty="0">
                <a:solidFill>
                  <a:schemeClr val="tx1"/>
                </a:solidFill>
              </a:rPr>
              <a:t>调用</a:t>
            </a:r>
            <a:r>
              <a:rPr lang="en-US" altLang="zh-CN" sz="2000" dirty="0">
                <a:solidFill>
                  <a:schemeClr val="tx1"/>
                </a:solidFill>
              </a:rPr>
              <a:t>python</a:t>
            </a:r>
            <a:r>
              <a:rPr lang="zh-CN" altLang="en-US" sz="2000" dirty="0">
                <a:solidFill>
                  <a:schemeClr val="tx1"/>
                </a:solidFill>
              </a:rPr>
              <a:t>工具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38BE968C-09DB-985B-785C-D0FC63D454EA}"/>
              </a:ext>
            </a:extLst>
          </p:cNvPr>
          <p:cNvSpPr/>
          <p:nvPr/>
        </p:nvSpPr>
        <p:spPr>
          <a:xfrm>
            <a:off x="9141391" y="3057341"/>
            <a:ext cx="1761992" cy="629114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solidFill>
                  <a:schemeClr val="accent4">
                    <a:lumMod val="75000"/>
                  </a:schemeClr>
                </a:solidFill>
              </a:rPr>
              <a:t>融合视觉工具</a:t>
            </a: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0E98785F-E3B0-3229-AED3-4C3ACD684E5A}"/>
              </a:ext>
            </a:extLst>
          </p:cNvPr>
          <p:cNvSpPr txBox="1"/>
          <p:nvPr/>
        </p:nvSpPr>
        <p:spPr>
          <a:xfrm>
            <a:off x="8455069" y="5732681"/>
            <a:ext cx="119509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填补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180472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BDEA37A-81B5-7999-5418-FEFAC1CE5A4B}"/>
              </a:ext>
            </a:extLst>
          </p:cNvPr>
          <p:cNvSpPr txBox="1"/>
          <p:nvPr/>
        </p:nvSpPr>
        <p:spPr>
          <a:xfrm>
            <a:off x="526220" y="422382"/>
            <a:ext cx="3043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loss function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0B8430-5AD0-6406-FFC7-96022BE40382}"/>
              </a:ext>
            </a:extLst>
          </p:cNvPr>
          <p:cNvSpPr txBox="1"/>
          <p:nvPr/>
        </p:nvSpPr>
        <p:spPr>
          <a:xfrm>
            <a:off x="526219" y="1210844"/>
            <a:ext cx="1082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在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CC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与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CD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任务中均采用交叉熵损失函数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B59EF22-3EDE-0636-F6F3-16EE159D557B}"/>
              </a:ext>
            </a:extLst>
          </p:cNvPr>
          <p:cNvSpPr txBox="1"/>
          <p:nvPr/>
        </p:nvSpPr>
        <p:spPr>
          <a:xfrm>
            <a:off x="526219" y="1876196"/>
            <a:ext cx="1082236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总损失是归一化了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CC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与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CD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的损失的和（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detach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）</a:t>
            </a:r>
            <a:endParaRPr lang="en-US" altLang="zh-CN" sz="2400" dirty="0">
              <a:latin typeface="Rockwell" panose="02060603020205020403"/>
              <a:ea typeface="方正姚体" panose="02010601030101010101" pitchFamily="2" charset="-122"/>
            </a:endParaRPr>
          </a:p>
          <a:p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因为在联合训练的时候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CC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与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CD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的损失量级相差较大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595656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B8D0CFE1-31CB-90C3-28FD-2E97E66DA7B8}"/>
              </a:ext>
            </a:extLst>
          </p:cNvPr>
          <p:cNvSpPr txBox="1"/>
          <p:nvPr/>
        </p:nvSpPr>
        <p:spPr>
          <a:xfrm>
            <a:off x="362903" y="306824"/>
            <a:ext cx="60979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3200"/>
            </a:lvl1pPr>
          </a:lstStyle>
          <a:p>
            <a:r>
              <a:rPr lang="en-US" altLang="zh-CN" dirty="0"/>
              <a:t>Evaluation Metrics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F6E5AD2-2DEF-F82A-53FD-74B0425B5D05}"/>
                  </a:ext>
                </a:extLst>
              </p:cNvPr>
              <p:cNvSpPr txBox="1"/>
              <p:nvPr/>
            </p:nvSpPr>
            <p:spPr>
              <a:xfrm>
                <a:off x="622935" y="1737360"/>
                <a:ext cx="3265638" cy="10043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𝑀𝐼𝑜𝑈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den>
                      </m:f>
                      <m:nary>
                        <m:naryPr>
                          <m:chr m:val="∑"/>
                          <m:limLoc m:val="undOvr"/>
                          <m:grow m:val="on"/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f>
                            <m:f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altLang="zh-CN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  <m:sSub>
                                <m:sSub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CF6E5AD2-2DEF-F82A-53FD-74B0425B5D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5" y="1737360"/>
                <a:ext cx="3265638" cy="1004378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id="{C9947EB2-9093-E7B4-45F7-7BF53FFA15CF}"/>
              </a:ext>
            </a:extLst>
          </p:cNvPr>
          <p:cNvSpPr txBox="1"/>
          <p:nvPr/>
        </p:nvSpPr>
        <p:spPr>
          <a:xfrm>
            <a:off x="4663879" y="2008716"/>
            <a:ext cx="609790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N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为类别总数</a:t>
            </a: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3C91A91-EDBC-4967-0657-172920965F8F}"/>
              </a:ext>
            </a:extLst>
          </p:cNvPr>
          <p:cNvSpPr txBox="1"/>
          <p:nvPr/>
        </p:nvSpPr>
        <p:spPr>
          <a:xfrm>
            <a:off x="447043" y="1219325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CD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C85C0">
                  <a:lumMod val="75000"/>
                </a:srgbClr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4BD57A9-489E-5056-246E-E7B03A77F41B}"/>
              </a:ext>
            </a:extLst>
          </p:cNvPr>
          <p:cNvSpPr txBox="1"/>
          <p:nvPr/>
        </p:nvSpPr>
        <p:spPr>
          <a:xfrm>
            <a:off x="447043" y="2842374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CC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9C85C0">
                  <a:lumMod val="75000"/>
                </a:srgbClr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BB87560-2233-BF5C-754C-992AB6C3DF63}"/>
              </a:ext>
            </a:extLst>
          </p:cNvPr>
          <p:cNvSpPr txBox="1"/>
          <p:nvPr/>
        </p:nvSpPr>
        <p:spPr>
          <a:xfrm>
            <a:off x="622935" y="3553962"/>
            <a:ext cx="9218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BLEU-n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：用来描述生成句子与真实句子之间的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n-gram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相似度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976CCCA7-2FF1-3521-75B1-43014E0119C1}"/>
              </a:ext>
            </a:extLst>
          </p:cNvPr>
          <p:cNvSpPr txBox="1"/>
          <p:nvPr/>
        </p:nvSpPr>
        <p:spPr>
          <a:xfrm>
            <a:off x="622934" y="4156787"/>
            <a:ext cx="921829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METEOR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：衡量生成句子的精确率和召回率以及句子流畅度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764210F-584B-DD2F-5CB0-2C13B2D4C0C5}"/>
                  </a:ext>
                </a:extLst>
              </p:cNvPr>
              <p:cNvSpPr txBox="1"/>
              <p:nvPr/>
            </p:nvSpPr>
            <p:spPr>
              <a:xfrm>
                <a:off x="622934" y="4759612"/>
                <a:ext cx="9218295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sz="2400" dirty="0">
                    <a:latin typeface="Rockwell" panose="02060603020205020403"/>
                    <a:ea typeface="方正姚体" panose="02010601030101010101" pitchFamily="2" charset="-122"/>
                  </a:rPr>
                  <a:t>ROUG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i="1" smtClean="0">
                            <a:latin typeface="Cambria Math" panose="02040503050406030204" pitchFamily="18" charset="0"/>
                            <a:ea typeface="方正姚体" panose="02010601030101010101" pitchFamily="2" charset="-12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方正姚体" panose="02010601030101010101" pitchFamily="2" charset="-122"/>
                          </a:rPr>
                          <m:t>R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zh-CN" sz="2400" i="1">
                            <a:latin typeface="Cambria Math" panose="02040503050406030204" pitchFamily="18" charset="0"/>
                            <a:ea typeface="方正姚体" panose="02010601030101010101" pitchFamily="2" charset="-122"/>
                          </a:rPr>
                          <m:t>L</m:t>
                        </m:r>
                      </m:sub>
                    </m:sSub>
                  </m:oMath>
                </a14:m>
                <a:r>
                  <a:rPr lang="zh-CN" altLang="en-US" sz="2400" dirty="0">
                    <a:latin typeface="Rockwell" panose="02060603020205020403"/>
                    <a:ea typeface="方正姚体" panose="02010601030101010101" pitchFamily="2" charset="-122"/>
                  </a:rPr>
                  <a:t>：衡量生成句子与真实句子的最长公共子序列相似性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764210F-584B-DD2F-5CB0-2C13B2D4C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34" y="4759612"/>
                <a:ext cx="9218295" cy="461665"/>
              </a:xfrm>
              <a:prstGeom prst="rect">
                <a:avLst/>
              </a:prstGeom>
              <a:blipFill>
                <a:blip r:embed="rId3"/>
                <a:stretch>
                  <a:fillRect l="-992" t="-15789" b="-28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>
            <a:extLst>
              <a:ext uri="{FF2B5EF4-FFF2-40B4-BE49-F238E27FC236}">
                <a16:creationId xmlns:a16="http://schemas.microsoft.com/office/drawing/2014/main" id="{45203149-7EC8-6D8F-D9E8-C2FA08698B83}"/>
              </a:ext>
            </a:extLst>
          </p:cNvPr>
          <p:cNvSpPr txBox="1"/>
          <p:nvPr/>
        </p:nvSpPr>
        <p:spPr>
          <a:xfrm>
            <a:off x="622934" y="5362437"/>
            <a:ext cx="921829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Rockwell" panose="02060603020205020403"/>
                <a:ea typeface="方正姚体" panose="02010601030101010101" pitchFamily="2" charset="-122"/>
              </a:rPr>
              <a:t>CIDEr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-D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：在计算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n-gram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的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TF-IDF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之后，通过计算余弦相似度得到</a:t>
            </a:r>
            <a:endParaRPr lang="en-US" altLang="zh-CN" sz="2400" dirty="0">
              <a:latin typeface="Rockwell" panose="02060603020205020403"/>
              <a:ea typeface="方正姚体" panose="02010601030101010101" pitchFamily="2" charset="-122"/>
            </a:endParaRPr>
          </a:p>
          <a:p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	        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用来衡量生成句子和真实句子的一致性的匹配程度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38378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624968B-971E-2210-D84E-9C8D317E03F0}"/>
              </a:ext>
            </a:extLst>
          </p:cNvPr>
          <p:cNvSpPr txBox="1"/>
          <p:nvPr/>
        </p:nvSpPr>
        <p:spPr>
          <a:xfrm>
            <a:off x="526220" y="422382"/>
            <a:ext cx="30436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Result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A299E44-66CE-17F3-FC6F-F7677C7CDF37}"/>
              </a:ext>
            </a:extLst>
          </p:cNvPr>
          <p:cNvSpPr txBox="1"/>
          <p:nvPr/>
        </p:nvSpPr>
        <p:spPr>
          <a:xfrm>
            <a:off x="526220" y="2022374"/>
            <a:ext cx="1082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MCI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在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CC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与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CD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各自任务上均超越若干知名方法</a:t>
            </a:r>
            <a:endParaRPr lang="zh-CN" altLang="en-US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C8C071B-26B2-7DF3-F5F2-16386966A9AB}"/>
              </a:ext>
            </a:extLst>
          </p:cNvPr>
          <p:cNvSpPr txBox="1"/>
          <p:nvPr/>
        </p:nvSpPr>
        <p:spPr>
          <a:xfrm>
            <a:off x="526219" y="1283933"/>
            <a:ext cx="10822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MCI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在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CC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与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CD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任务中同时表现出卓越的能力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19A49F9-8DB5-30C7-2F62-CC8A6D83A0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478" y="2626599"/>
            <a:ext cx="5866968" cy="3562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39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8EEA916-F56C-E784-14A3-62156F3F8A57}"/>
              </a:ext>
            </a:extLst>
          </p:cNvPr>
          <p:cNvSpPr txBox="1"/>
          <p:nvPr/>
        </p:nvSpPr>
        <p:spPr>
          <a:xfrm>
            <a:off x="526220" y="422382"/>
            <a:ext cx="37943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Ablation Studies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372C9A-A3D2-494D-71AF-5F465703EAC4}"/>
              </a:ext>
            </a:extLst>
          </p:cNvPr>
          <p:cNvSpPr txBox="1"/>
          <p:nvPr/>
        </p:nvSpPr>
        <p:spPr>
          <a:xfrm>
            <a:off x="526220" y="1562397"/>
            <a:ext cx="1816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BI3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80DFE94-C0B7-9433-7E9C-7DC0BCCB98B3}"/>
              </a:ext>
            </a:extLst>
          </p:cNvPr>
          <p:cNvSpPr txBox="1"/>
          <p:nvPr/>
        </p:nvSpPr>
        <p:spPr>
          <a:xfrm>
            <a:off x="3226907" y="1562397"/>
            <a:ext cx="86717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对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GDFA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与</a:t>
            </a:r>
            <a:r>
              <a:rPr lang="en-US" altLang="zh-CN" sz="2400" dirty="0">
                <a:latin typeface="Rockwell" panose="02060603020205020403"/>
                <a:ea typeface="方正姚体" panose="02010601030101010101" pitchFamily="2" charset="-122"/>
              </a:rPr>
              <a:t>LPE</a:t>
            </a:r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的消融分析证明了该结构的有效性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432856E3-ED9A-5EA7-B4B1-706E308B676C}"/>
              </a:ext>
            </a:extLst>
          </p:cNvPr>
          <p:cNvSpPr txBox="1"/>
          <p:nvPr/>
        </p:nvSpPr>
        <p:spPr>
          <a:xfrm>
            <a:off x="564156" y="2579302"/>
            <a:ext cx="26627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CC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与</a:t>
            </a:r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CD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任务平衡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F79800-E4DD-DEB7-FF3A-751CD2D8A0AF}"/>
              </a:ext>
            </a:extLst>
          </p:cNvPr>
          <p:cNvSpPr txBox="1"/>
          <p:nvPr/>
        </p:nvSpPr>
        <p:spPr>
          <a:xfrm>
            <a:off x="526220" y="1562397"/>
            <a:ext cx="7918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BI3</a:t>
            </a:r>
            <a:endParaRPr lang="zh-CN" altLang="en-US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51B3C13F-7EB9-B31F-CEF2-617B4EDC3895}"/>
              </a:ext>
            </a:extLst>
          </p:cNvPr>
          <p:cNvSpPr txBox="1"/>
          <p:nvPr/>
        </p:nvSpPr>
        <p:spPr>
          <a:xfrm>
            <a:off x="3226906" y="2579301"/>
            <a:ext cx="867172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比较经设计的损失平衡策略与直接线性组合损失策略</a:t>
            </a:r>
            <a:endParaRPr lang="en-US" altLang="zh-CN" sz="2400" dirty="0">
              <a:latin typeface="Rockwell" panose="02060603020205020403"/>
              <a:ea typeface="方正姚体" panose="02010601030101010101" pitchFamily="2" charset="-122"/>
            </a:endParaRPr>
          </a:p>
          <a:p>
            <a:r>
              <a:rPr lang="zh-CN" altLang="en-US" sz="2400" dirty="0">
                <a:latin typeface="Rockwell" panose="02060603020205020403"/>
                <a:ea typeface="方正姚体" panose="02010601030101010101" pitchFamily="2" charset="-122"/>
              </a:rPr>
              <a:t>虽然该策略在单任务上略有欠缺但是在多任务上有全面的提升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07553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709A4962-33A7-947D-0ECB-62008EADEF9E}"/>
              </a:ext>
            </a:extLst>
          </p:cNvPr>
          <p:cNvSpPr txBox="1"/>
          <p:nvPr/>
        </p:nvSpPr>
        <p:spPr>
          <a:xfrm>
            <a:off x="723014" y="871870"/>
            <a:ext cx="1043054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 err="1"/>
              <a:t>InstructSAM</a:t>
            </a:r>
            <a:r>
              <a:rPr lang="en-US" altLang="zh-CN" sz="2800" dirty="0"/>
              <a:t>: </a:t>
            </a:r>
          </a:p>
          <a:p>
            <a:endParaRPr lang="en-US" altLang="zh-CN" sz="2800" dirty="0"/>
          </a:p>
          <a:p>
            <a:r>
              <a:rPr lang="en-US" altLang="zh-CN" sz="2800" dirty="0"/>
              <a:t>A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Training-Free</a:t>
            </a:r>
            <a:r>
              <a:rPr lang="en-US" altLang="zh-CN" sz="2800" dirty="0"/>
              <a:t> </a:t>
            </a:r>
            <a:r>
              <a:rPr lang="en-US" altLang="zh-CN" sz="2800" dirty="0">
                <a:solidFill>
                  <a:schemeClr val="accent2">
                    <a:lumMod val="75000"/>
                  </a:schemeClr>
                </a:solidFill>
              </a:rPr>
              <a:t>Framework</a:t>
            </a:r>
          </a:p>
          <a:p>
            <a:r>
              <a:rPr lang="en-US" altLang="zh-CN" sz="2800" dirty="0"/>
              <a:t>for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Instruction-Oriented</a:t>
            </a:r>
          </a:p>
          <a:p>
            <a:r>
              <a:rPr lang="en-US" altLang="zh-CN" sz="2800" dirty="0"/>
              <a:t>Remote Sensing </a:t>
            </a:r>
            <a:r>
              <a:rPr lang="en-US" altLang="zh-CN" sz="2800" dirty="0">
                <a:solidFill>
                  <a:schemeClr val="accent5">
                    <a:lumMod val="75000"/>
                  </a:schemeClr>
                </a:solidFill>
              </a:rPr>
              <a:t>Object Recognition</a:t>
            </a:r>
            <a:endParaRPr lang="zh-CN" altLang="en-US" sz="28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CF8E10-CCC3-DAA6-AF2A-50F11E7B764D}"/>
              </a:ext>
            </a:extLst>
          </p:cNvPr>
          <p:cNvSpPr txBox="1"/>
          <p:nvPr/>
        </p:nvSpPr>
        <p:spPr>
          <a:xfrm>
            <a:off x="723014" y="4742497"/>
            <a:ext cx="24454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2025.5 Preprint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4884634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D4F4AE4-C52E-8BA2-DE76-753FE175008E}"/>
              </a:ext>
            </a:extLst>
          </p:cNvPr>
          <p:cNvSpPr txBox="1"/>
          <p:nvPr/>
        </p:nvSpPr>
        <p:spPr>
          <a:xfrm>
            <a:off x="475488" y="895814"/>
            <a:ext cx="2889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2">
                    <a:lumMod val="75000"/>
                  </a:schemeClr>
                </a:solidFill>
              </a:rPr>
              <a:t>Framework</a:t>
            </a:r>
            <a:endParaRPr lang="zh-CN" altLang="en-US" sz="32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5E47BA0-12D1-9FCD-08A0-E67A9E89349B}"/>
              </a:ext>
            </a:extLst>
          </p:cNvPr>
          <p:cNvSpPr txBox="1"/>
          <p:nvPr/>
        </p:nvSpPr>
        <p:spPr>
          <a:xfrm>
            <a:off x="3364992" y="926592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本文创新点在于提出了一个新颖且实用的框架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D100B31-7B6F-4D2B-4ACE-0C2C5AC9D00F}"/>
              </a:ext>
            </a:extLst>
          </p:cNvPr>
          <p:cNvSpPr txBox="1"/>
          <p:nvPr/>
        </p:nvSpPr>
        <p:spPr>
          <a:xfrm>
            <a:off x="475488" y="2004989"/>
            <a:ext cx="28895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Training-Free</a:t>
            </a:r>
            <a:endParaRPr lang="zh-CN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FA0C594-5CD5-A09D-0CF5-5383391FF54F}"/>
              </a:ext>
            </a:extLst>
          </p:cNvPr>
          <p:cNvSpPr txBox="1"/>
          <p:nvPr/>
        </p:nvSpPr>
        <p:spPr>
          <a:xfrm>
            <a:off x="3364992" y="2066544"/>
            <a:ext cx="801014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泛化性强（无需微调），决策不依赖置信度阈值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D6A929-AD42-CE27-CCFB-38B01DB8CA64}"/>
              </a:ext>
            </a:extLst>
          </p:cNvPr>
          <p:cNvSpPr txBox="1"/>
          <p:nvPr/>
        </p:nvSpPr>
        <p:spPr>
          <a:xfrm>
            <a:off x="475488" y="3114164"/>
            <a:ext cx="42428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Instruction-Oriented</a:t>
            </a:r>
            <a:endParaRPr lang="zh-CN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F4650EE-D03F-9C97-FC29-241B2257BB0A}"/>
              </a:ext>
            </a:extLst>
          </p:cNvPr>
          <p:cNvSpPr txBox="1"/>
          <p:nvPr/>
        </p:nvSpPr>
        <p:spPr>
          <a:xfrm>
            <a:off x="4559808" y="3114164"/>
            <a:ext cx="6815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使用 </a:t>
            </a:r>
            <a:r>
              <a:rPr lang="en-US" altLang="zh-CN" sz="2800" dirty="0"/>
              <a:t>LVLM </a:t>
            </a:r>
            <a:r>
              <a:rPr lang="zh-CN" altLang="en-US" sz="2800" dirty="0"/>
              <a:t>模型，可以接受自然语言输入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96AEF3-3EDC-BC99-DC1C-662209989B45}"/>
              </a:ext>
            </a:extLst>
          </p:cNvPr>
          <p:cNvSpPr txBox="1"/>
          <p:nvPr/>
        </p:nvSpPr>
        <p:spPr>
          <a:xfrm>
            <a:off x="475488" y="4223339"/>
            <a:ext cx="39502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5">
                    <a:lumMod val="75000"/>
                  </a:schemeClr>
                </a:solidFill>
              </a:rPr>
              <a:t>Object Recognition</a:t>
            </a:r>
            <a:endParaRPr lang="zh-CN" altLang="en-US" sz="32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A9236B7-00C1-A93D-BEA0-F8767B6AC03D}"/>
              </a:ext>
            </a:extLst>
          </p:cNvPr>
          <p:cNvSpPr txBox="1"/>
          <p:nvPr/>
        </p:nvSpPr>
        <p:spPr>
          <a:xfrm>
            <a:off x="4559808" y="4253225"/>
            <a:ext cx="681532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/>
              <a:t>经典任务，但方法新颖</a:t>
            </a:r>
          </a:p>
        </p:txBody>
      </p:sp>
    </p:spTree>
    <p:extLst>
      <p:ext uri="{BB962C8B-B14F-4D97-AF65-F5344CB8AC3E}">
        <p14:creationId xmlns:p14="http://schemas.microsoft.com/office/powerpoint/2010/main" val="42808278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52111-521A-6D7E-1710-E6E8D16ED4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D62D0CD8-AE09-E3A9-D0E5-928BEA9A2829}"/>
              </a:ext>
            </a:extLst>
          </p:cNvPr>
          <p:cNvSpPr txBox="1"/>
          <p:nvPr/>
        </p:nvSpPr>
        <p:spPr>
          <a:xfrm>
            <a:off x="812145" y="937452"/>
            <a:ext cx="3621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Open Vocabulary</a:t>
            </a:r>
            <a:endParaRPr lang="zh-CN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8573E4-A8F3-FE5D-47E6-1957AAD580F9}"/>
              </a:ext>
            </a:extLst>
          </p:cNvPr>
          <p:cNvSpPr txBox="1"/>
          <p:nvPr/>
        </p:nvSpPr>
        <p:spPr>
          <a:xfrm>
            <a:off x="4433169" y="1060562"/>
            <a:ext cx="534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用户指定类别进行计数，检测和分割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4D3E8A-6015-03DD-2430-5AA54E5769A8}"/>
              </a:ext>
            </a:extLst>
          </p:cNvPr>
          <p:cNvSpPr txBox="1"/>
          <p:nvPr/>
        </p:nvSpPr>
        <p:spPr>
          <a:xfrm>
            <a:off x="812145" y="2113980"/>
            <a:ext cx="3621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Open Ended</a:t>
            </a:r>
            <a:endParaRPr lang="zh-CN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73CE4A0-3F01-C4C7-6D2B-B56E1A5E7C33}"/>
              </a:ext>
            </a:extLst>
          </p:cNvPr>
          <p:cNvSpPr txBox="1"/>
          <p:nvPr/>
        </p:nvSpPr>
        <p:spPr>
          <a:xfrm>
            <a:off x="4433169" y="2237090"/>
            <a:ext cx="6851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不指定类别，对所有物体进行计数，检测和分割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FAF2869-EE89-28A5-2630-284AA7C5A9CF}"/>
              </a:ext>
            </a:extLst>
          </p:cNvPr>
          <p:cNvSpPr txBox="1"/>
          <p:nvPr/>
        </p:nvSpPr>
        <p:spPr>
          <a:xfrm>
            <a:off x="812145" y="3290508"/>
            <a:ext cx="3621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Open Subclass</a:t>
            </a:r>
            <a:endParaRPr lang="zh-CN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13C2A9-F870-3784-7678-2EFD6F82917D}"/>
              </a:ext>
            </a:extLst>
          </p:cNvPr>
          <p:cNvSpPr txBox="1"/>
          <p:nvPr/>
        </p:nvSpPr>
        <p:spPr>
          <a:xfrm>
            <a:off x="4433169" y="3413618"/>
            <a:ext cx="534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在子类别中进行技术，检测和分割</a:t>
            </a:r>
          </a:p>
        </p:txBody>
      </p:sp>
    </p:spTree>
    <p:extLst>
      <p:ext uri="{BB962C8B-B14F-4D97-AF65-F5344CB8AC3E}">
        <p14:creationId xmlns:p14="http://schemas.microsoft.com/office/powerpoint/2010/main" val="1546969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6AC2EA3-3DE9-B6B4-7075-444483199C42}"/>
              </a:ext>
            </a:extLst>
          </p:cNvPr>
          <p:cNvSpPr txBox="1"/>
          <p:nvPr/>
        </p:nvSpPr>
        <p:spPr>
          <a:xfrm>
            <a:off x="463138" y="439387"/>
            <a:ext cx="36219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Challenges</a:t>
            </a:r>
            <a:endParaRPr lang="zh-CN" altLang="en-US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C10B31-B181-91EC-6186-D28CFE536720}"/>
              </a:ext>
            </a:extLst>
          </p:cNvPr>
          <p:cNvSpPr txBox="1"/>
          <p:nvPr/>
        </p:nvSpPr>
        <p:spPr>
          <a:xfrm>
            <a:off x="463138" y="1544381"/>
            <a:ext cx="92173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1.</a:t>
            </a:r>
            <a:r>
              <a:rPr lang="zh-CN" altLang="en-US" sz="2400" dirty="0"/>
              <a:t>现有</a:t>
            </a:r>
            <a:r>
              <a:rPr lang="en-US" altLang="zh-CN" sz="2400" dirty="0"/>
              <a:t>open vocabulary</a:t>
            </a:r>
            <a:r>
              <a:rPr lang="zh-CN" altLang="en-US" sz="2400" dirty="0"/>
              <a:t>和</a:t>
            </a:r>
            <a:r>
              <a:rPr lang="en-US" altLang="zh-CN" sz="2400" dirty="0"/>
              <a:t>visual grounding</a:t>
            </a:r>
            <a:r>
              <a:rPr lang="zh-CN" altLang="en-US" sz="2400" dirty="0"/>
              <a:t>方法依赖显式类别提示</a:t>
            </a: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7475C410-3C53-A4FD-EFB4-727B12B92FAB}"/>
              </a:ext>
            </a:extLst>
          </p:cNvPr>
          <p:cNvSpPr/>
          <p:nvPr/>
        </p:nvSpPr>
        <p:spPr>
          <a:xfrm>
            <a:off x="8110476" y="2223527"/>
            <a:ext cx="3328574" cy="704088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需要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合理的任务与评估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9E33965-60A4-2193-15E5-8208021D446C}"/>
              </a:ext>
            </a:extLst>
          </p:cNvPr>
          <p:cNvSpPr txBox="1"/>
          <p:nvPr/>
        </p:nvSpPr>
        <p:spPr>
          <a:xfrm>
            <a:off x="1853104" y="2326493"/>
            <a:ext cx="4522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对指令的处理方法限制模型能力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155BFBB5-9B01-6917-D8F7-DD473CAD9479}"/>
              </a:ext>
            </a:extLst>
          </p:cNvPr>
          <p:cNvCxnSpPr/>
          <p:nvPr/>
        </p:nvCxnSpPr>
        <p:spPr>
          <a:xfrm>
            <a:off x="560832" y="2690554"/>
            <a:ext cx="118238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420A85EF-4E08-BFA8-1F88-65DB0CE7A7DB}"/>
              </a:ext>
            </a:extLst>
          </p:cNvPr>
          <p:cNvSpPr txBox="1"/>
          <p:nvPr/>
        </p:nvSpPr>
        <p:spPr>
          <a:xfrm>
            <a:off x="463138" y="2321222"/>
            <a:ext cx="171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具体表现为</a:t>
            </a: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D93A3832-2FFE-D08E-0BAB-1151B388C428}"/>
              </a:ext>
            </a:extLst>
          </p:cNvPr>
          <p:cNvCxnSpPr/>
          <p:nvPr/>
        </p:nvCxnSpPr>
        <p:spPr>
          <a:xfrm>
            <a:off x="6559375" y="2695825"/>
            <a:ext cx="118238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790EA8C2-F119-F45F-BED6-4883E6FD9F0F}"/>
              </a:ext>
            </a:extLst>
          </p:cNvPr>
          <p:cNvSpPr txBox="1"/>
          <p:nvPr/>
        </p:nvSpPr>
        <p:spPr>
          <a:xfrm>
            <a:off x="6641529" y="2326493"/>
            <a:ext cx="171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概括为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4279750-0A05-7DD4-8981-933D1A81086B}"/>
              </a:ext>
            </a:extLst>
          </p:cNvPr>
          <p:cNvSpPr txBox="1"/>
          <p:nvPr/>
        </p:nvSpPr>
        <p:spPr>
          <a:xfrm>
            <a:off x="463138" y="3930386"/>
            <a:ext cx="1039993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/>
              <a:t>2.</a:t>
            </a:r>
            <a:r>
              <a:rPr lang="zh-CN" altLang="en-US" sz="2400" dirty="0"/>
              <a:t>不同数据集规则不同（不便对齐），且标注丰富的数据集比较“昂贵”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FB61760D-D476-D1C5-7282-B491D32DE24E}"/>
              </a:ext>
            </a:extLst>
          </p:cNvPr>
          <p:cNvSpPr/>
          <p:nvPr/>
        </p:nvSpPr>
        <p:spPr>
          <a:xfrm>
            <a:off x="8110476" y="4580333"/>
            <a:ext cx="3328574" cy="704088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需要新的学习框架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681E4A31-5D6D-4505-96BC-FA069B452121}"/>
              </a:ext>
            </a:extLst>
          </p:cNvPr>
          <p:cNvSpPr txBox="1"/>
          <p:nvPr/>
        </p:nvSpPr>
        <p:spPr>
          <a:xfrm>
            <a:off x="1853105" y="4712498"/>
            <a:ext cx="470627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传统方法需要对每个测试集微调</a:t>
            </a: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C4CFE17D-D75A-BC8A-4954-BCFC64C3516B}"/>
              </a:ext>
            </a:extLst>
          </p:cNvPr>
          <p:cNvCxnSpPr/>
          <p:nvPr/>
        </p:nvCxnSpPr>
        <p:spPr>
          <a:xfrm>
            <a:off x="560832" y="5038159"/>
            <a:ext cx="118238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24310822-271D-9724-57AB-81EFAC8740FB}"/>
              </a:ext>
            </a:extLst>
          </p:cNvPr>
          <p:cNvSpPr txBox="1"/>
          <p:nvPr/>
        </p:nvSpPr>
        <p:spPr>
          <a:xfrm>
            <a:off x="463138" y="4668827"/>
            <a:ext cx="171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具体表现为</a:t>
            </a:r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293EFC1B-2DFD-3B40-5C15-6801F02C93B3}"/>
              </a:ext>
            </a:extLst>
          </p:cNvPr>
          <p:cNvCxnSpPr/>
          <p:nvPr/>
        </p:nvCxnSpPr>
        <p:spPr>
          <a:xfrm>
            <a:off x="6559375" y="5008960"/>
            <a:ext cx="1182387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1138B405-2BFD-E317-C162-EB4002B6665C}"/>
              </a:ext>
            </a:extLst>
          </p:cNvPr>
          <p:cNvSpPr txBox="1"/>
          <p:nvPr/>
        </p:nvSpPr>
        <p:spPr>
          <a:xfrm>
            <a:off x="6641529" y="4639628"/>
            <a:ext cx="17180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概括为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FA11FBD-BBE5-F09A-2668-23A74FF80D28}"/>
              </a:ext>
            </a:extLst>
          </p:cNvPr>
          <p:cNvSpPr txBox="1"/>
          <p:nvPr/>
        </p:nvSpPr>
        <p:spPr>
          <a:xfrm>
            <a:off x="9405026" y="2885064"/>
            <a:ext cx="1901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InstructCDS</a:t>
            </a:r>
            <a:endParaRPr lang="zh-CN" altLang="en-US" dirty="0"/>
          </a:p>
        </p:txBody>
      </p: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5108F530-C2AA-5229-704A-01FD824E089C}"/>
              </a:ext>
            </a:extLst>
          </p:cNvPr>
          <p:cNvCxnSpPr>
            <a:endCxn id="4" idx="1"/>
          </p:cNvCxnSpPr>
          <p:nvPr/>
        </p:nvCxnSpPr>
        <p:spPr>
          <a:xfrm>
            <a:off x="8368706" y="3115897"/>
            <a:ext cx="10363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81EC26C-D9EC-6BFA-1294-79F4CEDD873D}"/>
              </a:ext>
            </a:extLst>
          </p:cNvPr>
          <p:cNvSpPr txBox="1"/>
          <p:nvPr/>
        </p:nvSpPr>
        <p:spPr>
          <a:xfrm>
            <a:off x="9405026" y="5241870"/>
            <a:ext cx="21823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altLang="zh-C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InstructSAM</a:t>
            </a:r>
            <a:endParaRPr lang="zh-CN" altLang="en-US" dirty="0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7165BD6D-20AA-209F-3F19-CD238213191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8368706" y="5472703"/>
            <a:ext cx="1036320" cy="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92CDCFC5-AA65-6D41-2E43-C2AD77CF2D30}"/>
              </a:ext>
            </a:extLst>
          </p:cNvPr>
          <p:cNvCxnSpPr>
            <a:cxnSpLocks/>
          </p:cNvCxnSpPr>
          <p:nvPr/>
        </p:nvCxnSpPr>
        <p:spPr>
          <a:xfrm>
            <a:off x="486346" y="3546802"/>
            <a:ext cx="111010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0574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BBFEA6E-509D-F32E-42A4-ECBBFF9999D2}"/>
              </a:ext>
            </a:extLst>
          </p:cNvPr>
          <p:cNvSpPr txBox="1"/>
          <p:nvPr/>
        </p:nvSpPr>
        <p:spPr>
          <a:xfrm>
            <a:off x="499714" y="621792"/>
            <a:ext cx="55962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相关研究</a:t>
            </a:r>
            <a:endParaRPr lang="en-US" altLang="zh-CN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081EAD-EDC9-0D48-C637-3874491C875C}"/>
              </a:ext>
            </a:extLst>
          </p:cNvPr>
          <p:cNvSpPr txBox="1"/>
          <p:nvPr/>
        </p:nvSpPr>
        <p:spPr>
          <a:xfrm>
            <a:off x="499714" y="2060448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面向指令的目标检测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1C38758-8074-E685-59E8-9A83C2B215E4}"/>
              </a:ext>
            </a:extLst>
          </p:cNvPr>
          <p:cNvSpPr txBox="1"/>
          <p:nvPr/>
        </p:nvSpPr>
        <p:spPr>
          <a:xfrm>
            <a:off x="3913632" y="2060448"/>
            <a:ext cx="76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需要特定任务的训练数据，推理时间随时间显著增加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8EBAB41-330A-245B-3119-05E8F7574099}"/>
              </a:ext>
            </a:extLst>
          </p:cNvPr>
          <p:cNvSpPr txBox="1"/>
          <p:nvPr/>
        </p:nvSpPr>
        <p:spPr>
          <a:xfrm>
            <a:off x="499714" y="3273552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Open Vocabulary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方法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2E54380-1D63-6D87-66C7-560C1761B166}"/>
              </a:ext>
            </a:extLst>
          </p:cNvPr>
          <p:cNvSpPr txBox="1"/>
          <p:nvPr/>
        </p:nvSpPr>
        <p:spPr>
          <a:xfrm>
            <a:off x="3913632" y="3273552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许多开放词汇方法采用伪标签方法进行自训练，但对置信度阈值敏感，对伪标签质量敏感，并且需要预定义目标类别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438A2D-F130-6972-1188-94FB8168AAD5}"/>
              </a:ext>
            </a:extLst>
          </p:cNvPr>
          <p:cNvSpPr txBox="1"/>
          <p:nvPr/>
        </p:nvSpPr>
        <p:spPr>
          <a:xfrm>
            <a:off x="499714" y="5225320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chemeClr val="accent6">
                    <a:lumMod val="75000"/>
                  </a:schemeClr>
                </a:solidFill>
              </a:rPr>
              <a:t>Open Ended</a:t>
            </a:r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方法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B697C0C-ED2B-205B-24C4-040A4B8F5ADB}"/>
              </a:ext>
            </a:extLst>
          </p:cNvPr>
          <p:cNvSpPr txBox="1"/>
          <p:nvPr/>
        </p:nvSpPr>
        <p:spPr>
          <a:xfrm>
            <a:off x="3913632" y="5225320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需要训练的方法需要构建带有边界框和说明文本的数据集，这需要大量资源。现有免训练的方法的计算成本又比较高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B5CE568-7779-9BA3-A60B-0114A1CFC5F6}"/>
              </a:ext>
            </a:extLst>
          </p:cNvPr>
          <p:cNvSpPr txBox="1"/>
          <p:nvPr/>
        </p:nvSpPr>
        <p:spPr>
          <a:xfrm>
            <a:off x="2511394" y="7449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面向指令的目标检测与分割</a:t>
            </a:r>
          </a:p>
        </p:txBody>
      </p:sp>
    </p:spTree>
    <p:extLst>
      <p:ext uri="{BB962C8B-B14F-4D97-AF65-F5344CB8AC3E}">
        <p14:creationId xmlns:p14="http://schemas.microsoft.com/office/powerpoint/2010/main" val="35269270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079E3-1889-F454-C04B-982376FC8F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D26DA09-DD3B-7526-FBBD-AD7AB1044E3C}"/>
              </a:ext>
            </a:extLst>
          </p:cNvPr>
          <p:cNvSpPr txBox="1"/>
          <p:nvPr/>
        </p:nvSpPr>
        <p:spPr>
          <a:xfrm>
            <a:off x="499714" y="621792"/>
            <a:ext cx="192344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相关研究</a:t>
            </a:r>
            <a:endParaRPr lang="en-US" altLang="zh-CN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632240D-46C6-4097-D2C5-06836BE26064}"/>
              </a:ext>
            </a:extLst>
          </p:cNvPr>
          <p:cNvSpPr txBox="1"/>
          <p:nvPr/>
        </p:nvSpPr>
        <p:spPr>
          <a:xfrm>
            <a:off x="499714" y="2060448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遥感方向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9F9A6D8-2760-3FB3-9AA9-968B5B4223CA}"/>
              </a:ext>
            </a:extLst>
          </p:cNvPr>
          <p:cNvSpPr txBox="1"/>
          <p:nvPr/>
        </p:nvSpPr>
        <p:spPr>
          <a:xfrm>
            <a:off x="2609088" y="2060448"/>
            <a:ext cx="952211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人工注释训练集注释类别较少，对分布外和零样本场景无法有效支持。难以支持复杂推理指令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78B15C8-9A0F-3D67-6728-0357DF586456}"/>
              </a:ext>
            </a:extLst>
          </p:cNvPr>
          <p:cNvSpPr txBox="1"/>
          <p:nvPr/>
        </p:nvSpPr>
        <p:spPr>
          <a:xfrm>
            <a:off x="2511394" y="744902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面向指令的遥感目标检测与分割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F24BB6-6E8E-587D-9486-01E0B6033D94}"/>
              </a:ext>
            </a:extLst>
          </p:cNvPr>
          <p:cNvSpPr txBox="1"/>
          <p:nvPr/>
        </p:nvSpPr>
        <p:spPr>
          <a:xfrm>
            <a:off x="499714" y="4046619"/>
            <a:ext cx="341391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err="1">
                <a:solidFill>
                  <a:schemeClr val="accent5">
                    <a:lumMod val="75000"/>
                  </a:schemeClr>
                </a:solidFill>
              </a:rPr>
              <a:t>InstructSAM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30A0FAD-7C9B-B698-B307-1B046A395CBE}"/>
              </a:ext>
            </a:extLst>
          </p:cNvPr>
          <p:cNvSpPr txBox="1"/>
          <p:nvPr/>
        </p:nvSpPr>
        <p:spPr>
          <a:xfrm>
            <a:off x="2609088" y="4046619"/>
            <a:ext cx="7620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无需置信度阈值</a:t>
            </a:r>
            <a:endParaRPr lang="en-US" altLang="zh-CN" sz="2400" dirty="0"/>
          </a:p>
          <a:p>
            <a:r>
              <a:rPr lang="zh-CN" altLang="en-US" sz="2400" dirty="0"/>
              <a:t>不依赖特定任务微调或预训练</a:t>
            </a:r>
            <a:endParaRPr lang="en-US" altLang="zh-CN" sz="2400" dirty="0"/>
          </a:p>
          <a:p>
            <a:r>
              <a:rPr lang="zh-CN" altLang="en-US" sz="2400" dirty="0"/>
              <a:t>推理时间恒定，与对象数量无关</a:t>
            </a:r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29862CCE-2E06-E1A7-1A50-F5C1080DAA25}"/>
              </a:ext>
            </a:extLst>
          </p:cNvPr>
          <p:cNvCxnSpPr/>
          <p:nvPr/>
        </p:nvCxnSpPr>
        <p:spPr>
          <a:xfrm>
            <a:off x="597408" y="3584448"/>
            <a:ext cx="11228832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992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2514357-1E8D-1428-0CA4-D3395B2330D7}"/>
              </a:ext>
            </a:extLst>
          </p:cNvPr>
          <p:cNvSpPr txBox="1"/>
          <p:nvPr/>
        </p:nvSpPr>
        <p:spPr>
          <a:xfrm>
            <a:off x="617981" y="674483"/>
            <a:ext cx="103658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EarthInstruct</a:t>
            </a:r>
            <a:r>
              <a:rPr lang="en-US" altLang="zh-CN" sz="3200" dirty="0"/>
              <a:t> —— </a:t>
            </a:r>
            <a:r>
              <a:rPr lang="en-US" altLang="zh-CN" sz="3200" dirty="0" err="1"/>
              <a:t>InstructCDS</a:t>
            </a:r>
            <a:r>
              <a:rPr lang="zh-CN" altLang="en-US" sz="3200" dirty="0"/>
              <a:t>的数据基准</a:t>
            </a:r>
            <a:endParaRPr lang="en-US" altLang="zh-CN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637488-DA3A-5044-8B5E-C7459B73EE00}"/>
              </a:ext>
            </a:extLst>
          </p:cNvPr>
          <p:cNvSpPr txBox="1"/>
          <p:nvPr/>
        </p:nvSpPr>
        <p:spPr>
          <a:xfrm>
            <a:off x="1444247" y="1857989"/>
            <a:ext cx="3621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Open Vocabulary</a:t>
            </a:r>
            <a:endParaRPr lang="zh-CN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591B8DE9-BE33-F0AE-6699-2406EFB7A1FD}"/>
              </a:ext>
            </a:extLst>
          </p:cNvPr>
          <p:cNvSpPr txBox="1"/>
          <p:nvPr/>
        </p:nvSpPr>
        <p:spPr>
          <a:xfrm>
            <a:off x="5065271" y="1981099"/>
            <a:ext cx="534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用户指定类别进行计数，检测和分割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75A938C-6E6B-D34E-ADF0-EB21C9AB0CDA}"/>
              </a:ext>
            </a:extLst>
          </p:cNvPr>
          <p:cNvSpPr txBox="1"/>
          <p:nvPr/>
        </p:nvSpPr>
        <p:spPr>
          <a:xfrm>
            <a:off x="1444247" y="3034517"/>
            <a:ext cx="3621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Open Ended</a:t>
            </a:r>
            <a:endParaRPr lang="zh-CN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CE12405-91CA-1E49-7B14-9DDDA1ED5E32}"/>
              </a:ext>
            </a:extLst>
          </p:cNvPr>
          <p:cNvSpPr txBox="1"/>
          <p:nvPr/>
        </p:nvSpPr>
        <p:spPr>
          <a:xfrm>
            <a:off x="5065271" y="3157627"/>
            <a:ext cx="68519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不指定类别，对所有物体进行计数，检测和分割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0605DD-420E-ED4A-6707-08697FBEB94E}"/>
              </a:ext>
            </a:extLst>
          </p:cNvPr>
          <p:cNvSpPr txBox="1"/>
          <p:nvPr/>
        </p:nvSpPr>
        <p:spPr>
          <a:xfrm>
            <a:off x="1444247" y="4211045"/>
            <a:ext cx="36210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>
                <a:solidFill>
                  <a:schemeClr val="accent6">
                    <a:lumMod val="75000"/>
                  </a:schemeClr>
                </a:solidFill>
              </a:rPr>
              <a:t>Open Subclass</a:t>
            </a:r>
            <a:endParaRPr lang="zh-CN" altLang="en-US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5D67C7B-E92D-7272-557A-A1CD39DE7C30}"/>
              </a:ext>
            </a:extLst>
          </p:cNvPr>
          <p:cNvSpPr txBox="1"/>
          <p:nvPr/>
        </p:nvSpPr>
        <p:spPr>
          <a:xfrm>
            <a:off x="5065271" y="4334155"/>
            <a:ext cx="534009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在子类别中进行技术，检测和分割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A6C7084-8D70-70F4-655B-B3FA5B005207}"/>
              </a:ext>
            </a:extLst>
          </p:cNvPr>
          <p:cNvSpPr txBox="1"/>
          <p:nvPr/>
        </p:nvSpPr>
        <p:spPr>
          <a:xfrm>
            <a:off x="617981" y="2049631"/>
            <a:ext cx="6820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9C85C0">
                    <a:lumMod val="75000"/>
                  </a:srgbClr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三种不同设置</a:t>
            </a:r>
          </a:p>
        </p:txBody>
      </p:sp>
    </p:spTree>
    <p:extLst>
      <p:ext uri="{BB962C8B-B14F-4D97-AF65-F5344CB8AC3E}">
        <p14:creationId xmlns:p14="http://schemas.microsoft.com/office/powerpoint/2010/main" val="8298765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EF103343-D10F-8B2F-1DFB-4A734F35FFA5}"/>
              </a:ext>
            </a:extLst>
          </p:cNvPr>
          <p:cNvSpPr/>
          <p:nvPr/>
        </p:nvSpPr>
        <p:spPr>
          <a:xfrm>
            <a:off x="9098096" y="1663548"/>
            <a:ext cx="2269475" cy="4043190"/>
          </a:xfrm>
          <a:prstGeom prst="roundRect">
            <a:avLst/>
          </a:prstGeom>
          <a:noFill/>
          <a:ln w="38100"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BEB6985-FA8E-7CC6-9C5F-6E17BD58689A}"/>
              </a:ext>
            </a:extLst>
          </p:cNvPr>
          <p:cNvSpPr txBox="1"/>
          <p:nvPr/>
        </p:nvSpPr>
        <p:spPr>
          <a:xfrm>
            <a:off x="9219281" y="903905"/>
            <a:ext cx="20271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>
                <a:solidFill>
                  <a:schemeClr val="accent5">
                    <a:lumMod val="75000"/>
                  </a:schemeClr>
                </a:solidFill>
              </a:rPr>
              <a:t>EarthInstruct</a:t>
            </a:r>
            <a:endParaRPr lang="zh-CN" altLang="en-US" sz="2400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B565F4AE-227D-0C20-364F-0408F49CF9C6}"/>
              </a:ext>
            </a:extLst>
          </p:cNvPr>
          <p:cNvSpPr/>
          <p:nvPr/>
        </p:nvSpPr>
        <p:spPr>
          <a:xfrm>
            <a:off x="9219281" y="1837583"/>
            <a:ext cx="2027101" cy="167456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NWPU-VHR-10</a:t>
            </a:r>
            <a:endParaRPr lang="zh-CN" altLang="en-US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0F2D0A3-1E69-180E-A531-16C017048701}"/>
              </a:ext>
            </a:extLst>
          </p:cNvPr>
          <p:cNvSpPr/>
          <p:nvPr/>
        </p:nvSpPr>
        <p:spPr>
          <a:xfrm>
            <a:off x="9219282" y="3865209"/>
            <a:ext cx="2027101" cy="1674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DIOR</a:t>
            </a:r>
            <a:endParaRPr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FFB0AC8-33D3-EA73-0006-69D50ABC707D}"/>
              </a:ext>
            </a:extLst>
          </p:cNvPr>
          <p:cNvSpPr txBox="1"/>
          <p:nvPr/>
        </p:nvSpPr>
        <p:spPr>
          <a:xfrm>
            <a:off x="550843" y="952808"/>
            <a:ext cx="17498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数据集特点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ED81A86B-F206-BEFB-79CE-7B3642959B7B}"/>
              </a:ext>
            </a:extLst>
          </p:cNvPr>
          <p:cNvSpPr/>
          <p:nvPr/>
        </p:nvSpPr>
        <p:spPr>
          <a:xfrm>
            <a:off x="330504" y="1837582"/>
            <a:ext cx="2104221" cy="1674564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6">
                    <a:lumMod val="75000"/>
                  </a:schemeClr>
                </a:solidFill>
              </a:rPr>
              <a:t>NWPU-VHR-10</a:t>
            </a:r>
          </a:p>
          <a:p>
            <a:pPr algn="ctr"/>
            <a:r>
              <a:rPr lang="zh-CN" altLang="en-US" dirty="0"/>
              <a:t>超高分辨率</a:t>
            </a:r>
            <a:endParaRPr lang="en-US" altLang="zh-CN" dirty="0"/>
          </a:p>
          <a:p>
            <a:pPr algn="ctr"/>
            <a:r>
              <a:rPr lang="zh-CN" altLang="en-US" dirty="0"/>
              <a:t>训练有正负样本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567A4F3-5A19-F532-E67D-5C00F832BB5B}"/>
              </a:ext>
            </a:extLst>
          </p:cNvPr>
          <p:cNvSpPr/>
          <p:nvPr/>
        </p:nvSpPr>
        <p:spPr>
          <a:xfrm>
            <a:off x="330504" y="3865209"/>
            <a:ext cx="2104221" cy="167456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accent1">
                    <a:lumMod val="50000"/>
                  </a:schemeClr>
                </a:solidFill>
              </a:rPr>
              <a:t>DIOR</a:t>
            </a:r>
          </a:p>
          <a:p>
            <a:pPr algn="ctr"/>
            <a:r>
              <a:rPr lang="zh-CN" altLang="en-US" dirty="0"/>
              <a:t>样本数量多</a:t>
            </a:r>
            <a:endParaRPr lang="en-US" altLang="zh-CN" dirty="0"/>
          </a:p>
          <a:p>
            <a:pPr algn="ctr"/>
            <a:r>
              <a:rPr lang="zh-CN" altLang="en-US" dirty="0"/>
              <a:t>分辨率较低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D6B9881F-7140-CD04-36F1-2A49E338C042}"/>
              </a:ext>
            </a:extLst>
          </p:cNvPr>
          <p:cNvSpPr txBox="1"/>
          <p:nvPr/>
        </p:nvSpPr>
        <p:spPr>
          <a:xfrm>
            <a:off x="4538946" y="903904"/>
            <a:ext cx="3250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数据集存在的问题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C4EBC144-9AFB-412B-EEAA-400D265249DC}"/>
              </a:ext>
            </a:extLst>
          </p:cNvPr>
          <p:cNvSpPr txBox="1"/>
          <p:nvPr/>
        </p:nvSpPr>
        <p:spPr>
          <a:xfrm>
            <a:off x="3871508" y="1762812"/>
            <a:ext cx="413774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标注规则不统一 （低分辨率排除）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存在语义歧义（</a:t>
            </a:r>
            <a:r>
              <a:rPr lang="en-US" altLang="zh-CN" dirty="0"/>
              <a:t>overpass &amp; bridge</a:t>
            </a:r>
            <a:r>
              <a:rPr lang="zh-CN" altLang="en-US" dirty="0"/>
              <a:t>）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用户泛用性不佳</a:t>
            </a: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B4AE229B-F3BA-2B8E-1586-928ADFC33B22}"/>
              </a:ext>
            </a:extLst>
          </p:cNvPr>
          <p:cNvSpPr txBox="1"/>
          <p:nvPr/>
        </p:nvSpPr>
        <p:spPr>
          <a:xfrm>
            <a:off x="4316781" y="3771749"/>
            <a:ext cx="36355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强推理能力模型解释指令</a:t>
            </a:r>
            <a:endParaRPr lang="en-US" altLang="zh-CN" sz="2000" dirty="0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31C7883D-EFF6-9D2D-A8A9-C0764C147F5C}"/>
              </a:ext>
            </a:extLst>
          </p:cNvPr>
          <p:cNvSpPr txBox="1"/>
          <p:nvPr/>
        </p:nvSpPr>
        <p:spPr>
          <a:xfrm>
            <a:off x="5005788" y="3281314"/>
            <a:ext cx="22694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解决方法</a:t>
            </a:r>
          </a:p>
        </p:txBody>
      </p: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74CF32FE-2318-E368-58CD-02C638A5CCD4}"/>
              </a:ext>
            </a:extLst>
          </p:cNvPr>
          <p:cNvCxnSpPr>
            <a:stCxn id="8" idx="3"/>
            <a:endCxn id="5" idx="1"/>
          </p:cNvCxnSpPr>
          <p:nvPr/>
        </p:nvCxnSpPr>
        <p:spPr>
          <a:xfrm>
            <a:off x="2434725" y="4702491"/>
            <a:ext cx="6784557" cy="0"/>
          </a:xfrm>
          <a:prstGeom prst="straightConnector1">
            <a:avLst/>
          </a:prstGeom>
          <a:ln w="28575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连接符: 肘形 42">
            <a:extLst>
              <a:ext uri="{FF2B5EF4-FFF2-40B4-BE49-F238E27FC236}">
                <a16:creationId xmlns:a16="http://schemas.microsoft.com/office/drawing/2014/main" id="{BDECB853-25F1-2C07-2C70-428893A436A0}"/>
              </a:ext>
            </a:extLst>
          </p:cNvPr>
          <p:cNvCxnSpPr>
            <a:stCxn id="7" idx="3"/>
          </p:cNvCxnSpPr>
          <p:nvPr/>
        </p:nvCxnSpPr>
        <p:spPr>
          <a:xfrm>
            <a:off x="2434725" y="2674864"/>
            <a:ext cx="793217" cy="2027627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连接符: 肘形 43">
            <a:extLst>
              <a:ext uri="{FF2B5EF4-FFF2-40B4-BE49-F238E27FC236}">
                <a16:creationId xmlns:a16="http://schemas.microsoft.com/office/drawing/2014/main" id="{0A02EA14-7466-CCD2-06BB-7E7EA7D165D6}"/>
              </a:ext>
            </a:extLst>
          </p:cNvPr>
          <p:cNvCxnSpPr>
            <a:cxnSpLocks/>
            <a:endCxn id="4" idx="1"/>
          </p:cNvCxnSpPr>
          <p:nvPr/>
        </p:nvCxnSpPr>
        <p:spPr>
          <a:xfrm rot="5400000" flipH="1" flipV="1">
            <a:off x="7668593" y="3136720"/>
            <a:ext cx="2012542" cy="1088833"/>
          </a:xfrm>
          <a:prstGeom prst="bentConnector2">
            <a:avLst/>
          </a:prstGeom>
          <a:ln w="28575">
            <a:solidFill>
              <a:schemeClr val="accent5">
                <a:lumMod val="75000"/>
              </a:schemeClr>
            </a:solidFill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id="{8EB0AD59-161E-D12E-8011-6550D0D722D9}"/>
              </a:ext>
            </a:extLst>
          </p:cNvPr>
          <p:cNvSpPr txBox="1"/>
          <p:nvPr/>
        </p:nvSpPr>
        <p:spPr>
          <a:xfrm>
            <a:off x="4538946" y="4237120"/>
            <a:ext cx="26770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accent5">
                    <a:lumMod val="75000"/>
                  </a:schemeClr>
                </a:solidFill>
              </a:rPr>
              <a:t>统一的数据集与标准</a:t>
            </a:r>
          </a:p>
        </p:txBody>
      </p:sp>
    </p:spTree>
    <p:extLst>
      <p:ext uri="{BB962C8B-B14F-4D97-AF65-F5344CB8AC3E}">
        <p14:creationId xmlns:p14="http://schemas.microsoft.com/office/powerpoint/2010/main" val="29109320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B9EF5B5-673D-B7C9-1F1B-A81EFD346E59}"/>
              </a:ext>
            </a:extLst>
          </p:cNvPr>
          <p:cNvSpPr txBox="1"/>
          <p:nvPr/>
        </p:nvSpPr>
        <p:spPr>
          <a:xfrm>
            <a:off x="249997" y="962865"/>
            <a:ext cx="584600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传统数量评价指标无法区分过度计数和计数不足</a:t>
            </a:r>
            <a:endParaRPr lang="en-US" altLang="zh-CN" sz="2000" dirty="0"/>
          </a:p>
          <a:p>
            <a:r>
              <a:rPr lang="zh-CN" altLang="en-US" sz="2000" dirty="0"/>
              <a:t>未归一化，跨类别评价时，对数量敏感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8BC05F4-DFE1-74E7-969F-0873926BA518}"/>
              </a:ext>
            </a:extLst>
          </p:cNvPr>
          <p:cNvSpPr txBox="1"/>
          <p:nvPr/>
        </p:nvSpPr>
        <p:spPr>
          <a:xfrm>
            <a:off x="224291" y="284219"/>
            <a:ext cx="529515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InstructCDS</a:t>
            </a:r>
            <a:r>
              <a:rPr lang="zh-CN" altLang="en-US" sz="3200" dirty="0"/>
              <a:t>的评价指标</a:t>
            </a:r>
            <a:endParaRPr lang="en-US" altLang="zh-CN" sz="3200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0F01D2B-0355-B366-F7C2-0780E190DA8E}"/>
              </a:ext>
            </a:extLst>
          </p:cNvPr>
          <p:cNvSpPr txBox="1"/>
          <p:nvPr/>
        </p:nvSpPr>
        <p:spPr>
          <a:xfrm>
            <a:off x="2440094" y="2222980"/>
            <a:ext cx="420844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使用自定义的</a:t>
            </a:r>
            <a:endParaRPr lang="en-US" altLang="zh-CN" sz="2000" dirty="0"/>
          </a:p>
          <a:p>
            <a:r>
              <a:rPr lang="en-US" altLang="zh-CN" sz="2000" dirty="0"/>
              <a:t>precise</a:t>
            </a:r>
            <a:r>
              <a:rPr lang="zh-CN" altLang="en-US" sz="2000" dirty="0"/>
              <a:t>，</a:t>
            </a:r>
            <a:r>
              <a:rPr lang="en-US" altLang="zh-CN" sz="2000" dirty="0"/>
              <a:t>recall</a:t>
            </a:r>
            <a:r>
              <a:rPr lang="zh-CN" altLang="en-US" sz="2000" dirty="0"/>
              <a:t>，</a:t>
            </a:r>
            <a:r>
              <a:rPr lang="en-US" altLang="zh-CN" sz="2000" dirty="0"/>
              <a:t>F1-score</a:t>
            </a:r>
            <a:endParaRPr lang="zh-CN" altLang="en-US" sz="2000" dirty="0"/>
          </a:p>
        </p:txBody>
      </p:sp>
      <p:sp>
        <p:nvSpPr>
          <p:cNvPr id="8" name="箭头: 直角上 7">
            <a:extLst>
              <a:ext uri="{FF2B5EF4-FFF2-40B4-BE49-F238E27FC236}">
                <a16:creationId xmlns:a16="http://schemas.microsoft.com/office/drawing/2014/main" id="{FA68ACC2-5D84-63E2-12D2-91783126BFA7}"/>
              </a:ext>
            </a:extLst>
          </p:cNvPr>
          <p:cNvSpPr/>
          <p:nvPr/>
        </p:nvSpPr>
        <p:spPr>
          <a:xfrm rot="5400000">
            <a:off x="1179206" y="1638793"/>
            <a:ext cx="726186" cy="1439659"/>
          </a:xfrm>
          <a:prstGeom prst="bentUpArrow">
            <a:avLst>
              <a:gd name="adj1" fmla="val 10460"/>
              <a:gd name="adj2" fmla="val 16582"/>
              <a:gd name="adj3" fmla="val 2576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BD1423D-2309-F3B4-A9E5-7C6D61E8346F}"/>
              </a:ext>
            </a:extLst>
          </p:cNvPr>
          <p:cNvSpPr txBox="1"/>
          <p:nvPr/>
        </p:nvSpPr>
        <p:spPr>
          <a:xfrm>
            <a:off x="6826504" y="1185197"/>
            <a:ext cx="299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TP</a:t>
            </a:r>
            <a:r>
              <a:rPr lang="en-US" altLang="zh-CN" dirty="0"/>
              <a:t> = min(</a:t>
            </a:r>
            <a:r>
              <a:rPr lang="en-US" altLang="zh-CN" b="1" dirty="0" err="1"/>
              <a:t>C</a:t>
            </a:r>
            <a:r>
              <a:rPr lang="en-US" altLang="zh-CN" dirty="0" err="1"/>
              <a:t>gt</a:t>
            </a:r>
            <a:r>
              <a:rPr lang="en-US" altLang="zh-CN" dirty="0"/>
              <a:t>, </a:t>
            </a:r>
            <a:r>
              <a:rPr lang="en-US" altLang="zh-CN" b="1" dirty="0" err="1"/>
              <a:t>C</a:t>
            </a:r>
            <a:r>
              <a:rPr lang="en-US" altLang="zh-CN" dirty="0" err="1"/>
              <a:t>pred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F0892AA-D14D-8052-EE9B-D2EB0DCC6E3E}"/>
              </a:ext>
            </a:extLst>
          </p:cNvPr>
          <p:cNvSpPr txBox="1"/>
          <p:nvPr/>
        </p:nvSpPr>
        <p:spPr>
          <a:xfrm>
            <a:off x="6826504" y="1679252"/>
            <a:ext cx="299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FP</a:t>
            </a:r>
            <a:r>
              <a:rPr lang="en-US" altLang="zh-CN" dirty="0"/>
              <a:t> = max(0, </a:t>
            </a:r>
            <a:r>
              <a:rPr lang="en-US" altLang="zh-CN" b="1" dirty="0" err="1"/>
              <a:t>C</a:t>
            </a:r>
            <a:r>
              <a:rPr lang="en-US" altLang="zh-CN" dirty="0" err="1"/>
              <a:t>pred</a:t>
            </a:r>
            <a:r>
              <a:rPr lang="en-US" altLang="zh-CN" dirty="0"/>
              <a:t> - </a:t>
            </a:r>
            <a:r>
              <a:rPr lang="en-US" altLang="zh-CN" b="1" dirty="0" err="1"/>
              <a:t>C</a:t>
            </a:r>
            <a:r>
              <a:rPr lang="en-US" altLang="zh-CN" dirty="0" err="1"/>
              <a:t>gt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5001839-9FAA-F277-92F5-DCF183094158}"/>
              </a:ext>
            </a:extLst>
          </p:cNvPr>
          <p:cNvSpPr txBox="1"/>
          <p:nvPr/>
        </p:nvSpPr>
        <p:spPr>
          <a:xfrm>
            <a:off x="6826504" y="2173307"/>
            <a:ext cx="2996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FN</a:t>
            </a:r>
            <a:r>
              <a:rPr lang="en-US" altLang="zh-CN" dirty="0"/>
              <a:t> = max(0,</a:t>
            </a:r>
            <a:r>
              <a:rPr lang="zh-CN" altLang="en-US" dirty="0"/>
              <a:t> </a:t>
            </a:r>
            <a:r>
              <a:rPr lang="en-US" altLang="zh-CN" b="1" dirty="0" err="1"/>
              <a:t>C</a:t>
            </a:r>
            <a:r>
              <a:rPr lang="en-US" altLang="zh-CN" dirty="0" err="1"/>
              <a:t>gt</a:t>
            </a:r>
            <a:r>
              <a:rPr lang="en-US" altLang="zh-CN" dirty="0"/>
              <a:t> - </a:t>
            </a:r>
            <a:r>
              <a:rPr lang="en-US" altLang="zh-CN" b="1" dirty="0" err="1"/>
              <a:t>C</a:t>
            </a:r>
            <a:r>
              <a:rPr lang="en-US" altLang="zh-CN" dirty="0" err="1"/>
              <a:t>pred</a:t>
            </a:r>
            <a:r>
              <a:rPr lang="en-US" altLang="zh-CN" dirty="0"/>
              <a:t>)</a:t>
            </a:r>
            <a:endParaRPr lang="zh-CN" altLang="en-US" dirty="0"/>
          </a:p>
        </p:txBody>
      </p:sp>
      <p:sp>
        <p:nvSpPr>
          <p:cNvPr id="12" name="右大括号 11">
            <a:extLst>
              <a:ext uri="{FF2B5EF4-FFF2-40B4-BE49-F238E27FC236}">
                <a16:creationId xmlns:a16="http://schemas.microsoft.com/office/drawing/2014/main" id="{0988BE66-CC1A-69A9-F447-4A6E5B0D4336}"/>
              </a:ext>
            </a:extLst>
          </p:cNvPr>
          <p:cNvSpPr/>
          <p:nvPr/>
        </p:nvSpPr>
        <p:spPr>
          <a:xfrm>
            <a:off x="9823092" y="1185197"/>
            <a:ext cx="304677" cy="909902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18C33F5-30C1-6089-379D-CC5E33DE97E0}"/>
              </a:ext>
            </a:extLst>
          </p:cNvPr>
          <p:cNvSpPr txBox="1"/>
          <p:nvPr/>
        </p:nvSpPr>
        <p:spPr>
          <a:xfrm>
            <a:off x="10215904" y="1387711"/>
            <a:ext cx="122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过度计数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C5E90333-2A30-F4D4-6876-A743440A07BA}"/>
              </a:ext>
            </a:extLst>
          </p:cNvPr>
          <p:cNvSpPr txBox="1"/>
          <p:nvPr/>
        </p:nvSpPr>
        <p:spPr>
          <a:xfrm>
            <a:off x="10215904" y="2171928"/>
            <a:ext cx="12266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计数不足</a:t>
            </a:r>
          </a:p>
        </p:txBody>
      </p:sp>
      <p:sp>
        <p:nvSpPr>
          <p:cNvPr id="15" name="箭头: 直角上 14">
            <a:extLst>
              <a:ext uri="{FF2B5EF4-FFF2-40B4-BE49-F238E27FC236}">
                <a16:creationId xmlns:a16="http://schemas.microsoft.com/office/drawing/2014/main" id="{1A413BDC-D337-80A5-67AE-E4F14C72008D}"/>
              </a:ext>
            </a:extLst>
          </p:cNvPr>
          <p:cNvSpPr/>
          <p:nvPr/>
        </p:nvSpPr>
        <p:spPr>
          <a:xfrm rot="5400000" flipH="1">
            <a:off x="5515617" y="1179249"/>
            <a:ext cx="628401" cy="1737113"/>
          </a:xfrm>
          <a:prstGeom prst="bentUpArrow">
            <a:avLst>
              <a:gd name="adj1" fmla="val 10460"/>
              <a:gd name="adj2" fmla="val 16582"/>
              <a:gd name="adj3" fmla="val 2576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D755DF5-6A68-038B-1396-F581EC3F20D8}"/>
              </a:ext>
            </a:extLst>
          </p:cNvPr>
          <p:cNvSpPr txBox="1"/>
          <p:nvPr/>
        </p:nvSpPr>
        <p:spPr>
          <a:xfrm>
            <a:off x="249997" y="3211091"/>
            <a:ext cx="5846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LVLM</a:t>
            </a:r>
            <a:r>
              <a:rPr lang="zh-CN" altLang="en-US" sz="2000" dirty="0"/>
              <a:t>模型输出无置信度指标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A9D96E8C-C31A-4297-3926-81A43FCDC9C2}"/>
              </a:ext>
            </a:extLst>
          </p:cNvPr>
          <p:cNvSpPr txBox="1"/>
          <p:nvPr/>
        </p:nvSpPr>
        <p:spPr>
          <a:xfrm>
            <a:off x="2366051" y="3889812"/>
            <a:ext cx="505145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mean F1-score</a:t>
            </a:r>
          </a:p>
          <a:p>
            <a:r>
              <a:rPr lang="en-US" altLang="zh-CN" sz="2000" dirty="0"/>
              <a:t>mean Average Precision (no confidence)</a:t>
            </a:r>
          </a:p>
        </p:txBody>
      </p:sp>
      <p:sp>
        <p:nvSpPr>
          <p:cNvPr id="18" name="箭头: 直角上 17">
            <a:extLst>
              <a:ext uri="{FF2B5EF4-FFF2-40B4-BE49-F238E27FC236}">
                <a16:creationId xmlns:a16="http://schemas.microsoft.com/office/drawing/2014/main" id="{F8B964A6-0135-F0B7-9970-5B4555C78BA7}"/>
              </a:ext>
            </a:extLst>
          </p:cNvPr>
          <p:cNvSpPr/>
          <p:nvPr/>
        </p:nvSpPr>
        <p:spPr>
          <a:xfrm rot="5400000">
            <a:off x="1172077" y="3426592"/>
            <a:ext cx="740445" cy="1439659"/>
          </a:xfrm>
          <a:prstGeom prst="bentUpArrow">
            <a:avLst>
              <a:gd name="adj1" fmla="val 10460"/>
              <a:gd name="adj2" fmla="val 16582"/>
              <a:gd name="adj3" fmla="val 2576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右大括号 21">
            <a:extLst>
              <a:ext uri="{FF2B5EF4-FFF2-40B4-BE49-F238E27FC236}">
                <a16:creationId xmlns:a16="http://schemas.microsoft.com/office/drawing/2014/main" id="{4A8728B0-27E4-72A1-E1C1-E017088C99A0}"/>
              </a:ext>
            </a:extLst>
          </p:cNvPr>
          <p:cNvSpPr/>
          <p:nvPr/>
        </p:nvSpPr>
        <p:spPr>
          <a:xfrm>
            <a:off x="7417505" y="3795941"/>
            <a:ext cx="304677" cy="740446"/>
          </a:xfrm>
          <a:prstGeom prst="rightBrac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589D08A-F84B-F05B-428E-795DDC3C399E}"/>
              </a:ext>
            </a:extLst>
          </p:cNvPr>
          <p:cNvSpPr txBox="1"/>
          <p:nvPr/>
        </p:nvSpPr>
        <p:spPr>
          <a:xfrm>
            <a:off x="7935412" y="3981498"/>
            <a:ext cx="42783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对无置信度模型可直接计算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B1037603-664E-2707-36C7-2130843D0F3E}"/>
              </a:ext>
            </a:extLst>
          </p:cNvPr>
          <p:cNvSpPr txBox="1"/>
          <p:nvPr/>
        </p:nvSpPr>
        <p:spPr>
          <a:xfrm>
            <a:off x="2313256" y="4597698"/>
            <a:ext cx="723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对传统检测器</a:t>
            </a:r>
            <a:r>
              <a:rPr lang="en-US" altLang="zh-CN" dirty="0"/>
              <a:t>(</a:t>
            </a:r>
            <a:r>
              <a:rPr lang="zh-CN" altLang="en-US" dirty="0"/>
              <a:t>有置信度</a:t>
            </a:r>
            <a:r>
              <a:rPr lang="en-US" altLang="zh-CN" dirty="0"/>
              <a:t>)</a:t>
            </a:r>
            <a:r>
              <a:rPr lang="zh-CN" altLang="en-US" dirty="0"/>
              <a:t>，选择使得</a:t>
            </a:r>
            <a:r>
              <a:rPr lang="en-US" altLang="zh-CN" dirty="0"/>
              <a:t>mF1</a:t>
            </a:r>
            <a:r>
              <a:rPr lang="zh-CN" altLang="en-US" dirty="0"/>
              <a:t>最大的阈值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F6C6B831-0300-C6DD-E1EC-1392613B0D6D}"/>
              </a:ext>
            </a:extLst>
          </p:cNvPr>
          <p:cNvSpPr txBox="1"/>
          <p:nvPr/>
        </p:nvSpPr>
        <p:spPr>
          <a:xfrm>
            <a:off x="224292" y="5282156"/>
            <a:ext cx="5846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Open Ended &amp; Open Subclass</a:t>
            </a:r>
            <a:r>
              <a:rPr lang="zh-CN" altLang="en-US" sz="2000" dirty="0"/>
              <a:t>评估设置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9789C6E0-4383-B416-C35F-D922F96ACA8B}"/>
              </a:ext>
            </a:extLst>
          </p:cNvPr>
          <p:cNvSpPr txBox="1"/>
          <p:nvPr/>
        </p:nvSpPr>
        <p:spPr>
          <a:xfrm>
            <a:off x="2340346" y="6247723"/>
            <a:ext cx="50514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使用语义相似度匹配</a:t>
            </a:r>
          </a:p>
        </p:txBody>
      </p:sp>
      <p:sp>
        <p:nvSpPr>
          <p:cNvPr id="28" name="箭头: 直角上 27">
            <a:extLst>
              <a:ext uri="{FF2B5EF4-FFF2-40B4-BE49-F238E27FC236}">
                <a16:creationId xmlns:a16="http://schemas.microsoft.com/office/drawing/2014/main" id="{677345F2-E9E0-5F45-366A-33545ACF1EE1}"/>
              </a:ext>
            </a:extLst>
          </p:cNvPr>
          <p:cNvSpPr/>
          <p:nvPr/>
        </p:nvSpPr>
        <p:spPr>
          <a:xfrm rot="5400000">
            <a:off x="1146372" y="5497657"/>
            <a:ext cx="740445" cy="1439659"/>
          </a:xfrm>
          <a:prstGeom prst="bentUpArrow">
            <a:avLst>
              <a:gd name="adj1" fmla="val 10460"/>
              <a:gd name="adj2" fmla="val 16582"/>
              <a:gd name="adj3" fmla="val 2576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960BFF8-B187-9082-F79F-C1B4CD07570E}"/>
              </a:ext>
            </a:extLst>
          </p:cNvPr>
          <p:cNvSpPr txBox="1"/>
          <p:nvPr/>
        </p:nvSpPr>
        <p:spPr>
          <a:xfrm>
            <a:off x="6826504" y="5470289"/>
            <a:ext cx="505145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使用</a:t>
            </a:r>
            <a:r>
              <a:rPr lang="en-US" altLang="zh-CN" dirty="0" err="1"/>
              <a:t>GeoRSCLIP</a:t>
            </a:r>
            <a:r>
              <a:rPr lang="zh-CN" altLang="en-US" dirty="0"/>
              <a:t>的</a:t>
            </a:r>
            <a:r>
              <a:rPr lang="en-US" altLang="zh-CN" dirty="0" err="1"/>
              <a:t>TextEncoder</a:t>
            </a:r>
            <a:endParaRPr lang="en-US" altLang="zh-CN" dirty="0"/>
          </a:p>
          <a:p>
            <a:r>
              <a:rPr lang="zh-CN" altLang="en-US" dirty="0"/>
              <a:t>使用模板</a:t>
            </a:r>
            <a:r>
              <a:rPr lang="en-US" altLang="zh-CN" dirty="0"/>
              <a:t>{a satellite image of a {</a:t>
            </a:r>
            <a:r>
              <a:rPr lang="en-US" altLang="zh-CN" dirty="0" err="1"/>
              <a:t>catagory</a:t>
            </a:r>
            <a:r>
              <a:rPr lang="en-US" altLang="zh-CN" dirty="0"/>
              <a:t>}}</a:t>
            </a:r>
            <a:r>
              <a:rPr lang="zh-CN" altLang="en-US" dirty="0"/>
              <a:t>模板</a:t>
            </a:r>
            <a:endParaRPr lang="en-US" altLang="zh-CN" dirty="0"/>
          </a:p>
          <a:p>
            <a:r>
              <a:rPr lang="zh-CN" altLang="en-US" dirty="0"/>
              <a:t>计算余弦相似度</a:t>
            </a:r>
          </a:p>
        </p:txBody>
      </p:sp>
      <p:sp>
        <p:nvSpPr>
          <p:cNvPr id="32" name="箭头: 直角上 31">
            <a:extLst>
              <a:ext uri="{FF2B5EF4-FFF2-40B4-BE49-F238E27FC236}">
                <a16:creationId xmlns:a16="http://schemas.microsoft.com/office/drawing/2014/main" id="{FE470179-C461-672E-C8DB-F4D19E6EE904}"/>
              </a:ext>
            </a:extLst>
          </p:cNvPr>
          <p:cNvSpPr/>
          <p:nvPr/>
        </p:nvSpPr>
        <p:spPr>
          <a:xfrm rot="5400000" flipH="1">
            <a:off x="5515616" y="5265021"/>
            <a:ext cx="628401" cy="1737113"/>
          </a:xfrm>
          <a:prstGeom prst="bentUpArrow">
            <a:avLst>
              <a:gd name="adj1" fmla="val 10460"/>
              <a:gd name="adj2" fmla="val 16582"/>
              <a:gd name="adj3" fmla="val 25765"/>
            </a:avLst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9E78CC5-3CA5-9DD0-0FB3-632A3C43200D}"/>
              </a:ext>
            </a:extLst>
          </p:cNvPr>
          <p:cNvCxnSpPr>
            <a:cxnSpLocks/>
          </p:cNvCxnSpPr>
          <p:nvPr/>
        </p:nvCxnSpPr>
        <p:spPr>
          <a:xfrm>
            <a:off x="341523" y="3062059"/>
            <a:ext cx="111010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6EE4A542-54A3-30A0-6646-88085920B428}"/>
              </a:ext>
            </a:extLst>
          </p:cNvPr>
          <p:cNvCxnSpPr>
            <a:cxnSpLocks/>
          </p:cNvCxnSpPr>
          <p:nvPr/>
        </p:nvCxnSpPr>
        <p:spPr>
          <a:xfrm>
            <a:off x="341523" y="5142410"/>
            <a:ext cx="11101048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84829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5447878-4B58-7149-14F5-E5F4687A21C2}"/>
              </a:ext>
            </a:extLst>
          </p:cNvPr>
          <p:cNvSpPr txBox="1"/>
          <p:nvPr/>
        </p:nvSpPr>
        <p:spPr>
          <a:xfrm>
            <a:off x="433611" y="372354"/>
            <a:ext cx="3556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 err="1"/>
              <a:t>InstructSAM</a:t>
            </a:r>
            <a:endParaRPr lang="en-US" altLang="zh-CN" sz="32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43E44DA-D29E-EAA9-8B28-2954ED30AD0C}"/>
              </a:ext>
            </a:extLst>
          </p:cNvPr>
          <p:cNvSpPr txBox="1"/>
          <p:nvPr/>
        </p:nvSpPr>
        <p:spPr>
          <a:xfrm>
            <a:off x="721817" y="1355070"/>
            <a:ext cx="252286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准确理解指令难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4CF310D-69A6-68D8-F484-DD61BA2F8A16}"/>
              </a:ext>
            </a:extLst>
          </p:cNvPr>
          <p:cNvSpPr txBox="1"/>
          <p:nvPr/>
        </p:nvSpPr>
        <p:spPr>
          <a:xfrm>
            <a:off x="4664865" y="1355070"/>
            <a:ext cx="2862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模型跨领域迁移难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DBF7DBB-C45A-4A84-0971-36F8B7A7F6BB}"/>
              </a:ext>
            </a:extLst>
          </p:cNvPr>
          <p:cNvSpPr txBox="1"/>
          <p:nvPr/>
        </p:nvSpPr>
        <p:spPr>
          <a:xfrm>
            <a:off x="8875921" y="1355070"/>
            <a:ext cx="28622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/>
              <a:t>指定合适阈值难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09906A2-EF31-F956-B906-4EFB7440030D}"/>
              </a:ext>
            </a:extLst>
          </p:cNvPr>
          <p:cNvSpPr txBox="1"/>
          <p:nvPr/>
        </p:nvSpPr>
        <p:spPr>
          <a:xfrm>
            <a:off x="433611" y="2203937"/>
            <a:ext cx="309927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6">
                    <a:lumMod val="75000"/>
                  </a:schemeClr>
                </a:solidFill>
              </a:rPr>
              <a:t>需要模型规范化输出</a:t>
            </a:r>
            <a:endParaRPr lang="en-US" altLang="zh-CN" sz="24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C3F085A-4532-7DC0-1568-D49B9918A83B}"/>
              </a:ext>
            </a:extLst>
          </p:cNvPr>
          <p:cNvSpPr txBox="1"/>
          <p:nvPr/>
        </p:nvSpPr>
        <p:spPr>
          <a:xfrm>
            <a:off x="4448059" y="2225926"/>
            <a:ext cx="32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寻找免训练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(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微调</a:t>
            </a:r>
            <a:r>
              <a:rPr lang="en-US" altLang="zh-CN" sz="2400" dirty="0">
                <a:solidFill>
                  <a:schemeClr val="accent1">
                    <a:lumMod val="75000"/>
                  </a:schemeClr>
                </a:solidFill>
              </a:rPr>
              <a:t>)</a:t>
            </a:r>
            <a:r>
              <a:rPr lang="zh-CN" altLang="en-US" sz="2400" dirty="0">
                <a:solidFill>
                  <a:schemeClr val="accent1">
                    <a:lumMod val="75000"/>
                  </a:schemeClr>
                </a:solidFill>
              </a:rPr>
              <a:t>方法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DB5F369C-0A99-A3F0-175A-1B24B8D5E934}"/>
              </a:ext>
            </a:extLst>
          </p:cNvPr>
          <p:cNvSpPr txBox="1"/>
          <p:nvPr/>
        </p:nvSpPr>
        <p:spPr>
          <a:xfrm>
            <a:off x="8659115" y="2214671"/>
            <a:ext cx="3295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400" dirty="0">
                <a:solidFill>
                  <a:schemeClr val="bg2">
                    <a:lumMod val="50000"/>
                  </a:schemeClr>
                </a:solidFill>
              </a:rPr>
              <a:t>寻找全局最优分配方案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26A4EF5-93A4-3BCE-D638-8E954A567C15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 flipH="1">
            <a:off x="1983248" y="1816735"/>
            <a:ext cx="1" cy="38720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0AB75902-5B80-B9A0-3DB5-F94EC3E8326E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flipH="1">
            <a:off x="6095999" y="1816735"/>
            <a:ext cx="1" cy="40919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EA2E8AA4-086E-5CFE-0E5A-BF937A6ACBA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 flipH="1">
            <a:off x="10307055" y="1816735"/>
            <a:ext cx="1" cy="39793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8" name="文本框 17">
            <a:extLst>
              <a:ext uri="{FF2B5EF4-FFF2-40B4-BE49-F238E27FC236}">
                <a16:creationId xmlns:a16="http://schemas.microsoft.com/office/drawing/2014/main" id="{7A88084F-8878-0159-C570-3830FA633D82}"/>
              </a:ext>
            </a:extLst>
          </p:cNvPr>
          <p:cNvSpPr txBox="1"/>
          <p:nvPr/>
        </p:nvSpPr>
        <p:spPr>
          <a:xfrm>
            <a:off x="1299827" y="3833803"/>
            <a:ext cx="228049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dirty="0"/>
              <a:t>设计提示词工程</a:t>
            </a:r>
            <a:endParaRPr lang="en-US" altLang="zh-CN" sz="2000" dirty="0"/>
          </a:p>
          <a:p>
            <a:pPr algn="ctr"/>
            <a:r>
              <a:rPr lang="zh-CN" altLang="en-US" sz="2000" dirty="0"/>
              <a:t>使用先进的</a:t>
            </a:r>
            <a:r>
              <a:rPr lang="en-US" altLang="zh-CN" sz="2000" dirty="0"/>
              <a:t>LVLM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0E1A66AD-614A-F931-5BE7-5C7E6D3ABADB}"/>
              </a:ext>
            </a:extLst>
          </p:cNvPr>
          <p:cNvSpPr txBox="1"/>
          <p:nvPr/>
        </p:nvSpPr>
        <p:spPr>
          <a:xfrm>
            <a:off x="1759392" y="4786392"/>
            <a:ext cx="1361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SAM2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39545D9-CC29-8174-D493-7C1EC17C9F3A}"/>
              </a:ext>
            </a:extLst>
          </p:cNvPr>
          <p:cNvSpPr txBox="1"/>
          <p:nvPr/>
        </p:nvSpPr>
        <p:spPr>
          <a:xfrm>
            <a:off x="3989711" y="4003079"/>
            <a:ext cx="171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对象列表</a:t>
            </a:r>
            <a:r>
              <a:rPr lang="en-US" altLang="zh-CN" dirty="0"/>
              <a:t>&amp;</a:t>
            </a:r>
            <a:r>
              <a:rPr lang="zh-CN" altLang="en-US" dirty="0"/>
              <a:t>数量</a:t>
            </a:r>
            <a:endParaRPr lang="en-US" altLang="zh-CN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FA397A17-A6E5-7633-C5E6-76609CBAB488}"/>
              </a:ext>
            </a:extLst>
          </p:cNvPr>
          <p:cNvSpPr txBox="1"/>
          <p:nvPr/>
        </p:nvSpPr>
        <p:spPr>
          <a:xfrm>
            <a:off x="3989711" y="4817169"/>
            <a:ext cx="18091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高质量候选目标</a:t>
            </a:r>
            <a:endParaRPr lang="en-US" altLang="zh-CN" dirty="0"/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0EC975E0-50B2-2176-2D54-BB23C547FBB6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760956" y="4187746"/>
            <a:ext cx="538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3468BC6F-57E7-C550-39C9-01EB1B96ADCC}"/>
              </a:ext>
            </a:extLst>
          </p:cNvPr>
          <p:cNvCxnSpPr>
            <a:cxnSpLocks/>
          </p:cNvCxnSpPr>
          <p:nvPr/>
        </p:nvCxnSpPr>
        <p:spPr>
          <a:xfrm>
            <a:off x="763956" y="4956071"/>
            <a:ext cx="535871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05CCF6A0-E60C-7800-1DC8-6ADD61C1C356}"/>
              </a:ext>
            </a:extLst>
          </p:cNvPr>
          <p:cNvCxnSpPr>
            <a:cxnSpLocks/>
            <a:stCxn id="18" idx="3"/>
            <a:endCxn id="24" idx="1"/>
          </p:cNvCxnSpPr>
          <p:nvPr/>
        </p:nvCxnSpPr>
        <p:spPr>
          <a:xfrm flipV="1">
            <a:off x="3580318" y="4187745"/>
            <a:ext cx="409393" cy="1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0E8E6A83-6451-871B-CAFC-1197479DBD6A}"/>
              </a:ext>
            </a:extLst>
          </p:cNvPr>
          <p:cNvCxnSpPr>
            <a:cxnSpLocks/>
            <a:endCxn id="25" idx="1"/>
          </p:cNvCxnSpPr>
          <p:nvPr/>
        </p:nvCxnSpPr>
        <p:spPr>
          <a:xfrm>
            <a:off x="3580318" y="5001835"/>
            <a:ext cx="40939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8" name="矩形: 圆角 37">
            <a:extLst>
              <a:ext uri="{FF2B5EF4-FFF2-40B4-BE49-F238E27FC236}">
                <a16:creationId xmlns:a16="http://schemas.microsoft.com/office/drawing/2014/main" id="{CDF9606A-6418-BA13-A3F8-74E3FD3C20A7}"/>
              </a:ext>
            </a:extLst>
          </p:cNvPr>
          <p:cNvSpPr/>
          <p:nvPr/>
        </p:nvSpPr>
        <p:spPr>
          <a:xfrm>
            <a:off x="6237327" y="3811771"/>
            <a:ext cx="1717247" cy="172181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64E2D712-BABC-F079-0B44-D9EF436B287A}"/>
              </a:ext>
            </a:extLst>
          </p:cNvPr>
          <p:cNvSpPr txBox="1"/>
          <p:nvPr/>
        </p:nvSpPr>
        <p:spPr>
          <a:xfrm>
            <a:off x="6415269" y="5626842"/>
            <a:ext cx="1361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CLIP</a:t>
            </a: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5846DC1-F369-318A-F446-1658F280FF9C}"/>
              </a:ext>
            </a:extLst>
          </p:cNvPr>
          <p:cNvSpPr txBox="1"/>
          <p:nvPr/>
        </p:nvSpPr>
        <p:spPr>
          <a:xfrm>
            <a:off x="6118339" y="4030017"/>
            <a:ext cx="18693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TextEncoder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22226065-4A02-5E27-084F-6898499CC25A}"/>
              </a:ext>
            </a:extLst>
          </p:cNvPr>
          <p:cNvSpPr txBox="1"/>
          <p:nvPr/>
        </p:nvSpPr>
        <p:spPr>
          <a:xfrm>
            <a:off x="6059193" y="4851280"/>
            <a:ext cx="20761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>
                <a:solidFill>
                  <a:prstClr val="black"/>
                </a:solidFill>
                <a:latin typeface="Rockwell" panose="02060603020205020403"/>
                <a:ea typeface="方正姚体" panose="02010601030101010101" pitchFamily="2" charset="-122"/>
              </a:rPr>
              <a:t>Image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Encoder</a:t>
            </a:r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80797626-E48D-93E0-447E-F966F2F49E68}"/>
              </a:ext>
            </a:extLst>
          </p:cNvPr>
          <p:cNvCxnSpPr>
            <a:cxnSpLocks/>
            <a:endCxn id="18" idx="1"/>
          </p:cNvCxnSpPr>
          <p:nvPr/>
        </p:nvCxnSpPr>
        <p:spPr>
          <a:xfrm flipV="1">
            <a:off x="760956" y="4187746"/>
            <a:ext cx="538871" cy="768325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直接箭头连接符 66">
            <a:extLst>
              <a:ext uri="{FF2B5EF4-FFF2-40B4-BE49-F238E27FC236}">
                <a16:creationId xmlns:a16="http://schemas.microsoft.com/office/drawing/2014/main" id="{E5F0D69B-E9DA-8E8D-7C55-44A367346102}"/>
              </a:ext>
            </a:extLst>
          </p:cNvPr>
          <p:cNvCxnSpPr>
            <a:cxnSpLocks/>
          </p:cNvCxnSpPr>
          <p:nvPr/>
        </p:nvCxnSpPr>
        <p:spPr>
          <a:xfrm>
            <a:off x="5697982" y="4187745"/>
            <a:ext cx="47985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B411396F-9232-B42D-25BD-EF77EBF67CB0}"/>
              </a:ext>
            </a:extLst>
          </p:cNvPr>
          <p:cNvCxnSpPr>
            <a:cxnSpLocks/>
          </p:cNvCxnSpPr>
          <p:nvPr/>
        </p:nvCxnSpPr>
        <p:spPr>
          <a:xfrm>
            <a:off x="5697982" y="5001835"/>
            <a:ext cx="479853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aphicFrame>
        <p:nvGraphicFramePr>
          <p:cNvPr id="79" name="表格 78">
            <a:extLst>
              <a:ext uri="{FF2B5EF4-FFF2-40B4-BE49-F238E27FC236}">
                <a16:creationId xmlns:a16="http://schemas.microsoft.com/office/drawing/2014/main" id="{CFF8D6BF-98B5-0216-55F0-490BA0E583BA}"/>
              </a:ext>
            </a:extLst>
          </p:cNvPr>
          <p:cNvGraphicFramePr>
            <a:graphicFrameLocks noGrp="1"/>
          </p:cNvGraphicFramePr>
          <p:nvPr/>
        </p:nvGraphicFramePr>
        <p:xfrm>
          <a:off x="8393034" y="4128926"/>
          <a:ext cx="1108641" cy="11074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9547">
                  <a:extLst>
                    <a:ext uri="{9D8B030D-6E8A-4147-A177-3AD203B41FA5}">
                      <a16:colId xmlns:a16="http://schemas.microsoft.com/office/drawing/2014/main" val="1604274971"/>
                    </a:ext>
                  </a:extLst>
                </a:gridCol>
                <a:gridCol w="369547">
                  <a:extLst>
                    <a:ext uri="{9D8B030D-6E8A-4147-A177-3AD203B41FA5}">
                      <a16:colId xmlns:a16="http://schemas.microsoft.com/office/drawing/2014/main" val="1955174936"/>
                    </a:ext>
                  </a:extLst>
                </a:gridCol>
                <a:gridCol w="369547">
                  <a:extLst>
                    <a:ext uri="{9D8B030D-6E8A-4147-A177-3AD203B41FA5}">
                      <a16:colId xmlns:a16="http://schemas.microsoft.com/office/drawing/2014/main" val="1982499931"/>
                    </a:ext>
                  </a:extLst>
                </a:gridCol>
              </a:tblGrid>
              <a:tr h="350006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0051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8781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338014"/>
                  </a:ext>
                </a:extLst>
              </a:tr>
            </a:tbl>
          </a:graphicData>
        </a:graphic>
      </p:graphicFrame>
      <p:cxnSp>
        <p:nvCxnSpPr>
          <p:cNvPr id="80" name="直接箭头连接符 79">
            <a:extLst>
              <a:ext uri="{FF2B5EF4-FFF2-40B4-BE49-F238E27FC236}">
                <a16:creationId xmlns:a16="http://schemas.microsoft.com/office/drawing/2014/main" id="{A4FECDB1-EF7F-AB53-F5D0-E2BCDC22B94E}"/>
              </a:ext>
            </a:extLst>
          </p:cNvPr>
          <p:cNvCxnSpPr>
            <a:cxnSpLocks/>
            <a:stCxn id="38" idx="3"/>
            <a:endCxn id="79" idx="1"/>
          </p:cNvCxnSpPr>
          <p:nvPr/>
        </p:nvCxnSpPr>
        <p:spPr>
          <a:xfrm>
            <a:off x="7954574" y="4672676"/>
            <a:ext cx="438460" cy="997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86" name="文本框 85">
            <a:extLst>
              <a:ext uri="{FF2B5EF4-FFF2-40B4-BE49-F238E27FC236}">
                <a16:creationId xmlns:a16="http://schemas.microsoft.com/office/drawing/2014/main" id="{4A79F3E8-653A-880C-AB12-3562D6451E4B}"/>
              </a:ext>
            </a:extLst>
          </p:cNvPr>
          <p:cNvSpPr txBox="1"/>
          <p:nvPr/>
        </p:nvSpPr>
        <p:spPr>
          <a:xfrm>
            <a:off x="8106719" y="3728480"/>
            <a:ext cx="17172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/>
              <a:t>相似矩阵</a:t>
            </a:r>
            <a:endParaRPr lang="en-US" altLang="zh-CN" dirty="0"/>
          </a:p>
        </p:txBody>
      </p:sp>
      <p:sp>
        <p:nvSpPr>
          <p:cNvPr id="88" name="矩形: 圆角 87">
            <a:extLst>
              <a:ext uri="{FF2B5EF4-FFF2-40B4-BE49-F238E27FC236}">
                <a16:creationId xmlns:a16="http://schemas.microsoft.com/office/drawing/2014/main" id="{B9844822-D608-30BE-D84F-3F753059B898}"/>
              </a:ext>
            </a:extLst>
          </p:cNvPr>
          <p:cNvSpPr/>
          <p:nvPr/>
        </p:nvSpPr>
        <p:spPr>
          <a:xfrm>
            <a:off x="9877743" y="3821741"/>
            <a:ext cx="858624" cy="1721810"/>
          </a:xfrm>
          <a:prstGeom prst="roundRect">
            <a:avLst/>
          </a:prstGeom>
          <a:noFill/>
          <a:ln w="19050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BIP</a:t>
            </a:r>
          </a:p>
          <a:p>
            <a:pPr algn="ctr"/>
            <a:r>
              <a:rPr lang="zh-CN" altLang="en-US" dirty="0"/>
              <a:t>规划</a:t>
            </a:r>
          </a:p>
        </p:txBody>
      </p:sp>
      <p:cxnSp>
        <p:nvCxnSpPr>
          <p:cNvPr id="89" name="直接箭头连接符 88">
            <a:extLst>
              <a:ext uri="{FF2B5EF4-FFF2-40B4-BE49-F238E27FC236}">
                <a16:creationId xmlns:a16="http://schemas.microsoft.com/office/drawing/2014/main" id="{F8012887-3F7E-A7AB-8EA8-6418370F0B91}"/>
              </a:ext>
            </a:extLst>
          </p:cNvPr>
          <p:cNvCxnSpPr>
            <a:cxnSpLocks/>
            <a:stCxn id="79" idx="3"/>
            <a:endCxn id="88" idx="1"/>
          </p:cNvCxnSpPr>
          <p:nvPr/>
        </p:nvCxnSpPr>
        <p:spPr>
          <a:xfrm>
            <a:off x="9501675" y="4682646"/>
            <a:ext cx="37606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5" name="连接符: 肘形 94">
            <a:extLst>
              <a:ext uri="{FF2B5EF4-FFF2-40B4-BE49-F238E27FC236}">
                <a16:creationId xmlns:a16="http://schemas.microsoft.com/office/drawing/2014/main" id="{82F274E8-2AE4-B762-C343-9BC385211A34}"/>
              </a:ext>
            </a:extLst>
          </p:cNvPr>
          <p:cNvCxnSpPr>
            <a:cxnSpLocks/>
            <a:stCxn id="24" idx="0"/>
            <a:endCxn id="88" idx="0"/>
          </p:cNvCxnSpPr>
          <p:nvPr/>
        </p:nvCxnSpPr>
        <p:spPr>
          <a:xfrm rot="5400000" flipH="1" flipV="1">
            <a:off x="7487026" y="1183050"/>
            <a:ext cx="181338" cy="5458720"/>
          </a:xfrm>
          <a:prstGeom prst="bentConnector3">
            <a:avLst>
              <a:gd name="adj1" fmla="val 323268"/>
            </a:avLst>
          </a:prstGeom>
          <a:ln w="38100">
            <a:prstDash val="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97" name="直接箭头连接符 96">
            <a:extLst>
              <a:ext uri="{FF2B5EF4-FFF2-40B4-BE49-F238E27FC236}">
                <a16:creationId xmlns:a16="http://schemas.microsoft.com/office/drawing/2014/main" id="{D26C91C3-352C-0C24-D541-8654DADAFC57}"/>
              </a:ext>
            </a:extLst>
          </p:cNvPr>
          <p:cNvCxnSpPr>
            <a:cxnSpLocks/>
            <a:stCxn id="88" idx="3"/>
            <a:endCxn id="100" idx="1"/>
          </p:cNvCxnSpPr>
          <p:nvPr/>
        </p:nvCxnSpPr>
        <p:spPr>
          <a:xfrm>
            <a:off x="10736367" y="4682646"/>
            <a:ext cx="376068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00" name="文本框 99">
            <a:extLst>
              <a:ext uri="{FF2B5EF4-FFF2-40B4-BE49-F238E27FC236}">
                <a16:creationId xmlns:a16="http://schemas.microsoft.com/office/drawing/2014/main" id="{44AE6AA0-6748-717D-19F9-9D94A6CF4723}"/>
              </a:ext>
            </a:extLst>
          </p:cNvPr>
          <p:cNvSpPr txBox="1"/>
          <p:nvPr/>
        </p:nvSpPr>
        <p:spPr>
          <a:xfrm>
            <a:off x="11112435" y="4497980"/>
            <a:ext cx="858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Result</a:t>
            </a:r>
          </a:p>
        </p:txBody>
      </p:sp>
      <p:sp>
        <p:nvSpPr>
          <p:cNvPr id="103" name="文本框 102">
            <a:extLst>
              <a:ext uri="{FF2B5EF4-FFF2-40B4-BE49-F238E27FC236}">
                <a16:creationId xmlns:a16="http://schemas.microsoft.com/office/drawing/2014/main" id="{04363A6A-2C9C-71F4-D9FA-3FC0B1F83553}"/>
              </a:ext>
            </a:extLst>
          </p:cNvPr>
          <p:cNvSpPr txBox="1"/>
          <p:nvPr/>
        </p:nvSpPr>
        <p:spPr>
          <a:xfrm>
            <a:off x="7095950" y="2969700"/>
            <a:ext cx="136136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数量约束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ckwell" panose="02060603020205020403"/>
              <a:ea typeface="方正姚体" panose="02010601030101010101" pitchFamily="2" charset="-122"/>
              <a:cs typeface="+mn-cs"/>
            </a:endParaRPr>
          </a:p>
        </p:txBody>
      </p:sp>
      <p:sp>
        <p:nvSpPr>
          <p:cNvPr id="105" name="文本框 104">
            <a:extLst>
              <a:ext uri="{FF2B5EF4-FFF2-40B4-BE49-F238E27FC236}">
                <a16:creationId xmlns:a16="http://schemas.microsoft.com/office/drawing/2014/main" id="{56328A8F-B31B-B746-5E71-A0A8B8BFB22A}"/>
              </a:ext>
            </a:extLst>
          </p:cNvPr>
          <p:cNvSpPr txBox="1"/>
          <p:nvPr/>
        </p:nvSpPr>
        <p:spPr>
          <a:xfrm>
            <a:off x="-44424" y="4019177"/>
            <a:ext cx="858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/>
              <a:t>Text</a:t>
            </a:r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951C54B6-4D25-3E46-7E6C-CE02E488696B}"/>
              </a:ext>
            </a:extLst>
          </p:cNvPr>
          <p:cNvSpPr txBox="1"/>
          <p:nvPr/>
        </p:nvSpPr>
        <p:spPr>
          <a:xfrm>
            <a:off x="-44424" y="4742452"/>
            <a:ext cx="858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/>
              <a:t>Img</a:t>
            </a:r>
            <a:endParaRPr lang="en-US" altLang="zh-CN" dirty="0"/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EA8395C-B2DC-CE2B-2C5E-9F650FDA180F}"/>
              </a:ext>
            </a:extLst>
          </p:cNvPr>
          <p:cNvSpPr/>
          <p:nvPr/>
        </p:nvSpPr>
        <p:spPr>
          <a:xfrm>
            <a:off x="1410159" y="3525398"/>
            <a:ext cx="4314730" cy="2101437"/>
          </a:xfrm>
          <a:prstGeom prst="rect">
            <a:avLst/>
          </a:prstGeom>
          <a:solidFill>
            <a:srgbClr val="809EC2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6576B50F-6EF4-9175-B95C-322D693724BE}"/>
              </a:ext>
            </a:extLst>
          </p:cNvPr>
          <p:cNvSpPr/>
          <p:nvPr/>
        </p:nvSpPr>
        <p:spPr>
          <a:xfrm>
            <a:off x="6077124" y="3549454"/>
            <a:ext cx="2058174" cy="2101437"/>
          </a:xfrm>
          <a:prstGeom prst="rect">
            <a:avLst/>
          </a:prstGeom>
          <a:solidFill>
            <a:srgbClr val="60E26F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C2A56D29-1238-7727-B4AD-3B16B95B00B6}"/>
              </a:ext>
            </a:extLst>
          </p:cNvPr>
          <p:cNvSpPr/>
          <p:nvPr/>
        </p:nvSpPr>
        <p:spPr>
          <a:xfrm>
            <a:off x="8266811" y="3572579"/>
            <a:ext cx="2625361" cy="2101437"/>
          </a:xfrm>
          <a:prstGeom prst="rect">
            <a:avLst/>
          </a:prstGeom>
          <a:solidFill>
            <a:srgbClr val="E9E959">
              <a:alpha val="2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52449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D69DD8A-B397-7987-CB7E-B19AAA6154C0}"/>
              </a:ext>
            </a:extLst>
          </p:cNvPr>
          <p:cNvSpPr txBox="1"/>
          <p:nvPr/>
        </p:nvSpPr>
        <p:spPr>
          <a:xfrm>
            <a:off x="433611" y="372354"/>
            <a:ext cx="44138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Mask-Label Matching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5C938A-8B0D-5576-A2E6-C8DA91DE4AD1}"/>
              </a:ext>
            </a:extLst>
          </p:cNvPr>
          <p:cNvSpPr txBox="1"/>
          <p:nvPr/>
        </p:nvSpPr>
        <p:spPr>
          <a:xfrm>
            <a:off x="433611" y="1377108"/>
            <a:ext cx="10179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为了解决模型无置信度输出的问题，开创性的将标签与对象的匹配转化成整数规划问题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7252BAB-9FB6-E688-F513-853FC5AF0387}"/>
              </a:ext>
            </a:extLst>
          </p:cNvPr>
          <p:cNvSpPr txBox="1"/>
          <p:nvPr/>
        </p:nvSpPr>
        <p:spPr>
          <a:xfrm>
            <a:off x="433611" y="2197197"/>
            <a:ext cx="845700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要求在约束条件下，按照余弦相似度分配每个掩膜一个标签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每个掩膜最多一个标签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每个类别分配的数量与</a:t>
            </a:r>
            <a:r>
              <a:rPr lang="en-US" altLang="zh-CN" sz="2000" dirty="0"/>
              <a:t>LVLM</a:t>
            </a:r>
            <a:r>
              <a:rPr lang="zh-CN" altLang="en-US" sz="2000" dirty="0"/>
              <a:t>给出的数量相匹配</a:t>
            </a:r>
            <a:endParaRPr lang="en-US" altLang="zh-CN" sz="2000" dirty="0"/>
          </a:p>
          <a:p>
            <a:pPr marL="457200" indent="-457200">
              <a:buFont typeface="+mj-lt"/>
              <a:buAutoNum type="arabicPeriod"/>
            </a:pPr>
            <a:r>
              <a:rPr lang="zh-CN" altLang="en-US" sz="2000" dirty="0"/>
              <a:t>若候选目标与</a:t>
            </a:r>
            <a:r>
              <a:rPr lang="en-US" altLang="zh-CN" sz="2000" dirty="0"/>
              <a:t>LVLM</a:t>
            </a:r>
            <a:r>
              <a:rPr lang="zh-CN" altLang="en-US" sz="2000" dirty="0"/>
              <a:t>给出的数量不匹配，优先确保每个掩膜均有标签</a:t>
            </a:r>
          </a:p>
        </p:txBody>
      </p:sp>
    </p:spTree>
    <p:extLst>
      <p:ext uri="{BB962C8B-B14F-4D97-AF65-F5344CB8AC3E}">
        <p14:creationId xmlns:p14="http://schemas.microsoft.com/office/powerpoint/2010/main" val="30856562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0FFD218-2B60-FCA7-5AC3-0D58D67124D9}"/>
              </a:ext>
            </a:extLst>
          </p:cNvPr>
          <p:cNvSpPr txBox="1"/>
          <p:nvPr/>
        </p:nvSpPr>
        <p:spPr>
          <a:xfrm>
            <a:off x="433612" y="372354"/>
            <a:ext cx="15824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Result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9E3C1CD-7E59-F549-DA4E-70F5B2CEB65F}"/>
              </a:ext>
            </a:extLst>
          </p:cNvPr>
          <p:cNvSpPr txBox="1"/>
          <p:nvPr/>
        </p:nvSpPr>
        <p:spPr>
          <a:xfrm>
            <a:off x="433608" y="1885951"/>
            <a:ext cx="8038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2.InstructSAM</a:t>
            </a:r>
            <a:r>
              <a:rPr lang="zh-CN" altLang="en-US" sz="2000" dirty="0"/>
              <a:t>在</a:t>
            </a:r>
            <a:r>
              <a:rPr lang="en-US" altLang="zh-CN" sz="2000" dirty="0" err="1"/>
              <a:t>InstructCDS</a:t>
            </a:r>
            <a:r>
              <a:rPr lang="zh-CN" altLang="en-US" sz="2000" dirty="0"/>
              <a:t>的三个任务上均取得较好成绩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C2FA632-07A1-11DD-4BF5-A036A9A488DD}"/>
              </a:ext>
            </a:extLst>
          </p:cNvPr>
          <p:cNvSpPr txBox="1"/>
          <p:nvPr/>
        </p:nvSpPr>
        <p:spPr>
          <a:xfrm>
            <a:off x="1076255" y="3453816"/>
            <a:ext cx="5846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平均使用</a:t>
            </a:r>
            <a:r>
              <a:rPr lang="en-US" altLang="zh-CN" sz="2000" dirty="0"/>
              <a:t>gpt-4o</a:t>
            </a:r>
            <a:r>
              <a:rPr lang="zh-CN" altLang="en-US" sz="2000" dirty="0"/>
              <a:t>比使用</a:t>
            </a:r>
            <a:r>
              <a:rPr lang="en-US" altLang="zh-CN" sz="2000" dirty="0"/>
              <a:t>Qwen2.5-VL</a:t>
            </a:r>
            <a:r>
              <a:rPr lang="zh-CN" altLang="en-US" sz="2000" dirty="0"/>
              <a:t>效果要好一点</a:t>
            </a:r>
            <a:endParaRPr lang="en-US" altLang="zh-CN" sz="20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3B24185-F478-CC55-11BE-AF6DB802C4D0}"/>
              </a:ext>
            </a:extLst>
          </p:cNvPr>
          <p:cNvSpPr txBox="1"/>
          <p:nvPr/>
        </p:nvSpPr>
        <p:spPr>
          <a:xfrm>
            <a:off x="433606" y="3018344"/>
            <a:ext cx="6121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3.</a:t>
            </a:r>
            <a:r>
              <a:rPr lang="zh-CN" altLang="en-US" sz="2000" dirty="0"/>
              <a:t>引入</a:t>
            </a:r>
            <a:r>
              <a:rPr lang="en-US" altLang="zh-CN" sz="2000" dirty="0"/>
              <a:t>LVLM</a:t>
            </a:r>
            <a:r>
              <a:rPr lang="zh-CN" altLang="en-US" sz="2000" dirty="0"/>
              <a:t>提示词工程对计数以及定位有明显的提升</a:t>
            </a:r>
            <a:endParaRPr lang="en-US" altLang="zh-CN" sz="2000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D9543F6-65AD-36C8-6B69-E1DF149B47BE}"/>
              </a:ext>
            </a:extLst>
          </p:cNvPr>
          <p:cNvSpPr txBox="1"/>
          <p:nvPr/>
        </p:nvSpPr>
        <p:spPr>
          <a:xfrm>
            <a:off x="433606" y="5360597"/>
            <a:ext cx="5846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5.</a:t>
            </a:r>
            <a:r>
              <a:rPr lang="zh-CN" altLang="en-US" sz="2000" dirty="0"/>
              <a:t>推理时间恒定，不随对象数量增加而增加</a:t>
            </a:r>
            <a:endParaRPr lang="en-US" altLang="zh-CN" sz="2000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5F52D2D-8AAC-6EFF-8C51-00AA17542EA8}"/>
              </a:ext>
            </a:extLst>
          </p:cNvPr>
          <p:cNvSpPr txBox="1"/>
          <p:nvPr/>
        </p:nvSpPr>
        <p:spPr>
          <a:xfrm>
            <a:off x="433608" y="1221485"/>
            <a:ext cx="58460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实现免训练，面向自然语言指令</a:t>
            </a:r>
            <a:endParaRPr lang="en-US" altLang="zh-CN" sz="2000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C8B632-389B-21C6-A5BD-29D1E5CF1C5E}"/>
              </a:ext>
            </a:extLst>
          </p:cNvPr>
          <p:cNvSpPr txBox="1"/>
          <p:nvPr/>
        </p:nvSpPr>
        <p:spPr>
          <a:xfrm>
            <a:off x="1076255" y="2310876"/>
            <a:ext cx="60978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ckwell" panose="02060603020205020403"/>
                <a:ea typeface="方正姚体" panose="02010601030101010101" pitchFamily="2" charset="-122"/>
                <a:cs typeface="+mn-cs"/>
              </a:rPr>
              <a:t>甚至超越专用微调模型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AD3666-1BD0-2BBC-166F-481F533DA4AD}"/>
              </a:ext>
            </a:extLst>
          </p:cNvPr>
          <p:cNvSpPr txBox="1"/>
          <p:nvPr/>
        </p:nvSpPr>
        <p:spPr>
          <a:xfrm>
            <a:off x="1076254" y="4507234"/>
            <a:ext cx="77592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相较于传统方法，不必选择一个单一的阈值，更加灵活适配</a:t>
            </a:r>
            <a:endParaRPr lang="en-US" altLang="zh-CN" sz="2000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A8A2F6-0DCB-08B5-AF55-8BB451622374}"/>
              </a:ext>
            </a:extLst>
          </p:cNvPr>
          <p:cNvSpPr txBox="1"/>
          <p:nvPr/>
        </p:nvSpPr>
        <p:spPr>
          <a:xfrm>
            <a:off x="433606" y="4071762"/>
            <a:ext cx="61214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4.</a:t>
            </a:r>
            <a:r>
              <a:rPr lang="zh-CN" altLang="en-US" sz="2000" dirty="0"/>
              <a:t>计数约束匹配方式不依赖单一阈值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329780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490E5F07-0D17-6C9A-1D4C-6417B72CD3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844" y="521638"/>
            <a:ext cx="8204311" cy="592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24684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97E4628-5BFD-97E2-3AAB-1D7230345FD3}"/>
              </a:ext>
            </a:extLst>
          </p:cNvPr>
          <p:cNvSpPr txBox="1"/>
          <p:nvPr/>
        </p:nvSpPr>
        <p:spPr>
          <a:xfrm>
            <a:off x="466663" y="438455"/>
            <a:ext cx="231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Limitation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96E764-047C-9177-492A-AD1D00619417}"/>
              </a:ext>
            </a:extLst>
          </p:cNvPr>
          <p:cNvSpPr txBox="1"/>
          <p:nvPr/>
        </p:nvSpPr>
        <p:spPr>
          <a:xfrm>
            <a:off x="466663" y="1366091"/>
            <a:ext cx="23977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依赖预训练模型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F2D509FC-8291-EF34-784A-D700578642EE}"/>
              </a:ext>
            </a:extLst>
          </p:cNvPr>
          <p:cNvSpPr/>
          <p:nvPr/>
        </p:nvSpPr>
        <p:spPr>
          <a:xfrm>
            <a:off x="3062688" y="1244383"/>
            <a:ext cx="1498294" cy="705080"/>
          </a:xfrm>
          <a:prstGeom prst="roundRect">
            <a:avLst/>
          </a:prstGeom>
          <a:solidFill>
            <a:schemeClr val="accent5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LVLM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C11F8FE4-21CD-E793-FBC0-17506B0EAC62}"/>
              </a:ext>
            </a:extLst>
          </p:cNvPr>
          <p:cNvSpPr/>
          <p:nvPr/>
        </p:nvSpPr>
        <p:spPr>
          <a:xfrm>
            <a:off x="5032872" y="1244383"/>
            <a:ext cx="1498294" cy="7050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SAM2</a:t>
            </a:r>
            <a:endParaRPr lang="zh-CN" altLang="en-US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9DC87AE-5C85-C4EF-022C-DF96DC967C51}"/>
              </a:ext>
            </a:extLst>
          </p:cNvPr>
          <p:cNvSpPr/>
          <p:nvPr/>
        </p:nvSpPr>
        <p:spPr>
          <a:xfrm>
            <a:off x="7003056" y="1244383"/>
            <a:ext cx="1498294" cy="705080"/>
          </a:xfrm>
          <a:prstGeom prst="roundRect">
            <a:avLst/>
          </a:prstGeom>
          <a:solidFill>
            <a:schemeClr val="accent6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CLIP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8ACAD503-CE52-662B-0FBE-6225DE303163}"/>
              </a:ext>
            </a:extLst>
          </p:cNvPr>
          <p:cNvSpPr txBox="1"/>
          <p:nvPr/>
        </p:nvSpPr>
        <p:spPr>
          <a:xfrm>
            <a:off x="916377" y="4007779"/>
            <a:ext cx="14982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一些疑问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2741411-F04F-597E-1596-F717AC2F713C}"/>
              </a:ext>
            </a:extLst>
          </p:cNvPr>
          <p:cNvSpPr/>
          <p:nvPr/>
        </p:nvSpPr>
        <p:spPr>
          <a:xfrm>
            <a:off x="3062688" y="2543328"/>
            <a:ext cx="1498294" cy="1515340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gpt-4o</a:t>
            </a:r>
          </a:p>
          <a:p>
            <a:pPr algn="ctr"/>
            <a:r>
              <a:rPr lang="en-US" altLang="zh-CN" dirty="0"/>
              <a:t>Qwen2.5-VL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Gemma3?</a:t>
            </a:r>
            <a:endParaRPr lang="zh-CN" altLang="en-US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81BFE9-6DDE-9AE8-DA4F-304AD741A588}"/>
              </a:ext>
            </a:extLst>
          </p:cNvPr>
          <p:cNvSpPr/>
          <p:nvPr/>
        </p:nvSpPr>
        <p:spPr>
          <a:xfrm>
            <a:off x="3062688" y="4469444"/>
            <a:ext cx="1498294" cy="1515340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7B</a:t>
            </a:r>
          </a:p>
          <a:p>
            <a:pPr algn="ctr"/>
            <a:endParaRPr lang="en-US" altLang="zh-CN" dirty="0"/>
          </a:p>
          <a:p>
            <a:pPr algn="ctr"/>
            <a:r>
              <a:rPr lang="en-US" altLang="zh-CN" dirty="0"/>
              <a:t>12B?</a:t>
            </a:r>
          </a:p>
          <a:p>
            <a:pPr algn="ctr"/>
            <a:r>
              <a:rPr lang="en-US" altLang="zh-CN" dirty="0"/>
              <a:t>27B?</a:t>
            </a:r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9150728-51D7-8657-3D49-B8B5AD6EA7AC}"/>
              </a:ext>
            </a:extLst>
          </p:cNvPr>
          <p:cNvSpPr/>
          <p:nvPr/>
        </p:nvSpPr>
        <p:spPr>
          <a:xfrm>
            <a:off x="7003056" y="2543328"/>
            <a:ext cx="1498294" cy="1515340"/>
          </a:xfrm>
          <a:prstGeom prst="rect">
            <a:avLst/>
          </a:prstGeom>
          <a:noFill/>
          <a:ln w="19050" cap="flat" cmpd="sng" algn="ctr">
            <a:solidFill>
              <a:schemeClr val="dk1"/>
            </a:solidFill>
            <a:prstDash val="lg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嵌入更加优秀</a:t>
            </a:r>
            <a:r>
              <a:rPr lang="zh-CN" altLang="en-US"/>
              <a:t>的视觉语言编码器</a:t>
            </a:r>
            <a:r>
              <a:rPr lang="zh-CN" altLang="en-US" dirty="0"/>
              <a:t>？</a:t>
            </a:r>
          </a:p>
        </p:txBody>
      </p:sp>
    </p:spTree>
    <p:extLst>
      <p:ext uri="{BB962C8B-B14F-4D97-AF65-F5344CB8AC3E}">
        <p14:creationId xmlns:p14="http://schemas.microsoft.com/office/powerpoint/2010/main" val="367977080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E8EC797-7C98-6A34-8E43-079D7A366750}"/>
              </a:ext>
            </a:extLst>
          </p:cNvPr>
          <p:cNvSpPr txBox="1"/>
          <p:nvPr/>
        </p:nvSpPr>
        <p:spPr>
          <a:xfrm>
            <a:off x="466663" y="438455"/>
            <a:ext cx="2313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Discussion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CE6E28-10B3-7A39-695E-41FE72754228}"/>
              </a:ext>
            </a:extLst>
          </p:cNvPr>
          <p:cNvSpPr txBox="1"/>
          <p:nvPr/>
        </p:nvSpPr>
        <p:spPr>
          <a:xfrm>
            <a:off x="718019" y="1448311"/>
            <a:ext cx="622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视觉模块提供必要信息，语言模块提供总体调度与思考核心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C63EDB2-AC90-AA7F-A6E3-9F21589F0C7E}"/>
              </a:ext>
            </a:extLst>
          </p:cNvPr>
          <p:cNvSpPr txBox="1"/>
          <p:nvPr/>
        </p:nvSpPr>
        <p:spPr>
          <a:xfrm>
            <a:off x="718018" y="2189854"/>
            <a:ext cx="622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大语言模型因知识丰富而用途广泛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947650C-71B7-EF13-D179-E708726D27C5}"/>
              </a:ext>
            </a:extLst>
          </p:cNvPr>
          <p:cNvSpPr txBox="1"/>
          <p:nvPr/>
        </p:nvSpPr>
        <p:spPr>
          <a:xfrm>
            <a:off x="718017" y="2931397"/>
            <a:ext cx="62228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大语言模型对用户友好，对指令鲁棒性强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93430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纸张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Tw Cen MT-Rockwell">
      <a:majorFont>
        <a:latin typeface="Tw Cen MT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735</TotalTime>
  <Words>1709</Words>
  <Application>Microsoft Office PowerPoint</Application>
  <PresentationFormat>宽屏</PresentationFormat>
  <Paragraphs>291</Paragraphs>
  <Slides>29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29</vt:i4>
      </vt:variant>
    </vt:vector>
  </HeadingPairs>
  <TitlesOfParts>
    <vt:vector size="35" baseType="lpstr">
      <vt:lpstr>等线</vt:lpstr>
      <vt:lpstr>Arial</vt:lpstr>
      <vt:lpstr>Cambria Math</vt:lpstr>
      <vt:lpstr>Rockwell</vt:lpstr>
      <vt:lpstr>Tw Cen MT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浩宇 曹</dc:creator>
  <cp:lastModifiedBy>浩宇 曹</cp:lastModifiedBy>
  <cp:revision>453</cp:revision>
  <dcterms:created xsi:type="dcterms:W3CDTF">2025-10-13T23:26:56Z</dcterms:created>
  <dcterms:modified xsi:type="dcterms:W3CDTF">2025-10-16T00:21:45Z</dcterms:modified>
</cp:coreProperties>
</file>