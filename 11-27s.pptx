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305" r:id="rId4"/>
    <p:sldId id="309" r:id="rId5"/>
    <p:sldId id="310" r:id="rId6"/>
    <p:sldId id="311" r:id="rId7"/>
    <p:sldId id="312" r:id="rId8"/>
    <p:sldId id="313" r:id="rId9"/>
    <p:sldId id="258" r:id="rId10"/>
    <p:sldId id="307" r:id="rId11"/>
    <p:sldId id="308" r:id="rId12"/>
    <p:sldId id="298" r:id="rId13"/>
    <p:sldId id="315" r:id="rId14"/>
    <p:sldId id="299" r:id="rId15"/>
    <p:sldId id="316" r:id="rId16"/>
    <p:sldId id="318" r:id="rId17"/>
    <p:sldId id="317" r:id="rId18"/>
    <p:sldId id="319" r:id="rId19"/>
    <p:sldId id="300" r:id="rId20"/>
    <p:sldId id="320" r:id="rId21"/>
    <p:sldId id="322" r:id="rId22"/>
    <p:sldId id="326" r:id="rId23"/>
    <p:sldId id="328" r:id="rId24"/>
    <p:sldId id="324" r:id="rId25"/>
    <p:sldId id="325" r:id="rId26"/>
    <p:sldId id="321" r:id="rId27"/>
    <p:sldId id="301" r:id="rId28"/>
    <p:sldId id="333" r:id="rId29"/>
    <p:sldId id="302" r:id="rId30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480" y="1002"/>
      </p:cViewPr>
      <p:guideLst>
        <p:guide orient="horz" pos="2154"/>
        <p:guide pos="387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9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【公众号：阿拉丁PPT】_11"/>
          <p:cNvSpPr txBox="1"/>
          <p:nvPr userDrawn="1"/>
        </p:nvSpPr>
        <p:spPr>
          <a:xfrm>
            <a:off x="1556968" y="1637854"/>
            <a:ext cx="3041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D4B296">
                    <a:alpha val="45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CONTENTS</a:t>
            </a:r>
            <a:endParaRPr lang="zh-CN" altLang="en-US" sz="3200" b="1" dirty="0">
              <a:solidFill>
                <a:srgbClr val="D4B296">
                  <a:alpha val="45000"/>
                </a:srgb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6" name="【公众号：阿拉丁PPT】_12"/>
          <p:cNvSpPr txBox="1"/>
          <p:nvPr userDrawn="1"/>
        </p:nvSpPr>
        <p:spPr>
          <a:xfrm>
            <a:off x="1994619" y="1849130"/>
            <a:ext cx="2213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3A466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目录</a:t>
            </a:r>
            <a:endParaRPr lang="zh-CN" altLang="en-US" sz="4000" b="1" spc="600" dirty="0">
              <a:solidFill>
                <a:srgbClr val="3A466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7" name="【公众号：阿拉丁PPT】_13"/>
          <p:cNvSpPr/>
          <p:nvPr userDrawn="1"/>
        </p:nvSpPr>
        <p:spPr>
          <a:xfrm>
            <a:off x="2353362" y="3336169"/>
            <a:ext cx="2129987" cy="2207079"/>
          </a:xfrm>
          <a:prstGeom prst="rect">
            <a:avLst/>
          </a:prstGeom>
          <a:noFill/>
          <a:ln w="28575">
            <a:solidFill>
              <a:srgbClr val="D4B2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8" name="【公众号：阿拉丁PPT】_14"/>
          <p:cNvSpPr/>
          <p:nvPr userDrawn="1"/>
        </p:nvSpPr>
        <p:spPr>
          <a:xfrm>
            <a:off x="1830774" y="2813002"/>
            <a:ext cx="2435750" cy="25394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215900" dist="889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4B2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24719" y="474561"/>
            <a:ext cx="11308466" cy="6018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56527" y="856527"/>
            <a:ext cx="4213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请在此处输入标题</a:t>
            </a:r>
            <a:endParaRPr lang="zh-CN" alt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1AD17-DF23-4E4F-B1AC-211F2AB303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9CA4E-7FAC-4C93-8709-9A77590A06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20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【公众号：阿拉丁PPT】_2"/>
          <p:cNvSpPr txBox="1"/>
          <p:nvPr/>
        </p:nvSpPr>
        <p:spPr>
          <a:xfrm>
            <a:off x="1735401" y="2228356"/>
            <a:ext cx="872119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从</a:t>
            </a:r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AlexNet</a:t>
            </a:r>
            <a:r>
              <a:rPr lang="zh-CN" altLang="en-US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到</a:t>
            </a:r>
            <a:r>
              <a:rPr lang="en-US" altLang="zh-CN" sz="6000" b="1" spc="300" dirty="0">
                <a:solidFill>
                  <a:srgbClr val="3A466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ResNet</a:t>
            </a:r>
            <a:endParaRPr lang="en-US" altLang="zh-CN" sz="6000" b="1" spc="300" dirty="0">
              <a:solidFill>
                <a:srgbClr val="3A466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/>
        </p:nvPicPr>
        <p:blipFill>
          <a:blip r:embed="rId1"/>
          <a:stretch>
            <a:fillRect/>
          </a:stretch>
        </p:blipFill>
        <p:spPr>
          <a:xfrm>
            <a:off x="514350" y="767715"/>
            <a:ext cx="3472815" cy="1809115"/>
          </a:xfrm>
          <a:prstGeom prst="rect">
            <a:avLst/>
          </a:prstGeom>
        </p:spPr>
      </p:pic>
      <p:pic>
        <p:nvPicPr>
          <p:cNvPr id="4097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52800" y="3784600"/>
            <a:ext cx="3071495" cy="1532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b="16687"/>
          <a:stretch>
            <a:fillRect/>
          </a:stretch>
        </p:blipFill>
        <p:spPr>
          <a:xfrm>
            <a:off x="8921115" y="3890645"/>
            <a:ext cx="2823210" cy="134175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835660" y="2755265"/>
            <a:ext cx="325945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Alexnet</a:t>
            </a:r>
            <a:r>
              <a:rPr lang="zh-CN" altLang="en-US"/>
              <a:t>：证明了复杂深度模型在大型数据集上的巨大潜力。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3069590" y="55340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VGG:</a:t>
            </a:r>
            <a:r>
              <a:rPr lang="zh-CN" altLang="en-US"/>
              <a:t>通过堆叠小尺寸卷积核，系统性地证明网络深度是提升性能的关键。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6255385" y="2626360"/>
            <a:ext cx="3227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GoogLeNet</a:t>
            </a:r>
            <a:r>
              <a:rPr lang="zh-CN" altLang="en-US"/>
              <a:t>：通过并行多尺度卷积和</a:t>
            </a:r>
            <a:r>
              <a:rPr lang="en-US" altLang="zh-CN"/>
              <a:t>1x1</a:t>
            </a:r>
            <a:r>
              <a:rPr lang="zh-CN" altLang="en-US"/>
              <a:t>卷积降维，增加</a:t>
            </a:r>
            <a:r>
              <a:rPr lang="zh-CN" altLang="en-US"/>
              <a:t>了网络深度和宽度。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9025890" y="5370195"/>
            <a:ext cx="27184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ResNet:</a:t>
            </a:r>
            <a:r>
              <a:rPr lang="zh-CN" altLang="en-US"/>
              <a:t>提出残差学习与跳跃连接，完美解决了深层网络的退化问题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690245"/>
            <a:ext cx="336931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370" y="2157730"/>
            <a:ext cx="6139815" cy="1292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ImageNet Classification with Deep Convolutional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Neural Networks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AlexNet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01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1700" y="1285240"/>
            <a:ext cx="10278110" cy="2045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>
                <a:sym typeface="+mn-ea"/>
              </a:rPr>
              <a:t>ImageNet Classification with Deep Convolutional  Neural Networks</a:t>
            </a:r>
            <a:endParaRPr lang="en-US" altLang="zh-CN" sz="2400">
              <a:sym typeface="+mn-ea"/>
            </a:endParaRPr>
          </a:p>
          <a:p>
            <a:endParaRPr lang="en-US" altLang="zh-CN" sz="2400">
              <a:sym typeface="+mn-ea"/>
            </a:endParaRPr>
          </a:p>
          <a:p>
            <a:pPr algn="ctr"/>
            <a:r>
              <a:rPr lang="zh-CN" altLang="en-US" sz="2400"/>
              <a:t>使用深度卷积神经网络进行</a:t>
            </a:r>
            <a:r>
              <a:rPr lang="en-US" altLang="zh-CN" sz="2400"/>
              <a:t>ImageNet</a:t>
            </a:r>
            <a:r>
              <a:rPr lang="zh-CN" altLang="en-US" sz="2400"/>
              <a:t>分类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首次证明了大规模深度卷积神经网络在复杂视觉任务上的巨大威</a:t>
            </a:r>
            <a:r>
              <a:rPr lang="zh-CN" altLang="en-US" sz="2400"/>
              <a:t>力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082675" y="3516630"/>
            <a:ext cx="10582275" cy="1786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ym typeface="+mn-ea"/>
              </a:rPr>
              <a:t>奠定了现代CNN的工程化实现模板：</a:t>
            </a:r>
            <a:r>
              <a:rPr lang="zh-CN" altLang="en-US" sz="2400">
                <a:sym typeface="+mn-ea"/>
              </a:rPr>
              <a:t>卷积提取特征→池化降维→全连接决策</a:t>
            </a:r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  <a:p>
            <a:pPr algn="ctr"/>
            <a:r>
              <a:rPr lang="zh-CN" altLang="en-US" sz="2400">
                <a:sym typeface="+mn-ea"/>
              </a:rPr>
              <a:t>采用ReLu激活函数、dropout等</a:t>
            </a:r>
            <a:endParaRPr lang="zh-CN" altLang="en-US" sz="2400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28" name="图片 27"/>
          <p:cNvPicPr/>
          <p:nvPr/>
        </p:nvPicPr>
        <p:blipFill>
          <a:blip r:embed="rId1"/>
          <a:stretch>
            <a:fillRect/>
          </a:stretch>
        </p:blipFill>
        <p:spPr>
          <a:xfrm>
            <a:off x="3958590" y="4679315"/>
            <a:ext cx="3472815" cy="1809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176260" y="1169036"/>
            <a:ext cx="3284220" cy="37337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84275" y="4968240"/>
            <a:ext cx="9095105" cy="1072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r>
              <a:rPr lang="zh-CN" altLang="en-US"/>
              <a:t>个可训练</a:t>
            </a:r>
            <a:r>
              <a:rPr lang="zh-CN" altLang="en-US"/>
              <a:t>层：</a:t>
            </a:r>
            <a:r>
              <a:rPr lang="en-US" altLang="zh-CN"/>
              <a:t>5</a:t>
            </a:r>
            <a:r>
              <a:rPr lang="zh-CN" altLang="en-US"/>
              <a:t>个卷积层</a:t>
            </a:r>
            <a:r>
              <a:rPr lang="en-US" altLang="zh-CN"/>
              <a:t> + 3</a:t>
            </a:r>
            <a:r>
              <a:rPr lang="zh-CN" altLang="en-US"/>
              <a:t>个全连接层，总参数约</a:t>
            </a:r>
            <a:r>
              <a:rPr lang="en-US" altLang="zh-CN"/>
              <a:t> 6000 </a:t>
            </a:r>
            <a:r>
              <a:rPr lang="zh-CN" altLang="en-US"/>
              <a:t>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由于当时</a:t>
            </a:r>
            <a:r>
              <a:rPr lang="en-US" altLang="zh-CN"/>
              <a:t>GPU</a:t>
            </a:r>
            <a:r>
              <a:rPr lang="zh-CN" altLang="en-US"/>
              <a:t>显存限制，将模型分布在两个</a:t>
            </a:r>
            <a:r>
              <a:rPr lang="en-US" altLang="zh-CN"/>
              <a:t>GPU</a:t>
            </a:r>
            <a:r>
              <a:rPr lang="zh-CN" altLang="en-US"/>
              <a:t>上训练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3250" y="603250"/>
            <a:ext cx="7043420" cy="3822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120130" y="892175"/>
            <a:ext cx="2978785" cy="16554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40" y="892175"/>
            <a:ext cx="3145790" cy="1648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80" y="3853180"/>
            <a:ext cx="4366260" cy="24993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17720" y="2715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重叠池化，保留更多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13960" y="3683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dropout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925830"/>
            <a:ext cx="4564380" cy="4549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51915"/>
            <a:ext cx="4747260" cy="9753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52830" y="591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LRN</a:t>
            </a:r>
            <a:r>
              <a:rPr lang="zh-CN" altLang="en-US"/>
              <a:t>层：局部响应</a:t>
            </a:r>
            <a:r>
              <a:rPr lang="zh-CN" altLang="en-US"/>
              <a:t>归一化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96710" y="3512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让明显的特征更加突出，抑制不明显的特征。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084" y="2157837"/>
            <a:ext cx="5867400" cy="8616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VERY DEEP CONVOLUTIONAL NETWORKS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FOR LARGE-SCALE IMAGE RECOGNITION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VGG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02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02080" y="1255395"/>
            <a:ext cx="9408795" cy="5056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/>
              <a:t>VERY DEEP CONVOLUTIONAL NETWORKS FOR LARGE-SCALE IMAGE RECOGNITION</a:t>
            </a:r>
            <a:endParaRPr lang="en-US" altLang="zh-CN" sz="2400"/>
          </a:p>
          <a:p>
            <a:pPr algn="ctr"/>
            <a:endParaRPr lang="en-US" altLang="zh-CN" sz="2400"/>
          </a:p>
          <a:p>
            <a:pPr algn="ctr"/>
            <a:r>
              <a:rPr lang="en-US" altLang="zh-CN" sz="2400"/>
              <a:t>用于大规模图像识别的极深卷积网络</a:t>
            </a:r>
            <a:endParaRPr lang="en-US" altLang="zh-CN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证明具有小卷积核的深层网络，优于具有大</a:t>
            </a:r>
            <a:r>
              <a:rPr lang="zh-CN" altLang="en-US" sz="2400"/>
              <a:t>卷积核的浅层网络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它是传统顺序堆叠</a:t>
            </a:r>
            <a:r>
              <a:rPr lang="zh-CN" altLang="en-US" sz="2400"/>
              <a:t>网络所能达到的顶峰，但臃肿</a:t>
            </a:r>
            <a:r>
              <a:rPr lang="zh-CN" altLang="en-US" sz="2400"/>
              <a:t>参数量大</a:t>
            </a:r>
            <a:endParaRPr lang="zh-CN" altLang="en-US" sz="2400"/>
          </a:p>
          <a:p>
            <a:pPr algn="ctr"/>
            <a:endParaRPr lang="zh-CN" altLang="en-US" sz="2400"/>
          </a:p>
        </p:txBody>
      </p:sp>
      <p:pic>
        <p:nvPicPr>
          <p:cNvPr id="4097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75125" y="4384040"/>
            <a:ext cx="3863340" cy="1927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 rot="5400000">
            <a:off x="7537450" y="2507615"/>
            <a:ext cx="6661785" cy="1844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45" y="501650"/>
            <a:ext cx="9395460" cy="42424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8790" y="4984115"/>
            <a:ext cx="6215380" cy="139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AlexNet</a:t>
            </a:r>
            <a:r>
              <a:rPr lang="zh-CN" altLang="en-US" sz="2400">
                <a:sym typeface="+mn-ea"/>
              </a:rPr>
              <a:t>使用了</a:t>
            </a:r>
            <a:r>
              <a:rPr lang="en-US" altLang="zh-CN" sz="2400">
                <a:sym typeface="+mn-ea"/>
              </a:rPr>
              <a:t>11x11, 5x5, 3x3</a:t>
            </a:r>
            <a:r>
              <a:rPr lang="zh-CN" altLang="en-US" sz="2400">
                <a:sym typeface="+mn-ea"/>
              </a:rPr>
              <a:t>卷积，</a:t>
            </a:r>
            <a:r>
              <a:rPr lang="en-US" altLang="zh-CN" sz="2400">
                <a:sym typeface="+mn-ea"/>
              </a:rPr>
              <a:t>VGG</a:t>
            </a:r>
            <a:r>
              <a:rPr lang="zh-CN" altLang="en-US" sz="2400">
                <a:sym typeface="+mn-ea"/>
              </a:rPr>
              <a:t>彻底摒弃了大卷积核，在整个网络中只使用</a:t>
            </a:r>
            <a:r>
              <a:rPr lang="en-US" altLang="zh-CN" sz="2400">
                <a:sym typeface="+mn-ea"/>
              </a:rPr>
              <a:t>3x3</a:t>
            </a:r>
            <a:r>
              <a:rPr lang="zh-CN" altLang="en-US" sz="2400">
                <a:sym typeface="+mn-ea"/>
              </a:rPr>
              <a:t>卷积核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4705" y="734060"/>
            <a:ext cx="8550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小卷积核的优势：多层堆叠可获得与大卷积核一样的</a:t>
            </a:r>
            <a:r>
              <a:rPr lang="zh-CN" altLang="en-US" sz="2400"/>
              <a:t>感受野</a:t>
            </a:r>
            <a:endParaRPr lang="zh-CN" altLang="en-US" sz="2400"/>
          </a:p>
        </p:txBody>
      </p:sp>
      <p:pic>
        <p:nvPicPr>
          <p:cNvPr id="81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495" y="1314768"/>
            <a:ext cx="8108950" cy="354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072245" y="30695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层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3*3=1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层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5*5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层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3*3=1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层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7*7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/>
          </a:p>
        </p:txBody>
      </p:sp>
      <p:sp>
        <p:nvSpPr>
          <p:cNvPr id="4" name="圆角矩形 3"/>
          <p:cNvSpPr/>
          <p:nvPr/>
        </p:nvSpPr>
        <p:spPr>
          <a:xfrm>
            <a:off x="1633220" y="2592070"/>
            <a:ext cx="1097280" cy="1108075"/>
          </a:xfrm>
          <a:prstGeom prst="roundRect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2730500" y="2852420"/>
            <a:ext cx="2108200" cy="32639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566545" y="5064760"/>
            <a:ext cx="7649845" cy="1123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在相同感受野情况下，</a:t>
            </a:r>
            <a:r>
              <a:rPr lang="en-US" altLang="zh-CN" sz="2400"/>
              <a:t>2</a:t>
            </a:r>
            <a:r>
              <a:rPr lang="zh-CN" altLang="en-US" sz="2400"/>
              <a:t>个</a:t>
            </a:r>
            <a:r>
              <a:rPr lang="en-US" altLang="zh-CN" sz="2400"/>
              <a:t>3x3</a:t>
            </a:r>
            <a:r>
              <a:rPr lang="zh-CN" altLang="en-US" sz="2400"/>
              <a:t>卷积带来</a:t>
            </a:r>
            <a:r>
              <a:rPr lang="en-US" altLang="zh-CN" sz="2400"/>
              <a:t>2</a:t>
            </a:r>
            <a:r>
              <a:rPr lang="zh-CN" altLang="en-US" sz="2400"/>
              <a:t>次非线性变换，而</a:t>
            </a:r>
            <a:r>
              <a:rPr lang="en-US" altLang="zh-CN" sz="2400"/>
              <a:t>1</a:t>
            </a:r>
            <a:r>
              <a:rPr lang="zh-CN" altLang="en-US" sz="2400"/>
              <a:t>个</a:t>
            </a:r>
            <a:r>
              <a:rPr lang="en-US" altLang="zh-CN" sz="2400"/>
              <a:t>5x5</a:t>
            </a:r>
            <a:r>
              <a:rPr lang="zh-CN" altLang="en-US" sz="2400"/>
              <a:t>卷积只有</a:t>
            </a:r>
            <a:r>
              <a:rPr lang="en-US" altLang="zh-CN" sz="2400"/>
              <a:t>1</a:t>
            </a:r>
            <a:r>
              <a:rPr lang="zh-CN" altLang="en-US" sz="2400"/>
              <a:t>次</a:t>
            </a:r>
            <a:r>
              <a:rPr lang="en-US" altLang="zh-CN" sz="2400"/>
              <a:t>,</a:t>
            </a:r>
            <a:r>
              <a:rPr lang="zh-CN" altLang="en-US" sz="2400"/>
              <a:t>网络能学习更复杂的</a:t>
            </a:r>
            <a:r>
              <a:rPr lang="zh-CN" altLang="en-US" sz="2400"/>
              <a:t>模式。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7801610" y="3331845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668520" y="2963545"/>
            <a:ext cx="46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921510" y="2826385"/>
            <a:ext cx="521335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>
                <a:solidFill>
                  <a:srgbClr val="D4B296"/>
                </a:solidFill>
              </a:rPr>
              <a:t>C</a:t>
            </a:r>
            <a:endParaRPr lang="en-US" altLang="zh-CN" sz="4000">
              <a:solidFill>
                <a:srgbClr val="D4B29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4705" y="734060"/>
            <a:ext cx="1060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小卷积核的优势：参数更少</a:t>
            </a: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340" y="1896110"/>
            <a:ext cx="3843020" cy="24968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05" y="1602740"/>
            <a:ext cx="6040755" cy="27901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4705" y="4993640"/>
            <a:ext cx="50412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一个卷积核参</a:t>
            </a:r>
            <a:r>
              <a:rPr lang="zh-CN" altLang="en-US" sz="2000"/>
              <a:t>大小是</a:t>
            </a:r>
            <a:r>
              <a:rPr lang="en-US" altLang="zh-CN" sz="2000"/>
              <a:t>5*5*3</a:t>
            </a:r>
            <a:r>
              <a:rPr lang="zh-CN" altLang="en-US" sz="2000"/>
              <a:t>，由于输出为</a:t>
            </a:r>
            <a:r>
              <a:rPr lang="en-US" altLang="zh-CN" sz="2000"/>
              <a:t>1</a:t>
            </a:r>
            <a:r>
              <a:rPr lang="zh-CN" altLang="en-US" sz="2000"/>
              <a:t>通道，所以只需要一个卷积核，参数量为</a:t>
            </a:r>
            <a:r>
              <a:rPr lang="en-US" altLang="zh-CN" sz="2000"/>
              <a:t>5*5*3*1+1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6125845" y="5113020"/>
            <a:ext cx="5359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计算：卷积核尺寸</a:t>
            </a:r>
            <a:r>
              <a:rPr lang="en-US" altLang="zh-CN" sz="2000"/>
              <a:t>*</a:t>
            </a:r>
            <a:r>
              <a:rPr lang="zh-CN" altLang="en-US" sz="2000"/>
              <a:t>输入通道</a:t>
            </a:r>
            <a:r>
              <a:rPr lang="en-US" altLang="zh-CN" sz="2000"/>
              <a:t>*</a:t>
            </a:r>
            <a:r>
              <a:rPr lang="zh-CN" altLang="en-US" sz="2000"/>
              <a:t>输出通道</a:t>
            </a:r>
            <a:r>
              <a:rPr lang="en-US" altLang="zh-CN" sz="2000"/>
              <a:t>+</a:t>
            </a:r>
            <a:r>
              <a:rPr lang="zh-CN" altLang="en-US" sz="2000"/>
              <a:t>偏置</a:t>
            </a:r>
            <a:endParaRPr lang="zh-C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14705" y="734060"/>
            <a:ext cx="10603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小卷积核的优势：参数更少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558290"/>
            <a:ext cx="7848600" cy="3154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58465" y="4939665"/>
            <a:ext cx="4989830" cy="909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一层</a:t>
            </a:r>
            <a:r>
              <a:rPr lang="en-US" altLang="zh-CN" sz="2800"/>
              <a:t>5*5</a:t>
            </a:r>
            <a:r>
              <a:rPr lang="zh-CN" altLang="en-US" sz="2800"/>
              <a:t>：</a:t>
            </a:r>
            <a:endParaRPr lang="zh-CN" altLang="en-US" sz="2800"/>
          </a:p>
          <a:p>
            <a:r>
              <a:rPr lang="zh-CN" altLang="en-US" sz="2800"/>
              <a:t>两层</a:t>
            </a:r>
            <a:r>
              <a:rPr lang="en-US" altLang="zh-CN" sz="2800"/>
              <a:t>3*3</a:t>
            </a:r>
            <a:r>
              <a:rPr lang="zh-CN" altLang="en-US" sz="2800"/>
              <a:t>：</a:t>
            </a:r>
            <a:r>
              <a:rPr lang="en-US" altLang="zh-CN" sz="2800"/>
              <a:t> </a:t>
            </a:r>
            <a:endParaRPr lang="en-US" altLang="zh-CN" sz="2800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86400" y="3327400"/>
          <a:ext cx="1219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219200" imgH="203200" progId="Equation.KSEE3">
                  <p:embed/>
                </p:oleObj>
              </mc:Choice>
              <mc:Fallback>
                <p:oleObj name="" r:id="rId2" imgW="12192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6400" y="3327400"/>
                        <a:ext cx="1219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86400" y="3327400"/>
          <a:ext cx="1219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1219200" imgH="203200" progId="Equation.KSEE3">
                  <p:embed/>
                </p:oleObj>
              </mc:Choice>
              <mc:Fallback>
                <p:oleObj name="" r:id="rId4" imgW="12192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86400" y="3327400"/>
                        <a:ext cx="1219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629785" y="4939030"/>
          <a:ext cx="2884170" cy="41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2791460" imgH="445770" progId="Equation.KSEE3">
                  <p:embed/>
                </p:oleObj>
              </mc:Choice>
              <mc:Fallback>
                <p:oleObj name="" r:id="rId6" imgW="2791460" imgH="445770" progId="Equation.KSEE3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29785" y="4939030"/>
                        <a:ext cx="2884170" cy="417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4575810" y="5410200"/>
          <a:ext cx="3272155" cy="41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8" imgW="1397000" imgH="203200" progId="Equation.KSEE3">
                  <p:embed/>
                </p:oleObj>
              </mc:Choice>
              <mc:Fallback>
                <p:oleObj name="" r:id="rId8" imgW="1397000" imgH="203200" progId="Equation.KSEE3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75810" y="5410200"/>
                        <a:ext cx="3272155" cy="417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70" y="802005"/>
            <a:ext cx="4692015" cy="47028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820" y="918210"/>
            <a:ext cx="5146675" cy="2215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582285" y="3198495"/>
            <a:ext cx="63461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A≈A-LRN：</a:t>
            </a:r>
            <a:r>
              <a:rPr lang="en-US" altLang="zh-CN"/>
              <a:t>LRN</a:t>
            </a:r>
            <a:r>
              <a:rPr lang="zh-CN" altLang="en-US"/>
              <a:t>层作用</a:t>
            </a:r>
            <a:r>
              <a:rPr lang="zh-CN" altLang="en-US"/>
              <a:t>不大</a:t>
            </a:r>
            <a:endParaRPr lang="zh-CN" altLang="en-US"/>
          </a:p>
          <a:p>
            <a:r>
              <a:rPr lang="en-US" altLang="zh-CN"/>
              <a:t>C &gt; B</a:t>
            </a:r>
            <a:r>
              <a:rPr lang="zh-CN" altLang="en-US"/>
              <a:t>：证明增加非线性是有效的。</a:t>
            </a:r>
            <a:endParaRPr lang="zh-CN" altLang="en-US"/>
          </a:p>
          <a:p>
            <a:r>
              <a:rPr lang="en-US" altLang="zh-CN"/>
              <a:t>D &gt; C</a:t>
            </a:r>
            <a:r>
              <a:rPr lang="zh-CN" altLang="en-US"/>
              <a:t>：证明捕捉空间上下文信息比单纯增加非线性更为重要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</a:t>
            </a:r>
            <a:r>
              <a:rPr lang="en-US" altLang="zh-CN"/>
              <a:t>B</a:t>
            </a:r>
            <a:r>
              <a:rPr lang="zh-CN" altLang="en-US"/>
              <a:t>与一个等感受野的浅层网络进行比较：浅层大核网络的</a:t>
            </a:r>
            <a:r>
              <a:rPr lang="en-US" altLang="zh-CN"/>
              <a:t>Top-1</a:t>
            </a:r>
            <a:r>
              <a:rPr lang="zh-CN" altLang="en-US"/>
              <a:t>错误率比</a:t>
            </a:r>
            <a:r>
              <a:rPr lang="en-US" altLang="zh-CN"/>
              <a:t>B</a:t>
            </a:r>
            <a:r>
              <a:rPr lang="zh-CN" altLang="en-US"/>
              <a:t>高出</a:t>
            </a:r>
            <a:r>
              <a:rPr lang="en-US" altLang="zh-CN"/>
              <a:t>7%</a:t>
            </a:r>
            <a:r>
              <a:rPr lang="zh-CN" altLang="en-US"/>
              <a:t>，证明了深层小卷积网络显著优于浅层大</a:t>
            </a:r>
            <a:r>
              <a:rPr lang="zh-CN" altLang="en-US"/>
              <a:t>卷积网络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" y="1178243"/>
            <a:ext cx="5165725" cy="434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66470" y="614045"/>
            <a:ext cx="5617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r>
              <a:rPr lang="zh-CN" altLang="en-US"/>
              <a:t>时全连接层变卷积层：支持不同尺寸大小</a:t>
            </a:r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38670" y="182054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如果是全连接层，最后一次卷积后输出的图像大小必须是</a:t>
            </a:r>
            <a:r>
              <a:rPr lang="en-US" altLang="zh-CN"/>
              <a:t>7*7</a:t>
            </a:r>
            <a:r>
              <a:rPr lang="zh-CN" altLang="en-US"/>
              <a:t>，否则与全连接层的参数量不符，没法正常</a:t>
            </a:r>
            <a:r>
              <a:rPr lang="zh-CN" altLang="en-US"/>
              <a:t>计算。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但是，如果是卷积层，那么无论输入什么尺度的图像，都可以正常计算，只不过输出的大小在</a:t>
            </a:r>
            <a:r>
              <a:rPr lang="zh-CN" altLang="en-US"/>
              <a:t>改变。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</a:t>
            </a:r>
            <a:r>
              <a:rPr lang="en-US" altLang="zh-CN"/>
              <a:t>feature map</a:t>
            </a:r>
            <a:r>
              <a:rPr lang="zh-CN" altLang="en-US"/>
              <a:t>使用全局平均池化就可获得</a:t>
            </a:r>
            <a:r>
              <a:rPr lang="en-US" altLang="zh-CN"/>
              <a:t>1*1*1000</a:t>
            </a:r>
            <a:r>
              <a:rPr lang="zh-CN" altLang="en-US"/>
              <a:t>维</a:t>
            </a:r>
            <a:r>
              <a:rPr lang="zh-CN" altLang="en-US"/>
              <a:t>向量。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45" y="643255"/>
            <a:ext cx="9395460" cy="424243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6599555" y="2146300"/>
            <a:ext cx="1988820" cy="235839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20850" y="5004435"/>
            <a:ext cx="886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缺点：模型臃肿，参数量</a:t>
            </a:r>
            <a:r>
              <a:rPr lang="zh-CN" altLang="en-US"/>
              <a:t>大。第一层全连接层就有</a:t>
            </a:r>
            <a:r>
              <a:rPr lang="en-US" altLang="zh-CN"/>
              <a:t>7</a:t>
            </a:r>
            <a:r>
              <a:rPr lang="en-US" altLang="zh-CN">
                <a:sym typeface="+mn-ea"/>
              </a:rPr>
              <a:t>x7x512x4096</a:t>
            </a:r>
            <a:r>
              <a:rPr lang="zh-CN" altLang="en-US">
                <a:sym typeface="+mn-ea"/>
              </a:rPr>
              <a:t>近一亿多的</a:t>
            </a:r>
            <a:r>
              <a:rPr lang="zh-CN" altLang="en-US">
                <a:sym typeface="+mn-ea"/>
              </a:rPr>
              <a:t>参数量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7084" y="2546457"/>
            <a:ext cx="53340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Going Deeper with Convolutions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GoogLeNet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03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5140" y="1064895"/>
            <a:ext cx="8912225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Going Deeper with Convolutions</a:t>
            </a:r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r>
              <a:rPr lang="zh-CN" altLang="en-US" sz="2800"/>
              <a:t>更深层次的卷积</a:t>
            </a:r>
            <a:endParaRPr lang="zh-CN" altLang="en-US" sz="2800"/>
          </a:p>
          <a:p>
            <a:pPr algn="ctr"/>
            <a:endParaRPr lang="zh-CN" altLang="en-US" sz="2800"/>
          </a:p>
          <a:p>
            <a:pPr algn="ctr"/>
            <a:r>
              <a:rPr lang="zh-CN" altLang="en-US" sz="2800">
                <a:sym typeface="+mn-ea"/>
              </a:rPr>
              <a:t>并行多尺度</a:t>
            </a:r>
            <a:r>
              <a:rPr lang="zh-CN" altLang="en-US" sz="2800">
                <a:sym typeface="+mn-ea"/>
              </a:rPr>
              <a:t>卷积处理的全新架构</a:t>
            </a:r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3865" y="3809365"/>
            <a:ext cx="3947795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633730"/>
            <a:ext cx="5097780" cy="26822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49350" y="4573905"/>
            <a:ext cx="4064000" cy="730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打破一层接一层的线性思维，在同一层级捕捉多尺度特征。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0" y="3590925"/>
            <a:ext cx="4699635" cy="275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70660" y="1029335"/>
            <a:ext cx="2909570" cy="1890395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035425" y="1809750"/>
            <a:ext cx="1059815" cy="3911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845040" y="3928745"/>
            <a:ext cx="2043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问题：参数量计算量很大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11938"/>
          <a:stretch>
            <a:fillRect/>
          </a:stretch>
        </p:blipFill>
        <p:spPr>
          <a:xfrm>
            <a:off x="6771005" y="586740"/>
            <a:ext cx="4846320" cy="23888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8925"/>
          <a:stretch>
            <a:fillRect/>
          </a:stretch>
        </p:blipFill>
        <p:spPr>
          <a:xfrm>
            <a:off x="940435" y="617220"/>
            <a:ext cx="5097780" cy="24428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37435" y="302768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28*28*256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705225" y="225298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28*28*96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43570" y="301879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28*28*256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33890" y="84836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28*28*96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424670" y="2377440"/>
            <a:ext cx="158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28*28*64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1455420" y="3516630"/>
            <a:ext cx="2945130" cy="13036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28*28*5*5*256*96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481M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7783195" y="3516630"/>
            <a:ext cx="2945130" cy="13036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28*28*1*1*256*64</a:t>
            </a:r>
            <a:endParaRPr lang="en-US" altLang="zh-CN"/>
          </a:p>
          <a:p>
            <a:pPr algn="ctr"/>
            <a:r>
              <a:rPr lang="en-US" altLang="zh-CN"/>
              <a:t>28*28*5*5*64*96</a:t>
            </a:r>
            <a:endParaRPr lang="en-US" altLang="zh-CN"/>
          </a:p>
          <a:p>
            <a:pPr algn="ctr"/>
            <a:r>
              <a:rPr lang="en-US" altLang="zh-CN"/>
              <a:t>133M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1455420" y="5040630"/>
            <a:ext cx="2945130" cy="13036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5*5*256*96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614K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7783195" y="5040630"/>
            <a:ext cx="2945130" cy="13036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1*1*256*64</a:t>
            </a:r>
            <a:endParaRPr lang="en-US" altLang="zh-CN"/>
          </a:p>
          <a:p>
            <a:pPr algn="ctr"/>
            <a:r>
              <a:rPr lang="en-US" altLang="zh-CN"/>
              <a:t>5*5*64*96</a:t>
            </a:r>
            <a:endParaRPr lang="en-US" altLang="zh-CN"/>
          </a:p>
          <a:p>
            <a:pPr algn="ctr"/>
            <a:r>
              <a:rPr lang="en-US" altLang="zh-CN"/>
              <a:t>169K</a:t>
            </a:r>
            <a:endParaRPr lang="en-US" altLang="zh-CN"/>
          </a:p>
        </p:txBody>
      </p:sp>
      <p:sp>
        <p:nvSpPr>
          <p:cNvPr id="16" name="圆角矩形 15"/>
          <p:cNvSpPr/>
          <p:nvPr/>
        </p:nvSpPr>
        <p:spPr>
          <a:xfrm>
            <a:off x="5650230" y="3700145"/>
            <a:ext cx="1173480" cy="716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计算量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658485" y="5252085"/>
            <a:ext cx="1173480" cy="716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参数量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10835" y="549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引入</a:t>
            </a:r>
            <a:r>
              <a:rPr lang="en-US" altLang="zh-CN"/>
              <a:t>1*1</a:t>
            </a:r>
            <a:r>
              <a:rPr lang="zh-CN" altLang="en-US"/>
              <a:t>卷积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21885" y="3164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通过降维来降低计算量</a:t>
            </a:r>
            <a:r>
              <a:rPr lang="zh-CN" altLang="en-US"/>
              <a:t>参数量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747395"/>
            <a:ext cx="3314700" cy="4145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" y="643255"/>
            <a:ext cx="5925185" cy="267589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3747770" y="1559560"/>
            <a:ext cx="1196975" cy="148780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365625" y="32385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为解决类似</a:t>
            </a:r>
            <a:r>
              <a:rPr lang="en-US" altLang="zh-CN"/>
              <a:t>VGG</a:t>
            </a:r>
            <a:r>
              <a:rPr lang="zh-CN" altLang="en-US"/>
              <a:t>的第一层全连接层参数爆炸的问题，</a:t>
            </a:r>
            <a:r>
              <a:rPr lang="en-US" altLang="zh-CN"/>
              <a:t>GoogLeNet</a:t>
            </a:r>
            <a:r>
              <a:rPr lang="zh-CN" altLang="en-US"/>
              <a:t>在全连接层前增加了</a:t>
            </a:r>
            <a:r>
              <a:rPr lang="zh-CN" altLang="en-US"/>
              <a:t>平均池化层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932555"/>
            <a:ext cx="3642995" cy="2547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5" y="5322570"/>
            <a:ext cx="1346835" cy="95313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9094470" y="2298700"/>
            <a:ext cx="1553845" cy="532130"/>
          </a:xfrm>
          <a:prstGeom prst="roundRect">
            <a:avLst/>
          </a:prstGeom>
          <a:ln w="38100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8960" y="2146935"/>
            <a:ext cx="5910580" cy="8616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accent1">
                    <a:lumMod val="10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Deep Residual Learning for Image Recognition</a:t>
            </a:r>
            <a:endParaRPr kumimoji="1" lang="en-US" altLang="zh-CN" sz="2800" dirty="0">
              <a:solidFill>
                <a:schemeClr val="accent1">
                  <a:lumMod val="10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7084" y="3015436"/>
            <a:ext cx="4151376" cy="8117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ResNet</a:t>
            </a:r>
            <a:endParaRPr kumimoji="1" lang="en-US" altLang="zh-CN" sz="3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74972" y="1180320"/>
            <a:ext cx="5417028" cy="5293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kumimoji="1" lang="en-US" altLang="zh-CN" sz="34400" dirty="0">
                <a:solidFill>
                  <a:schemeClr val="accent1">
                    <a:lumMod val="20000"/>
                    <a:lumOff val="8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04</a:t>
            </a:r>
            <a:endParaRPr kumimoji="1" lang="zh-CN" altLang="en-US" sz="34400" dirty="0">
              <a:solidFill>
                <a:schemeClr val="accent1">
                  <a:lumMod val="20000"/>
                  <a:lumOff val="8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4555" y="1187450"/>
            <a:ext cx="79317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/>
              <a:t>Deep Residual Learning for Image Recognition</a:t>
            </a:r>
            <a:endParaRPr lang="en-US" altLang="zh-CN" sz="2400"/>
          </a:p>
          <a:p>
            <a:endParaRPr lang="en-US" altLang="zh-CN" sz="2400"/>
          </a:p>
          <a:p>
            <a:pPr algn="ctr"/>
            <a:r>
              <a:rPr lang="zh-CN" altLang="en-US" sz="2400"/>
              <a:t>用于图像识别的深度残差学习</a:t>
            </a:r>
            <a:endParaRPr lang="zh-CN" altLang="en-US" sz="2400"/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不直接学习目标映射</a:t>
            </a:r>
            <a:r>
              <a:rPr lang="en-US" altLang="zh-CN" sz="2400"/>
              <a:t> H(x)</a:t>
            </a:r>
            <a:r>
              <a:rPr lang="zh-CN" altLang="en-US" sz="2400"/>
              <a:t>，而是学习其与输入</a:t>
            </a:r>
            <a:r>
              <a:rPr lang="en-US" altLang="zh-CN" sz="2400"/>
              <a:t> x</a:t>
            </a:r>
            <a:r>
              <a:rPr lang="zh-CN" altLang="en-US" sz="2400"/>
              <a:t>的残差</a:t>
            </a:r>
            <a:r>
              <a:rPr lang="en-US" altLang="zh-CN" sz="2400"/>
              <a:t>​ F(x) = H(x) - x</a:t>
            </a:r>
            <a:endParaRPr lang="en-US" altLang="zh-CN" sz="2400"/>
          </a:p>
          <a:p>
            <a:pPr algn="ctr"/>
            <a:endParaRPr lang="en-US" altLang="zh-CN" sz="2400"/>
          </a:p>
          <a:p>
            <a:pPr algn="ctr"/>
            <a:r>
              <a:rPr lang="en-US" altLang="zh-CN" sz="2400"/>
              <a:t> </a:t>
            </a:r>
            <a:r>
              <a:rPr lang="zh-CN" altLang="en-US" sz="2400"/>
              <a:t>证明了训练成百上千层的网络是可行的</a:t>
            </a:r>
            <a:endParaRPr lang="zh-CN" altLang="en-US" sz="240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6687"/>
          <a:stretch>
            <a:fillRect/>
          </a:stretch>
        </p:blipFill>
        <p:spPr>
          <a:xfrm>
            <a:off x="4369435" y="4571365"/>
            <a:ext cx="3615690" cy="17183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5" y="850900"/>
            <a:ext cx="5554980" cy="21424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24280" y="3539490"/>
            <a:ext cx="669734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思路：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一个</a:t>
            </a:r>
            <a:r>
              <a:rPr lang="en-US" altLang="zh-CN">
                <a:sym typeface="+mn-ea"/>
              </a:rPr>
              <a:t>56</a:t>
            </a:r>
            <a:r>
              <a:rPr lang="zh-CN" altLang="en-US">
                <a:sym typeface="+mn-ea"/>
              </a:rPr>
              <a:t>层的网络，至少应该能做到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层网络能做到的事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32320" y="1569720"/>
            <a:ext cx="4622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网络退化：更深层的网络反而不如浅层网络。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3850640" y="4069080"/>
            <a:ext cx="508000" cy="5384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9652000" y="3400425"/>
            <a:ext cx="721360" cy="9347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复制</a:t>
            </a:r>
            <a:r>
              <a:rPr lang="en-US" altLang="zh-CN"/>
              <a:t>20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0514965" y="3400425"/>
            <a:ext cx="721360" cy="9347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36</a:t>
            </a:r>
            <a:r>
              <a:rPr lang="zh-CN" altLang="en-US"/>
              <a:t>层恒等</a:t>
            </a:r>
            <a:r>
              <a:rPr lang="zh-CN" altLang="en-US"/>
              <a:t>映射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868920" y="3400425"/>
            <a:ext cx="721360" cy="9347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56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8839200" y="3756025"/>
            <a:ext cx="660400" cy="2844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24280" y="4681220"/>
            <a:ext cx="6938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会不会是网络很难学习恒等映射导致深层网络反而不如浅层</a:t>
            </a:r>
            <a:r>
              <a:rPr lang="zh-CN" altLang="en-US"/>
              <a:t>网络？</a:t>
            </a: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3850640" y="5049520"/>
            <a:ext cx="508000" cy="5384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225550" y="5684520"/>
            <a:ext cx="9566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假设：优化残差映射比优化原始映射更容易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8940" y="1089025"/>
            <a:ext cx="3954780" cy="2255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085" y="3243580"/>
            <a:ext cx="2049780" cy="2895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13145" y="3815080"/>
            <a:ext cx="5241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传统网络是对输入</a:t>
            </a:r>
            <a:r>
              <a:rPr lang="en-US" altLang="zh-CN"/>
              <a:t>“</a:t>
            </a:r>
            <a:r>
              <a:rPr lang="zh-CN" altLang="en-US"/>
              <a:t>推倒重建</a:t>
            </a:r>
            <a:r>
              <a:rPr lang="en-US" altLang="zh-CN"/>
              <a:t>”</a:t>
            </a:r>
            <a:r>
              <a:rPr lang="zh-CN" altLang="en-US"/>
              <a:t>，每次都要从零开始。残差网络是</a:t>
            </a:r>
            <a:r>
              <a:rPr lang="en-US" altLang="zh-CN"/>
              <a:t>“</a:t>
            </a:r>
            <a:r>
              <a:rPr lang="zh-CN" altLang="en-US"/>
              <a:t>微调</a:t>
            </a:r>
            <a:r>
              <a:rPr lang="en-US" altLang="zh-CN"/>
              <a:t>”</a:t>
            </a:r>
            <a:r>
              <a:rPr lang="zh-CN" altLang="en-US"/>
              <a:t>，只需在原有结构上学习需要改进的部分。</a:t>
            </a:r>
            <a:endParaRPr lang="zh-CN" altLang="en-US"/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 rot="10800000">
            <a:off x="2157730" y="1419225"/>
            <a:ext cx="1970405" cy="19253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380" y="3811270"/>
            <a:ext cx="4424680" cy="228219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109595" y="584200"/>
            <a:ext cx="6577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假设：</a:t>
            </a:r>
            <a:r>
              <a:rPr lang="zh-CN" altLang="en-US"/>
              <a:t>优化残差映射比优化原始映射更容易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03340" y="5207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残差</a:t>
            </a:r>
            <a:r>
              <a:rPr lang="en-US" altLang="zh-CN"/>
              <a:t>Fx</a:t>
            </a:r>
            <a:r>
              <a:rPr lang="zh-CN" altLang="en-US"/>
              <a:t>更接近</a:t>
            </a:r>
            <a:r>
              <a:rPr lang="en-US" altLang="zh-CN"/>
              <a:t>0</a:t>
            </a:r>
            <a:r>
              <a:rPr lang="zh-CN" altLang="en-US"/>
              <a:t>！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06185" y="5098415"/>
            <a:ext cx="4144645" cy="1017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精准度</a:t>
            </a:r>
            <a:r>
              <a:rPr lang="en-US" altLang="zh-CN"/>
              <a:t>C</a:t>
            </a:r>
            <a:r>
              <a:rPr lang="zh-CN" altLang="en-US"/>
              <a:t>优于</a:t>
            </a:r>
            <a:r>
              <a:rPr lang="en-US" altLang="zh-CN"/>
              <a:t>B</a:t>
            </a:r>
            <a:r>
              <a:rPr lang="zh-CN" altLang="en-US"/>
              <a:t>优于</a:t>
            </a:r>
            <a:r>
              <a:rPr lang="en-US" altLang="zh-CN"/>
              <a:t>A</a:t>
            </a:r>
            <a:r>
              <a:rPr lang="zh-CN" altLang="en-US"/>
              <a:t>，但增加了部分计算量和</a:t>
            </a:r>
            <a:r>
              <a:rPr lang="zh-CN" altLang="en-US"/>
              <a:t>参数量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45" y="2308225"/>
            <a:ext cx="2999740" cy="3260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12535" y="126682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r>
              <a:rPr lang="zh-CN" altLang="en-US"/>
              <a:t>：所有</a:t>
            </a:r>
            <a:r>
              <a:rPr lang="en-US" altLang="zh-CN"/>
              <a:t>shortcut</a:t>
            </a:r>
            <a:r>
              <a:rPr lang="zh-CN" altLang="en-US"/>
              <a:t>无额外参数，升维时用</a:t>
            </a:r>
            <a:r>
              <a:rPr lang="en-US" altLang="zh-CN"/>
              <a:t>padding</a:t>
            </a:r>
            <a:r>
              <a:rPr lang="zh-CN" altLang="en-US"/>
              <a:t>补</a:t>
            </a:r>
            <a:r>
              <a:rPr lang="en-US" altLang="zh-CN"/>
              <a:t>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</a:t>
            </a:r>
            <a:r>
              <a:rPr lang="zh-CN" altLang="en-US"/>
              <a:t>：平常</a:t>
            </a:r>
            <a:r>
              <a:rPr lang="en-US" altLang="zh-CN"/>
              <a:t>shortcut</a:t>
            </a:r>
            <a:r>
              <a:rPr lang="zh-CN" altLang="en-US"/>
              <a:t>不修改，升维时用</a:t>
            </a:r>
            <a:r>
              <a:rPr lang="en-US" altLang="zh-CN"/>
              <a:t>1*1</a:t>
            </a:r>
            <a:r>
              <a:rPr lang="zh-CN" altLang="en-US"/>
              <a:t>卷积升</a:t>
            </a:r>
            <a:r>
              <a:rPr lang="zh-CN" altLang="en-US"/>
              <a:t>维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C</a:t>
            </a:r>
            <a:r>
              <a:rPr lang="zh-CN" altLang="en-US"/>
              <a:t>：所有的</a:t>
            </a:r>
            <a:r>
              <a:rPr lang="en-US" altLang="zh-CN"/>
              <a:t>shortcut</a:t>
            </a:r>
            <a:r>
              <a:rPr lang="zh-CN" altLang="en-US"/>
              <a:t>都使用</a:t>
            </a:r>
            <a:r>
              <a:rPr lang="en-US" altLang="zh-CN"/>
              <a:t>1*1</a:t>
            </a:r>
            <a:r>
              <a:rPr lang="zh-CN" altLang="en-US"/>
              <a:t>卷积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35" y="3646170"/>
            <a:ext cx="3192780" cy="9067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895" y="559435"/>
            <a:ext cx="2749550" cy="15684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95" y="880110"/>
            <a:ext cx="2171700" cy="53416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505" y="1085850"/>
            <a:ext cx="1798320" cy="51358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615" y="2350770"/>
            <a:ext cx="6370320" cy="21564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0425" y="1063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bottleneck</a:t>
            </a:r>
            <a:r>
              <a:rPr lang="zh-CN" altLang="en-US"/>
              <a:t>结构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05" y="1737995"/>
            <a:ext cx="5750560" cy="19710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180" y="2068195"/>
            <a:ext cx="4008120" cy="13106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2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3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4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5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6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7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8.xml><?xml version="1.0" encoding="utf-8"?>
<p:tagLst xmlns:p="http://schemas.openxmlformats.org/presentationml/2006/main">
  <p:tag name="KSO_WM_DIAGRAM_VIRTUALLY_FRAME" val="{&quot;height&quot;:290.1390184810466,&quot;left&quot;:65.8,&quot;top&quot;:205.31098151895338,&quot;width&quot;:858.95}"/>
</p:tagLst>
</file>

<file path=ppt/tags/tag9.xml><?xml version="1.0" encoding="utf-8"?>
<p:tagLst xmlns:p="http://schemas.openxmlformats.org/presentationml/2006/main">
  <p:tag name="COMMONDATA" val="eyJoZGlkIjoiODA2NGM4M2Q0MTk3ZmNiZjdiODk3MzMwMTRmZjYwOTIifQ=="/>
  <p:tag name="KSO_WPP_MARK_KEY" val="1166db0c-4b7c-41cc-b0a4-0dfb7ed5b7d7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14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4B296"/>
      </a:accent1>
      <a:accent2>
        <a:srgbClr val="D4B29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WPS 演示</Application>
  <PresentationFormat>宽屏</PresentationFormat>
  <Paragraphs>215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思源黑体</vt:lpstr>
      <vt:lpstr>黑体</vt:lpstr>
      <vt:lpstr>思源黑体 CN Medium</vt:lpstr>
      <vt:lpstr>微软雅黑</vt:lpstr>
      <vt:lpstr>Arial Unicode MS</vt:lpstr>
      <vt:lpstr>Calibri</vt:lpstr>
      <vt:lpstr>思源黑体 CN Medium</vt:lpstr>
      <vt:lpstr>Office 主题​​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宋航</cp:lastModifiedBy>
  <cp:revision>20</cp:revision>
  <dcterms:created xsi:type="dcterms:W3CDTF">2024-03-22T13:03:00Z</dcterms:created>
  <dcterms:modified xsi:type="dcterms:W3CDTF">2025-11-27T01:57:44Z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AFD5C178861C42509AEB73D327E69044_11</vt:lpwstr>
  </property>
  <property fmtid="{D5CDD505-2E9C-101B-9397-08002B2CF9AE}" pid="3" name="KSOProductBuildVer">
    <vt:lpwstr>2052-12.1.0.21541</vt:lpwstr>
  </property>
</Properties>
</file>