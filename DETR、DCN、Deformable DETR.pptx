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0" r:id="rId6"/>
    <p:sldId id="259" r:id="rId7"/>
    <p:sldId id="266" r:id="rId8"/>
    <p:sldId id="261" r:id="rId9"/>
    <p:sldId id="262" r:id="rId10"/>
    <p:sldId id="265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4" r:id="rId21"/>
    <p:sldId id="278" r:id="rId22"/>
    <p:sldId id="27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5" autoAdjust="0"/>
    <p:restoredTop sz="94660"/>
  </p:normalViewPr>
  <p:slideViewPr>
    <p:cSldViewPr snapToGrid="0">
      <p:cViewPr varScale="1">
        <p:scale>
          <a:sx n="95" d="100"/>
          <a:sy n="95" d="100"/>
        </p:scale>
        <p:origin x="96" y="1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4D0CF-2979-A216-4F56-D282183B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B7B842-FCE3-1751-36EE-4AC416E5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CD6DF-C2FE-CCF2-1F29-80B1B8D9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25266-DEF1-40FD-BF21-A7DF3967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AB5BAD-C5DA-5535-A3A7-4EB66139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6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1BB03-0B53-79B6-F24A-51A314F7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C068B-CCB0-4A95-FD52-8C7B00EA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DDDF90-610E-6CA9-F412-7A4E3FAC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68C7D-C1BC-D06A-CA42-CD53B36C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E3C32-705D-9DBB-2A2A-55F95496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8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48008-918A-7C1C-32C5-626A5956E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ECE063-18BC-3894-AFD7-EB74FBBE1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9AD2F-C44C-CF44-597A-313692B1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246754-5055-13BF-A2CF-05FDD9B4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ABA594-A669-6540-B17A-CA46F8AC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80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B9979-7C12-5990-C992-129E4F45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CC7ECE-DC67-A26F-848B-D78852287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06828E-9116-C1FA-22E2-EF60BCEF6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A8E72C-7EF3-54AE-5B7A-0F5D2E66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3C668C-6E00-C5D0-1503-316EEDAB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85FAD9-E615-8CB4-10DE-38A1DE0D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6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89CF7-F331-97B9-99B7-065C38C7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321E5E-FB42-5124-246C-5B3CE1AA6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FDDA26-5961-2022-9869-2DD22BE3C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AF06E3-2001-6086-9EE4-99CB1E846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019233-CDBA-8095-5AA2-BC3568E01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F763AD-FC65-7D64-B621-297A8E5C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D41CC2-A3C7-ED5D-2C42-9F2B0635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9CA186-3326-6D10-B1EB-196DC6F4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174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BEF87-4D1E-06DD-B822-E361D7B8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B0EE0F-EDAA-262B-053F-FF309EF8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DC71CA-B3DF-4E93-2F80-A84800FB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6C532F-4F92-6FBC-9E30-ADE2A395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70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1AA1E2-9D03-DA2F-04CD-BFCF401D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42D116-8940-2BB8-E703-34C7F8E6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F29F44-0099-D822-E7EC-14CE00B8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94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9FCBA-B3E3-9018-0F4A-A220D8119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D7AAB-59D7-D894-E4FF-45EA1B2E8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13108D-8A7B-D728-AFD1-373CE863F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FA23D6-383E-558A-94AA-0A01350F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C1EF43-F42C-0134-78BA-BF85D60B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C9BA09-9632-1028-FEE5-175AD142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93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E16E5-2456-925B-ABA3-CDCA39B0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8A94C0-1268-3ED2-6A9B-99D94AB35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643739-7F21-BECD-E09F-CC270D1A8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1FC293-3834-C8BB-7C8C-58CAD24C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871A62-17D4-E437-48F1-9A8FEFDB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463752-4FA5-F485-E644-55C8564C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33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0FE27-6100-220E-3DA1-244220D7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BCB716-A087-001C-FAAA-337E3E718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F3064-B756-B806-1A31-8733FF39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A8C17-76E1-80D2-5D34-856D71C9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E6B03-273F-8669-CE6E-A5A97DE1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3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901061-2AE1-951C-E1F0-4963698B5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4FE57-FA30-20F1-958B-007F75BDE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E58C7A-387E-9E4C-22A0-D73AB7FF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CF194-AB0B-B315-C5D9-E8C8157A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1EF52D-D85B-C832-F019-3C45DD74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0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FC20B-9012-9E8D-776A-9CEE71C3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064121-E8E0-4046-EB81-AF26EE815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795C1-6D6F-A962-8DFF-8A57E0B62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F0FDB-5247-420E-900E-7F1F5D086172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271343-E40F-1FB3-0D8F-07DAF40F9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CB1CF-647E-BB71-C9FC-DDA9296CB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04292-FAFB-4D7C-9F36-36D1A59F5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48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B160AE-77C7-6A8C-F77D-0735D6D70E3F}"/>
              </a:ext>
            </a:extLst>
          </p:cNvPr>
          <p:cNvSpPr txBox="1"/>
          <p:nvPr/>
        </p:nvSpPr>
        <p:spPr>
          <a:xfrm>
            <a:off x="1402287" y="1342100"/>
            <a:ext cx="3875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Much more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elegant</a:t>
            </a:r>
            <a:r>
              <a:rPr lang="en-US" altLang="zh-CN" sz="2800" dirty="0"/>
              <a:t>…..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E4BEF1-7BAC-CB2D-ED98-6B7C184813CC}"/>
              </a:ext>
            </a:extLst>
          </p:cNvPr>
          <p:cNvSpPr txBox="1"/>
          <p:nvPr/>
        </p:nvSpPr>
        <p:spPr>
          <a:xfrm>
            <a:off x="5445491" y="2782669"/>
            <a:ext cx="1704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accent2">
                    <a:lumMod val="75000"/>
                  </a:schemeClr>
                </a:solidFill>
              </a:rPr>
              <a:t>DETR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C52439-7240-F1F2-81DD-26795CF62F9B}"/>
              </a:ext>
            </a:extLst>
          </p:cNvPr>
          <p:cNvSpPr txBox="1"/>
          <p:nvPr/>
        </p:nvSpPr>
        <p:spPr>
          <a:xfrm>
            <a:off x="4246744" y="3429000"/>
            <a:ext cx="50261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De</a:t>
            </a:r>
            <a:r>
              <a:rPr lang="en-US" altLang="zh-CN" sz="2800" dirty="0"/>
              <a:t>tection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 Tr</a:t>
            </a:r>
            <a:r>
              <a:rPr lang="en-US" altLang="zh-CN" sz="2800" dirty="0"/>
              <a:t>ansformer</a:t>
            </a:r>
          </a:p>
        </p:txBody>
      </p:sp>
    </p:spTree>
    <p:extLst>
      <p:ext uri="{BB962C8B-B14F-4D97-AF65-F5344CB8AC3E}">
        <p14:creationId xmlns:p14="http://schemas.microsoft.com/office/powerpoint/2010/main" val="415945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>
            <a:extLst>
              <a:ext uri="{FF2B5EF4-FFF2-40B4-BE49-F238E27FC236}">
                <a16:creationId xmlns:a16="http://schemas.microsoft.com/office/drawing/2014/main" id="{8DAAE52F-F9CE-CE10-E0B6-0C0C64420DB3}"/>
              </a:ext>
            </a:extLst>
          </p:cNvPr>
          <p:cNvSpPr/>
          <p:nvPr/>
        </p:nvSpPr>
        <p:spPr>
          <a:xfrm>
            <a:off x="5655428" y="1991147"/>
            <a:ext cx="4658402" cy="12671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275C68-3237-DF34-9D3D-D2E9FAA5BC10}"/>
              </a:ext>
            </a:extLst>
          </p:cNvPr>
          <p:cNvSpPr txBox="1"/>
          <p:nvPr/>
        </p:nvSpPr>
        <p:spPr>
          <a:xfrm>
            <a:off x="476636" y="328312"/>
            <a:ext cx="25253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Transformer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54B931-9696-B4D5-B239-36296FDDD730}"/>
              </a:ext>
            </a:extLst>
          </p:cNvPr>
          <p:cNvSpPr txBox="1"/>
          <p:nvPr/>
        </p:nvSpPr>
        <p:spPr>
          <a:xfrm>
            <a:off x="2492608" y="401747"/>
            <a:ext cx="113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Review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15C7B9C-A50D-B049-B977-866CC162AA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5" r="16516"/>
          <a:stretch>
            <a:fillRect/>
          </a:stretch>
        </p:blipFill>
        <p:spPr bwMode="auto">
          <a:xfrm>
            <a:off x="369964" y="888878"/>
            <a:ext cx="3299909" cy="520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3B114C5-66F4-3890-8AAE-708F7FFDF934}"/>
              </a:ext>
            </a:extLst>
          </p:cNvPr>
          <p:cNvSpPr txBox="1"/>
          <p:nvPr/>
        </p:nvSpPr>
        <p:spPr>
          <a:xfrm>
            <a:off x="6313351" y="1229739"/>
            <a:ext cx="1123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MH(S)A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3DD02C-87C0-6A74-3FB6-A850E982B4F5}"/>
              </a:ext>
            </a:extLst>
          </p:cNvPr>
          <p:cNvSpPr txBox="1"/>
          <p:nvPr/>
        </p:nvSpPr>
        <p:spPr>
          <a:xfrm>
            <a:off x="7959570" y="1229739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FFN</a:t>
            </a:r>
            <a:endParaRPr lang="zh-CN" alt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C60765-7572-11CA-AB9D-D7AE100F45B8}"/>
              </a:ext>
            </a:extLst>
          </p:cNvPr>
          <p:cNvSpPr txBox="1"/>
          <p:nvPr/>
        </p:nvSpPr>
        <p:spPr>
          <a:xfrm>
            <a:off x="6333041" y="2094844"/>
            <a:ext cx="1123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MMHSA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84A9BA-CA66-D99F-363E-A12D44905E01}"/>
              </a:ext>
            </a:extLst>
          </p:cNvPr>
          <p:cNvSpPr txBox="1"/>
          <p:nvPr/>
        </p:nvSpPr>
        <p:spPr>
          <a:xfrm>
            <a:off x="5599419" y="1236412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FA5B5B-739D-B9F9-B321-0D8E8D944F59}"/>
              </a:ext>
            </a:extLst>
          </p:cNvPr>
          <p:cNvSpPr txBox="1"/>
          <p:nvPr/>
        </p:nvSpPr>
        <p:spPr>
          <a:xfrm>
            <a:off x="7967994" y="2094844"/>
            <a:ext cx="1123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MH(C)A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E0E563-294B-8C39-6287-0D9A3FB9D291}"/>
              </a:ext>
            </a:extLst>
          </p:cNvPr>
          <p:cNvSpPr txBox="1"/>
          <p:nvPr/>
        </p:nvSpPr>
        <p:spPr>
          <a:xfrm>
            <a:off x="4638739" y="789977"/>
            <a:ext cx="705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Pos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357F48-7DE3-3D32-66C0-1B4AA96FCD8B}"/>
              </a:ext>
            </a:extLst>
          </p:cNvPr>
          <p:cNvSpPr txBox="1"/>
          <p:nvPr/>
        </p:nvSpPr>
        <p:spPr>
          <a:xfrm>
            <a:off x="11059717" y="2083620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Linear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568603-7570-DBA9-B40C-B775AAA84F71}"/>
              </a:ext>
            </a:extLst>
          </p:cNvPr>
          <p:cNvSpPr txBox="1"/>
          <p:nvPr/>
        </p:nvSpPr>
        <p:spPr>
          <a:xfrm>
            <a:off x="3627937" y="1229739"/>
            <a:ext cx="898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Input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DA9846-56CA-1B7E-A9A8-2A3C0018D5EE}"/>
              </a:ext>
            </a:extLst>
          </p:cNvPr>
          <p:cNvSpPr txBox="1"/>
          <p:nvPr/>
        </p:nvSpPr>
        <p:spPr>
          <a:xfrm>
            <a:off x="4309135" y="1225162"/>
            <a:ext cx="156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Embedding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90F2DB-F0DD-730A-4869-2112E754F723}"/>
              </a:ext>
            </a:extLst>
          </p:cNvPr>
          <p:cNvSpPr txBox="1"/>
          <p:nvPr/>
        </p:nvSpPr>
        <p:spPr>
          <a:xfrm>
            <a:off x="7256895" y="1224501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9A8044-1972-3AB3-5367-F5A64C8D777C}"/>
              </a:ext>
            </a:extLst>
          </p:cNvPr>
          <p:cNvSpPr txBox="1"/>
          <p:nvPr/>
        </p:nvSpPr>
        <p:spPr>
          <a:xfrm>
            <a:off x="8522129" y="1220585"/>
            <a:ext cx="732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94BB5D9-BE0E-55D2-A8F0-730D4F3E8586}"/>
              </a:ext>
            </a:extLst>
          </p:cNvPr>
          <p:cNvCxnSpPr>
            <a:cxnSpLocks/>
          </p:cNvCxnSpPr>
          <p:nvPr/>
        </p:nvCxnSpPr>
        <p:spPr>
          <a:xfrm>
            <a:off x="4234468" y="1405689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911292E-0FFB-9271-E40C-C85298381B6D}"/>
              </a:ext>
            </a:extLst>
          </p:cNvPr>
          <p:cNvCxnSpPr>
            <a:cxnSpLocks/>
          </p:cNvCxnSpPr>
          <p:nvPr/>
        </p:nvCxnSpPr>
        <p:spPr>
          <a:xfrm>
            <a:off x="5537025" y="1405689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E483353-628C-6E9B-F562-CFAF3A992EBC}"/>
              </a:ext>
            </a:extLst>
          </p:cNvPr>
          <p:cNvCxnSpPr>
            <a:cxnSpLocks/>
          </p:cNvCxnSpPr>
          <p:nvPr/>
        </p:nvCxnSpPr>
        <p:spPr>
          <a:xfrm>
            <a:off x="6240215" y="1405689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877354E-6E52-EF1E-A0C4-FB87EEFCD6BF}"/>
              </a:ext>
            </a:extLst>
          </p:cNvPr>
          <p:cNvCxnSpPr>
            <a:cxnSpLocks/>
          </p:cNvCxnSpPr>
          <p:nvPr/>
        </p:nvCxnSpPr>
        <p:spPr>
          <a:xfrm>
            <a:off x="7182228" y="1405002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DB7B144-A658-F0F3-2089-5E9116137A3B}"/>
              </a:ext>
            </a:extLst>
          </p:cNvPr>
          <p:cNvCxnSpPr>
            <a:cxnSpLocks/>
          </p:cNvCxnSpPr>
          <p:nvPr/>
        </p:nvCxnSpPr>
        <p:spPr>
          <a:xfrm>
            <a:off x="7877750" y="1405689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9A763D0-F522-26DF-0368-D5765E452360}"/>
              </a:ext>
            </a:extLst>
          </p:cNvPr>
          <p:cNvCxnSpPr>
            <a:cxnSpLocks/>
          </p:cNvCxnSpPr>
          <p:nvPr/>
        </p:nvCxnSpPr>
        <p:spPr>
          <a:xfrm>
            <a:off x="8450523" y="1399016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37BCC61-1EF2-7708-7023-C061367CD25E}"/>
              </a:ext>
            </a:extLst>
          </p:cNvPr>
          <p:cNvSpPr txBox="1"/>
          <p:nvPr/>
        </p:nvSpPr>
        <p:spPr>
          <a:xfrm>
            <a:off x="4757893" y="1075412"/>
            <a:ext cx="406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76CF592-216E-0A4C-BCF1-14BB2BEFB54E}"/>
              </a:ext>
            </a:extLst>
          </p:cNvPr>
          <p:cNvSpPr txBox="1"/>
          <p:nvPr/>
        </p:nvSpPr>
        <p:spPr>
          <a:xfrm>
            <a:off x="4638739" y="2411584"/>
            <a:ext cx="705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Pos</a:t>
            </a:r>
            <a:endParaRPr lang="zh-CN" altLang="en-US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87B1245-45E1-E56B-3EAD-42E031E3B3F7}"/>
              </a:ext>
            </a:extLst>
          </p:cNvPr>
          <p:cNvSpPr txBox="1"/>
          <p:nvPr/>
        </p:nvSpPr>
        <p:spPr>
          <a:xfrm>
            <a:off x="3650435" y="2077608"/>
            <a:ext cx="898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Input</a:t>
            </a:r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7DF3EF-C0EE-85AB-3AD2-FD020289C42C}"/>
              </a:ext>
            </a:extLst>
          </p:cNvPr>
          <p:cNvSpPr txBox="1"/>
          <p:nvPr/>
        </p:nvSpPr>
        <p:spPr>
          <a:xfrm>
            <a:off x="4331633" y="2073031"/>
            <a:ext cx="156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Embedding</a:t>
            </a:r>
            <a:endParaRPr lang="zh-CN" altLang="en-US" sz="16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A9C98B9-6F6B-16E0-E066-7A233717A00A}"/>
              </a:ext>
            </a:extLst>
          </p:cNvPr>
          <p:cNvCxnSpPr>
            <a:cxnSpLocks/>
          </p:cNvCxnSpPr>
          <p:nvPr/>
        </p:nvCxnSpPr>
        <p:spPr>
          <a:xfrm>
            <a:off x="4256966" y="2253558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A9D707C-4849-DAB1-303E-E6ABB98DF5D3}"/>
              </a:ext>
            </a:extLst>
          </p:cNvPr>
          <p:cNvSpPr txBox="1"/>
          <p:nvPr/>
        </p:nvSpPr>
        <p:spPr>
          <a:xfrm>
            <a:off x="4759673" y="2273085"/>
            <a:ext cx="406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476D9E9-C36B-1BCF-F740-255635763BB7}"/>
              </a:ext>
            </a:extLst>
          </p:cNvPr>
          <p:cNvSpPr txBox="1"/>
          <p:nvPr/>
        </p:nvSpPr>
        <p:spPr>
          <a:xfrm>
            <a:off x="9687364" y="2083620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FFN</a:t>
            </a:r>
            <a:endParaRPr lang="zh-CN" alt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FD56B98-05C1-A009-5108-2B5CF845E2A2}"/>
              </a:ext>
            </a:extLst>
          </p:cNvPr>
          <p:cNvSpPr txBox="1"/>
          <p:nvPr/>
        </p:nvSpPr>
        <p:spPr>
          <a:xfrm>
            <a:off x="5599419" y="2095531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3CE98A-917E-E370-7807-7E413D4DE4AB}"/>
              </a:ext>
            </a:extLst>
          </p:cNvPr>
          <p:cNvSpPr txBox="1"/>
          <p:nvPr/>
        </p:nvSpPr>
        <p:spPr>
          <a:xfrm>
            <a:off x="7256895" y="2083620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0110F41-B207-9D17-FF00-C79B7AEDC692}"/>
              </a:ext>
            </a:extLst>
          </p:cNvPr>
          <p:cNvSpPr txBox="1"/>
          <p:nvPr/>
        </p:nvSpPr>
        <p:spPr>
          <a:xfrm>
            <a:off x="8941477" y="2092937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E06F930-5EE4-B7AC-6C20-3907C00F5D2F}"/>
              </a:ext>
            </a:extLst>
          </p:cNvPr>
          <p:cNvCxnSpPr>
            <a:cxnSpLocks/>
          </p:cNvCxnSpPr>
          <p:nvPr/>
        </p:nvCxnSpPr>
        <p:spPr>
          <a:xfrm>
            <a:off x="5537025" y="2264808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53A4E4B-B80C-C8F9-7935-65C5B8BAD976}"/>
              </a:ext>
            </a:extLst>
          </p:cNvPr>
          <p:cNvCxnSpPr>
            <a:cxnSpLocks/>
          </p:cNvCxnSpPr>
          <p:nvPr/>
        </p:nvCxnSpPr>
        <p:spPr>
          <a:xfrm>
            <a:off x="6240215" y="2264808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FB6C4A7-E160-5E8D-7469-A9FFB6316339}"/>
              </a:ext>
            </a:extLst>
          </p:cNvPr>
          <p:cNvCxnSpPr>
            <a:cxnSpLocks/>
          </p:cNvCxnSpPr>
          <p:nvPr/>
        </p:nvCxnSpPr>
        <p:spPr>
          <a:xfrm>
            <a:off x="7182228" y="2264121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52386C0-01D0-288C-78CA-B220E2999566}"/>
              </a:ext>
            </a:extLst>
          </p:cNvPr>
          <p:cNvCxnSpPr>
            <a:cxnSpLocks/>
          </p:cNvCxnSpPr>
          <p:nvPr/>
        </p:nvCxnSpPr>
        <p:spPr>
          <a:xfrm>
            <a:off x="7877750" y="2264808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D45629F-B47B-6E32-1745-A7E87EB5BA13}"/>
              </a:ext>
            </a:extLst>
          </p:cNvPr>
          <p:cNvCxnSpPr>
            <a:cxnSpLocks/>
          </p:cNvCxnSpPr>
          <p:nvPr/>
        </p:nvCxnSpPr>
        <p:spPr>
          <a:xfrm>
            <a:off x="8869871" y="2271368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26152AE-4B22-3CE2-B734-C964ED1DA338}"/>
              </a:ext>
            </a:extLst>
          </p:cNvPr>
          <p:cNvSpPr txBox="1"/>
          <p:nvPr/>
        </p:nvSpPr>
        <p:spPr>
          <a:xfrm>
            <a:off x="6163248" y="991520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FA20E1A7-7D20-E09C-0829-544274AD50F0}"/>
              </a:ext>
            </a:extLst>
          </p:cNvPr>
          <p:cNvCxnSpPr>
            <a:cxnSpLocks/>
            <a:stCxn id="43" idx="1"/>
          </p:cNvCxnSpPr>
          <p:nvPr/>
        </p:nvCxnSpPr>
        <p:spPr>
          <a:xfrm rot="10800000" flipV="1">
            <a:off x="5613478" y="1130019"/>
            <a:ext cx="549771" cy="222391"/>
          </a:xfrm>
          <a:prstGeom prst="bentConnector3">
            <a:avLst>
              <a:gd name="adj1" fmla="val 1013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FF5C2967-2F7F-50C9-3364-46E97ED96636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6444780" y="1130020"/>
            <a:ext cx="731195" cy="222390"/>
          </a:xfrm>
          <a:prstGeom prst="bentConnector3">
            <a:avLst>
              <a:gd name="adj1" fmla="val 9951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9131D8E5-B629-7986-C335-4FCB9A14BF3E}"/>
              </a:ext>
            </a:extLst>
          </p:cNvPr>
          <p:cNvSpPr txBox="1"/>
          <p:nvPr/>
        </p:nvSpPr>
        <p:spPr>
          <a:xfrm>
            <a:off x="7806665" y="979357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9556F26D-12C6-FD83-CFE4-6AE89970CE29}"/>
              </a:ext>
            </a:extLst>
          </p:cNvPr>
          <p:cNvCxnSpPr>
            <a:cxnSpLocks/>
            <a:stCxn id="68" idx="1"/>
          </p:cNvCxnSpPr>
          <p:nvPr/>
        </p:nvCxnSpPr>
        <p:spPr>
          <a:xfrm rot="10800000" flipV="1">
            <a:off x="7256899" y="1117856"/>
            <a:ext cx="549767" cy="222387"/>
          </a:xfrm>
          <a:prstGeom prst="bentConnector3">
            <a:avLst>
              <a:gd name="adj1" fmla="val 9911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46AE3BF9-FCB0-BFBA-88B4-85744CD9E168}"/>
              </a:ext>
            </a:extLst>
          </p:cNvPr>
          <p:cNvCxnSpPr>
            <a:cxnSpLocks/>
            <a:stCxn id="68" idx="3"/>
            <a:endCxn id="16" idx="1"/>
          </p:cNvCxnSpPr>
          <p:nvPr/>
        </p:nvCxnSpPr>
        <p:spPr>
          <a:xfrm>
            <a:off x="8088197" y="1117857"/>
            <a:ext cx="433932" cy="272005"/>
          </a:xfrm>
          <a:prstGeom prst="bentConnector3">
            <a:avLst>
              <a:gd name="adj1" fmla="val 10091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135531FE-1BB1-1843-6154-835761549CAA}"/>
              </a:ext>
            </a:extLst>
          </p:cNvPr>
          <p:cNvSpPr txBox="1"/>
          <p:nvPr/>
        </p:nvSpPr>
        <p:spPr>
          <a:xfrm>
            <a:off x="6198027" y="2408851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D1DB1031-0B35-540D-87DA-4895AD3BE9D9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>
            <a:off x="5637137" y="2396277"/>
            <a:ext cx="560891" cy="151074"/>
          </a:xfrm>
          <a:prstGeom prst="bentConnector3">
            <a:avLst>
              <a:gd name="adj1" fmla="val 9923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DB8689E7-7D07-A03C-3EF3-1E1B68B58CA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6479559" y="2373098"/>
            <a:ext cx="702669" cy="174253"/>
          </a:xfrm>
          <a:prstGeom prst="bentConnector3">
            <a:avLst>
              <a:gd name="adj1" fmla="val 10065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1258CA01-9ED6-7B71-5FD0-4125B7A5F9D1}"/>
              </a:ext>
            </a:extLst>
          </p:cNvPr>
          <p:cNvSpPr txBox="1"/>
          <p:nvPr/>
        </p:nvSpPr>
        <p:spPr>
          <a:xfrm>
            <a:off x="7841444" y="2396688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32F6E156-328F-A7F9-3FDA-B52CC7906F55}"/>
              </a:ext>
            </a:extLst>
          </p:cNvPr>
          <p:cNvCxnSpPr>
            <a:cxnSpLocks/>
            <a:stCxn id="78" idx="1"/>
          </p:cNvCxnSpPr>
          <p:nvPr/>
        </p:nvCxnSpPr>
        <p:spPr>
          <a:xfrm rot="10800000">
            <a:off x="7287708" y="2373098"/>
            <a:ext cx="553736" cy="162090"/>
          </a:xfrm>
          <a:prstGeom prst="bentConnector3">
            <a:avLst>
              <a:gd name="adj1" fmla="val 9876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1172268A-14B4-90B3-64E4-146D9192672E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8122976" y="2338208"/>
            <a:ext cx="746895" cy="196980"/>
          </a:xfrm>
          <a:prstGeom prst="bentConnector3">
            <a:avLst>
              <a:gd name="adj1" fmla="val 10012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FE2DCA52-CB76-7959-B58F-DE700E38E2E5}"/>
              </a:ext>
            </a:extLst>
          </p:cNvPr>
          <p:cNvCxnSpPr>
            <a:cxnSpLocks/>
            <a:stCxn id="16" idx="3"/>
            <a:endCxn id="36" idx="1"/>
          </p:cNvCxnSpPr>
          <p:nvPr/>
        </p:nvCxnSpPr>
        <p:spPr>
          <a:xfrm flipH="1">
            <a:off x="7256895" y="1389862"/>
            <a:ext cx="1997569" cy="863035"/>
          </a:xfrm>
          <a:prstGeom prst="bentConnector5">
            <a:avLst>
              <a:gd name="adj1" fmla="val -4685"/>
              <a:gd name="adj2" fmla="val 50000"/>
              <a:gd name="adj3" fmla="val 994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A6B2B3D9-E5C8-4E51-FB31-CCE314AA8547}"/>
              </a:ext>
            </a:extLst>
          </p:cNvPr>
          <p:cNvCxnSpPr>
            <a:cxnSpLocks/>
          </p:cNvCxnSpPr>
          <p:nvPr/>
        </p:nvCxnSpPr>
        <p:spPr>
          <a:xfrm>
            <a:off x="9612705" y="2262214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4041A43-38E8-8619-3B42-02CC1A78D0A0}"/>
              </a:ext>
            </a:extLst>
          </p:cNvPr>
          <p:cNvSpPr txBox="1"/>
          <p:nvPr/>
        </p:nvSpPr>
        <p:spPr>
          <a:xfrm>
            <a:off x="9512193" y="2408777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251CFAF0-D248-CB1A-CAFA-BE036B4F1650}"/>
              </a:ext>
            </a:extLst>
          </p:cNvPr>
          <p:cNvCxnSpPr>
            <a:cxnSpLocks/>
            <a:stCxn id="103" idx="1"/>
          </p:cNvCxnSpPr>
          <p:nvPr/>
        </p:nvCxnSpPr>
        <p:spPr>
          <a:xfrm rot="10800000">
            <a:off x="8958457" y="2385187"/>
            <a:ext cx="553736" cy="162090"/>
          </a:xfrm>
          <a:prstGeom prst="bentConnector3">
            <a:avLst>
              <a:gd name="adj1" fmla="val 9876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043EBC01-CE4D-66E9-CA13-254CAACF7976}"/>
              </a:ext>
            </a:extLst>
          </p:cNvPr>
          <p:cNvCxnSpPr>
            <a:cxnSpLocks/>
            <a:stCxn id="103" idx="3"/>
          </p:cNvCxnSpPr>
          <p:nvPr/>
        </p:nvCxnSpPr>
        <p:spPr>
          <a:xfrm flipV="1">
            <a:off x="9793725" y="2333955"/>
            <a:ext cx="520105" cy="213322"/>
          </a:xfrm>
          <a:prstGeom prst="bentConnector3">
            <a:avLst>
              <a:gd name="adj1" fmla="val 10073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1902A5FC-63E7-4A5D-DCF9-7B7CA40E1E83}"/>
              </a:ext>
            </a:extLst>
          </p:cNvPr>
          <p:cNvSpPr txBox="1"/>
          <p:nvPr/>
        </p:nvSpPr>
        <p:spPr>
          <a:xfrm>
            <a:off x="10315380" y="2083620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A73FA72B-4A83-6FBC-3B38-6ABA02ECB402}"/>
              </a:ext>
            </a:extLst>
          </p:cNvPr>
          <p:cNvCxnSpPr>
            <a:cxnSpLocks/>
          </p:cNvCxnSpPr>
          <p:nvPr/>
        </p:nvCxnSpPr>
        <p:spPr>
          <a:xfrm>
            <a:off x="10224603" y="2261901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36216F90-384D-D8F3-819D-E454D2C27660}"/>
              </a:ext>
            </a:extLst>
          </p:cNvPr>
          <p:cNvCxnSpPr>
            <a:cxnSpLocks/>
          </p:cNvCxnSpPr>
          <p:nvPr/>
        </p:nvCxnSpPr>
        <p:spPr>
          <a:xfrm>
            <a:off x="10953872" y="2252897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B631B819-DA88-D85C-4DE4-A73A39990A6D}"/>
              </a:ext>
            </a:extLst>
          </p:cNvPr>
          <p:cNvSpPr/>
          <p:nvPr/>
        </p:nvSpPr>
        <p:spPr>
          <a:xfrm>
            <a:off x="6049969" y="3107378"/>
            <a:ext cx="412431" cy="33855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8133B85-819A-FBC1-5F9B-8BAC6083B42A}"/>
              </a:ext>
            </a:extLst>
          </p:cNvPr>
          <p:cNvSpPr/>
          <p:nvPr/>
        </p:nvSpPr>
        <p:spPr>
          <a:xfrm>
            <a:off x="6993398" y="3105443"/>
            <a:ext cx="338658" cy="33855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CCC107C-33E5-AE7B-C2D4-D091F25F8918}"/>
              </a:ext>
            </a:extLst>
          </p:cNvPr>
          <p:cNvSpPr/>
          <p:nvPr/>
        </p:nvSpPr>
        <p:spPr>
          <a:xfrm>
            <a:off x="5646725" y="3107378"/>
            <a:ext cx="338658" cy="338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112E48F-23C6-DBBC-3E90-ECC84D34BB5A}"/>
              </a:ext>
            </a:extLst>
          </p:cNvPr>
          <p:cNvSpPr/>
          <p:nvPr/>
        </p:nvSpPr>
        <p:spPr>
          <a:xfrm>
            <a:off x="3796189" y="3124310"/>
            <a:ext cx="1803230" cy="30469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4717748-8204-F0F1-9588-F55B913B78E8}"/>
              </a:ext>
            </a:extLst>
          </p:cNvPr>
          <p:cNvSpPr/>
          <p:nvPr/>
        </p:nvSpPr>
        <p:spPr>
          <a:xfrm>
            <a:off x="5634704" y="1563599"/>
            <a:ext cx="3456346" cy="112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312F97F-89D0-F9BD-918A-DB1AA7E9B907}"/>
              </a:ext>
            </a:extLst>
          </p:cNvPr>
          <p:cNvSpPr txBox="1"/>
          <p:nvPr/>
        </p:nvSpPr>
        <p:spPr>
          <a:xfrm>
            <a:off x="5612201" y="1655600"/>
            <a:ext cx="81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 x</a:t>
            </a:r>
            <a:endParaRPr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92F9530-49B8-C26A-6E9D-B8A10E0B03BC}"/>
              </a:ext>
            </a:extLst>
          </p:cNvPr>
          <p:cNvSpPr txBox="1"/>
          <p:nvPr/>
        </p:nvSpPr>
        <p:spPr>
          <a:xfrm>
            <a:off x="9859195" y="1700155"/>
            <a:ext cx="81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 x</a:t>
            </a:r>
            <a:endParaRPr lang="zh-CN" altLang="en-US" sz="1400" dirty="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A5EBAA64-250E-AF58-8FB2-AF6B255F7F61}"/>
              </a:ext>
            </a:extLst>
          </p:cNvPr>
          <p:cNvSpPr/>
          <p:nvPr/>
        </p:nvSpPr>
        <p:spPr>
          <a:xfrm>
            <a:off x="6558570" y="3107378"/>
            <a:ext cx="338658" cy="338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3D5207C-C342-B068-98AA-0D06BBA7416A}"/>
              </a:ext>
            </a:extLst>
          </p:cNvPr>
          <p:cNvSpPr/>
          <p:nvPr/>
        </p:nvSpPr>
        <p:spPr>
          <a:xfrm>
            <a:off x="7456097" y="3102113"/>
            <a:ext cx="338658" cy="338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D5C7729-058A-8608-31F0-1A51626331B0}"/>
              </a:ext>
            </a:extLst>
          </p:cNvPr>
          <p:cNvSpPr/>
          <p:nvPr/>
        </p:nvSpPr>
        <p:spPr>
          <a:xfrm>
            <a:off x="3808461" y="3522903"/>
            <a:ext cx="1803230" cy="30469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FC17D9D-854F-837B-38EC-3D5D8F2C39CE}"/>
              </a:ext>
            </a:extLst>
          </p:cNvPr>
          <p:cNvSpPr/>
          <p:nvPr/>
        </p:nvSpPr>
        <p:spPr>
          <a:xfrm>
            <a:off x="6566120" y="3492463"/>
            <a:ext cx="1228635" cy="3385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EBB2BC0-DEFC-8D18-2425-B1E797CD79FF}"/>
              </a:ext>
            </a:extLst>
          </p:cNvPr>
          <p:cNvSpPr/>
          <p:nvPr/>
        </p:nvSpPr>
        <p:spPr>
          <a:xfrm>
            <a:off x="8280361" y="3289384"/>
            <a:ext cx="666627" cy="53654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42C7885-7133-E03B-57EB-85FAF19A9E7A}"/>
              </a:ext>
            </a:extLst>
          </p:cNvPr>
          <p:cNvSpPr/>
          <p:nvPr/>
        </p:nvSpPr>
        <p:spPr>
          <a:xfrm>
            <a:off x="5655427" y="3507929"/>
            <a:ext cx="824131" cy="338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1428DE8-8A46-7149-BE58-95FDD6228A12}"/>
              </a:ext>
            </a:extLst>
          </p:cNvPr>
          <p:cNvSpPr/>
          <p:nvPr/>
        </p:nvSpPr>
        <p:spPr>
          <a:xfrm>
            <a:off x="7857754" y="3289385"/>
            <a:ext cx="338658" cy="53654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27F9CB44-362D-0D37-4A82-2887E7E2040B}"/>
              </a:ext>
            </a:extLst>
          </p:cNvPr>
          <p:cNvSpPr/>
          <p:nvPr/>
        </p:nvSpPr>
        <p:spPr>
          <a:xfrm>
            <a:off x="9037147" y="3274323"/>
            <a:ext cx="338658" cy="5365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9208A8F2-C11C-7FED-A797-892BF9EEB5A2}"/>
              </a:ext>
            </a:extLst>
          </p:cNvPr>
          <p:cNvSpPr/>
          <p:nvPr/>
        </p:nvSpPr>
        <p:spPr>
          <a:xfrm>
            <a:off x="9465964" y="3271390"/>
            <a:ext cx="520105" cy="5365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4BD1EA97-1E86-6FE1-DE09-371F66A8C59E}"/>
              </a:ext>
            </a:extLst>
          </p:cNvPr>
          <p:cNvSpPr/>
          <p:nvPr/>
        </p:nvSpPr>
        <p:spPr>
          <a:xfrm>
            <a:off x="10047211" y="3271390"/>
            <a:ext cx="338658" cy="5365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C347DC2-AEBE-C499-32B8-90290AF50237}"/>
              </a:ext>
            </a:extLst>
          </p:cNvPr>
          <p:cNvSpPr/>
          <p:nvPr/>
        </p:nvSpPr>
        <p:spPr>
          <a:xfrm>
            <a:off x="10447011" y="3289384"/>
            <a:ext cx="795813" cy="51961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D508ADE-9501-1FA6-69BD-A44A9091C764}"/>
              </a:ext>
            </a:extLst>
          </p:cNvPr>
          <p:cNvSpPr/>
          <p:nvPr/>
        </p:nvSpPr>
        <p:spPr>
          <a:xfrm>
            <a:off x="5634704" y="2905897"/>
            <a:ext cx="2160051" cy="1510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2DFE626-75E6-8D18-E079-FB195B9479F7}"/>
              </a:ext>
            </a:extLst>
          </p:cNvPr>
          <p:cNvSpPr/>
          <p:nvPr/>
        </p:nvSpPr>
        <p:spPr>
          <a:xfrm>
            <a:off x="5634704" y="3877547"/>
            <a:ext cx="4351365" cy="1514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F070CF0-6365-2CA2-183E-65858E231E4C}"/>
              </a:ext>
            </a:extLst>
          </p:cNvPr>
          <p:cNvCxnSpPr>
            <a:cxnSpLocks/>
          </p:cNvCxnSpPr>
          <p:nvPr/>
        </p:nvCxnSpPr>
        <p:spPr>
          <a:xfrm flipV="1">
            <a:off x="4007702" y="3665880"/>
            <a:ext cx="6798631" cy="1877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9" name="连接符: 肘形 138">
            <a:extLst>
              <a:ext uri="{FF2B5EF4-FFF2-40B4-BE49-F238E27FC236}">
                <a16:creationId xmlns:a16="http://schemas.microsoft.com/office/drawing/2014/main" id="{F4F889C1-D6BB-68BA-CE72-04C0318BC1FE}"/>
              </a:ext>
            </a:extLst>
          </p:cNvPr>
          <p:cNvCxnSpPr/>
          <p:nvPr/>
        </p:nvCxnSpPr>
        <p:spPr>
          <a:xfrm>
            <a:off x="3982856" y="3271390"/>
            <a:ext cx="3642570" cy="378331"/>
          </a:xfrm>
          <a:prstGeom prst="bentConnector3">
            <a:avLst>
              <a:gd name="adj1" fmla="val 99869"/>
            </a:avLst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AF7212B9-8E0A-F0F1-913D-3B0B0B5662F4}"/>
              </a:ext>
            </a:extLst>
          </p:cNvPr>
          <p:cNvSpPr/>
          <p:nvPr/>
        </p:nvSpPr>
        <p:spPr>
          <a:xfrm>
            <a:off x="5731877" y="3191195"/>
            <a:ext cx="1969949" cy="185217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5D5B945A-0973-5C67-B79D-A70195E5AC59}"/>
              </a:ext>
            </a:extLst>
          </p:cNvPr>
          <p:cNvSpPr/>
          <p:nvPr/>
        </p:nvSpPr>
        <p:spPr>
          <a:xfrm>
            <a:off x="5737135" y="3563449"/>
            <a:ext cx="4186249" cy="196980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21FA985B-6F70-5B25-2B87-25606DC06141}"/>
              </a:ext>
            </a:extLst>
          </p:cNvPr>
          <p:cNvCxnSpPr/>
          <p:nvPr/>
        </p:nvCxnSpPr>
        <p:spPr>
          <a:xfrm>
            <a:off x="6198027" y="3191195"/>
            <a:ext cx="11335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4E81AF4-6DC1-7362-F589-7A3C81436D5E}"/>
              </a:ext>
            </a:extLst>
          </p:cNvPr>
          <p:cNvCxnSpPr/>
          <p:nvPr/>
        </p:nvCxnSpPr>
        <p:spPr>
          <a:xfrm>
            <a:off x="7401227" y="3566578"/>
            <a:ext cx="11335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17E91AF9-0925-83F6-9D84-9A536E588DD3}"/>
              </a:ext>
            </a:extLst>
          </p:cNvPr>
          <p:cNvCxnSpPr>
            <a:cxnSpLocks/>
          </p:cNvCxnSpPr>
          <p:nvPr/>
        </p:nvCxnSpPr>
        <p:spPr>
          <a:xfrm flipH="1">
            <a:off x="7216502" y="3762944"/>
            <a:ext cx="14861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9D70D536-0243-47BA-A670-A4DCAF7C9AFD}"/>
              </a:ext>
            </a:extLst>
          </p:cNvPr>
          <p:cNvCxnSpPr>
            <a:cxnSpLocks/>
          </p:cNvCxnSpPr>
          <p:nvPr/>
        </p:nvCxnSpPr>
        <p:spPr>
          <a:xfrm flipH="1">
            <a:off x="6078441" y="3374289"/>
            <a:ext cx="14861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DFDA91C-D7FF-02C5-463B-0A72BB33BC8A}"/>
              </a:ext>
            </a:extLst>
          </p:cNvPr>
          <p:cNvSpPr txBox="1"/>
          <p:nvPr/>
        </p:nvSpPr>
        <p:spPr>
          <a:xfrm>
            <a:off x="3896940" y="4390415"/>
            <a:ext cx="2525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长距离</a:t>
            </a:r>
            <a:r>
              <a:rPr lang="zh-CN" altLang="en-US" sz="1600" dirty="0"/>
              <a:t>信息融合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D0AF5F-5252-C78D-D41B-0B172F6F0430}"/>
              </a:ext>
            </a:extLst>
          </p:cNvPr>
          <p:cNvSpPr txBox="1"/>
          <p:nvPr/>
        </p:nvSpPr>
        <p:spPr>
          <a:xfrm>
            <a:off x="3896940" y="4718297"/>
            <a:ext cx="2525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自适应</a:t>
            </a:r>
            <a:r>
              <a:rPr lang="zh-CN" altLang="en-US" sz="1600" dirty="0"/>
              <a:t>特征提取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7DB1A0-A5F0-A924-92C8-DBD28279F639}"/>
              </a:ext>
            </a:extLst>
          </p:cNvPr>
          <p:cNvSpPr txBox="1"/>
          <p:nvPr/>
        </p:nvSpPr>
        <p:spPr>
          <a:xfrm>
            <a:off x="3911005" y="5026073"/>
            <a:ext cx="2525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矩阵</a:t>
            </a:r>
            <a:r>
              <a:rPr lang="zh-CN" altLang="en-US" sz="1600" dirty="0"/>
              <a:t>计算并行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B652F4-4F71-B424-0EDD-33F7DF624F15}"/>
              </a:ext>
            </a:extLst>
          </p:cNvPr>
          <p:cNvSpPr txBox="1"/>
          <p:nvPr/>
        </p:nvSpPr>
        <p:spPr>
          <a:xfrm>
            <a:off x="3911005" y="5331932"/>
            <a:ext cx="2525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多</a:t>
            </a:r>
            <a:r>
              <a:rPr lang="zh-CN" altLang="en-US" sz="1600" dirty="0"/>
              <a:t>语义空间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D96F17-6A2C-851F-620F-1B172A5D5B6F}"/>
              </a:ext>
            </a:extLst>
          </p:cNvPr>
          <p:cNvSpPr txBox="1"/>
          <p:nvPr/>
        </p:nvSpPr>
        <p:spPr>
          <a:xfrm>
            <a:off x="3912909" y="5607603"/>
            <a:ext cx="2525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将信息构成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图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7260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061252D-AD82-2902-A468-B6D0EA313950}"/>
              </a:ext>
            </a:extLst>
          </p:cNvPr>
          <p:cNvSpPr txBox="1"/>
          <p:nvPr/>
        </p:nvSpPr>
        <p:spPr>
          <a:xfrm>
            <a:off x="476636" y="328312"/>
            <a:ext cx="25253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Transformer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DA0654-8260-3C75-BE7D-05CD57411043}"/>
              </a:ext>
            </a:extLst>
          </p:cNvPr>
          <p:cNvSpPr txBox="1"/>
          <p:nvPr/>
        </p:nvSpPr>
        <p:spPr>
          <a:xfrm>
            <a:off x="2629768" y="420645"/>
            <a:ext cx="287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Attention Review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BEF6068-28FC-3C0A-B89B-38953A9B3B17}"/>
                  </a:ext>
                </a:extLst>
              </p:cNvPr>
              <p:cNvSpPr txBox="1"/>
              <p:nvPr/>
            </p:nvSpPr>
            <p:spPr>
              <a:xfrm>
                <a:off x="478062" y="796010"/>
                <a:ext cx="3840480" cy="80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𝑠𝑜𝑓𝑡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BEF6068-28FC-3C0A-B89B-38953A9B3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62" y="796010"/>
                <a:ext cx="3840480" cy="8082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29A19DFB-BC61-8DDD-AC8C-EFBD54FECD95}"/>
              </a:ext>
            </a:extLst>
          </p:cNvPr>
          <p:cNvSpPr txBox="1"/>
          <p:nvPr/>
        </p:nvSpPr>
        <p:spPr>
          <a:xfrm>
            <a:off x="561109" y="1664285"/>
            <a:ext cx="3074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How to understand this 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370490-B9BF-F85E-0E98-1BA2A216A9E0}"/>
              </a:ext>
            </a:extLst>
          </p:cNvPr>
          <p:cNvSpPr txBox="1"/>
          <p:nvPr/>
        </p:nvSpPr>
        <p:spPr>
          <a:xfrm>
            <a:off x="561109" y="2066346"/>
            <a:ext cx="3074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Why it must be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Q dot K </a:t>
            </a:r>
            <a:r>
              <a:rPr lang="en-US" altLang="zh-CN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FF45E5-E8C9-F7F8-213E-2311E3BA7ED8}"/>
                  </a:ext>
                </a:extLst>
              </p:cNvPr>
              <p:cNvSpPr txBox="1"/>
              <p:nvPr/>
            </p:nvSpPr>
            <p:spPr>
              <a:xfrm>
                <a:off x="530627" y="2531995"/>
                <a:ext cx="1490834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FF45E5-E8C9-F7F8-213E-2311E3BA7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27" y="2531995"/>
                <a:ext cx="1490834" cy="370230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59F4D8A9-E9F1-1DF6-F9F1-0E68C4F5903F}"/>
              </a:ext>
            </a:extLst>
          </p:cNvPr>
          <p:cNvSpPr txBox="1"/>
          <p:nvPr/>
        </p:nvSpPr>
        <p:spPr>
          <a:xfrm>
            <a:off x="2228071" y="2522420"/>
            <a:ext cx="3074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 =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</a:rPr>
              <a:t>nn</a:t>
            </a:r>
            <a:r>
              <a:rPr lang="en-US" altLang="zh-CN" dirty="0" err="1"/>
              <a:t>.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Linear</a:t>
            </a:r>
            <a:r>
              <a:rPr lang="en-US" altLang="zh-CN" dirty="0"/>
              <a:t>(x, x)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088CDE3-3CBC-7F63-1C78-4782CE316062}"/>
              </a:ext>
            </a:extLst>
          </p:cNvPr>
          <p:cNvCxnSpPr>
            <a:cxnSpLocks/>
          </p:cNvCxnSpPr>
          <p:nvPr/>
        </p:nvCxnSpPr>
        <p:spPr>
          <a:xfrm flipV="1">
            <a:off x="831103" y="3126475"/>
            <a:ext cx="0" cy="750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76AA20C-5FC4-368B-6BEC-E58FA433523E}"/>
              </a:ext>
            </a:extLst>
          </p:cNvPr>
          <p:cNvSpPr txBox="1"/>
          <p:nvPr/>
        </p:nvSpPr>
        <p:spPr>
          <a:xfrm>
            <a:off x="1035180" y="3266018"/>
            <a:ext cx="1760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Means what ?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C8F9F4A-AFAD-69BA-821F-5E240DD3185A}"/>
              </a:ext>
            </a:extLst>
          </p:cNvPr>
          <p:cNvCxnSpPr>
            <a:cxnSpLocks/>
          </p:cNvCxnSpPr>
          <p:nvPr/>
        </p:nvCxnSpPr>
        <p:spPr>
          <a:xfrm>
            <a:off x="3266304" y="3543475"/>
            <a:ext cx="9633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756459-6A20-8B27-3A3C-6DDB71ED1028}"/>
              </a:ext>
            </a:extLst>
          </p:cNvPr>
          <p:cNvCxnSpPr>
            <a:cxnSpLocks/>
          </p:cNvCxnSpPr>
          <p:nvPr/>
        </p:nvCxnSpPr>
        <p:spPr>
          <a:xfrm flipH="1">
            <a:off x="2931023" y="3543475"/>
            <a:ext cx="335281" cy="369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E5DAA91-3F60-CC5E-DAEA-068A97CABC0B}"/>
              </a:ext>
            </a:extLst>
          </p:cNvPr>
          <p:cNvCxnSpPr>
            <a:cxnSpLocks/>
          </p:cNvCxnSpPr>
          <p:nvPr/>
        </p:nvCxnSpPr>
        <p:spPr>
          <a:xfrm flipH="1" flipV="1">
            <a:off x="3266303" y="2925547"/>
            <a:ext cx="1" cy="6179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1452580-81D0-E6AD-DD73-995470C44726}"/>
              </a:ext>
            </a:extLst>
          </p:cNvPr>
          <p:cNvCxnSpPr>
            <a:cxnSpLocks/>
          </p:cNvCxnSpPr>
          <p:nvPr/>
        </p:nvCxnSpPr>
        <p:spPr>
          <a:xfrm flipV="1">
            <a:off x="3266304" y="3231055"/>
            <a:ext cx="533681" cy="306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B6D2CC9-7268-F9E9-EC18-44E252CB6C77}"/>
              </a:ext>
            </a:extLst>
          </p:cNvPr>
          <p:cNvSpPr txBox="1"/>
          <p:nvPr/>
        </p:nvSpPr>
        <p:spPr>
          <a:xfrm>
            <a:off x="3531634" y="1672416"/>
            <a:ext cx="101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Google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9A1AF-4468-E778-AE12-BE4614198C99}"/>
              </a:ext>
            </a:extLst>
          </p:cNvPr>
          <p:cNvSpPr txBox="1"/>
          <p:nvPr/>
        </p:nvSpPr>
        <p:spPr>
          <a:xfrm>
            <a:off x="4908413" y="1672416"/>
            <a:ext cx="1760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Search Engine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EDB4797-8B3A-3243-A57F-1D40B1FD5567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>
            <a:off x="4546370" y="1857082"/>
            <a:ext cx="3620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EE2634F-1A7E-4BD6-B4C7-DE6A79C16363}"/>
              </a:ext>
            </a:extLst>
          </p:cNvPr>
          <p:cNvCxnSpPr>
            <a:cxnSpLocks/>
          </p:cNvCxnSpPr>
          <p:nvPr/>
        </p:nvCxnSpPr>
        <p:spPr>
          <a:xfrm>
            <a:off x="3799985" y="3231055"/>
            <a:ext cx="0" cy="58746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5E23D21-3A0B-C23F-5A80-A9ED4D8D2EB1}"/>
              </a:ext>
            </a:extLst>
          </p:cNvPr>
          <p:cNvCxnSpPr>
            <a:cxnSpLocks/>
          </p:cNvCxnSpPr>
          <p:nvPr/>
        </p:nvCxnSpPr>
        <p:spPr>
          <a:xfrm flipV="1">
            <a:off x="3799985" y="3549310"/>
            <a:ext cx="234400" cy="26920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C45C86-BE9B-BE35-E6EC-FDD9E2B3010F}"/>
              </a:ext>
            </a:extLst>
          </p:cNvPr>
          <p:cNvCxnSpPr>
            <a:cxnSpLocks/>
          </p:cNvCxnSpPr>
          <p:nvPr/>
        </p:nvCxnSpPr>
        <p:spPr>
          <a:xfrm flipH="1" flipV="1">
            <a:off x="3031901" y="3231054"/>
            <a:ext cx="768084" cy="583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17B41FF-FC9F-F09B-FDD9-80F1E7D6A6E7}"/>
              </a:ext>
            </a:extLst>
          </p:cNvPr>
          <p:cNvCxnSpPr>
            <a:cxnSpLocks/>
          </p:cNvCxnSpPr>
          <p:nvPr/>
        </p:nvCxnSpPr>
        <p:spPr>
          <a:xfrm flipV="1">
            <a:off x="3031901" y="3236890"/>
            <a:ext cx="0" cy="53876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6BB9C46-B811-7ECB-CFA8-AA21CD55A17D}"/>
              </a:ext>
            </a:extLst>
          </p:cNvPr>
          <p:cNvCxnSpPr>
            <a:cxnSpLocks/>
          </p:cNvCxnSpPr>
          <p:nvPr/>
        </p:nvCxnSpPr>
        <p:spPr>
          <a:xfrm>
            <a:off x="3064455" y="3798857"/>
            <a:ext cx="735529" cy="1674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221A49A-56CD-E0D4-021A-0CEE54824F39}"/>
              </a:ext>
            </a:extLst>
          </p:cNvPr>
          <p:cNvCxnSpPr>
            <a:cxnSpLocks/>
          </p:cNvCxnSpPr>
          <p:nvPr/>
        </p:nvCxnSpPr>
        <p:spPr>
          <a:xfrm flipV="1">
            <a:off x="3031901" y="3039847"/>
            <a:ext cx="234402" cy="19120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DBB79C4B-22CA-F555-42BA-CA3BBB6CC265}"/>
              </a:ext>
            </a:extLst>
          </p:cNvPr>
          <p:cNvCxnSpPr>
            <a:cxnSpLocks/>
          </p:cNvCxnSpPr>
          <p:nvPr/>
        </p:nvCxnSpPr>
        <p:spPr>
          <a:xfrm flipV="1">
            <a:off x="3799984" y="3042765"/>
            <a:ext cx="234402" cy="19120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3C55137E-99B7-E2DA-D0E2-7E3436DB12CA}"/>
              </a:ext>
            </a:extLst>
          </p:cNvPr>
          <p:cNvCxnSpPr>
            <a:cxnSpLocks/>
          </p:cNvCxnSpPr>
          <p:nvPr/>
        </p:nvCxnSpPr>
        <p:spPr>
          <a:xfrm flipV="1">
            <a:off x="4034386" y="3039847"/>
            <a:ext cx="0" cy="49779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782B7408-01A4-E328-8B75-27629EA35B77}"/>
              </a:ext>
            </a:extLst>
          </p:cNvPr>
          <p:cNvCxnSpPr>
            <a:cxnSpLocks/>
          </p:cNvCxnSpPr>
          <p:nvPr/>
        </p:nvCxnSpPr>
        <p:spPr>
          <a:xfrm flipH="1" flipV="1">
            <a:off x="3266301" y="3042764"/>
            <a:ext cx="768084" cy="583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E45DB838-5354-BA75-E245-DD65AB3D831C}"/>
              </a:ext>
            </a:extLst>
          </p:cNvPr>
          <p:cNvSpPr txBox="1"/>
          <p:nvPr/>
        </p:nvSpPr>
        <p:spPr>
          <a:xfrm>
            <a:off x="3329925" y="3488319"/>
            <a:ext cx="455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x1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017644FD-2314-76CF-6FA4-D5255CDCD28E}"/>
              </a:ext>
            </a:extLst>
          </p:cNvPr>
          <p:cNvCxnSpPr>
            <a:cxnSpLocks/>
          </p:cNvCxnSpPr>
          <p:nvPr/>
        </p:nvCxnSpPr>
        <p:spPr>
          <a:xfrm>
            <a:off x="4332869" y="3384348"/>
            <a:ext cx="463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53A4AED4-72A8-1B32-FEC2-75046EA60C6F}"/>
              </a:ext>
            </a:extLst>
          </p:cNvPr>
          <p:cNvCxnSpPr>
            <a:cxnSpLocks/>
          </p:cNvCxnSpPr>
          <p:nvPr/>
        </p:nvCxnSpPr>
        <p:spPr>
          <a:xfrm>
            <a:off x="5113898" y="3308489"/>
            <a:ext cx="1577963" cy="62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5ACD62F0-3522-2A56-F0DE-5C0D04D3D4F7}"/>
              </a:ext>
            </a:extLst>
          </p:cNvPr>
          <p:cNvCxnSpPr>
            <a:cxnSpLocks/>
          </p:cNvCxnSpPr>
          <p:nvPr/>
        </p:nvCxnSpPr>
        <p:spPr>
          <a:xfrm flipH="1" flipV="1">
            <a:off x="5885430" y="2633845"/>
            <a:ext cx="8903" cy="1369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E62462C4-FDE4-7D19-879C-E1DE00335AF4}"/>
              </a:ext>
            </a:extLst>
          </p:cNvPr>
          <p:cNvCxnSpPr>
            <a:cxnSpLocks/>
          </p:cNvCxnSpPr>
          <p:nvPr/>
        </p:nvCxnSpPr>
        <p:spPr>
          <a:xfrm flipH="1">
            <a:off x="5362852" y="3308489"/>
            <a:ext cx="531481" cy="3751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8C0890F9-3AAD-6BB2-1A75-D82FBC154294}"/>
              </a:ext>
            </a:extLst>
          </p:cNvPr>
          <p:cNvSpPr txBox="1"/>
          <p:nvPr/>
        </p:nvSpPr>
        <p:spPr>
          <a:xfrm>
            <a:off x="5087902" y="3322317"/>
            <a:ext cx="29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Q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09735834-66EB-7BEE-DFCF-D9198E2BFAE8}"/>
              </a:ext>
            </a:extLst>
          </p:cNvPr>
          <p:cNvSpPr txBox="1"/>
          <p:nvPr/>
        </p:nvSpPr>
        <p:spPr>
          <a:xfrm>
            <a:off x="703036" y="4593821"/>
            <a:ext cx="209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 ? the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same</a:t>
            </a:r>
            <a:r>
              <a:rPr lang="en-US" altLang="zh-CN" dirty="0"/>
              <a:t> way</a:t>
            </a: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D1CDD52-4973-97F9-7326-2ED90988C03B}"/>
              </a:ext>
            </a:extLst>
          </p:cNvPr>
          <p:cNvCxnSpPr>
            <a:cxnSpLocks/>
          </p:cNvCxnSpPr>
          <p:nvPr/>
        </p:nvCxnSpPr>
        <p:spPr>
          <a:xfrm>
            <a:off x="3275207" y="4889712"/>
            <a:ext cx="9633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D2987E5B-2813-992B-4695-B5D7100AD60D}"/>
              </a:ext>
            </a:extLst>
          </p:cNvPr>
          <p:cNvCxnSpPr>
            <a:cxnSpLocks/>
          </p:cNvCxnSpPr>
          <p:nvPr/>
        </p:nvCxnSpPr>
        <p:spPr>
          <a:xfrm flipH="1">
            <a:off x="2939926" y="4889712"/>
            <a:ext cx="335281" cy="369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7D9BFFA3-18EF-038A-448A-6CB0DE0D9612}"/>
              </a:ext>
            </a:extLst>
          </p:cNvPr>
          <p:cNvCxnSpPr>
            <a:cxnSpLocks/>
          </p:cNvCxnSpPr>
          <p:nvPr/>
        </p:nvCxnSpPr>
        <p:spPr>
          <a:xfrm flipH="1" flipV="1">
            <a:off x="3275206" y="4271784"/>
            <a:ext cx="1" cy="6179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127CBBF1-3077-254A-96D2-73B885E52F82}"/>
              </a:ext>
            </a:extLst>
          </p:cNvPr>
          <p:cNvCxnSpPr>
            <a:cxnSpLocks/>
          </p:cNvCxnSpPr>
          <p:nvPr/>
        </p:nvCxnSpPr>
        <p:spPr>
          <a:xfrm>
            <a:off x="3275207" y="4883878"/>
            <a:ext cx="533461" cy="496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286F2B1B-2956-F402-BBFF-3B37D008EFAE}"/>
              </a:ext>
            </a:extLst>
          </p:cNvPr>
          <p:cNvCxnSpPr>
            <a:cxnSpLocks/>
          </p:cNvCxnSpPr>
          <p:nvPr/>
        </p:nvCxnSpPr>
        <p:spPr>
          <a:xfrm>
            <a:off x="3808887" y="5155581"/>
            <a:ext cx="0" cy="24643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FFE2A918-1E59-9650-A8C1-316F81F12BC5}"/>
              </a:ext>
            </a:extLst>
          </p:cNvPr>
          <p:cNvCxnSpPr>
            <a:cxnSpLocks/>
          </p:cNvCxnSpPr>
          <p:nvPr/>
        </p:nvCxnSpPr>
        <p:spPr>
          <a:xfrm flipV="1">
            <a:off x="3808888" y="4895547"/>
            <a:ext cx="234400" cy="26920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747680EF-4443-3019-E6B7-0ABA80FBDA14}"/>
              </a:ext>
            </a:extLst>
          </p:cNvPr>
          <p:cNvCxnSpPr>
            <a:cxnSpLocks/>
          </p:cNvCxnSpPr>
          <p:nvPr/>
        </p:nvCxnSpPr>
        <p:spPr>
          <a:xfrm flipH="1" flipV="1">
            <a:off x="3040803" y="5380680"/>
            <a:ext cx="768084" cy="583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6DA895F4-DFA9-39FD-9594-4F6F0DF5B769}"/>
              </a:ext>
            </a:extLst>
          </p:cNvPr>
          <p:cNvCxnSpPr>
            <a:cxnSpLocks/>
          </p:cNvCxnSpPr>
          <p:nvPr/>
        </p:nvCxnSpPr>
        <p:spPr>
          <a:xfrm flipH="1" flipV="1">
            <a:off x="3040802" y="5155581"/>
            <a:ext cx="1" cy="20357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8B72E013-D5F4-2CF1-E338-B80BC680EE64}"/>
              </a:ext>
            </a:extLst>
          </p:cNvPr>
          <p:cNvCxnSpPr>
            <a:cxnSpLocks/>
          </p:cNvCxnSpPr>
          <p:nvPr/>
        </p:nvCxnSpPr>
        <p:spPr>
          <a:xfrm>
            <a:off x="3040802" y="5155581"/>
            <a:ext cx="768085" cy="625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BE196A6F-E86F-E9F3-E46D-6663EB7905FF}"/>
              </a:ext>
            </a:extLst>
          </p:cNvPr>
          <p:cNvCxnSpPr>
            <a:cxnSpLocks/>
          </p:cNvCxnSpPr>
          <p:nvPr/>
        </p:nvCxnSpPr>
        <p:spPr>
          <a:xfrm flipV="1">
            <a:off x="3040801" y="5099805"/>
            <a:ext cx="243308" cy="273169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915E44F4-12F8-2A3F-8AA5-E230F04DFA6F}"/>
              </a:ext>
            </a:extLst>
          </p:cNvPr>
          <p:cNvCxnSpPr>
            <a:cxnSpLocks/>
          </p:cNvCxnSpPr>
          <p:nvPr/>
        </p:nvCxnSpPr>
        <p:spPr>
          <a:xfrm flipV="1">
            <a:off x="3817790" y="5112995"/>
            <a:ext cx="221212" cy="27190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A288FBCA-FFCD-D0E2-716F-F349813B7C48}"/>
              </a:ext>
            </a:extLst>
          </p:cNvPr>
          <p:cNvCxnSpPr>
            <a:cxnSpLocks/>
          </p:cNvCxnSpPr>
          <p:nvPr/>
        </p:nvCxnSpPr>
        <p:spPr>
          <a:xfrm flipV="1">
            <a:off x="4043288" y="4895547"/>
            <a:ext cx="0" cy="20425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0B833D6E-EFA0-8EBA-A820-0AE46A9C6148}"/>
              </a:ext>
            </a:extLst>
          </p:cNvPr>
          <p:cNvCxnSpPr>
            <a:cxnSpLocks/>
          </p:cNvCxnSpPr>
          <p:nvPr/>
        </p:nvCxnSpPr>
        <p:spPr>
          <a:xfrm flipH="1">
            <a:off x="3266912" y="5099805"/>
            <a:ext cx="776376" cy="342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890AB0B7-3A57-57F2-39DA-3178F2427B59}"/>
              </a:ext>
            </a:extLst>
          </p:cNvPr>
          <p:cNvSpPr txBox="1"/>
          <p:nvPr/>
        </p:nvSpPr>
        <p:spPr>
          <a:xfrm>
            <a:off x="3525848" y="4540925"/>
            <a:ext cx="60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x2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447E3730-AB3F-0E4A-0028-50528405DD4D}"/>
              </a:ext>
            </a:extLst>
          </p:cNvPr>
          <p:cNvCxnSpPr>
            <a:cxnSpLocks/>
          </p:cNvCxnSpPr>
          <p:nvPr/>
        </p:nvCxnSpPr>
        <p:spPr>
          <a:xfrm>
            <a:off x="4341772" y="4730585"/>
            <a:ext cx="463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6817A894-FDAD-5222-5A2C-5352A55DA62C}"/>
              </a:ext>
            </a:extLst>
          </p:cNvPr>
          <p:cNvCxnSpPr>
            <a:cxnSpLocks/>
          </p:cNvCxnSpPr>
          <p:nvPr/>
        </p:nvCxnSpPr>
        <p:spPr>
          <a:xfrm>
            <a:off x="5122801" y="4654726"/>
            <a:ext cx="1577963" cy="62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06C2A40E-3AD9-89F2-3132-B0B92A3506AE}"/>
              </a:ext>
            </a:extLst>
          </p:cNvPr>
          <p:cNvCxnSpPr>
            <a:cxnSpLocks/>
          </p:cNvCxnSpPr>
          <p:nvPr/>
        </p:nvCxnSpPr>
        <p:spPr>
          <a:xfrm flipH="1" flipV="1">
            <a:off x="5894333" y="3980082"/>
            <a:ext cx="8903" cy="1369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7FB99E63-069B-1F77-78A0-87DF4125FCB1}"/>
              </a:ext>
            </a:extLst>
          </p:cNvPr>
          <p:cNvCxnSpPr>
            <a:cxnSpLocks/>
          </p:cNvCxnSpPr>
          <p:nvPr/>
        </p:nvCxnSpPr>
        <p:spPr>
          <a:xfrm flipH="1">
            <a:off x="5377951" y="4654726"/>
            <a:ext cx="525285" cy="6043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1C1729ED-0376-256F-F78B-931A80B6EB8D}"/>
              </a:ext>
            </a:extLst>
          </p:cNvPr>
          <p:cNvSpPr txBox="1"/>
          <p:nvPr/>
        </p:nvSpPr>
        <p:spPr>
          <a:xfrm>
            <a:off x="5521220" y="5023577"/>
            <a:ext cx="29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K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26E46E5A-6DE4-6881-0F3C-191640BA747C}"/>
              </a:ext>
            </a:extLst>
          </p:cNvPr>
          <p:cNvSpPr txBox="1"/>
          <p:nvPr/>
        </p:nvSpPr>
        <p:spPr>
          <a:xfrm>
            <a:off x="561109" y="5716627"/>
            <a:ext cx="1187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Q dot K </a:t>
            </a:r>
            <a:endParaRPr lang="zh-CN" altLang="en-US" dirty="0"/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D040F1BC-699D-4378-1B7E-2DD681007D66}"/>
              </a:ext>
            </a:extLst>
          </p:cNvPr>
          <p:cNvCxnSpPr>
            <a:cxnSpLocks/>
          </p:cNvCxnSpPr>
          <p:nvPr/>
        </p:nvCxnSpPr>
        <p:spPr>
          <a:xfrm>
            <a:off x="1757061" y="5884468"/>
            <a:ext cx="1577963" cy="62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32FD3E01-B370-0383-22A2-927A33564817}"/>
              </a:ext>
            </a:extLst>
          </p:cNvPr>
          <p:cNvCxnSpPr>
            <a:cxnSpLocks/>
          </p:cNvCxnSpPr>
          <p:nvPr/>
        </p:nvCxnSpPr>
        <p:spPr>
          <a:xfrm flipH="1" flipV="1">
            <a:off x="2528593" y="5209824"/>
            <a:ext cx="8903" cy="1369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CA58B9F5-7A70-B2FD-1A76-1D4B2C68154E}"/>
              </a:ext>
            </a:extLst>
          </p:cNvPr>
          <p:cNvCxnSpPr>
            <a:cxnSpLocks/>
          </p:cNvCxnSpPr>
          <p:nvPr/>
        </p:nvCxnSpPr>
        <p:spPr>
          <a:xfrm flipH="1">
            <a:off x="2012211" y="5884468"/>
            <a:ext cx="525285" cy="6043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4" name="文本框 193">
            <a:extLst>
              <a:ext uri="{FF2B5EF4-FFF2-40B4-BE49-F238E27FC236}">
                <a16:creationId xmlns:a16="http://schemas.microsoft.com/office/drawing/2014/main" id="{50C00169-16AC-A344-9DDC-B000039D7726}"/>
              </a:ext>
            </a:extLst>
          </p:cNvPr>
          <p:cNvSpPr txBox="1"/>
          <p:nvPr/>
        </p:nvSpPr>
        <p:spPr>
          <a:xfrm>
            <a:off x="2155480" y="6253319"/>
            <a:ext cx="29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K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3AA43C6A-822E-E185-9D27-9F340C14E2A5}"/>
              </a:ext>
            </a:extLst>
          </p:cNvPr>
          <p:cNvCxnSpPr>
            <a:cxnSpLocks/>
          </p:cNvCxnSpPr>
          <p:nvPr/>
        </p:nvCxnSpPr>
        <p:spPr>
          <a:xfrm flipH="1">
            <a:off x="1998799" y="5898406"/>
            <a:ext cx="531481" cy="3751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6" name="文本框 195">
            <a:extLst>
              <a:ext uri="{FF2B5EF4-FFF2-40B4-BE49-F238E27FC236}">
                <a16:creationId xmlns:a16="http://schemas.microsoft.com/office/drawing/2014/main" id="{D0A847F3-B110-FB2B-6FB9-57484499952B}"/>
              </a:ext>
            </a:extLst>
          </p:cNvPr>
          <p:cNvSpPr txBox="1"/>
          <p:nvPr/>
        </p:nvSpPr>
        <p:spPr>
          <a:xfrm>
            <a:off x="1723849" y="5912234"/>
            <a:ext cx="29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Q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B8CED7A-DC72-EF3B-F9F2-580D95CAA13B}"/>
              </a:ext>
            </a:extLst>
          </p:cNvPr>
          <p:cNvCxnSpPr>
            <a:cxnSpLocks/>
          </p:cNvCxnSpPr>
          <p:nvPr/>
        </p:nvCxnSpPr>
        <p:spPr>
          <a:xfrm>
            <a:off x="4546370" y="6201325"/>
            <a:ext cx="463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07BA3CB-8B23-6CA0-0E50-B78E9B9A2087}"/>
              </a:ext>
            </a:extLst>
          </p:cNvPr>
          <p:cNvSpPr txBox="1"/>
          <p:nvPr/>
        </p:nvSpPr>
        <p:spPr>
          <a:xfrm>
            <a:off x="2657477" y="6016659"/>
            <a:ext cx="19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Similar</a:t>
            </a:r>
            <a:r>
              <a:rPr lang="en-US" altLang="zh-CN" dirty="0"/>
              <a:t> direction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34CA733D-990D-0AA3-F901-A9FB4CD81179}"/>
              </a:ext>
            </a:extLst>
          </p:cNvPr>
          <p:cNvSpPr txBox="1"/>
          <p:nvPr/>
        </p:nvSpPr>
        <p:spPr>
          <a:xfrm>
            <a:off x="5019122" y="6009293"/>
            <a:ext cx="278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High </a:t>
            </a:r>
            <a:r>
              <a:rPr lang="en-US" altLang="zh-CN" dirty="0"/>
              <a:t>Attention Weight</a:t>
            </a:r>
          </a:p>
        </p:txBody>
      </p:sp>
      <p:pic>
        <p:nvPicPr>
          <p:cNvPr id="201" name="图片 200">
            <a:extLst>
              <a:ext uri="{FF2B5EF4-FFF2-40B4-BE49-F238E27FC236}">
                <a16:creationId xmlns:a16="http://schemas.microsoft.com/office/drawing/2014/main" id="{BFAA7750-6C1C-38D1-1628-43B167112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084" y="28014"/>
            <a:ext cx="3346012" cy="4652467"/>
          </a:xfrm>
          <a:prstGeom prst="rect">
            <a:avLst/>
          </a:prstGeom>
        </p:spPr>
      </p:pic>
      <p:pic>
        <p:nvPicPr>
          <p:cNvPr id="203" name="图片 202">
            <a:extLst>
              <a:ext uri="{FF2B5EF4-FFF2-40B4-BE49-F238E27FC236}">
                <a16:creationId xmlns:a16="http://schemas.microsoft.com/office/drawing/2014/main" id="{86C606F5-4FC1-18D8-9DE9-0A39ADAF0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085" y="4740521"/>
            <a:ext cx="3346012" cy="1940860"/>
          </a:xfrm>
          <a:prstGeom prst="rect">
            <a:avLst/>
          </a:prstGeom>
        </p:spPr>
      </p:pic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34013D42-09F6-DFCD-C841-D34D62462646}"/>
              </a:ext>
            </a:extLst>
          </p:cNvPr>
          <p:cNvCxnSpPr>
            <a:cxnSpLocks/>
          </p:cNvCxnSpPr>
          <p:nvPr/>
        </p:nvCxnSpPr>
        <p:spPr>
          <a:xfrm>
            <a:off x="3275206" y="4895547"/>
            <a:ext cx="0" cy="20717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9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4AA263-6BCE-5966-6011-F15C5125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85" y="1141217"/>
            <a:ext cx="5013846" cy="258389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F02915A-B499-D207-D860-469096462549}"/>
              </a:ext>
            </a:extLst>
          </p:cNvPr>
          <p:cNvSpPr txBox="1"/>
          <p:nvPr/>
        </p:nvSpPr>
        <p:spPr>
          <a:xfrm>
            <a:off x="476636" y="328312"/>
            <a:ext cx="25253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ViT</a:t>
            </a:r>
            <a:endParaRPr lang="en-US" altLang="zh-CN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DED35F-CE16-D6EF-AB57-C8C651AF632C}"/>
              </a:ext>
            </a:extLst>
          </p:cNvPr>
          <p:cNvSpPr txBox="1"/>
          <p:nvPr/>
        </p:nvSpPr>
        <p:spPr>
          <a:xfrm>
            <a:off x="1246815" y="374478"/>
            <a:ext cx="113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Review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49DB1-90F9-EA6E-C493-08BD1C1AAC9E}"/>
              </a:ext>
            </a:extLst>
          </p:cNvPr>
          <p:cNvSpPr txBox="1"/>
          <p:nvPr/>
        </p:nvSpPr>
        <p:spPr>
          <a:xfrm>
            <a:off x="10218523" y="1736624"/>
            <a:ext cx="1379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MLP Head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9A4D37-012A-35BF-A543-CB4E6AC1D6B3}"/>
              </a:ext>
            </a:extLst>
          </p:cNvPr>
          <p:cNvSpPr txBox="1"/>
          <p:nvPr/>
        </p:nvSpPr>
        <p:spPr>
          <a:xfrm>
            <a:off x="7096316" y="1703549"/>
            <a:ext cx="1123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Patch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EB3CF3-AF13-BCBC-8278-742F7A595494}"/>
              </a:ext>
            </a:extLst>
          </p:cNvPr>
          <p:cNvSpPr txBox="1"/>
          <p:nvPr/>
        </p:nvSpPr>
        <p:spPr>
          <a:xfrm>
            <a:off x="8812559" y="1598125"/>
            <a:ext cx="1439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Transformer Encoder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98582E-B090-3BD3-F6AA-CC2DFDF172B4}"/>
              </a:ext>
            </a:extLst>
          </p:cNvPr>
          <p:cNvSpPr txBox="1"/>
          <p:nvPr/>
        </p:nvSpPr>
        <p:spPr>
          <a:xfrm>
            <a:off x="8064970" y="1314860"/>
            <a:ext cx="705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3">
                    <a:lumMod val="75000"/>
                  </a:schemeClr>
                </a:solidFill>
              </a:rPr>
              <a:t>Pos</a:t>
            </a:r>
            <a:endParaRPr lang="zh-CN" alt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E72039-B6C4-5585-DD91-347A51BDC01E}"/>
              </a:ext>
            </a:extLst>
          </p:cNvPr>
          <p:cNvSpPr txBox="1"/>
          <p:nvPr/>
        </p:nvSpPr>
        <p:spPr>
          <a:xfrm>
            <a:off x="7949393" y="1703549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3">
                    <a:lumMod val="75000"/>
                  </a:schemeClr>
                </a:solidFill>
              </a:rPr>
              <a:t>Linear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365D0-4152-F10B-486F-3391D1E66E6F}"/>
              </a:ext>
            </a:extLst>
          </p:cNvPr>
          <p:cNvSpPr txBox="1"/>
          <p:nvPr/>
        </p:nvSpPr>
        <p:spPr>
          <a:xfrm>
            <a:off x="5624735" y="1703549"/>
            <a:ext cx="156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Embedding</a:t>
            </a:r>
            <a:endParaRPr lang="zh-CN" altLang="en-US" sz="16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913A9B6-FA39-CB5F-40D3-BB46BACA679F}"/>
              </a:ext>
            </a:extLst>
          </p:cNvPr>
          <p:cNvCxnSpPr>
            <a:cxnSpLocks/>
          </p:cNvCxnSpPr>
          <p:nvPr/>
        </p:nvCxnSpPr>
        <p:spPr>
          <a:xfrm>
            <a:off x="6946983" y="1876517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A1A1C75-4A39-F1FF-EF0A-E664C93C8686}"/>
              </a:ext>
            </a:extLst>
          </p:cNvPr>
          <p:cNvSpPr txBox="1"/>
          <p:nvPr/>
        </p:nvSpPr>
        <p:spPr>
          <a:xfrm>
            <a:off x="8188942" y="1574766"/>
            <a:ext cx="406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4F971C3-E89E-FFB2-B8DB-8EBB8AF2D8DC}"/>
              </a:ext>
            </a:extLst>
          </p:cNvPr>
          <p:cNvCxnSpPr>
            <a:cxnSpLocks/>
          </p:cNvCxnSpPr>
          <p:nvPr/>
        </p:nvCxnSpPr>
        <p:spPr>
          <a:xfrm>
            <a:off x="7800060" y="1870425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BB4BD74-4BF3-CB47-59AC-97E2A0E6FF74}"/>
              </a:ext>
            </a:extLst>
          </p:cNvPr>
          <p:cNvCxnSpPr>
            <a:cxnSpLocks/>
          </p:cNvCxnSpPr>
          <p:nvPr/>
        </p:nvCxnSpPr>
        <p:spPr>
          <a:xfrm>
            <a:off x="8702231" y="1890512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0FA8A606-F9ED-C3FE-62B0-1D658319F17A}"/>
              </a:ext>
            </a:extLst>
          </p:cNvPr>
          <p:cNvCxnSpPr>
            <a:cxnSpLocks/>
          </p:cNvCxnSpPr>
          <p:nvPr/>
        </p:nvCxnSpPr>
        <p:spPr>
          <a:xfrm>
            <a:off x="10102876" y="1911358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DA152D3D-3022-A364-C861-D26BDB797CF8}"/>
              </a:ext>
            </a:extLst>
          </p:cNvPr>
          <p:cNvSpPr/>
          <p:nvPr/>
        </p:nvSpPr>
        <p:spPr>
          <a:xfrm>
            <a:off x="5688354" y="2499644"/>
            <a:ext cx="115373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D36872D-909C-FCD9-4856-5E2CDC99850D}"/>
              </a:ext>
            </a:extLst>
          </p:cNvPr>
          <p:cNvSpPr/>
          <p:nvPr/>
        </p:nvSpPr>
        <p:spPr>
          <a:xfrm>
            <a:off x="6897890" y="2499644"/>
            <a:ext cx="1051503" cy="3385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501F94E-1837-D945-F176-3256A900D93D}"/>
              </a:ext>
            </a:extLst>
          </p:cNvPr>
          <p:cNvSpPr/>
          <p:nvPr/>
        </p:nvSpPr>
        <p:spPr>
          <a:xfrm>
            <a:off x="8005189" y="2502589"/>
            <a:ext cx="807369" cy="33855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5C6C156-A5FB-8447-3FD3-CFC1DAE13A5B}"/>
              </a:ext>
            </a:extLst>
          </p:cNvPr>
          <p:cNvSpPr/>
          <p:nvPr/>
        </p:nvSpPr>
        <p:spPr>
          <a:xfrm>
            <a:off x="8890477" y="2496133"/>
            <a:ext cx="1212399" cy="338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F171F90-0B6F-821C-B37E-802835408842}"/>
              </a:ext>
            </a:extLst>
          </p:cNvPr>
          <p:cNvSpPr/>
          <p:nvPr/>
        </p:nvSpPr>
        <p:spPr>
          <a:xfrm>
            <a:off x="10171217" y="2496133"/>
            <a:ext cx="1234522" cy="33855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6FF609F-0DAD-0E25-DB93-FAC21B60116F}"/>
              </a:ext>
            </a:extLst>
          </p:cNvPr>
          <p:cNvCxnSpPr/>
          <p:nvPr/>
        </p:nvCxnSpPr>
        <p:spPr>
          <a:xfrm>
            <a:off x="5879162" y="2663420"/>
            <a:ext cx="52409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F55CE30-EE2C-2E7A-10A2-BE161D200BED}"/>
              </a:ext>
            </a:extLst>
          </p:cNvPr>
          <p:cNvSpPr/>
          <p:nvPr/>
        </p:nvSpPr>
        <p:spPr>
          <a:xfrm>
            <a:off x="8963437" y="2564829"/>
            <a:ext cx="1066477" cy="190501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8B7838A-D093-A46E-6BBA-504F0AC98E76}"/>
              </a:ext>
            </a:extLst>
          </p:cNvPr>
          <p:cNvCxnSpPr/>
          <p:nvPr/>
        </p:nvCxnSpPr>
        <p:spPr>
          <a:xfrm>
            <a:off x="9160669" y="2564830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F063FB5-1AA0-4363-FF2F-9CB7271C2F8D}"/>
              </a:ext>
            </a:extLst>
          </p:cNvPr>
          <p:cNvCxnSpPr/>
          <p:nvPr/>
        </p:nvCxnSpPr>
        <p:spPr>
          <a:xfrm flipH="1">
            <a:off x="9153525" y="2755330"/>
            <a:ext cx="726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97F6801D-E48E-1C9F-DBE0-85548225D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069" y="3899466"/>
            <a:ext cx="4326222" cy="24454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BB320D7-F455-AA2D-C45A-45931D2E3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450" y="3158373"/>
            <a:ext cx="4336552" cy="318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16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950E-64A6-44D3-9294-A278BA80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08932C-CDC0-C117-A6B5-F3B60983C9EA}"/>
              </a:ext>
            </a:extLst>
          </p:cNvPr>
          <p:cNvSpPr txBox="1"/>
          <p:nvPr/>
        </p:nvSpPr>
        <p:spPr>
          <a:xfrm>
            <a:off x="476637" y="420366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DD7B60-AA5F-3C85-E0BB-8CE26BF3AED0}"/>
              </a:ext>
            </a:extLst>
          </p:cNvPr>
          <p:cNvSpPr txBox="1"/>
          <p:nvPr/>
        </p:nvSpPr>
        <p:spPr>
          <a:xfrm>
            <a:off x="714382" y="1817734"/>
            <a:ext cx="32456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Transformer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Decoder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32AC7E-E9A2-2159-FDE5-21B36BE57B95}"/>
              </a:ext>
            </a:extLst>
          </p:cNvPr>
          <p:cNvSpPr txBox="1"/>
          <p:nvPr/>
        </p:nvSpPr>
        <p:spPr>
          <a:xfrm>
            <a:off x="714381" y="2623367"/>
            <a:ext cx="19155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End to End</a:t>
            </a:r>
            <a:endParaRPr lang="en-US" altLang="zh-CN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243C7B-E07A-F12E-800D-511167E42AB8}"/>
              </a:ext>
            </a:extLst>
          </p:cNvPr>
          <p:cNvSpPr txBox="1"/>
          <p:nvPr/>
        </p:nvSpPr>
        <p:spPr>
          <a:xfrm>
            <a:off x="1254432" y="2154579"/>
            <a:ext cx="30842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Learnable </a:t>
            </a:r>
            <a:r>
              <a:rPr lang="en-US" altLang="zh-CN" sz="2000" dirty="0"/>
              <a:t>Queries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EC02D0-DF65-ABDD-AD78-840B6750EA54}"/>
              </a:ext>
            </a:extLst>
          </p:cNvPr>
          <p:cNvSpPr txBox="1"/>
          <p:nvPr/>
        </p:nvSpPr>
        <p:spPr>
          <a:xfrm>
            <a:off x="1254430" y="3028890"/>
            <a:ext cx="21698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Set </a:t>
            </a:r>
            <a:r>
              <a:rPr lang="en-US" altLang="zh-CN" sz="2000" dirty="0"/>
              <a:t>Prediction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D72BAF-AA59-435C-5239-34B846813E6B}"/>
              </a:ext>
            </a:extLst>
          </p:cNvPr>
          <p:cNvSpPr txBox="1"/>
          <p:nvPr/>
        </p:nvSpPr>
        <p:spPr>
          <a:xfrm>
            <a:off x="714380" y="1012101"/>
            <a:ext cx="32456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Transformer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E4C5F5-EA2C-A011-6C37-7F56F01C547E}"/>
              </a:ext>
            </a:extLst>
          </p:cNvPr>
          <p:cNvSpPr txBox="1"/>
          <p:nvPr/>
        </p:nvSpPr>
        <p:spPr>
          <a:xfrm>
            <a:off x="1254430" y="1348946"/>
            <a:ext cx="30842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Attention</a:t>
            </a:r>
            <a:endParaRPr lang="en-US" altLang="zh-CN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C1A0DA-5765-C78D-6DA5-B7C09467F3D9}"/>
              </a:ext>
            </a:extLst>
          </p:cNvPr>
          <p:cNvSpPr txBox="1"/>
          <p:nvPr/>
        </p:nvSpPr>
        <p:spPr>
          <a:xfrm>
            <a:off x="4225730" y="423544"/>
            <a:ext cx="912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DCN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76B2FE-3756-8DB2-D87E-8B1FF25860B1}"/>
              </a:ext>
            </a:extLst>
          </p:cNvPr>
          <p:cNvSpPr txBox="1"/>
          <p:nvPr/>
        </p:nvSpPr>
        <p:spPr>
          <a:xfrm>
            <a:off x="4626890" y="953724"/>
            <a:ext cx="2284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Brief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5E5F69-A43F-AA68-4E17-60E367565B43}"/>
              </a:ext>
            </a:extLst>
          </p:cNvPr>
          <p:cNvSpPr txBox="1"/>
          <p:nvPr/>
        </p:nvSpPr>
        <p:spPr>
          <a:xfrm>
            <a:off x="7590583" y="420366"/>
            <a:ext cx="30395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Deformable DETR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8FD404-0B6D-29C0-E42B-BC326427644B}"/>
              </a:ext>
            </a:extLst>
          </p:cNvPr>
          <p:cNvSpPr txBox="1"/>
          <p:nvPr/>
        </p:nvSpPr>
        <p:spPr>
          <a:xfrm>
            <a:off x="8221072" y="882031"/>
            <a:ext cx="2284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Deformable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D51E06-BBAB-6056-6A7B-4FE3471F0C44}"/>
              </a:ext>
            </a:extLst>
          </p:cNvPr>
          <p:cNvSpPr txBox="1"/>
          <p:nvPr/>
        </p:nvSpPr>
        <p:spPr>
          <a:xfrm>
            <a:off x="8221072" y="1282141"/>
            <a:ext cx="2284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Multi-scale</a:t>
            </a:r>
          </a:p>
        </p:txBody>
      </p:sp>
    </p:spTree>
    <p:extLst>
      <p:ext uri="{BB962C8B-B14F-4D97-AF65-F5344CB8AC3E}">
        <p14:creationId xmlns:p14="http://schemas.microsoft.com/office/powerpoint/2010/main" val="31800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BB395E-BCE1-4B01-B8A4-554B40250BC6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AB6727-2857-7142-A450-862AAE97A526}"/>
              </a:ext>
            </a:extLst>
          </p:cNvPr>
          <p:cNvSpPr txBox="1"/>
          <p:nvPr/>
        </p:nvSpPr>
        <p:spPr>
          <a:xfrm>
            <a:off x="1773569" y="374478"/>
            <a:ext cx="113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51A405-B70A-D0E6-F921-AAFCAA5BC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01" y="3522303"/>
            <a:ext cx="3090883" cy="31963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5D60E1D-1ACE-D02B-BF6D-B5105F6550E5}"/>
              </a:ext>
            </a:extLst>
          </p:cNvPr>
          <p:cNvSpPr txBox="1"/>
          <p:nvPr/>
        </p:nvSpPr>
        <p:spPr>
          <a:xfrm>
            <a:off x="555686" y="907901"/>
            <a:ext cx="218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CNN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Backbone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FB7DFF-6C2E-24BC-6492-1192B6FA7504}"/>
              </a:ext>
            </a:extLst>
          </p:cNvPr>
          <p:cNvSpPr txBox="1"/>
          <p:nvPr/>
        </p:nvSpPr>
        <p:spPr>
          <a:xfrm>
            <a:off x="1465152" y="1392399"/>
            <a:ext cx="218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Positional Encoding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C14D73-1937-71C6-17B7-776E56C63922}"/>
              </a:ext>
            </a:extLst>
          </p:cNvPr>
          <p:cNvSpPr txBox="1"/>
          <p:nvPr/>
        </p:nvSpPr>
        <p:spPr>
          <a:xfrm>
            <a:off x="2810746" y="917632"/>
            <a:ext cx="2651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Transformer Encoder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5E50DD-3407-E8B8-CF90-2FEA69262E99}"/>
              </a:ext>
            </a:extLst>
          </p:cNvPr>
          <p:cNvSpPr txBox="1"/>
          <p:nvPr/>
        </p:nvSpPr>
        <p:spPr>
          <a:xfrm>
            <a:off x="5754280" y="917632"/>
            <a:ext cx="222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Transformer Decoder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DAF104-858E-A3C3-06A8-9EC314105795}"/>
              </a:ext>
            </a:extLst>
          </p:cNvPr>
          <p:cNvSpPr txBox="1"/>
          <p:nvPr/>
        </p:nvSpPr>
        <p:spPr>
          <a:xfrm>
            <a:off x="6087827" y="1405341"/>
            <a:ext cx="202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Object Queries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7663D4-F4E6-AC87-CFF6-A40117055EC1}"/>
              </a:ext>
            </a:extLst>
          </p:cNvPr>
          <p:cNvSpPr txBox="1"/>
          <p:nvPr/>
        </p:nvSpPr>
        <p:spPr>
          <a:xfrm>
            <a:off x="8759894" y="937805"/>
            <a:ext cx="1439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3">
                    <a:lumMod val="75000"/>
                  </a:schemeClr>
                </a:solidFill>
              </a:rPr>
              <a:t>FFN Head</a:t>
            </a:r>
            <a:endParaRPr lang="zh-CN" alt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10B0998-856A-D20B-C5F0-87B6850DE454}"/>
              </a:ext>
            </a:extLst>
          </p:cNvPr>
          <p:cNvCxnSpPr>
            <a:cxnSpLocks/>
          </p:cNvCxnSpPr>
          <p:nvPr/>
        </p:nvCxnSpPr>
        <p:spPr>
          <a:xfrm>
            <a:off x="2141276" y="1107082"/>
            <a:ext cx="7164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A4D6283-25B3-7745-4553-596C2D9884CE}"/>
              </a:ext>
            </a:extLst>
          </p:cNvPr>
          <p:cNvCxnSpPr>
            <a:cxnSpLocks/>
          </p:cNvCxnSpPr>
          <p:nvPr/>
        </p:nvCxnSpPr>
        <p:spPr>
          <a:xfrm>
            <a:off x="4991968" y="1107082"/>
            <a:ext cx="7164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BC557D4-5FCD-9BE3-3D0E-4F83CDCECFEA}"/>
              </a:ext>
            </a:extLst>
          </p:cNvPr>
          <p:cNvCxnSpPr>
            <a:cxnSpLocks/>
          </p:cNvCxnSpPr>
          <p:nvPr/>
        </p:nvCxnSpPr>
        <p:spPr>
          <a:xfrm>
            <a:off x="7976912" y="1112483"/>
            <a:ext cx="7164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12EF209-722F-390A-D6CA-F477EC8EBE87}"/>
              </a:ext>
            </a:extLst>
          </p:cNvPr>
          <p:cNvCxnSpPr>
            <a:cxnSpLocks/>
          </p:cNvCxnSpPr>
          <p:nvPr/>
        </p:nvCxnSpPr>
        <p:spPr>
          <a:xfrm flipV="1">
            <a:off x="2453137" y="1197699"/>
            <a:ext cx="0" cy="1765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EBF465D-6102-C37D-B08B-97E7CBAA3903}"/>
              </a:ext>
            </a:extLst>
          </p:cNvPr>
          <p:cNvCxnSpPr>
            <a:cxnSpLocks/>
          </p:cNvCxnSpPr>
          <p:nvPr/>
        </p:nvCxnSpPr>
        <p:spPr>
          <a:xfrm flipV="1">
            <a:off x="6859296" y="1244431"/>
            <a:ext cx="0" cy="1726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7F63770-4FC8-15E1-6BE4-FB85685B485F}"/>
              </a:ext>
            </a:extLst>
          </p:cNvPr>
          <p:cNvSpPr/>
          <p:nvPr/>
        </p:nvSpPr>
        <p:spPr>
          <a:xfrm>
            <a:off x="7815860" y="2352552"/>
            <a:ext cx="950756" cy="22544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AF6124-8B9F-BBAB-3938-90BFDC90AED6}"/>
              </a:ext>
            </a:extLst>
          </p:cNvPr>
          <p:cNvSpPr/>
          <p:nvPr/>
        </p:nvSpPr>
        <p:spPr>
          <a:xfrm>
            <a:off x="8243739" y="2611219"/>
            <a:ext cx="522877" cy="225446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E45F19-CFC5-D937-16AE-86436A2FBC46}"/>
              </a:ext>
            </a:extLst>
          </p:cNvPr>
          <p:cNvSpPr/>
          <p:nvPr/>
        </p:nvSpPr>
        <p:spPr>
          <a:xfrm>
            <a:off x="8830244" y="2352552"/>
            <a:ext cx="825505" cy="48449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9F844B-4DFD-DD97-895B-D6A9E122E8C0}"/>
              </a:ext>
            </a:extLst>
          </p:cNvPr>
          <p:cNvSpPr/>
          <p:nvPr/>
        </p:nvSpPr>
        <p:spPr>
          <a:xfrm>
            <a:off x="9719377" y="2352552"/>
            <a:ext cx="1017187" cy="48449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B824C7-E5CF-D306-BEDF-F99840383F19}"/>
              </a:ext>
            </a:extLst>
          </p:cNvPr>
          <p:cNvSpPr/>
          <p:nvPr/>
        </p:nvSpPr>
        <p:spPr>
          <a:xfrm>
            <a:off x="9719376" y="2861675"/>
            <a:ext cx="513961" cy="242637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73719B-61EA-880B-A10E-F76A63A15A05}"/>
              </a:ext>
            </a:extLst>
          </p:cNvPr>
          <p:cNvSpPr/>
          <p:nvPr/>
        </p:nvSpPr>
        <p:spPr>
          <a:xfrm>
            <a:off x="10786121" y="2352552"/>
            <a:ext cx="825505" cy="4824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360091-41D5-5E78-5A78-8E2903D18E80}"/>
              </a:ext>
            </a:extLst>
          </p:cNvPr>
          <p:cNvSpPr/>
          <p:nvPr/>
        </p:nvSpPr>
        <p:spPr>
          <a:xfrm>
            <a:off x="8830244" y="2177342"/>
            <a:ext cx="1906319" cy="13124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2F859C-8BCD-8DD7-B76C-0D824F2AC468}"/>
              </a:ext>
            </a:extLst>
          </p:cNvPr>
          <p:cNvCxnSpPr>
            <a:cxnSpLocks/>
          </p:cNvCxnSpPr>
          <p:nvPr/>
        </p:nvCxnSpPr>
        <p:spPr>
          <a:xfrm flipV="1">
            <a:off x="7728740" y="2596100"/>
            <a:ext cx="4141491" cy="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B0425F7-4137-6BD9-FCBF-8C66A61BEB70}"/>
              </a:ext>
            </a:extLst>
          </p:cNvPr>
          <p:cNvSpPr/>
          <p:nvPr/>
        </p:nvSpPr>
        <p:spPr>
          <a:xfrm>
            <a:off x="8883146" y="2398570"/>
            <a:ext cx="1801224" cy="375587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B1420A8-EA5E-A80D-6B6F-331A69A7F84F}"/>
              </a:ext>
            </a:extLst>
          </p:cNvPr>
          <p:cNvCxnSpPr/>
          <p:nvPr/>
        </p:nvCxnSpPr>
        <p:spPr>
          <a:xfrm>
            <a:off x="9031781" y="2398092"/>
            <a:ext cx="14978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0191FC3-E3A2-343C-CE4F-40D168DC917F}"/>
              </a:ext>
            </a:extLst>
          </p:cNvPr>
          <p:cNvCxnSpPr>
            <a:cxnSpLocks/>
          </p:cNvCxnSpPr>
          <p:nvPr/>
        </p:nvCxnSpPr>
        <p:spPr>
          <a:xfrm flipH="1">
            <a:off x="9031781" y="2774157"/>
            <a:ext cx="14668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A168D64-8485-A360-1445-070AB5ECC554}"/>
              </a:ext>
            </a:extLst>
          </p:cNvPr>
          <p:cNvSpPr/>
          <p:nvPr/>
        </p:nvSpPr>
        <p:spPr>
          <a:xfrm>
            <a:off x="5436140" y="5355285"/>
            <a:ext cx="4569175" cy="1123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0AFC255-1DE1-4585-B85F-014B88B6CF20}"/>
              </a:ext>
            </a:extLst>
          </p:cNvPr>
          <p:cNvSpPr txBox="1"/>
          <p:nvPr/>
        </p:nvSpPr>
        <p:spPr>
          <a:xfrm>
            <a:off x="5488031" y="4559832"/>
            <a:ext cx="1123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MHSA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D089B90-F43D-8F03-539D-93778227B2B8}"/>
              </a:ext>
            </a:extLst>
          </p:cNvPr>
          <p:cNvSpPr txBox="1"/>
          <p:nvPr/>
        </p:nvSpPr>
        <p:spPr>
          <a:xfrm>
            <a:off x="7071566" y="4592433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FFN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3D7EF7C-5DBC-B3A1-52F0-DC0FB259CB62}"/>
              </a:ext>
            </a:extLst>
          </p:cNvPr>
          <p:cNvSpPr txBox="1"/>
          <p:nvPr/>
        </p:nvSpPr>
        <p:spPr>
          <a:xfrm>
            <a:off x="5413329" y="5449637"/>
            <a:ext cx="1123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MHSA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B408ED7-1EA3-8498-EDAE-98840007867D}"/>
              </a:ext>
            </a:extLst>
          </p:cNvPr>
          <p:cNvSpPr txBox="1"/>
          <p:nvPr/>
        </p:nvSpPr>
        <p:spPr>
          <a:xfrm>
            <a:off x="3954917" y="4556988"/>
            <a:ext cx="1403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Img</a:t>
            </a:r>
            <a:r>
              <a:rPr lang="en-US" altLang="zh-CN" sz="1600" dirty="0"/>
              <a:t> Features</a:t>
            </a:r>
            <a:endParaRPr lang="zh-CN" altLang="en-US" sz="16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FE1CF3F-114F-36C5-8474-EF52AA0796EE}"/>
              </a:ext>
            </a:extLst>
          </p:cNvPr>
          <p:cNvSpPr txBox="1"/>
          <p:nvPr/>
        </p:nvSpPr>
        <p:spPr>
          <a:xfrm>
            <a:off x="6301178" y="4565662"/>
            <a:ext cx="799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D4446C2-4C93-85A0-18BF-3FF8B89EC192}"/>
              </a:ext>
            </a:extLst>
          </p:cNvPr>
          <p:cNvSpPr txBox="1"/>
          <p:nvPr/>
        </p:nvSpPr>
        <p:spPr>
          <a:xfrm>
            <a:off x="7687305" y="4567834"/>
            <a:ext cx="732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5F9F337-A2EC-8EE9-926B-148D1C36071F}"/>
              </a:ext>
            </a:extLst>
          </p:cNvPr>
          <p:cNvCxnSpPr>
            <a:cxnSpLocks/>
          </p:cNvCxnSpPr>
          <p:nvPr/>
        </p:nvCxnSpPr>
        <p:spPr>
          <a:xfrm>
            <a:off x="5317737" y="4751702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D95935D-6B0D-4486-672C-7345BAD6B8DB}"/>
              </a:ext>
            </a:extLst>
          </p:cNvPr>
          <p:cNvCxnSpPr>
            <a:cxnSpLocks/>
          </p:cNvCxnSpPr>
          <p:nvPr/>
        </p:nvCxnSpPr>
        <p:spPr>
          <a:xfrm>
            <a:off x="6962940" y="4751015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81EC6CB-48F0-DBDD-10F8-1FAA73D623AC}"/>
              </a:ext>
            </a:extLst>
          </p:cNvPr>
          <p:cNvCxnSpPr>
            <a:cxnSpLocks/>
          </p:cNvCxnSpPr>
          <p:nvPr/>
        </p:nvCxnSpPr>
        <p:spPr>
          <a:xfrm>
            <a:off x="7587377" y="4751015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81F662B6-57B7-982D-2097-A6FFB76406C1}"/>
              </a:ext>
            </a:extLst>
          </p:cNvPr>
          <p:cNvSpPr txBox="1"/>
          <p:nvPr/>
        </p:nvSpPr>
        <p:spPr>
          <a:xfrm>
            <a:off x="4479233" y="5016732"/>
            <a:ext cx="504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Pos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28F4602-5E9C-5610-F450-E46CEF527E8E}"/>
              </a:ext>
            </a:extLst>
          </p:cNvPr>
          <p:cNvSpPr txBox="1"/>
          <p:nvPr/>
        </p:nvSpPr>
        <p:spPr>
          <a:xfrm>
            <a:off x="3965304" y="5416236"/>
            <a:ext cx="1403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Obj Queries</a:t>
            </a:r>
            <a:endParaRPr lang="zh-CN" altLang="en-US" sz="16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E5A16B6-8D5E-16FA-9599-9B698FD14355}"/>
              </a:ext>
            </a:extLst>
          </p:cNvPr>
          <p:cNvSpPr txBox="1"/>
          <p:nvPr/>
        </p:nvSpPr>
        <p:spPr>
          <a:xfrm>
            <a:off x="8701848" y="5453782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FFN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F8B61AE-4262-2A9A-9D70-C45800497A5D}"/>
              </a:ext>
            </a:extLst>
          </p:cNvPr>
          <p:cNvSpPr txBox="1"/>
          <p:nvPr/>
        </p:nvSpPr>
        <p:spPr>
          <a:xfrm>
            <a:off x="6266893" y="5429633"/>
            <a:ext cx="767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91A3021-717E-050E-CAD2-F6D92E9D9150}"/>
              </a:ext>
            </a:extLst>
          </p:cNvPr>
          <p:cNvSpPr txBox="1"/>
          <p:nvPr/>
        </p:nvSpPr>
        <p:spPr>
          <a:xfrm>
            <a:off x="7897680" y="5423621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6ABA5DF-6F3B-76D0-697A-08B05A0645F2}"/>
              </a:ext>
            </a:extLst>
          </p:cNvPr>
          <p:cNvSpPr txBox="1"/>
          <p:nvPr/>
        </p:nvSpPr>
        <p:spPr>
          <a:xfrm>
            <a:off x="9353912" y="5434262"/>
            <a:ext cx="981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Norm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E0CC99FB-B0EA-F995-802E-44CAC7EEA956}"/>
              </a:ext>
            </a:extLst>
          </p:cNvPr>
          <p:cNvCxnSpPr>
            <a:cxnSpLocks/>
          </p:cNvCxnSpPr>
          <p:nvPr/>
        </p:nvCxnSpPr>
        <p:spPr>
          <a:xfrm>
            <a:off x="5317737" y="5610821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FB9983A-4E58-F49B-C83F-B071609F18C4}"/>
              </a:ext>
            </a:extLst>
          </p:cNvPr>
          <p:cNvCxnSpPr>
            <a:cxnSpLocks/>
          </p:cNvCxnSpPr>
          <p:nvPr/>
        </p:nvCxnSpPr>
        <p:spPr>
          <a:xfrm>
            <a:off x="6119505" y="5617381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611AC9F-3388-822E-8AA8-AC93C8D8805F}"/>
              </a:ext>
            </a:extLst>
          </p:cNvPr>
          <p:cNvCxnSpPr>
            <a:cxnSpLocks/>
          </p:cNvCxnSpPr>
          <p:nvPr/>
        </p:nvCxnSpPr>
        <p:spPr>
          <a:xfrm>
            <a:off x="6962940" y="5610134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0E0E415-00E0-9DAA-E80B-74F06CDCBAF7}"/>
              </a:ext>
            </a:extLst>
          </p:cNvPr>
          <p:cNvCxnSpPr>
            <a:cxnSpLocks/>
          </p:cNvCxnSpPr>
          <p:nvPr/>
        </p:nvCxnSpPr>
        <p:spPr>
          <a:xfrm>
            <a:off x="7754355" y="5607914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39FEE3C-A7EC-3BC6-7E4B-80BD98A597D0}"/>
              </a:ext>
            </a:extLst>
          </p:cNvPr>
          <p:cNvCxnSpPr>
            <a:cxnSpLocks/>
          </p:cNvCxnSpPr>
          <p:nvPr/>
        </p:nvCxnSpPr>
        <p:spPr>
          <a:xfrm>
            <a:off x="8589836" y="5617381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D9033EAE-DCE8-F3BC-8077-C49EE4B2DDEF}"/>
              </a:ext>
            </a:extLst>
          </p:cNvPr>
          <p:cNvSpPr txBox="1"/>
          <p:nvPr/>
        </p:nvSpPr>
        <p:spPr>
          <a:xfrm>
            <a:off x="5943960" y="4337533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970346D3-A28F-6BE3-81C2-382DE2027525}"/>
              </a:ext>
            </a:extLst>
          </p:cNvPr>
          <p:cNvCxnSpPr>
            <a:cxnSpLocks/>
            <a:stCxn id="78" idx="1"/>
          </p:cNvCxnSpPr>
          <p:nvPr/>
        </p:nvCxnSpPr>
        <p:spPr>
          <a:xfrm rot="10800000" flipV="1">
            <a:off x="5394190" y="4476032"/>
            <a:ext cx="549771" cy="222391"/>
          </a:xfrm>
          <a:prstGeom prst="bentConnector3">
            <a:avLst>
              <a:gd name="adj1" fmla="val 10134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49170D46-9868-6958-1AC0-38BED7B9D6EB}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6225492" y="4476033"/>
            <a:ext cx="454902" cy="210223"/>
          </a:xfrm>
          <a:prstGeom prst="bentConnector3">
            <a:avLst>
              <a:gd name="adj1" fmla="val 1012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1735DE82-D4EA-EAC2-0E21-CB251C6D7DDC}"/>
              </a:ext>
            </a:extLst>
          </p:cNvPr>
          <p:cNvSpPr txBox="1"/>
          <p:nvPr/>
        </p:nvSpPr>
        <p:spPr>
          <a:xfrm>
            <a:off x="7411482" y="4325485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C7FA4EF9-C387-607C-A133-11EA709E4B71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 flipV="1">
            <a:off x="6977254" y="4463985"/>
            <a:ext cx="434229" cy="241162"/>
          </a:xfrm>
          <a:prstGeom prst="bentConnector3">
            <a:avLst>
              <a:gd name="adj1" fmla="val 9946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E11F079D-77AB-0CCE-E746-6B41F2E968A0}"/>
              </a:ext>
            </a:extLst>
          </p:cNvPr>
          <p:cNvCxnSpPr>
            <a:cxnSpLocks/>
            <a:stCxn id="81" idx="3"/>
          </p:cNvCxnSpPr>
          <p:nvPr/>
        </p:nvCxnSpPr>
        <p:spPr>
          <a:xfrm>
            <a:off x="7693014" y="4463985"/>
            <a:ext cx="359134" cy="229531"/>
          </a:xfrm>
          <a:prstGeom prst="bentConnector3">
            <a:avLst>
              <a:gd name="adj1" fmla="val 978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03555329-89CF-4FAF-8C2F-32DE753264EF}"/>
              </a:ext>
            </a:extLst>
          </p:cNvPr>
          <p:cNvSpPr txBox="1"/>
          <p:nvPr/>
        </p:nvSpPr>
        <p:spPr>
          <a:xfrm>
            <a:off x="5825930" y="5754790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2BEC9743-2CC3-E3E4-FEF2-84A61250E0CB}"/>
              </a:ext>
            </a:extLst>
          </p:cNvPr>
          <p:cNvCxnSpPr>
            <a:cxnSpLocks/>
            <a:stCxn id="84" idx="1"/>
          </p:cNvCxnSpPr>
          <p:nvPr/>
        </p:nvCxnSpPr>
        <p:spPr>
          <a:xfrm rot="10800000">
            <a:off x="5415144" y="5719112"/>
            <a:ext cx="410787" cy="174179"/>
          </a:xfrm>
          <a:prstGeom prst="bentConnector3">
            <a:avLst>
              <a:gd name="adj1" fmla="val 993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D3B77767-E932-1B55-1787-397C14845B9C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6107462" y="5719111"/>
            <a:ext cx="503625" cy="174179"/>
          </a:xfrm>
          <a:prstGeom prst="bentConnector3">
            <a:avLst>
              <a:gd name="adj1" fmla="val 9996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7F765D3D-3D9A-700B-2EEE-FD00629E0B58}"/>
              </a:ext>
            </a:extLst>
          </p:cNvPr>
          <p:cNvSpPr txBox="1"/>
          <p:nvPr/>
        </p:nvSpPr>
        <p:spPr>
          <a:xfrm>
            <a:off x="7488469" y="5730750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D72FED3D-E6AB-3EC2-33F7-2748EC89D1B7}"/>
              </a:ext>
            </a:extLst>
          </p:cNvPr>
          <p:cNvCxnSpPr>
            <a:cxnSpLocks/>
            <a:stCxn id="87" idx="1"/>
          </p:cNvCxnSpPr>
          <p:nvPr/>
        </p:nvCxnSpPr>
        <p:spPr>
          <a:xfrm rot="10800000">
            <a:off x="6934733" y="5707160"/>
            <a:ext cx="553736" cy="162090"/>
          </a:xfrm>
          <a:prstGeom prst="bentConnector3">
            <a:avLst>
              <a:gd name="adj1" fmla="val 9876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FB277E64-C07C-EE7E-BA88-D8A6AE8E7FE5}"/>
              </a:ext>
            </a:extLst>
          </p:cNvPr>
          <p:cNvCxnSpPr>
            <a:cxnSpLocks/>
            <a:stCxn id="87" idx="3"/>
          </p:cNvCxnSpPr>
          <p:nvPr/>
        </p:nvCxnSpPr>
        <p:spPr>
          <a:xfrm flipV="1">
            <a:off x="7770001" y="5697994"/>
            <a:ext cx="457522" cy="171256"/>
          </a:xfrm>
          <a:prstGeom prst="bentConnector3">
            <a:avLst>
              <a:gd name="adj1" fmla="val 996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2BBB3DCC-6182-85CB-73DB-5A116829A9B1}"/>
              </a:ext>
            </a:extLst>
          </p:cNvPr>
          <p:cNvCxnSpPr>
            <a:cxnSpLocks/>
            <a:stCxn id="56" idx="3"/>
            <a:endCxn id="130" idx="1"/>
          </p:cNvCxnSpPr>
          <p:nvPr/>
        </p:nvCxnSpPr>
        <p:spPr>
          <a:xfrm flipH="1">
            <a:off x="7054644" y="4737111"/>
            <a:ext cx="1364996" cy="870803"/>
          </a:xfrm>
          <a:prstGeom prst="bentConnector5">
            <a:avLst>
              <a:gd name="adj1" fmla="val -41924"/>
              <a:gd name="adj2" fmla="val 53524"/>
              <a:gd name="adj3" fmla="val 996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23DF80F-99BF-D6E3-9264-6A321515141A}"/>
              </a:ext>
            </a:extLst>
          </p:cNvPr>
          <p:cNvCxnSpPr>
            <a:cxnSpLocks/>
          </p:cNvCxnSpPr>
          <p:nvPr/>
        </p:nvCxnSpPr>
        <p:spPr>
          <a:xfrm>
            <a:off x="9241799" y="5617381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34A1A07D-B506-D80C-9608-C9E4B1E170E5}"/>
              </a:ext>
            </a:extLst>
          </p:cNvPr>
          <p:cNvSpPr txBox="1"/>
          <p:nvPr/>
        </p:nvSpPr>
        <p:spPr>
          <a:xfrm>
            <a:off x="9031781" y="5781695"/>
            <a:ext cx="281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+</a:t>
            </a:r>
            <a:endParaRPr lang="zh-CN" altLang="en-US" sz="1200" b="1" dirty="0"/>
          </a:p>
        </p:txBody>
      </p: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B94D87EE-8C9A-0D14-0DBE-D080BE351263}"/>
              </a:ext>
            </a:extLst>
          </p:cNvPr>
          <p:cNvCxnSpPr>
            <a:cxnSpLocks/>
            <a:stCxn id="92" idx="1"/>
          </p:cNvCxnSpPr>
          <p:nvPr/>
        </p:nvCxnSpPr>
        <p:spPr>
          <a:xfrm rot="10800000">
            <a:off x="8629807" y="5704613"/>
            <a:ext cx="401975" cy="215583"/>
          </a:xfrm>
          <a:prstGeom prst="bentConnector3">
            <a:avLst>
              <a:gd name="adj1" fmla="val 10038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229AD593-F811-FDB4-4BB5-B53C91AA488D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9313313" y="5707160"/>
            <a:ext cx="397693" cy="213035"/>
          </a:xfrm>
          <a:prstGeom prst="bentConnector3">
            <a:avLst>
              <a:gd name="adj1" fmla="val 9938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5C30CA5-0B8D-A640-9E4E-DF8D14E14279}"/>
              </a:ext>
            </a:extLst>
          </p:cNvPr>
          <p:cNvCxnSpPr>
            <a:cxnSpLocks/>
          </p:cNvCxnSpPr>
          <p:nvPr/>
        </p:nvCxnSpPr>
        <p:spPr>
          <a:xfrm>
            <a:off x="10005315" y="5607914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D394DF65-877C-E01D-BA52-2BD0F2152C7D}"/>
              </a:ext>
            </a:extLst>
          </p:cNvPr>
          <p:cNvSpPr/>
          <p:nvPr/>
        </p:nvSpPr>
        <p:spPr>
          <a:xfrm>
            <a:off x="5415416" y="4909612"/>
            <a:ext cx="3456346" cy="112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2BBEE777-4CAE-869E-5249-31C2CFC239BB}"/>
              </a:ext>
            </a:extLst>
          </p:cNvPr>
          <p:cNvSpPr txBox="1"/>
          <p:nvPr/>
        </p:nvSpPr>
        <p:spPr>
          <a:xfrm>
            <a:off x="4987365" y="4780181"/>
            <a:ext cx="81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 x</a:t>
            </a:r>
            <a:endParaRPr lang="zh-CN" altLang="en-US" sz="14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6849667-DFC3-F408-4866-CA0DBB18AE44}"/>
              </a:ext>
            </a:extLst>
          </p:cNvPr>
          <p:cNvSpPr txBox="1"/>
          <p:nvPr/>
        </p:nvSpPr>
        <p:spPr>
          <a:xfrm>
            <a:off x="10011936" y="5255689"/>
            <a:ext cx="81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 x</a:t>
            </a:r>
            <a:endParaRPr lang="zh-CN" altLang="en-US" sz="1400" dirty="0"/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C4EC2A03-9F6F-0790-941D-C1AB55172ABB}"/>
              </a:ext>
            </a:extLst>
          </p:cNvPr>
          <p:cNvCxnSpPr>
            <a:cxnSpLocks/>
          </p:cNvCxnSpPr>
          <p:nvPr/>
        </p:nvCxnSpPr>
        <p:spPr>
          <a:xfrm>
            <a:off x="6225492" y="4733556"/>
            <a:ext cx="149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AC08EAFF-2CE3-14A7-61A5-C2CDA767DA4C}"/>
              </a:ext>
            </a:extLst>
          </p:cNvPr>
          <p:cNvSpPr txBox="1"/>
          <p:nvPr/>
        </p:nvSpPr>
        <p:spPr>
          <a:xfrm>
            <a:off x="7054644" y="5438637"/>
            <a:ext cx="793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MHSA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0F7E602-68E1-04C2-C2EA-BF1C91290FB0}"/>
              </a:ext>
            </a:extLst>
          </p:cNvPr>
          <p:cNvSpPr txBox="1"/>
          <p:nvPr/>
        </p:nvSpPr>
        <p:spPr>
          <a:xfrm>
            <a:off x="10181899" y="5447883"/>
            <a:ext cx="628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FFN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AD95AA7A-C0CB-EE7E-E52D-D6DA071693CF}"/>
              </a:ext>
            </a:extLst>
          </p:cNvPr>
          <p:cNvCxnSpPr>
            <a:stCxn id="64" idx="3"/>
            <a:endCxn id="99" idx="0"/>
          </p:cNvCxnSpPr>
          <p:nvPr/>
        </p:nvCxnSpPr>
        <p:spPr>
          <a:xfrm flipV="1">
            <a:off x="4984018" y="4780181"/>
            <a:ext cx="408385" cy="405828"/>
          </a:xfrm>
          <a:prstGeom prst="bentConnector4">
            <a:avLst>
              <a:gd name="adj1" fmla="val 410"/>
              <a:gd name="adj2" fmla="val -93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4" name="连接符: 肘形 183">
            <a:extLst>
              <a:ext uri="{FF2B5EF4-FFF2-40B4-BE49-F238E27FC236}">
                <a16:creationId xmlns:a16="http://schemas.microsoft.com/office/drawing/2014/main" id="{BFA4017C-B6FC-6998-EEC1-B8CB4A191035}"/>
              </a:ext>
            </a:extLst>
          </p:cNvPr>
          <p:cNvCxnSpPr>
            <a:cxnSpLocks/>
          </p:cNvCxnSpPr>
          <p:nvPr/>
        </p:nvCxnSpPr>
        <p:spPr>
          <a:xfrm>
            <a:off x="5399024" y="5189687"/>
            <a:ext cx="1523490" cy="373778"/>
          </a:xfrm>
          <a:prstGeom prst="bentConnector3">
            <a:avLst>
              <a:gd name="adj1" fmla="val 10001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90" name="图片 189">
            <a:extLst>
              <a:ext uri="{FF2B5EF4-FFF2-40B4-BE49-F238E27FC236}">
                <a16:creationId xmlns:a16="http://schemas.microsoft.com/office/drawing/2014/main" id="{E2BA8AB0-25E3-19E3-863D-C9CBECE45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26" y="1832069"/>
            <a:ext cx="7106653" cy="17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49B29C-1800-D84D-B613-5A5B76438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8" y="275785"/>
            <a:ext cx="8402223" cy="63064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DAA8F36-E98E-F00F-34E0-7D71C4728413}"/>
              </a:ext>
            </a:extLst>
          </p:cNvPr>
          <p:cNvSpPr txBox="1"/>
          <p:nvPr/>
        </p:nvSpPr>
        <p:spPr>
          <a:xfrm>
            <a:off x="7823200" y="1311563"/>
            <a:ext cx="410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只有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positional encoding</a:t>
            </a:r>
            <a:r>
              <a:rPr lang="zh-CN" altLang="en-US" dirty="0"/>
              <a:t>部分略有不同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01BFA-0BF9-AA7D-E5FE-D35F3D66D3B0}"/>
              </a:ext>
            </a:extLst>
          </p:cNvPr>
          <p:cNvSpPr txBox="1"/>
          <p:nvPr/>
        </p:nvSpPr>
        <p:spPr>
          <a:xfrm>
            <a:off x="7897091" y="942231"/>
            <a:ext cx="410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DETR</a:t>
            </a:r>
            <a:r>
              <a:rPr lang="zh-CN" altLang="en-US" dirty="0"/>
              <a:t>可用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基本</a:t>
            </a:r>
            <a:r>
              <a:rPr lang="zh-CN" altLang="en-US" dirty="0"/>
              <a:t>函数实现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58AD39-1A72-9B43-4632-A9578A8A4704}"/>
              </a:ext>
            </a:extLst>
          </p:cNvPr>
          <p:cNvSpPr/>
          <p:nvPr/>
        </p:nvSpPr>
        <p:spPr>
          <a:xfrm>
            <a:off x="1579418" y="2078183"/>
            <a:ext cx="1080655" cy="2983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88F29E-70D9-E755-317A-F62CAD968F7F}"/>
              </a:ext>
            </a:extLst>
          </p:cNvPr>
          <p:cNvSpPr/>
          <p:nvPr/>
        </p:nvSpPr>
        <p:spPr>
          <a:xfrm>
            <a:off x="1579417" y="2376489"/>
            <a:ext cx="1344758" cy="19915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8F3BCB-366D-88AD-02F1-059950FBCCA3}"/>
              </a:ext>
            </a:extLst>
          </p:cNvPr>
          <p:cNvSpPr/>
          <p:nvPr/>
        </p:nvSpPr>
        <p:spPr>
          <a:xfrm>
            <a:off x="1579417" y="2575648"/>
            <a:ext cx="1344758" cy="19915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DC940-8C81-C752-BE92-43115AF76C03}"/>
              </a:ext>
            </a:extLst>
          </p:cNvPr>
          <p:cNvSpPr/>
          <p:nvPr/>
        </p:nvSpPr>
        <p:spPr>
          <a:xfrm>
            <a:off x="1579417" y="2774807"/>
            <a:ext cx="1420958" cy="30176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BCEA66-8C79-E817-1F73-5AD7688ACB22}"/>
              </a:ext>
            </a:extLst>
          </p:cNvPr>
          <p:cNvSpPr/>
          <p:nvPr/>
        </p:nvSpPr>
        <p:spPr>
          <a:xfrm>
            <a:off x="1579417" y="3076575"/>
            <a:ext cx="1192358" cy="19915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419021-AA93-E47D-5575-C740FCFC0AB9}"/>
              </a:ext>
            </a:extLst>
          </p:cNvPr>
          <p:cNvSpPr/>
          <p:nvPr/>
        </p:nvSpPr>
        <p:spPr>
          <a:xfrm>
            <a:off x="1579417" y="4477193"/>
            <a:ext cx="332510" cy="199159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743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57497C-55C1-F5D6-6FD3-0369BEDC45D0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D80F86-D226-21D5-A36B-69AE928AAF63}"/>
              </a:ext>
            </a:extLst>
          </p:cNvPr>
          <p:cNvSpPr txBox="1"/>
          <p:nvPr/>
        </p:nvSpPr>
        <p:spPr>
          <a:xfrm>
            <a:off x="1773569" y="374478"/>
            <a:ext cx="150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End2End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F9068C-4D34-857D-A3DD-3D95C3CB820E}"/>
              </a:ext>
            </a:extLst>
          </p:cNvPr>
          <p:cNvSpPr txBox="1"/>
          <p:nvPr/>
        </p:nvSpPr>
        <p:spPr>
          <a:xfrm>
            <a:off x="476638" y="1128084"/>
            <a:ext cx="535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How to define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End2End </a:t>
            </a:r>
            <a:r>
              <a:rPr lang="en-US" altLang="zh-CN" dirty="0"/>
              <a:t>in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 Object Detection </a:t>
            </a:r>
            <a:r>
              <a:rPr lang="en-US" altLang="zh-CN" dirty="0"/>
              <a:t>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1B0300-CA24-7855-F465-C760C9BEC04E}"/>
              </a:ext>
            </a:extLst>
          </p:cNvPr>
          <p:cNvSpPr txBox="1"/>
          <p:nvPr/>
        </p:nvSpPr>
        <p:spPr>
          <a:xfrm>
            <a:off x="742501" y="1470306"/>
            <a:ext cx="1031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RCNN(s)?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8E6246-3EE9-F169-D496-C3C7BB06F672}"/>
              </a:ext>
            </a:extLst>
          </p:cNvPr>
          <p:cNvSpPr txBox="1"/>
          <p:nvPr/>
        </p:nvSpPr>
        <p:spPr>
          <a:xfrm>
            <a:off x="2039434" y="1483861"/>
            <a:ext cx="217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Absolutely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Not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438619-8D51-A277-65A9-EE29A23F45DB}"/>
              </a:ext>
            </a:extLst>
          </p:cNvPr>
          <p:cNvSpPr txBox="1"/>
          <p:nvPr/>
        </p:nvSpPr>
        <p:spPr>
          <a:xfrm>
            <a:off x="742500" y="1839638"/>
            <a:ext cx="1031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YOLO 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47B375-8858-C07E-AB18-AB2984F45B08}"/>
              </a:ext>
            </a:extLst>
          </p:cNvPr>
          <p:cNvSpPr txBox="1"/>
          <p:nvPr/>
        </p:nvSpPr>
        <p:spPr>
          <a:xfrm>
            <a:off x="2039433" y="1808860"/>
            <a:ext cx="217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Not</a:t>
            </a:r>
            <a:r>
              <a:rPr lang="en-US" altLang="zh-CN" sz="1600" dirty="0"/>
              <a:t> Neither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EC9484-C5F1-850D-BBC3-18263801F65E}"/>
              </a:ext>
            </a:extLst>
          </p:cNvPr>
          <p:cNvSpPr txBox="1"/>
          <p:nvPr/>
        </p:nvSpPr>
        <p:spPr>
          <a:xfrm>
            <a:off x="476637" y="2662713"/>
            <a:ext cx="535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How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DETR </a:t>
            </a:r>
            <a:r>
              <a:rPr lang="en-US" altLang="zh-CN" dirty="0"/>
              <a:t>make it possible?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75E22E-9C71-5FEA-0CF1-A825BF151A65}"/>
              </a:ext>
            </a:extLst>
          </p:cNvPr>
          <p:cNvSpPr txBox="1"/>
          <p:nvPr/>
        </p:nvSpPr>
        <p:spPr>
          <a:xfrm>
            <a:off x="742499" y="2982628"/>
            <a:ext cx="204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CNN</a:t>
            </a:r>
            <a:r>
              <a:rPr lang="en-US" altLang="zh-CN" sz="1600" dirty="0"/>
              <a:t> Backbone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ED4949-CB47-1A53-10D8-C03E2F8F9238}"/>
              </a:ext>
            </a:extLst>
          </p:cNvPr>
          <p:cNvSpPr txBox="1"/>
          <p:nvPr/>
        </p:nvSpPr>
        <p:spPr>
          <a:xfrm>
            <a:off x="2523855" y="3001267"/>
            <a:ext cx="204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End2End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Already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7E2ADE-A8B5-4370-6C3B-7937AC247195}"/>
              </a:ext>
            </a:extLst>
          </p:cNvPr>
          <p:cNvSpPr txBox="1"/>
          <p:nvPr/>
        </p:nvSpPr>
        <p:spPr>
          <a:xfrm>
            <a:off x="4885114" y="1714694"/>
            <a:ext cx="4015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全部件可学习，可微，不依赖人工设计</a:t>
            </a:r>
            <a:endParaRPr lang="en-US" altLang="zh-CN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8EB189-83E0-5ED7-018A-98EA94144C7E}"/>
              </a:ext>
            </a:extLst>
          </p:cNvPr>
          <p:cNvSpPr txBox="1"/>
          <p:nvPr/>
        </p:nvSpPr>
        <p:spPr>
          <a:xfrm>
            <a:off x="742499" y="3351960"/>
            <a:ext cx="204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Transformer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C444FE-2180-3174-1FE6-3A4B76068DD3}"/>
              </a:ext>
            </a:extLst>
          </p:cNvPr>
          <p:cNvSpPr txBox="1"/>
          <p:nvPr/>
        </p:nvSpPr>
        <p:spPr>
          <a:xfrm>
            <a:off x="2523854" y="3321182"/>
            <a:ext cx="4722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Encoder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Already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， </a:t>
            </a:r>
            <a:r>
              <a:rPr lang="en-US" altLang="zh-CN" sz="1600" dirty="0"/>
              <a:t>Decoder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Learnable Queries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C6305B3-A2C4-BE51-975D-716AB495BB6A}"/>
              </a:ext>
            </a:extLst>
          </p:cNvPr>
          <p:cNvCxnSpPr>
            <a:cxnSpLocks/>
          </p:cNvCxnSpPr>
          <p:nvPr/>
        </p:nvCxnSpPr>
        <p:spPr>
          <a:xfrm flipH="1">
            <a:off x="7167715" y="3497559"/>
            <a:ext cx="5014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D063AE3-CB6A-4A66-241B-1C3015D80B8D}"/>
              </a:ext>
            </a:extLst>
          </p:cNvPr>
          <p:cNvSpPr txBox="1"/>
          <p:nvPr/>
        </p:nvSpPr>
        <p:spPr>
          <a:xfrm>
            <a:off x="7669161" y="3321182"/>
            <a:ext cx="217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We discuss it later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21821C-6104-427A-E417-1DB6E85AFB08}"/>
              </a:ext>
            </a:extLst>
          </p:cNvPr>
          <p:cNvSpPr txBox="1"/>
          <p:nvPr/>
        </p:nvSpPr>
        <p:spPr>
          <a:xfrm>
            <a:off x="742499" y="3721292"/>
            <a:ext cx="204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Post Transformer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3ACC18-2972-CBCD-760D-3B38C017BC43}"/>
              </a:ext>
            </a:extLst>
          </p:cNvPr>
          <p:cNvSpPr txBox="1"/>
          <p:nvPr/>
        </p:nvSpPr>
        <p:spPr>
          <a:xfrm>
            <a:off x="2523854" y="3734875"/>
            <a:ext cx="4722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FFN outputs </a:t>
            </a:r>
            <a:r>
              <a:rPr lang="en-US" altLang="zh-CN" sz="1600" dirty="0" err="1"/>
              <a:t>Bbox</a:t>
            </a:r>
            <a:r>
              <a:rPr lang="en-US" altLang="zh-CN" sz="1600" dirty="0"/>
              <a:t> and Class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without redundancy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5F2ECC9-9CBF-A40F-04AA-92EC1115D849}"/>
              </a:ext>
            </a:extLst>
          </p:cNvPr>
          <p:cNvCxnSpPr>
            <a:cxnSpLocks/>
          </p:cNvCxnSpPr>
          <p:nvPr/>
        </p:nvCxnSpPr>
        <p:spPr>
          <a:xfrm flipH="1">
            <a:off x="7167715" y="3951951"/>
            <a:ext cx="5014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8F87C42-E4A4-0AD6-ECFD-0CAABCBA3312}"/>
              </a:ext>
            </a:extLst>
          </p:cNvPr>
          <p:cNvSpPr txBox="1"/>
          <p:nvPr/>
        </p:nvSpPr>
        <p:spPr>
          <a:xfrm>
            <a:off x="7669161" y="3734875"/>
            <a:ext cx="2802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Means “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no need </a:t>
            </a:r>
            <a:r>
              <a:rPr lang="en-US" altLang="zh-CN" sz="1600" dirty="0"/>
              <a:t>for NMS”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D87445-3071-EF76-0A01-400244A68A51}"/>
              </a:ext>
            </a:extLst>
          </p:cNvPr>
          <p:cNvSpPr txBox="1"/>
          <p:nvPr/>
        </p:nvSpPr>
        <p:spPr>
          <a:xfrm>
            <a:off x="4218039" y="5255256"/>
            <a:ext cx="4513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Hungarian Matching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B38FA03-DC87-A0F3-C683-6AADD36E8B5D}"/>
              </a:ext>
            </a:extLst>
          </p:cNvPr>
          <p:cNvCxnSpPr>
            <a:cxnSpLocks/>
          </p:cNvCxnSpPr>
          <p:nvPr/>
        </p:nvCxnSpPr>
        <p:spPr>
          <a:xfrm>
            <a:off x="5411897" y="4438937"/>
            <a:ext cx="0" cy="4133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7FC5181-3B66-71D0-4482-CB401464145A}"/>
              </a:ext>
            </a:extLst>
          </p:cNvPr>
          <p:cNvSpPr txBox="1"/>
          <p:nvPr/>
        </p:nvSpPr>
        <p:spPr>
          <a:xfrm>
            <a:off x="5516228" y="4476356"/>
            <a:ext cx="2437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How ?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79789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29095162-E82B-ABF7-FB29-DF49E73DF505}"/>
              </a:ext>
            </a:extLst>
          </p:cNvPr>
          <p:cNvSpPr/>
          <p:nvPr/>
        </p:nvSpPr>
        <p:spPr>
          <a:xfrm>
            <a:off x="7777487" y="4269329"/>
            <a:ext cx="677188" cy="41876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59927E-34B7-F397-F8B7-7A5D7EAA8649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BD109E-CBDA-FE71-B10D-7281A797358B}"/>
              </a:ext>
            </a:extLst>
          </p:cNvPr>
          <p:cNvSpPr txBox="1"/>
          <p:nvPr/>
        </p:nvSpPr>
        <p:spPr>
          <a:xfrm>
            <a:off x="1773569" y="374478"/>
            <a:ext cx="253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Hungarian Matching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E43F8D7-772D-AA11-5B66-6B7E22A808E1}"/>
                  </a:ext>
                </a:extLst>
              </p:cNvPr>
              <p:cNvSpPr txBox="1"/>
              <p:nvPr/>
            </p:nvSpPr>
            <p:spPr>
              <a:xfrm>
                <a:off x="584499" y="1604411"/>
                <a:ext cx="445250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E43F8D7-772D-AA11-5B66-6B7E22A80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99" y="1604411"/>
                <a:ext cx="445250" cy="399084"/>
              </a:xfrm>
              <a:prstGeom prst="rect">
                <a:avLst/>
              </a:prstGeom>
              <a:blipFill>
                <a:blip r:embed="rId2"/>
                <a:stretch>
                  <a:fillRect l="-15068" r="-9589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269D913-974C-375E-6E95-3C0D98A2F2AF}"/>
              </a:ext>
            </a:extLst>
          </p:cNvPr>
          <p:cNvSpPr txBox="1"/>
          <p:nvPr/>
        </p:nvSpPr>
        <p:spPr>
          <a:xfrm>
            <a:off x="1125103" y="1664941"/>
            <a:ext cx="553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表示第</a:t>
            </a:r>
            <a:r>
              <a:rPr lang="en-US" altLang="zh-CN" sz="1600" dirty="0" err="1"/>
              <a:t>i</a:t>
            </a:r>
            <a:r>
              <a:rPr lang="zh-CN" altLang="en-US" sz="1600" dirty="0"/>
              <a:t>个预测框对第</a:t>
            </a:r>
            <a:r>
              <a:rPr lang="en-US" altLang="zh-CN" sz="1600" dirty="0"/>
              <a:t>j</a:t>
            </a:r>
            <a:r>
              <a:rPr lang="zh-CN" altLang="en-US" sz="1600" dirty="0"/>
              <a:t>个真实框的损失</a:t>
            </a:r>
            <a:endParaRPr lang="en-US" altLang="zh-C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ACCCADE-569D-730A-ADEC-D22D7DE84888}"/>
                  </a:ext>
                </a:extLst>
              </p:cNvPr>
              <p:cNvSpPr txBox="1"/>
              <p:nvPr/>
            </p:nvSpPr>
            <p:spPr>
              <a:xfrm>
                <a:off x="1689799" y="2378263"/>
                <a:ext cx="4196533" cy="1050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ACCCADE-569D-730A-ADEC-D22D7DE84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99" y="2378263"/>
                <a:ext cx="4196533" cy="1050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D1BD063-D490-A1C9-0B96-927954D6E32C}"/>
              </a:ext>
            </a:extLst>
          </p:cNvPr>
          <p:cNvSpPr txBox="1"/>
          <p:nvPr/>
        </p:nvSpPr>
        <p:spPr>
          <a:xfrm>
            <a:off x="285896" y="2404569"/>
            <a:ext cx="1214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假设矩阵</a:t>
            </a:r>
            <a:endParaRPr lang="en-US" altLang="zh-CN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84F8DD-8E86-48EB-7F0D-D2D54A8B7EFB}"/>
              </a:ext>
            </a:extLst>
          </p:cNvPr>
          <p:cNvSpPr txBox="1"/>
          <p:nvPr/>
        </p:nvSpPr>
        <p:spPr>
          <a:xfrm>
            <a:off x="476637" y="1087811"/>
            <a:ext cx="1411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集合</a:t>
            </a:r>
            <a:r>
              <a:rPr lang="zh-CN" altLang="en-US" sz="1600" dirty="0"/>
              <a:t>预测</a:t>
            </a:r>
            <a:endParaRPr lang="en-US" altLang="zh-CN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7C2BA9-8F5B-FCD8-DB2D-D0D704D5D698}"/>
              </a:ext>
            </a:extLst>
          </p:cNvPr>
          <p:cNvSpPr txBox="1"/>
          <p:nvPr/>
        </p:nvSpPr>
        <p:spPr>
          <a:xfrm>
            <a:off x="1689799" y="1099902"/>
            <a:ext cx="510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将每个预测输出都结合计算损失，如何计算集合损失</a:t>
            </a:r>
            <a:endParaRPr lang="en-US" altLang="zh-CN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23A209-03DB-4EA9-AF23-BEACF6984523}"/>
              </a:ext>
            </a:extLst>
          </p:cNvPr>
          <p:cNvSpPr txBox="1"/>
          <p:nvPr/>
        </p:nvSpPr>
        <p:spPr>
          <a:xfrm>
            <a:off x="285896" y="2743123"/>
            <a:ext cx="1601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假设</a:t>
            </a:r>
            <a:r>
              <a:rPr lang="en-US" altLang="zh-CN" sz="1600" dirty="0"/>
              <a:t>3</a:t>
            </a:r>
            <a:r>
              <a:rPr lang="zh-CN" altLang="en-US" sz="1600" dirty="0"/>
              <a:t>个预测框</a:t>
            </a:r>
            <a:endParaRPr lang="en-US" altLang="zh-CN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B9726A-AAC7-D4FD-ADD5-D7EB7AAE048B}"/>
              </a:ext>
            </a:extLst>
          </p:cNvPr>
          <p:cNvSpPr txBox="1"/>
          <p:nvPr/>
        </p:nvSpPr>
        <p:spPr>
          <a:xfrm>
            <a:off x="683003" y="3040957"/>
            <a:ext cx="1330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个真实框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BB157E0-E568-2E90-A900-6E7D87B29E27}"/>
              </a:ext>
            </a:extLst>
          </p:cNvPr>
          <p:cNvSpPr txBox="1"/>
          <p:nvPr/>
        </p:nvSpPr>
        <p:spPr>
          <a:xfrm>
            <a:off x="188635" y="4008058"/>
            <a:ext cx="1487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先分别减去每行最小的值</a:t>
            </a:r>
            <a:endParaRPr lang="en-US" altLang="zh-C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CFF948F-88F1-0DBD-FFBE-154A3CC84C83}"/>
                  </a:ext>
                </a:extLst>
              </p:cNvPr>
              <p:cNvSpPr txBox="1"/>
              <p:nvPr/>
            </p:nvSpPr>
            <p:spPr>
              <a:xfrm>
                <a:off x="1585097" y="3839331"/>
                <a:ext cx="5369308" cy="10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−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CFF948F-88F1-0DBD-FFBE-154A3CC84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097" y="3839331"/>
                <a:ext cx="5369308" cy="1098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616ECEE8-2DD5-4211-A95F-8B50D89C07BB}"/>
              </a:ext>
            </a:extLst>
          </p:cNvPr>
          <p:cNvSpPr txBox="1"/>
          <p:nvPr/>
        </p:nvSpPr>
        <p:spPr>
          <a:xfrm>
            <a:off x="188634" y="5279379"/>
            <a:ext cx="1487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再分别减去每列最小的值</a:t>
            </a:r>
            <a:endParaRPr lang="en-US" altLang="zh-C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176A661-AB24-5A18-F63E-AD28C77E607C}"/>
                  </a:ext>
                </a:extLst>
              </p:cNvPr>
              <p:cNvSpPr txBox="1"/>
              <p:nvPr/>
            </p:nvSpPr>
            <p:spPr>
              <a:xfrm>
                <a:off x="1585097" y="5113986"/>
                <a:ext cx="5369308" cy="1098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−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176A661-AB24-5A18-F63E-AD28C77E6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097" y="5113986"/>
                <a:ext cx="5369308" cy="10984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B703897-0C44-2381-DEE4-DC5B273FA8E8}"/>
              </a:ext>
            </a:extLst>
          </p:cNvPr>
          <p:cNvCxnSpPr/>
          <p:nvPr/>
        </p:nvCxnSpPr>
        <p:spPr>
          <a:xfrm>
            <a:off x="7072008" y="328312"/>
            <a:ext cx="0" cy="6177064"/>
          </a:xfrm>
          <a:prstGeom prst="line">
            <a:avLst/>
          </a:prstGeom>
          <a:ln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9F6F901-9095-181A-DDBF-B81C5DB5BB34}"/>
                  </a:ext>
                </a:extLst>
              </p:cNvPr>
              <p:cNvSpPr txBox="1"/>
              <p:nvPr/>
            </p:nvSpPr>
            <p:spPr>
              <a:xfrm>
                <a:off x="7186233" y="408276"/>
                <a:ext cx="1875007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9F6F901-9095-181A-DDBF-B81C5DB5B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233" y="408276"/>
                <a:ext cx="1875007" cy="1068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1B3B5C14-A899-87B4-0FC4-58A56241372E}"/>
              </a:ext>
            </a:extLst>
          </p:cNvPr>
          <p:cNvSpPr txBox="1"/>
          <p:nvPr/>
        </p:nvSpPr>
        <p:spPr>
          <a:xfrm>
            <a:off x="8934781" y="743810"/>
            <a:ext cx="1487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然后开始匹配</a:t>
            </a:r>
            <a:endParaRPr lang="en-US" altLang="zh-CN" sz="16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DD9F05C-B174-9D33-3825-7F1EF0EBE638}"/>
              </a:ext>
            </a:extLst>
          </p:cNvPr>
          <p:cNvSpPr/>
          <p:nvPr/>
        </p:nvSpPr>
        <p:spPr>
          <a:xfrm>
            <a:off x="7560469" y="1643062"/>
            <a:ext cx="1173956" cy="2881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A65F955-DD80-C20D-5D9B-C475F19C6F23}"/>
              </a:ext>
            </a:extLst>
          </p:cNvPr>
          <p:cNvSpPr/>
          <p:nvPr/>
        </p:nvSpPr>
        <p:spPr>
          <a:xfrm>
            <a:off x="8471019" y="1643061"/>
            <a:ext cx="263406" cy="96440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8FE9CEA-86A5-EB8D-EE92-DA78E097B716}"/>
              </a:ext>
            </a:extLst>
          </p:cNvPr>
          <p:cNvSpPr txBox="1"/>
          <p:nvPr/>
        </p:nvSpPr>
        <p:spPr>
          <a:xfrm>
            <a:off x="8934781" y="1930776"/>
            <a:ext cx="3130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第</a:t>
            </a:r>
            <a:r>
              <a:rPr lang="en-US" altLang="zh-CN" sz="1600" dirty="0"/>
              <a:t>1</a:t>
            </a:r>
            <a:r>
              <a:rPr lang="zh-CN" altLang="en-US" sz="1600" dirty="0"/>
              <a:t>个预测框和第</a:t>
            </a:r>
            <a:r>
              <a:rPr lang="en-US" altLang="zh-CN" sz="1600" dirty="0"/>
              <a:t>3</a:t>
            </a:r>
            <a:r>
              <a:rPr lang="zh-CN" altLang="en-US" sz="1600" dirty="0"/>
              <a:t>个真实框匹配</a:t>
            </a:r>
            <a:endParaRPr lang="en-US" altLang="zh-CN" sz="16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E499C41-EE5D-80DD-3661-F49A46005201}"/>
              </a:ext>
            </a:extLst>
          </p:cNvPr>
          <p:cNvSpPr/>
          <p:nvPr/>
        </p:nvSpPr>
        <p:spPr>
          <a:xfrm>
            <a:off x="7562296" y="2845928"/>
            <a:ext cx="1173956" cy="2881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2A738AC-C9A0-B1B8-9483-6F01BC28FB0B}"/>
              </a:ext>
            </a:extLst>
          </p:cNvPr>
          <p:cNvSpPr/>
          <p:nvPr/>
        </p:nvSpPr>
        <p:spPr>
          <a:xfrm>
            <a:off x="8472846" y="2845927"/>
            <a:ext cx="263406" cy="96440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BA22678-617F-6FB9-BC3B-A65EA2F88DAF}"/>
              </a:ext>
            </a:extLst>
          </p:cNvPr>
          <p:cNvSpPr/>
          <p:nvPr/>
        </p:nvSpPr>
        <p:spPr>
          <a:xfrm>
            <a:off x="7560469" y="3552825"/>
            <a:ext cx="910550" cy="25750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5FC63F2-B85F-43AA-2BC2-2A8518878E79}"/>
              </a:ext>
            </a:extLst>
          </p:cNvPr>
          <p:cNvSpPr/>
          <p:nvPr/>
        </p:nvSpPr>
        <p:spPr>
          <a:xfrm>
            <a:off x="7558642" y="3134060"/>
            <a:ext cx="235189" cy="67627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20C31B6-50F4-F94A-8B3E-43CAF85DD4F5}"/>
              </a:ext>
            </a:extLst>
          </p:cNvPr>
          <p:cNvSpPr txBox="1"/>
          <p:nvPr/>
        </p:nvSpPr>
        <p:spPr>
          <a:xfrm>
            <a:off x="8934781" y="3144801"/>
            <a:ext cx="3130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第</a:t>
            </a:r>
            <a:r>
              <a:rPr lang="en-US" altLang="zh-CN" sz="1600" dirty="0"/>
              <a:t>3</a:t>
            </a:r>
            <a:r>
              <a:rPr lang="zh-CN" altLang="en-US" sz="1600" dirty="0"/>
              <a:t>个预测框和第</a:t>
            </a:r>
            <a:r>
              <a:rPr lang="en-US" altLang="zh-CN" sz="1600" dirty="0"/>
              <a:t>1</a:t>
            </a:r>
            <a:r>
              <a:rPr lang="zh-CN" altLang="en-US" sz="1600" dirty="0"/>
              <a:t>个真实框匹配</a:t>
            </a:r>
            <a:endParaRPr lang="en-US" altLang="zh-C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4568F4-AFAD-938D-8824-641DF1A031B1}"/>
                  </a:ext>
                </a:extLst>
              </p:cNvPr>
              <p:cNvSpPr txBox="1"/>
              <p:nvPr/>
            </p:nvSpPr>
            <p:spPr>
              <a:xfrm>
                <a:off x="7200750" y="1576739"/>
                <a:ext cx="1875007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4568F4-AFAD-938D-8824-641DF1A0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750" y="1576739"/>
                <a:ext cx="1875007" cy="10689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62231A97-3B1F-2923-E077-CCB740BD7DE4}"/>
                  </a:ext>
                </a:extLst>
              </p:cNvPr>
              <p:cNvSpPr txBox="1"/>
              <p:nvPr/>
            </p:nvSpPr>
            <p:spPr>
              <a:xfrm>
                <a:off x="7202577" y="2779605"/>
                <a:ext cx="1875007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62231A97-3B1F-2923-E077-CCB740BD7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577" y="2779605"/>
                <a:ext cx="1875007" cy="10689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>
            <a:extLst>
              <a:ext uri="{FF2B5EF4-FFF2-40B4-BE49-F238E27FC236}">
                <a16:creationId xmlns:a16="http://schemas.microsoft.com/office/drawing/2014/main" id="{26CD4DB4-3AE1-F8C8-90C7-C3B71D67A5FD}"/>
              </a:ext>
            </a:extLst>
          </p:cNvPr>
          <p:cNvSpPr/>
          <p:nvPr/>
        </p:nvSpPr>
        <p:spPr>
          <a:xfrm>
            <a:off x="7545952" y="3981198"/>
            <a:ext cx="1173956" cy="2881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A468C29-2774-BB48-C967-91D4E80532D3}"/>
              </a:ext>
            </a:extLst>
          </p:cNvPr>
          <p:cNvSpPr/>
          <p:nvPr/>
        </p:nvSpPr>
        <p:spPr>
          <a:xfrm>
            <a:off x="8456502" y="3981197"/>
            <a:ext cx="263406" cy="96440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327C28D-F721-A7DF-D5E2-75DAAA0853DE}"/>
              </a:ext>
            </a:extLst>
          </p:cNvPr>
          <p:cNvSpPr/>
          <p:nvPr/>
        </p:nvSpPr>
        <p:spPr>
          <a:xfrm>
            <a:off x="7544125" y="4688095"/>
            <a:ext cx="910550" cy="25750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89524BA-9EDC-4701-C82F-265E06DBFE14}"/>
              </a:ext>
            </a:extLst>
          </p:cNvPr>
          <p:cNvSpPr/>
          <p:nvPr/>
        </p:nvSpPr>
        <p:spPr>
          <a:xfrm>
            <a:off x="7542298" y="4269330"/>
            <a:ext cx="235189" cy="67627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143BC4A-5C99-D865-4C89-219B082CABA6}"/>
                  </a:ext>
                </a:extLst>
              </p:cNvPr>
              <p:cNvSpPr txBox="1"/>
              <p:nvPr/>
            </p:nvSpPr>
            <p:spPr>
              <a:xfrm>
                <a:off x="7186233" y="3914875"/>
                <a:ext cx="1875007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143BC4A-5C99-D865-4C89-219B082CA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233" y="3914875"/>
                <a:ext cx="1875007" cy="10689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>
            <a:extLst>
              <a:ext uri="{FF2B5EF4-FFF2-40B4-BE49-F238E27FC236}">
                <a16:creationId xmlns:a16="http://schemas.microsoft.com/office/drawing/2014/main" id="{4F5EDA9C-C6B4-5FAF-3C91-B5BEF0B2441F}"/>
              </a:ext>
            </a:extLst>
          </p:cNvPr>
          <p:cNvSpPr txBox="1"/>
          <p:nvPr/>
        </p:nvSpPr>
        <p:spPr>
          <a:xfrm>
            <a:off x="8934781" y="4212979"/>
            <a:ext cx="3130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第</a:t>
            </a:r>
            <a:r>
              <a:rPr lang="en-US" altLang="zh-CN" sz="1600" dirty="0"/>
              <a:t>2</a:t>
            </a:r>
            <a:r>
              <a:rPr lang="zh-CN" altLang="en-US" sz="1600" dirty="0"/>
              <a:t>个预测框和第</a:t>
            </a:r>
            <a:r>
              <a:rPr lang="en-US" altLang="zh-CN" sz="1600" dirty="0"/>
              <a:t>2</a:t>
            </a:r>
            <a:r>
              <a:rPr lang="zh-CN" altLang="en-US" sz="1600" dirty="0"/>
              <a:t>个真实框匹配</a:t>
            </a:r>
            <a:endParaRPr lang="en-US" altLang="zh-CN" sz="1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A438540-1568-2FF7-FC4E-207A8D235DCF}"/>
              </a:ext>
            </a:extLst>
          </p:cNvPr>
          <p:cNvSpPr txBox="1"/>
          <p:nvPr/>
        </p:nvSpPr>
        <p:spPr>
          <a:xfrm>
            <a:off x="7476145" y="5493930"/>
            <a:ext cx="3130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这套算法得到了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最小的</a:t>
            </a:r>
            <a:r>
              <a:rPr lang="zh-CN" altLang="en-US" sz="1600" dirty="0"/>
              <a:t>集合损失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30620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D11ACE-3A76-D63E-A6DB-EEC61DCB43DA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2F1887-515A-FC72-7A7B-227DA48CA7F1}"/>
              </a:ext>
            </a:extLst>
          </p:cNvPr>
          <p:cNvSpPr txBox="1"/>
          <p:nvPr/>
        </p:nvSpPr>
        <p:spPr>
          <a:xfrm>
            <a:off x="1773569" y="374478"/>
            <a:ext cx="253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Attention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268098-A6F4-8F8D-06AD-62A2AEC47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1579844"/>
            <a:ext cx="5725324" cy="27054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DD8DE9-5192-52BD-54AB-1D50B9522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36" y="869439"/>
            <a:ext cx="5744377" cy="3419952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09C4812-79C9-B6E4-6C0E-0374BD3B7648}"/>
              </a:ext>
            </a:extLst>
          </p:cNvPr>
          <p:cNvCxnSpPr>
            <a:cxnSpLocks/>
          </p:cNvCxnSpPr>
          <p:nvPr/>
        </p:nvCxnSpPr>
        <p:spPr>
          <a:xfrm>
            <a:off x="6308436" y="674255"/>
            <a:ext cx="0" cy="5772727"/>
          </a:xfrm>
          <a:prstGeom prst="line">
            <a:avLst/>
          </a:prstGeom>
          <a:ln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18343-5E49-ED3D-2EB5-859FD26E97D1}"/>
              </a:ext>
            </a:extLst>
          </p:cNvPr>
          <p:cNvSpPr txBox="1"/>
          <p:nvPr/>
        </p:nvSpPr>
        <p:spPr>
          <a:xfrm>
            <a:off x="2303240" y="1364400"/>
            <a:ext cx="253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Encoder</a:t>
            </a:r>
            <a:r>
              <a:rPr lang="en-US" altLang="zh-CN" sz="1600" dirty="0"/>
              <a:t> Attention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F1AFBE-EAD3-1B34-4817-C6723B99D299}"/>
              </a:ext>
            </a:extLst>
          </p:cNvPr>
          <p:cNvSpPr txBox="1"/>
          <p:nvPr/>
        </p:nvSpPr>
        <p:spPr>
          <a:xfrm>
            <a:off x="8310344" y="550578"/>
            <a:ext cx="253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Decoder</a:t>
            </a:r>
            <a:r>
              <a:rPr lang="en-US" altLang="zh-CN" sz="1600" dirty="0"/>
              <a:t> Attention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83296C-67CB-7ACC-0FC4-448794D3C199}"/>
              </a:ext>
            </a:extLst>
          </p:cNvPr>
          <p:cNvSpPr txBox="1"/>
          <p:nvPr/>
        </p:nvSpPr>
        <p:spPr>
          <a:xfrm>
            <a:off x="476637" y="869439"/>
            <a:ext cx="4359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Attention</a:t>
            </a:r>
            <a:r>
              <a:rPr lang="zh-CN" altLang="en-US" sz="1600" dirty="0"/>
              <a:t>确实厉害，但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实际贡献</a:t>
            </a:r>
            <a:r>
              <a:rPr lang="zh-CN" altLang="en-US" sz="1600" dirty="0"/>
              <a:t>是什么 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78F933-54F8-5482-32A8-14E50F2424ED}"/>
              </a:ext>
            </a:extLst>
          </p:cNvPr>
          <p:cNvSpPr txBox="1"/>
          <p:nvPr/>
        </p:nvSpPr>
        <p:spPr>
          <a:xfrm>
            <a:off x="370676" y="4500766"/>
            <a:ext cx="5596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混合信息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367EE8-3D7C-6BC1-2AE6-C0AD850B11F8}"/>
              </a:ext>
            </a:extLst>
          </p:cNvPr>
          <p:cNvSpPr txBox="1"/>
          <p:nvPr/>
        </p:nvSpPr>
        <p:spPr>
          <a:xfrm>
            <a:off x="6520874" y="4438975"/>
            <a:ext cx="46643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此时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Decoder</a:t>
            </a:r>
            <a:r>
              <a:rPr lang="zh-CN" altLang="en-US" sz="1600" dirty="0"/>
              <a:t>根据</a:t>
            </a:r>
            <a:r>
              <a:rPr lang="en-US" altLang="zh-CN" sz="1600" dirty="0"/>
              <a:t>Query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查询</a:t>
            </a:r>
            <a:r>
              <a:rPr lang="zh-CN" altLang="en-US" sz="1600" dirty="0"/>
              <a:t>会变得非常容易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65D65B-74BC-71AC-E768-25A1F669DD57}"/>
              </a:ext>
            </a:extLst>
          </p:cNvPr>
          <p:cNvSpPr txBox="1"/>
          <p:nvPr/>
        </p:nvSpPr>
        <p:spPr>
          <a:xfrm>
            <a:off x="720435" y="4860355"/>
            <a:ext cx="52462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例如某个只包含牛角的</a:t>
            </a:r>
            <a:r>
              <a:rPr lang="en-US" altLang="zh-CN" sz="1600" dirty="0"/>
              <a:t>patch</a:t>
            </a:r>
            <a:r>
              <a:rPr lang="zh-CN" altLang="en-US" sz="1600" dirty="0"/>
              <a:t>也拥有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整头牛</a:t>
            </a:r>
            <a:r>
              <a:rPr lang="zh-CN" altLang="en-US" sz="1600" dirty="0"/>
              <a:t>的语义信息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D4E909-BF41-C271-0AF3-A3EEF6DF95A0}"/>
              </a:ext>
            </a:extLst>
          </p:cNvPr>
          <p:cNvSpPr txBox="1"/>
          <p:nvPr/>
        </p:nvSpPr>
        <p:spPr>
          <a:xfrm>
            <a:off x="6869479" y="4730464"/>
            <a:ext cx="4036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例如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重叠的</a:t>
            </a:r>
            <a:r>
              <a:rPr lang="zh-CN" altLang="en-US" sz="1600" dirty="0"/>
              <a:t>斑马可以很轻易的被区分开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EB5CA7-B9D4-1E67-3E2C-D5646FDBA8BE}"/>
              </a:ext>
            </a:extLst>
          </p:cNvPr>
          <p:cNvSpPr txBox="1"/>
          <p:nvPr/>
        </p:nvSpPr>
        <p:spPr>
          <a:xfrm>
            <a:off x="7243552" y="5049325"/>
            <a:ext cx="3524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遮挡严重</a:t>
            </a:r>
            <a:r>
              <a:rPr lang="zh-CN" altLang="en-US" sz="1600" dirty="0"/>
              <a:t>的大象也可以被标识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41C7A5-C3EE-30B8-4585-5D49E8FF9054}"/>
              </a:ext>
            </a:extLst>
          </p:cNvPr>
          <p:cNvSpPr txBox="1"/>
          <p:nvPr/>
        </p:nvSpPr>
        <p:spPr>
          <a:xfrm>
            <a:off x="6506697" y="5537463"/>
            <a:ext cx="46643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同时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Decoder</a:t>
            </a:r>
            <a:r>
              <a:rPr lang="zh-CN" altLang="en-US" sz="1600" dirty="0"/>
              <a:t>的</a:t>
            </a:r>
            <a:r>
              <a:rPr lang="en-US" altLang="zh-CN" sz="1600" dirty="0"/>
              <a:t>Attention</a:t>
            </a:r>
            <a:r>
              <a:rPr lang="zh-CN" altLang="en-US" sz="1600" dirty="0"/>
              <a:t>会进行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内部协调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CDA899-B364-30D2-10FA-D360CEB53EA7}"/>
              </a:ext>
            </a:extLst>
          </p:cNvPr>
          <p:cNvSpPr txBox="1"/>
          <p:nvPr/>
        </p:nvSpPr>
        <p:spPr>
          <a:xfrm>
            <a:off x="1125103" y="5198909"/>
            <a:ext cx="52462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一片包含草地的</a:t>
            </a:r>
            <a:r>
              <a:rPr lang="en-US" altLang="zh-CN" sz="1600" dirty="0"/>
              <a:t>patch</a:t>
            </a:r>
            <a:r>
              <a:rPr lang="zh-CN" altLang="en-US" sz="1600" dirty="0"/>
              <a:t>也拥有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整个草地</a:t>
            </a:r>
            <a:r>
              <a:rPr lang="zh-CN" altLang="en-US" sz="1600" dirty="0"/>
              <a:t>的语义信息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F4FBDF-8106-EB24-1AD4-0AA8A567050C}"/>
              </a:ext>
            </a:extLst>
          </p:cNvPr>
          <p:cNvSpPr txBox="1"/>
          <p:nvPr/>
        </p:nvSpPr>
        <p:spPr>
          <a:xfrm>
            <a:off x="1122083" y="5537463"/>
            <a:ext cx="52462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被遮挡的牛，牛前腿能被注意力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补全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197C64-B90E-FCFC-1D8F-880A604FC295}"/>
              </a:ext>
            </a:extLst>
          </p:cNvPr>
          <p:cNvSpPr txBox="1"/>
          <p:nvPr/>
        </p:nvSpPr>
        <p:spPr>
          <a:xfrm>
            <a:off x="6869479" y="5828952"/>
            <a:ext cx="3524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例如不会出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多个框</a:t>
            </a:r>
            <a:r>
              <a:rPr lang="zh-CN" altLang="en-US" sz="1600" dirty="0"/>
              <a:t>锁定同一个物体</a:t>
            </a:r>
            <a:endParaRPr lang="en-US" altLang="zh-CN" sz="1600" dirty="0"/>
          </a:p>
          <a:p>
            <a:r>
              <a:rPr lang="zh-CN" altLang="en-US" sz="1600" dirty="0"/>
              <a:t>可区分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不同物体</a:t>
            </a:r>
            <a:r>
              <a:rPr lang="zh-CN" altLang="en-US" sz="1600" dirty="0"/>
              <a:t>和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单个物体</a:t>
            </a:r>
          </a:p>
        </p:txBody>
      </p:sp>
    </p:spTree>
    <p:extLst>
      <p:ext uri="{BB962C8B-B14F-4D97-AF65-F5344CB8AC3E}">
        <p14:creationId xmlns:p14="http://schemas.microsoft.com/office/powerpoint/2010/main" val="3424978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DC5285-00B6-C948-76EE-C45B56C8F30C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52FDF0-05C4-A708-C2CD-C708833863FD}"/>
              </a:ext>
            </a:extLst>
          </p:cNvPr>
          <p:cNvSpPr txBox="1"/>
          <p:nvPr/>
        </p:nvSpPr>
        <p:spPr>
          <a:xfrm>
            <a:off x="1773569" y="374478"/>
            <a:ext cx="253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Query &amp; Decoder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C94501-6635-E610-01C7-A7BED6F96D39}"/>
              </a:ext>
            </a:extLst>
          </p:cNvPr>
          <p:cNvSpPr txBox="1"/>
          <p:nvPr/>
        </p:nvSpPr>
        <p:spPr>
          <a:xfrm>
            <a:off x="476637" y="1087811"/>
            <a:ext cx="3385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原始</a:t>
            </a:r>
            <a:r>
              <a:rPr lang="en-US" altLang="zh-CN" sz="1600" dirty="0"/>
              <a:t>Transformer</a:t>
            </a:r>
            <a:r>
              <a:rPr lang="zh-CN" altLang="en-US" sz="1600" dirty="0"/>
              <a:t>为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自回归</a:t>
            </a:r>
            <a:r>
              <a:rPr lang="en-US" altLang="zh-CN" sz="1600" dirty="0"/>
              <a:t>decoder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676C1E-64EA-0A82-64A7-AA588AAA6685}"/>
              </a:ext>
            </a:extLst>
          </p:cNvPr>
          <p:cNvSpPr txBox="1"/>
          <p:nvPr/>
        </p:nvSpPr>
        <p:spPr>
          <a:xfrm>
            <a:off x="4189360" y="1087811"/>
            <a:ext cx="4228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当前输入需要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上一时刻</a:t>
            </a:r>
            <a:r>
              <a:rPr lang="zh-CN" altLang="en-US" sz="1600" dirty="0"/>
              <a:t>的输出，不可并行</a:t>
            </a:r>
            <a:endParaRPr lang="en-US" altLang="zh-CN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F5FBE-37DC-EAF2-E945-E6266A6639C4}"/>
              </a:ext>
            </a:extLst>
          </p:cNvPr>
          <p:cNvSpPr txBox="1"/>
          <p:nvPr/>
        </p:nvSpPr>
        <p:spPr>
          <a:xfrm>
            <a:off x="476637" y="1554922"/>
            <a:ext cx="3385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DETR</a:t>
            </a:r>
            <a:r>
              <a:rPr lang="zh-CN" altLang="en-US" sz="1600" dirty="0"/>
              <a:t> </a:t>
            </a:r>
            <a:r>
              <a:rPr lang="en-US" altLang="zh-CN" sz="1600" dirty="0"/>
              <a:t>uses</a:t>
            </a:r>
            <a:r>
              <a:rPr lang="zh-CN" altLang="en-US" sz="1600" dirty="0"/>
              <a:t>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Learnable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C6B758-AB75-D6F3-ACEC-C9EDEADADE4C}"/>
              </a:ext>
            </a:extLst>
          </p:cNvPr>
          <p:cNvSpPr txBox="1"/>
          <p:nvPr/>
        </p:nvSpPr>
        <p:spPr>
          <a:xfrm>
            <a:off x="4189360" y="1547056"/>
            <a:ext cx="1014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</a:t>
            </a:r>
            <a:r>
              <a:rPr lang="zh-CN" altLang="en-US" sz="1600" dirty="0"/>
              <a:t>并行</a:t>
            </a:r>
            <a:endParaRPr lang="en-US" altLang="zh-CN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EFDC10-CCDA-6D3F-2FBB-3F1C27B52A69}"/>
              </a:ext>
            </a:extLst>
          </p:cNvPr>
          <p:cNvSpPr txBox="1"/>
          <p:nvPr/>
        </p:nvSpPr>
        <p:spPr>
          <a:xfrm>
            <a:off x="4927031" y="1555951"/>
            <a:ext cx="1209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2.</a:t>
            </a:r>
            <a:r>
              <a:rPr lang="zh-CN" altLang="en-US" sz="1600" dirty="0"/>
              <a:t>查询输出</a:t>
            </a:r>
            <a:endParaRPr lang="en-US" altLang="zh-CN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67EFF6-8F95-677D-5FB3-92817CD4A734}"/>
              </a:ext>
            </a:extLst>
          </p:cNvPr>
          <p:cNvSpPr txBox="1"/>
          <p:nvPr/>
        </p:nvSpPr>
        <p:spPr>
          <a:xfrm>
            <a:off x="476637" y="2159515"/>
            <a:ext cx="1326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Query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73C3D60-E266-56AF-8A09-843B8A05C8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"/>
          <a:stretch>
            <a:fillRect/>
          </a:stretch>
        </p:blipFill>
        <p:spPr>
          <a:xfrm>
            <a:off x="444210" y="2532918"/>
            <a:ext cx="10188122" cy="2036920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2288B94-B1BA-B4F7-5FD2-E07B7B16C0DA}"/>
              </a:ext>
            </a:extLst>
          </p:cNvPr>
          <p:cNvCxnSpPr/>
          <p:nvPr/>
        </p:nvCxnSpPr>
        <p:spPr>
          <a:xfrm>
            <a:off x="476637" y="2065807"/>
            <a:ext cx="11196554" cy="0"/>
          </a:xfrm>
          <a:prstGeom prst="line">
            <a:avLst/>
          </a:prstGeom>
          <a:ln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EB0161E-A553-F258-EC25-F25AA1CE92BC}"/>
              </a:ext>
            </a:extLst>
          </p:cNvPr>
          <p:cNvSpPr txBox="1"/>
          <p:nvPr/>
        </p:nvSpPr>
        <p:spPr>
          <a:xfrm>
            <a:off x="1271035" y="2177495"/>
            <a:ext cx="5265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可视化：绿色为小框，红色为大横向框，蓝色为大纵向框</a:t>
            </a:r>
            <a:endParaRPr lang="en-US" altLang="zh-CN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E54E7E-7F73-51AF-6137-8195EC558A59}"/>
              </a:ext>
            </a:extLst>
          </p:cNvPr>
          <p:cNvSpPr txBox="1"/>
          <p:nvPr/>
        </p:nvSpPr>
        <p:spPr>
          <a:xfrm>
            <a:off x="407073" y="4604687"/>
            <a:ext cx="3454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查询</a:t>
            </a:r>
            <a:r>
              <a:rPr lang="en-US" altLang="zh-CN" sz="1600" dirty="0"/>
              <a:t>Decoder</a:t>
            </a:r>
            <a:r>
              <a:rPr lang="zh-CN" altLang="en-US" sz="1600" dirty="0"/>
              <a:t>是否有需要的模式</a:t>
            </a:r>
            <a:endParaRPr lang="en-US" altLang="zh-CN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D11DFD-963C-1D8A-4DA1-8BFA85428B1A}"/>
              </a:ext>
            </a:extLst>
          </p:cNvPr>
          <p:cNvSpPr txBox="1"/>
          <p:nvPr/>
        </p:nvSpPr>
        <p:spPr>
          <a:xfrm>
            <a:off x="407073" y="5036948"/>
            <a:ext cx="3454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Query</a:t>
            </a:r>
            <a:r>
              <a:rPr lang="zh-CN" altLang="en-US" sz="1600" dirty="0"/>
              <a:t>之间可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并行</a:t>
            </a:r>
            <a:r>
              <a:rPr lang="zh-CN" altLang="en-US" sz="1600" dirty="0"/>
              <a:t>输入</a:t>
            </a:r>
            <a:r>
              <a:rPr lang="en-US" altLang="zh-CN" sz="1600" dirty="0"/>
              <a:t>Decoder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94BF4F-E1DC-1E12-F83B-64C0DA9AC1AE}"/>
              </a:ext>
            </a:extLst>
          </p:cNvPr>
          <p:cNvSpPr txBox="1"/>
          <p:nvPr/>
        </p:nvSpPr>
        <p:spPr>
          <a:xfrm>
            <a:off x="6074914" y="1558457"/>
            <a:ext cx="1209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3.</a:t>
            </a:r>
            <a:r>
              <a:rPr lang="zh-CN" altLang="en-US" sz="1600" dirty="0"/>
              <a:t>可学习</a:t>
            </a:r>
            <a:endParaRPr lang="en-US" altLang="zh-CN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D0D3E2-9AB4-635A-3A33-D81911E94B51}"/>
              </a:ext>
            </a:extLst>
          </p:cNvPr>
          <p:cNvSpPr txBox="1"/>
          <p:nvPr/>
        </p:nvSpPr>
        <p:spPr>
          <a:xfrm>
            <a:off x="407073" y="5431635"/>
            <a:ext cx="5098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Queries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根据训练集学习</a:t>
            </a:r>
            <a:r>
              <a:rPr lang="zh-CN" altLang="en-US" sz="1600" dirty="0"/>
              <a:t>，能体现出训练集图像的特色</a:t>
            </a:r>
            <a:endParaRPr lang="en-US" altLang="zh-CN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D7A70C-D864-F7AE-CC86-64DC8FA24EF6}"/>
              </a:ext>
            </a:extLst>
          </p:cNvPr>
          <p:cNvSpPr txBox="1"/>
          <p:nvPr/>
        </p:nvSpPr>
        <p:spPr>
          <a:xfrm>
            <a:off x="1125103" y="5770189"/>
            <a:ext cx="5098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小数据迁移效果欠佳，大数据迁移基本无影响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54450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E9831D-A63B-81C0-1199-49DE050730D4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4A9CF8-953E-6693-3B20-4E0A4BF3E80A}"/>
              </a:ext>
            </a:extLst>
          </p:cNvPr>
          <p:cNvSpPr txBox="1"/>
          <p:nvPr/>
        </p:nvSpPr>
        <p:spPr>
          <a:xfrm>
            <a:off x="1773569" y="374478"/>
            <a:ext cx="333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Query &amp; Positional Encoding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64C21E-C3B9-6DC1-7261-F616F7B7645C}"/>
              </a:ext>
            </a:extLst>
          </p:cNvPr>
          <p:cNvSpPr txBox="1"/>
          <p:nvPr/>
        </p:nvSpPr>
        <p:spPr>
          <a:xfrm>
            <a:off x="476637" y="1070607"/>
            <a:ext cx="5549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这里分为</a:t>
            </a:r>
            <a:r>
              <a:rPr lang="en-US" altLang="zh-CN" sz="1600" dirty="0"/>
              <a:t>Encoder</a:t>
            </a:r>
            <a:r>
              <a:rPr lang="zh-CN" altLang="en-US" sz="1600" dirty="0"/>
              <a:t>和</a:t>
            </a:r>
            <a:r>
              <a:rPr lang="en-US" altLang="zh-CN" sz="1600" dirty="0"/>
              <a:t>Decoder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不同</a:t>
            </a:r>
            <a:r>
              <a:rPr lang="zh-CN" altLang="en-US" sz="1600" dirty="0"/>
              <a:t>的</a:t>
            </a:r>
            <a:r>
              <a:rPr lang="en-US" altLang="zh-CN" sz="1600" dirty="0"/>
              <a:t>Positional Encoding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C87440-5B6C-AA43-8A06-E45936A98E77}"/>
              </a:ext>
            </a:extLst>
          </p:cNvPr>
          <p:cNvSpPr txBox="1"/>
          <p:nvPr/>
        </p:nvSpPr>
        <p:spPr>
          <a:xfrm>
            <a:off x="476637" y="1578052"/>
            <a:ext cx="2842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Encoder</a:t>
            </a:r>
            <a:r>
              <a:rPr lang="zh-CN" altLang="en-US" sz="1600" dirty="0"/>
              <a:t>给</a:t>
            </a:r>
            <a:r>
              <a:rPr lang="en-US" altLang="zh-CN" sz="1600" dirty="0"/>
              <a:t>patch</a:t>
            </a:r>
            <a:r>
              <a:rPr lang="zh-CN" altLang="en-US" sz="1600" dirty="0"/>
              <a:t>加位置信息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4F316C-49F0-BFAB-E92C-91FE697466FF}"/>
              </a:ext>
            </a:extLst>
          </p:cNvPr>
          <p:cNvSpPr txBox="1"/>
          <p:nvPr/>
        </p:nvSpPr>
        <p:spPr>
          <a:xfrm>
            <a:off x="3770951" y="1578052"/>
            <a:ext cx="1803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Nothing</a:t>
            </a:r>
            <a:r>
              <a:rPr lang="en-US" altLang="zh-CN" sz="1600" dirty="0"/>
              <a:t> New</a:t>
            </a:r>
            <a:endParaRPr lang="zh-CN" altLang="en-US" sz="16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96DCAA-BB07-D4EB-2870-E808A42B60B8}"/>
              </a:ext>
            </a:extLst>
          </p:cNvPr>
          <p:cNvCxnSpPr>
            <a:cxnSpLocks/>
          </p:cNvCxnSpPr>
          <p:nvPr/>
        </p:nvCxnSpPr>
        <p:spPr>
          <a:xfrm flipH="1">
            <a:off x="3269505" y="1746210"/>
            <a:ext cx="5014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CCC34D7-1E3E-6AD9-4A2B-0CF34C9B13DC}"/>
              </a:ext>
            </a:extLst>
          </p:cNvPr>
          <p:cNvSpPr txBox="1"/>
          <p:nvPr/>
        </p:nvSpPr>
        <p:spPr>
          <a:xfrm>
            <a:off x="480157" y="4328562"/>
            <a:ext cx="4104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Here is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huge</a:t>
            </a:r>
            <a:r>
              <a:rPr lang="en-US" altLang="zh-CN" sz="1600" dirty="0"/>
              <a:t> different in decoder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516B79-8EC9-016E-0B0A-1E948BEDF98C}"/>
              </a:ext>
            </a:extLst>
          </p:cNvPr>
          <p:cNvSpPr txBox="1"/>
          <p:nvPr/>
        </p:nvSpPr>
        <p:spPr>
          <a:xfrm>
            <a:off x="480157" y="4667116"/>
            <a:ext cx="4104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我们理解</a:t>
            </a:r>
            <a:r>
              <a:rPr lang="en-US" altLang="zh-CN" sz="1600" dirty="0"/>
              <a:t>object query</a:t>
            </a:r>
            <a:r>
              <a:rPr lang="zh-CN" altLang="en-US" sz="1600" dirty="0"/>
              <a:t>的作用是查询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669E36-A489-03C1-1D65-A927E8D8102F}"/>
              </a:ext>
            </a:extLst>
          </p:cNvPr>
          <p:cNvSpPr txBox="1"/>
          <p:nvPr/>
        </p:nvSpPr>
        <p:spPr>
          <a:xfrm>
            <a:off x="890456" y="4997644"/>
            <a:ext cx="4104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查询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不能重复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2D56FF-E66C-FB72-5A54-DBDD78E9753F}"/>
              </a:ext>
            </a:extLst>
          </p:cNvPr>
          <p:cNvSpPr txBox="1"/>
          <p:nvPr/>
        </p:nvSpPr>
        <p:spPr>
          <a:xfrm>
            <a:off x="890456" y="5328172"/>
            <a:ext cx="4104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查询需要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不同方面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D6A237-7A5A-2369-48E3-F0283FC4765B}"/>
              </a:ext>
            </a:extLst>
          </p:cNvPr>
          <p:cNvSpPr txBox="1"/>
          <p:nvPr/>
        </p:nvSpPr>
        <p:spPr>
          <a:xfrm>
            <a:off x="4063456" y="4344614"/>
            <a:ext cx="5934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Positional Encoding in decoder is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Object Query itself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450FC9-3FCF-FDA0-BB79-1E9B735FDEA3}"/>
              </a:ext>
            </a:extLst>
          </p:cNvPr>
          <p:cNvSpPr txBox="1"/>
          <p:nvPr/>
        </p:nvSpPr>
        <p:spPr>
          <a:xfrm>
            <a:off x="890456" y="5819951"/>
            <a:ext cx="3346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查询由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学习</a:t>
            </a:r>
            <a:r>
              <a:rPr lang="zh-CN" altLang="en-US" sz="1600" dirty="0"/>
              <a:t>而来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EBAE65-F4AC-3EDB-4B4D-9AF5D22AFF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"/>
          <a:stretch>
            <a:fillRect/>
          </a:stretch>
        </p:blipFill>
        <p:spPr>
          <a:xfrm>
            <a:off x="480157" y="2154469"/>
            <a:ext cx="10188122" cy="20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00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FB1814-D8D5-B015-56C5-41EA076A1E55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F65773-8F2E-276C-6105-B67F04BCC2BA}"/>
              </a:ext>
            </a:extLst>
          </p:cNvPr>
          <p:cNvSpPr txBox="1"/>
          <p:nvPr/>
        </p:nvSpPr>
        <p:spPr>
          <a:xfrm>
            <a:off x="1773569" y="374478"/>
            <a:ext cx="333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Some Discuss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E224FA-A30A-5669-4A9F-718AC5372770}"/>
              </a:ext>
            </a:extLst>
          </p:cNvPr>
          <p:cNvSpPr txBox="1"/>
          <p:nvPr/>
        </p:nvSpPr>
        <p:spPr>
          <a:xfrm>
            <a:off x="546741" y="1157966"/>
            <a:ext cx="288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DETR is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NOT</a:t>
            </a:r>
            <a:r>
              <a:rPr lang="en-US" altLang="zh-CN" sz="1600" dirty="0"/>
              <a:t> the best model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245B22-5C96-56EB-E541-A638396D5E73}"/>
              </a:ext>
            </a:extLst>
          </p:cNvPr>
          <p:cNvSpPr txBox="1"/>
          <p:nvPr/>
        </p:nvSpPr>
        <p:spPr>
          <a:xfrm>
            <a:off x="946029" y="1558076"/>
            <a:ext cx="288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But a more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elegant </a:t>
            </a:r>
            <a:r>
              <a:rPr lang="en-US" altLang="zh-CN" sz="1600" dirty="0"/>
              <a:t>one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CC51AC-DA62-73BE-7E74-365FDE2A3EA6}"/>
              </a:ext>
            </a:extLst>
          </p:cNvPr>
          <p:cNvSpPr txBox="1"/>
          <p:nvPr/>
        </p:nvSpPr>
        <p:spPr>
          <a:xfrm>
            <a:off x="3831337" y="1588854"/>
            <a:ext cx="4087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Simple </a:t>
            </a:r>
            <a:r>
              <a:rPr lang="en-US" altLang="zh-CN" sz="1600" dirty="0"/>
              <a:t>&amp;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Flexible </a:t>
            </a:r>
            <a:r>
              <a:rPr lang="en-US" altLang="zh-CN" sz="1600" dirty="0"/>
              <a:t>&amp;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Extensible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93CCC4-5992-6813-BD35-58BE64BA3CDC}"/>
              </a:ext>
            </a:extLst>
          </p:cNvPr>
          <p:cNvSpPr txBox="1"/>
          <p:nvPr/>
        </p:nvSpPr>
        <p:spPr>
          <a:xfrm>
            <a:off x="3831336" y="1157966"/>
            <a:ext cx="2679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Small objects </a:t>
            </a:r>
            <a:r>
              <a:rPr lang="en-US" altLang="zh-CN" sz="1600" dirty="0"/>
              <a:t>unfriendly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8A7AB4-5B0A-3882-EC5F-8E50F824FAF9}"/>
              </a:ext>
            </a:extLst>
          </p:cNvPr>
          <p:cNvSpPr txBox="1"/>
          <p:nvPr/>
        </p:nvSpPr>
        <p:spPr>
          <a:xfrm>
            <a:off x="6379465" y="1157966"/>
            <a:ext cx="2225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Huge training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cost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284B32-4070-3D71-62A3-B6461B8504A7}"/>
              </a:ext>
            </a:extLst>
          </p:cNvPr>
          <p:cNvSpPr txBox="1"/>
          <p:nvPr/>
        </p:nvSpPr>
        <p:spPr>
          <a:xfrm>
            <a:off x="4936811" y="3244334"/>
            <a:ext cx="2885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Deformable DETR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1730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50074F-49E7-4844-D319-B984DA546AAF}"/>
              </a:ext>
            </a:extLst>
          </p:cNvPr>
          <p:cNvSpPr txBox="1"/>
          <p:nvPr/>
        </p:nvSpPr>
        <p:spPr>
          <a:xfrm>
            <a:off x="1402287" y="1342100"/>
            <a:ext cx="3875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By the way……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833ABE-973A-631B-69DD-6FD60B8359A5}"/>
              </a:ext>
            </a:extLst>
          </p:cNvPr>
          <p:cNvSpPr txBox="1"/>
          <p:nvPr/>
        </p:nvSpPr>
        <p:spPr>
          <a:xfrm>
            <a:off x="5445491" y="2782669"/>
            <a:ext cx="1704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accent2">
                    <a:lumMod val="75000"/>
                  </a:schemeClr>
                </a:solidFill>
              </a:rPr>
              <a:t>DCN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1E141C-8E73-6176-694D-BC2E2A93F285}"/>
              </a:ext>
            </a:extLst>
          </p:cNvPr>
          <p:cNvSpPr txBox="1"/>
          <p:nvPr/>
        </p:nvSpPr>
        <p:spPr>
          <a:xfrm>
            <a:off x="3046954" y="3517135"/>
            <a:ext cx="6301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D</a:t>
            </a:r>
            <a:r>
              <a:rPr lang="en-US" altLang="zh-CN" sz="2800" dirty="0"/>
              <a:t>eformable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 C</a:t>
            </a:r>
            <a:r>
              <a:rPr lang="en-US" altLang="zh-CN" sz="2800" dirty="0"/>
              <a:t>onvolutional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 N</a:t>
            </a:r>
            <a:r>
              <a:rPr lang="en-US" altLang="zh-CN" sz="2800" dirty="0"/>
              <a:t>etworks</a:t>
            </a:r>
          </a:p>
        </p:txBody>
      </p:sp>
    </p:spTree>
    <p:extLst>
      <p:ext uri="{BB962C8B-B14F-4D97-AF65-F5344CB8AC3E}">
        <p14:creationId xmlns:p14="http://schemas.microsoft.com/office/powerpoint/2010/main" val="2829757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0A05DC-C160-F1F0-35F5-808DA61E6C3F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DCN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4005FD-DE2E-CFA6-1688-955CC89AF804}"/>
              </a:ext>
            </a:extLst>
          </p:cNvPr>
          <p:cNvSpPr txBox="1"/>
          <p:nvPr/>
        </p:nvSpPr>
        <p:spPr>
          <a:xfrm>
            <a:off x="1773569" y="374478"/>
            <a:ext cx="253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Deformable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EE14AA-B742-075D-1361-77D809341F6E}"/>
                  </a:ext>
                </a:extLst>
              </p:cNvPr>
              <p:cNvSpPr txBox="1"/>
              <p:nvPr/>
            </p:nvSpPr>
            <p:spPr>
              <a:xfrm>
                <a:off x="6381124" y="1200591"/>
                <a:ext cx="4046813" cy="706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EE14AA-B742-075D-1361-77D809341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124" y="1200591"/>
                <a:ext cx="4046813" cy="7064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FD132E66-C4D6-58FE-80EE-D3D37336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70" y="789976"/>
            <a:ext cx="4991797" cy="1705213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DF5D2005-A88B-0AB0-4D26-25A0AF044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55" y="3024414"/>
            <a:ext cx="3614263" cy="2160406"/>
          </a:xfrm>
          <a:prstGeom prst="rect">
            <a:avLst/>
          </a:prstGeom>
        </p:spPr>
      </p:pic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D88AB41F-FFCB-B356-02DE-5ACC97282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048" y="2978020"/>
            <a:ext cx="3534056" cy="2253194"/>
          </a:xfrm>
          <a:prstGeom prst="rect">
            <a:avLst/>
          </a:prstGeom>
        </p:spPr>
      </p:pic>
      <p:pic>
        <p:nvPicPr>
          <p:cNvPr id="16" name="图片 15" descr="图示&#10;&#10;AI 生成的内容可能不正确。">
            <a:extLst>
              <a:ext uri="{FF2B5EF4-FFF2-40B4-BE49-F238E27FC236}">
                <a16:creationId xmlns:a16="http://schemas.microsoft.com/office/drawing/2014/main" id="{E97FE441-4851-31EA-BF76-990BF7B1C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6735" y="2495189"/>
            <a:ext cx="3905795" cy="31055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9028308-C5AF-B164-81EE-E036CC67B994}"/>
                  </a:ext>
                </a:extLst>
              </p:cNvPr>
              <p:cNvSpPr txBox="1"/>
              <p:nvPr/>
            </p:nvSpPr>
            <p:spPr>
              <a:xfrm>
                <a:off x="8533511" y="1876260"/>
                <a:ext cx="7008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9028308-C5AF-B164-81EE-E036CC67B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11" y="1876260"/>
                <a:ext cx="700872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2892C7E-A2D8-E2FD-1B6B-5B91B70BACEC}"/>
              </a:ext>
            </a:extLst>
          </p:cNvPr>
          <p:cNvSpPr txBox="1"/>
          <p:nvPr/>
        </p:nvSpPr>
        <p:spPr>
          <a:xfrm>
            <a:off x="9099682" y="1891649"/>
            <a:ext cx="1112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怎么来的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1CFC11F-022B-0CB0-090C-CA26748DF81F}"/>
              </a:ext>
            </a:extLst>
          </p:cNvPr>
          <p:cNvCxnSpPr/>
          <p:nvPr/>
        </p:nvCxnSpPr>
        <p:spPr>
          <a:xfrm flipV="1">
            <a:off x="10078497" y="1698171"/>
            <a:ext cx="0" cy="6430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248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49A43E-9DE6-8718-7516-C39C7927662F}"/>
              </a:ext>
            </a:extLst>
          </p:cNvPr>
          <p:cNvSpPr txBox="1"/>
          <p:nvPr/>
        </p:nvSpPr>
        <p:spPr>
          <a:xfrm>
            <a:off x="476637" y="328312"/>
            <a:ext cx="1296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DCN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791C45-8B63-3429-D3A4-0D70F24A7CC7}"/>
              </a:ext>
            </a:extLst>
          </p:cNvPr>
          <p:cNvSpPr txBox="1"/>
          <p:nvPr/>
        </p:nvSpPr>
        <p:spPr>
          <a:xfrm>
            <a:off x="1773569" y="374478"/>
            <a:ext cx="253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Deformable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" name="图片 9" descr="图片包含 桌子, 室内, 缝纫机, 雪&#10;&#10;AI 生成的内容可能不正确。">
            <a:extLst>
              <a:ext uri="{FF2B5EF4-FFF2-40B4-BE49-F238E27FC236}">
                <a16:creationId xmlns:a16="http://schemas.microsoft.com/office/drawing/2014/main" id="{82B2685C-64BF-2F10-A011-6EDC0400F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25" y="1723057"/>
            <a:ext cx="4991797" cy="2800741"/>
          </a:xfrm>
          <a:prstGeom prst="rect">
            <a:avLst/>
          </a:prstGeom>
        </p:spPr>
      </p:pic>
      <p:pic>
        <p:nvPicPr>
          <p:cNvPr id="12" name="图片 11" descr="许多照片放在一起&#10;&#10;AI 生成的内容可能不正确。">
            <a:extLst>
              <a:ext uri="{FF2B5EF4-FFF2-40B4-BE49-F238E27FC236}">
                <a16:creationId xmlns:a16="http://schemas.microsoft.com/office/drawing/2014/main" id="{AA64129E-A670-BD0A-F70D-C99DBFAD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787" y="2137114"/>
            <a:ext cx="6850213" cy="22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6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E9873F-1A16-6C4F-5C25-1998AA2069E1}"/>
              </a:ext>
            </a:extLst>
          </p:cNvPr>
          <p:cNvSpPr txBox="1"/>
          <p:nvPr/>
        </p:nvSpPr>
        <p:spPr>
          <a:xfrm>
            <a:off x="1402287" y="1342100"/>
            <a:ext cx="3875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Here comes……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529430-FA3F-9A98-0E67-6BE9CAA5A98C}"/>
              </a:ext>
            </a:extLst>
          </p:cNvPr>
          <p:cNvSpPr txBox="1"/>
          <p:nvPr/>
        </p:nvSpPr>
        <p:spPr>
          <a:xfrm>
            <a:off x="4469766" y="3167390"/>
            <a:ext cx="32524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Deformable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 DETR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06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60251CB-0E95-41C6-D358-22A84982C172}"/>
              </a:ext>
            </a:extLst>
          </p:cNvPr>
          <p:cNvSpPr txBox="1"/>
          <p:nvPr/>
        </p:nvSpPr>
        <p:spPr>
          <a:xfrm>
            <a:off x="476637" y="328312"/>
            <a:ext cx="3169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Deformable 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2FDB53-19BA-A0E7-CC58-1C0093F5C52E}"/>
              </a:ext>
            </a:extLst>
          </p:cNvPr>
          <p:cNvSpPr txBox="1"/>
          <p:nvPr/>
        </p:nvSpPr>
        <p:spPr>
          <a:xfrm>
            <a:off x="3371161" y="374478"/>
            <a:ext cx="296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Current Drawbacks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9C5549-24A5-418A-6244-6228BDFBC5F7}"/>
              </a:ext>
            </a:extLst>
          </p:cNvPr>
          <p:cNvSpPr txBox="1"/>
          <p:nvPr/>
        </p:nvSpPr>
        <p:spPr>
          <a:xfrm>
            <a:off x="476640" y="3148887"/>
            <a:ext cx="3942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图像中</a:t>
            </a:r>
            <a:r>
              <a:rPr lang="en-US" altLang="zh-CN" sz="1600" dirty="0"/>
              <a:t>Key</a:t>
            </a:r>
            <a:r>
              <a:rPr lang="zh-CN" altLang="en-US" sz="1600" dirty="0"/>
              <a:t>通常为图像像素，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</a:rPr>
              <a:t>Nk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非常大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AB4D50-6727-ADE4-1C5A-2392B0D4D27C}"/>
              </a:ext>
            </a:extLst>
          </p:cNvPr>
          <p:cNvSpPr txBox="1"/>
          <p:nvPr/>
        </p:nvSpPr>
        <p:spPr>
          <a:xfrm>
            <a:off x="451330" y="4021307"/>
            <a:ext cx="5008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也因此当</a:t>
            </a:r>
            <a:r>
              <a:rPr lang="en-US" altLang="zh-CN" sz="1600" dirty="0"/>
              <a:t>Q</a:t>
            </a:r>
            <a:r>
              <a:rPr lang="zh-CN" altLang="en-US" sz="1600" dirty="0"/>
              <a:t>，</a:t>
            </a:r>
            <a:r>
              <a:rPr lang="en-US" altLang="zh-CN" sz="1600" dirty="0"/>
              <a:t>K</a:t>
            </a:r>
            <a:r>
              <a:rPr lang="zh-CN" altLang="en-US" sz="1600" dirty="0"/>
              <a:t>均为像素时多头注意力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复杂度非常高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B543BD-E31D-D2A9-775D-2BE966C69158}"/>
                  </a:ext>
                </a:extLst>
              </p:cNvPr>
              <p:cNvSpPr txBox="1"/>
              <p:nvPr/>
            </p:nvSpPr>
            <p:spPr>
              <a:xfrm>
                <a:off x="573868" y="1504435"/>
                <a:ext cx="5416483" cy="814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𝑀𝑢𝑙𝑡𝑖𝐻𝑒𝑎𝑑𝐴𝑡𝑡𝑛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𝑚𝑞𝑘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B543BD-E31D-D2A9-775D-2BE966C69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68" y="1504435"/>
                <a:ext cx="5416483" cy="8140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DF69F3F-ED24-9085-5BDF-B108950C4B11}"/>
              </a:ext>
            </a:extLst>
          </p:cNvPr>
          <p:cNvCxnSpPr>
            <a:cxnSpLocks/>
          </p:cNvCxnSpPr>
          <p:nvPr/>
        </p:nvCxnSpPr>
        <p:spPr>
          <a:xfrm flipV="1">
            <a:off x="3415230" y="2401677"/>
            <a:ext cx="0" cy="4350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CD455B1-5C5B-3F6A-DE7C-099AD85B603C}"/>
              </a:ext>
            </a:extLst>
          </p:cNvPr>
          <p:cNvSpPr txBox="1"/>
          <p:nvPr/>
        </p:nvSpPr>
        <p:spPr>
          <a:xfrm>
            <a:off x="2239162" y="2449908"/>
            <a:ext cx="1131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Attn Head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F233B4B-7844-F8F4-76C7-EE3287C1E427}"/>
              </a:ext>
            </a:extLst>
          </p:cNvPr>
          <p:cNvCxnSpPr>
            <a:cxnSpLocks/>
          </p:cNvCxnSpPr>
          <p:nvPr/>
        </p:nvCxnSpPr>
        <p:spPr>
          <a:xfrm flipV="1">
            <a:off x="4756548" y="2253669"/>
            <a:ext cx="0" cy="4350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5235476-B504-8641-1C64-D4BA186DAA2F}"/>
              </a:ext>
            </a:extLst>
          </p:cNvPr>
          <p:cNvSpPr txBox="1"/>
          <p:nvPr/>
        </p:nvSpPr>
        <p:spPr>
          <a:xfrm>
            <a:off x="4807451" y="2301900"/>
            <a:ext cx="1131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K,Q Attn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6CE9202-0124-C292-2C10-2D58F4399DA2}"/>
              </a:ext>
            </a:extLst>
          </p:cNvPr>
          <p:cNvCxnSpPr>
            <a:cxnSpLocks/>
          </p:cNvCxnSpPr>
          <p:nvPr/>
        </p:nvCxnSpPr>
        <p:spPr>
          <a:xfrm>
            <a:off x="5373450" y="1338549"/>
            <a:ext cx="0" cy="3317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78D7395-8C50-B865-1D8A-EE561EC2082E}"/>
              </a:ext>
            </a:extLst>
          </p:cNvPr>
          <p:cNvSpPr txBox="1"/>
          <p:nvPr/>
        </p:nvSpPr>
        <p:spPr>
          <a:xfrm>
            <a:off x="5459728" y="1339743"/>
            <a:ext cx="636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V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A8DE6F0-CFD4-15B4-D77B-A1C66C5FFCD8}"/>
              </a:ext>
            </a:extLst>
          </p:cNvPr>
          <p:cNvCxnSpPr>
            <a:cxnSpLocks/>
          </p:cNvCxnSpPr>
          <p:nvPr/>
        </p:nvCxnSpPr>
        <p:spPr>
          <a:xfrm>
            <a:off x="4292002" y="1233888"/>
            <a:ext cx="0" cy="3314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7128061-26D0-BAF3-49C6-8ED708F81EFD}"/>
              </a:ext>
            </a:extLst>
          </p:cNvPr>
          <p:cNvSpPr txBox="1"/>
          <p:nvPr/>
        </p:nvSpPr>
        <p:spPr>
          <a:xfrm>
            <a:off x="1925082" y="1192193"/>
            <a:ext cx="2494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Each query Each value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BBF1812-BC3C-5565-6BAB-4E8C18E901BC}"/>
                  </a:ext>
                </a:extLst>
              </p:cNvPr>
              <p:cNvSpPr txBox="1"/>
              <p:nvPr/>
            </p:nvSpPr>
            <p:spPr>
              <a:xfrm>
                <a:off x="1881129" y="3404410"/>
                <a:ext cx="1490031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𝑚𝑞𝑘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BBF1812-BC3C-5565-6BAB-4E8C18E90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129" y="3404410"/>
                <a:ext cx="1490031" cy="658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343DFF62-0772-16A5-FD1E-3CAE5D9F993C}"/>
              </a:ext>
            </a:extLst>
          </p:cNvPr>
          <p:cNvSpPr txBox="1"/>
          <p:nvPr/>
        </p:nvSpPr>
        <p:spPr>
          <a:xfrm>
            <a:off x="967573" y="3564166"/>
            <a:ext cx="1480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初始化时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4184EB-6D9C-D362-3749-88C325B8DE92}"/>
              </a:ext>
            </a:extLst>
          </p:cNvPr>
          <p:cNvSpPr txBox="1"/>
          <p:nvPr/>
        </p:nvSpPr>
        <p:spPr>
          <a:xfrm>
            <a:off x="3298072" y="3606028"/>
            <a:ext cx="1967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造成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梯度不明确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9CDC9C-7BBC-12F6-7032-EF153F6822FE}"/>
              </a:ext>
            </a:extLst>
          </p:cNvPr>
          <p:cNvSpPr txBox="1"/>
          <p:nvPr/>
        </p:nvSpPr>
        <p:spPr>
          <a:xfrm>
            <a:off x="981953" y="4436586"/>
            <a:ext cx="6245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DETR</a:t>
            </a:r>
            <a:r>
              <a:rPr lang="zh-CN" altLang="en-US" sz="1600" dirty="0"/>
              <a:t>的</a:t>
            </a:r>
            <a:r>
              <a:rPr lang="en-US" altLang="zh-CN" sz="1600" dirty="0"/>
              <a:t>encoder</a:t>
            </a:r>
            <a:r>
              <a:rPr lang="zh-CN" altLang="en-US" sz="1600" dirty="0"/>
              <a:t>中自注意力的计算复杂度随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图像尺寸平方</a:t>
            </a:r>
            <a:r>
              <a:rPr lang="zh-CN" altLang="en-US" sz="1600" dirty="0"/>
              <a:t>增长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074EC1-4A13-8CC3-2241-CD05A0D19532}"/>
              </a:ext>
            </a:extLst>
          </p:cNvPr>
          <p:cNvSpPr txBox="1"/>
          <p:nvPr/>
        </p:nvSpPr>
        <p:spPr>
          <a:xfrm>
            <a:off x="981953" y="4769769"/>
            <a:ext cx="805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DETR</a:t>
            </a:r>
            <a:r>
              <a:rPr lang="zh-CN" altLang="en-US" sz="1600" dirty="0"/>
              <a:t>的</a:t>
            </a:r>
            <a:r>
              <a:rPr lang="en-US" altLang="zh-CN" sz="1600" dirty="0"/>
              <a:t>decoder</a:t>
            </a:r>
            <a:r>
              <a:rPr lang="zh-CN" altLang="en-US" sz="1600" dirty="0"/>
              <a:t>中自注意力的计算复杂度与查询数量有关，</a:t>
            </a:r>
            <a:r>
              <a:rPr lang="en-US" altLang="zh-CN" sz="1600" dirty="0"/>
              <a:t>Q</a:t>
            </a:r>
            <a:r>
              <a:rPr lang="zh-CN" altLang="en-US" sz="1600" dirty="0"/>
              <a:t>有限时，复杂度可接受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915372-A8D5-4207-1074-81EEE941F7E6}"/>
              </a:ext>
            </a:extLst>
          </p:cNvPr>
          <p:cNvSpPr txBox="1"/>
          <p:nvPr/>
        </p:nvSpPr>
        <p:spPr>
          <a:xfrm>
            <a:off x="573868" y="5454835"/>
            <a:ext cx="2488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DETR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小目标</a:t>
            </a:r>
            <a:r>
              <a:rPr lang="zh-CN" altLang="en-US" sz="1600" dirty="0"/>
              <a:t>乏力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F326D6-E39D-2486-64CD-546911728229}"/>
              </a:ext>
            </a:extLst>
          </p:cNvPr>
          <p:cNvSpPr txBox="1"/>
          <p:nvPr/>
        </p:nvSpPr>
        <p:spPr>
          <a:xfrm>
            <a:off x="882339" y="5740714"/>
            <a:ext cx="5213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使用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高分辨率</a:t>
            </a:r>
            <a:r>
              <a:rPr lang="zh-CN" altLang="en-US" sz="1600" dirty="0"/>
              <a:t>特征图会得到一个难以接受的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复杂度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D417538-F39B-8CC2-2DFE-025FDC0B8AD8}"/>
              </a:ext>
            </a:extLst>
          </p:cNvPr>
          <p:cNvCxnSpPr>
            <a:cxnSpLocks/>
          </p:cNvCxnSpPr>
          <p:nvPr/>
        </p:nvCxnSpPr>
        <p:spPr>
          <a:xfrm>
            <a:off x="6623824" y="3756437"/>
            <a:ext cx="8465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8BC28D9-E0AF-39A5-F8AD-D746D34E7E74}"/>
              </a:ext>
            </a:extLst>
          </p:cNvPr>
          <p:cNvSpPr txBox="1"/>
          <p:nvPr/>
        </p:nvSpPr>
        <p:spPr>
          <a:xfrm>
            <a:off x="7470422" y="3590712"/>
            <a:ext cx="375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避免</a:t>
            </a:r>
            <a:r>
              <a:rPr lang="zh-CN" altLang="en-US" sz="1600" dirty="0"/>
              <a:t>每个特征像素与所有特征像素交互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913AF1C-A695-17AE-9BA4-95F88AC1A206}"/>
              </a:ext>
            </a:extLst>
          </p:cNvPr>
          <p:cNvCxnSpPr>
            <a:cxnSpLocks/>
          </p:cNvCxnSpPr>
          <p:nvPr/>
        </p:nvCxnSpPr>
        <p:spPr>
          <a:xfrm>
            <a:off x="7470422" y="5811304"/>
            <a:ext cx="9675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E868C9E-16E6-F94C-1A84-C42F297EAC18}"/>
              </a:ext>
            </a:extLst>
          </p:cNvPr>
          <p:cNvSpPr txBox="1"/>
          <p:nvPr/>
        </p:nvSpPr>
        <p:spPr>
          <a:xfrm>
            <a:off x="8437996" y="5644127"/>
            <a:ext cx="3304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多尺度</a:t>
            </a:r>
            <a:r>
              <a:rPr lang="zh-CN" altLang="en-US" sz="1600" dirty="0"/>
              <a:t>特征图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2894275-2B1A-FD71-2FD8-8143E035B679}"/>
              </a:ext>
            </a:extLst>
          </p:cNvPr>
          <p:cNvCxnSpPr>
            <a:cxnSpLocks/>
          </p:cNvCxnSpPr>
          <p:nvPr/>
        </p:nvCxnSpPr>
        <p:spPr>
          <a:xfrm>
            <a:off x="9210907" y="4062475"/>
            <a:ext cx="0" cy="1392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8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7196CEF-1699-CF34-86E2-8C353AF58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72" y="1332425"/>
            <a:ext cx="8735644" cy="48965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91B5D51-CB8B-BD33-97CC-ADDA02C8BE37}"/>
              </a:ext>
            </a:extLst>
          </p:cNvPr>
          <p:cNvSpPr txBox="1"/>
          <p:nvPr/>
        </p:nvSpPr>
        <p:spPr>
          <a:xfrm>
            <a:off x="476637" y="328312"/>
            <a:ext cx="3169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Deformable DETR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3B23C8-1C39-3186-B5C6-C6254F286F9C}"/>
              </a:ext>
            </a:extLst>
          </p:cNvPr>
          <p:cNvSpPr txBox="1"/>
          <p:nvPr/>
        </p:nvSpPr>
        <p:spPr>
          <a:xfrm>
            <a:off x="3371161" y="374478"/>
            <a:ext cx="296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Overview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87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7C52BE-A96F-43E7-9A28-41FCD3E8789D}"/>
                  </a:ext>
                </a:extLst>
              </p:cNvPr>
              <p:cNvSpPr txBox="1"/>
              <p:nvPr/>
            </p:nvSpPr>
            <p:spPr>
              <a:xfrm>
                <a:off x="596170" y="1266497"/>
                <a:ext cx="6429644" cy="808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𝐷𝑒𝑓𝑜𝑟𝑚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𝐴𝑡𝑡𝑛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𝑚𝑞𝑘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+∆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𝑚𝑞𝑘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7C52BE-A96F-43E7-9A28-41FCD3E87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70" y="1266497"/>
                <a:ext cx="6429644" cy="808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E4CD265-97B3-1B64-6456-7B77F527B2A2}"/>
              </a:ext>
            </a:extLst>
          </p:cNvPr>
          <p:cNvSpPr txBox="1"/>
          <p:nvPr/>
        </p:nvSpPr>
        <p:spPr>
          <a:xfrm>
            <a:off x="476637" y="328312"/>
            <a:ext cx="3169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Deformable DETR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5240C4-93CA-47DF-63AE-C84032D8613B}"/>
              </a:ext>
            </a:extLst>
          </p:cNvPr>
          <p:cNvSpPr txBox="1"/>
          <p:nvPr/>
        </p:nvSpPr>
        <p:spPr>
          <a:xfrm>
            <a:off x="3371161" y="374478"/>
            <a:ext cx="296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Improvement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9178602-DEA7-5D92-4DC2-038A07E0909F}"/>
              </a:ext>
            </a:extLst>
          </p:cNvPr>
          <p:cNvCxnSpPr>
            <a:cxnSpLocks/>
          </p:cNvCxnSpPr>
          <p:nvPr/>
        </p:nvCxnSpPr>
        <p:spPr>
          <a:xfrm flipV="1">
            <a:off x="5782405" y="1928378"/>
            <a:ext cx="0" cy="367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E69FBFE-FEB5-86A3-2A11-A78D7B479122}"/>
              </a:ext>
            </a:extLst>
          </p:cNvPr>
          <p:cNvSpPr txBox="1"/>
          <p:nvPr/>
        </p:nvSpPr>
        <p:spPr>
          <a:xfrm>
            <a:off x="5853695" y="1957648"/>
            <a:ext cx="1100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参考点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163A4B2-AC0A-2B9A-4924-63468C5D6159}"/>
              </a:ext>
            </a:extLst>
          </p:cNvPr>
          <p:cNvCxnSpPr>
            <a:cxnSpLocks/>
          </p:cNvCxnSpPr>
          <p:nvPr/>
        </p:nvCxnSpPr>
        <p:spPr>
          <a:xfrm>
            <a:off x="6235888" y="1061367"/>
            <a:ext cx="0" cy="4102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65935CC-174A-45A2-7260-1E15B29E7DE1}"/>
              </a:ext>
            </a:extLst>
          </p:cNvPr>
          <p:cNvSpPr txBox="1"/>
          <p:nvPr/>
        </p:nvSpPr>
        <p:spPr>
          <a:xfrm>
            <a:off x="6235887" y="1074628"/>
            <a:ext cx="234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采样点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位置偏移（二维）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100363B-E90F-26C4-8420-92987C437801}"/>
              </a:ext>
            </a:extLst>
          </p:cNvPr>
          <p:cNvCxnSpPr>
            <a:cxnSpLocks/>
          </p:cNvCxnSpPr>
          <p:nvPr/>
        </p:nvCxnSpPr>
        <p:spPr>
          <a:xfrm flipV="1">
            <a:off x="4246682" y="2097655"/>
            <a:ext cx="0" cy="706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E6FC07B-4E10-549C-9E96-78C8482757EA}"/>
              </a:ext>
            </a:extLst>
          </p:cNvPr>
          <p:cNvSpPr txBox="1"/>
          <p:nvPr/>
        </p:nvSpPr>
        <p:spPr>
          <a:xfrm>
            <a:off x="4246682" y="2126925"/>
            <a:ext cx="1319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采样的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Key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1D48F5-4581-E68A-34D4-0B34277FD393}"/>
              </a:ext>
            </a:extLst>
          </p:cNvPr>
          <p:cNvSpPr txBox="1"/>
          <p:nvPr/>
        </p:nvSpPr>
        <p:spPr>
          <a:xfrm>
            <a:off x="4246682" y="2465479"/>
            <a:ext cx="2174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每个</a:t>
            </a:r>
            <a:r>
              <a:rPr lang="en-US" altLang="zh-CN" sz="1600" dirty="0"/>
              <a:t>query</a:t>
            </a:r>
            <a:r>
              <a:rPr lang="zh-CN" altLang="en-US" sz="1600" dirty="0"/>
              <a:t>采样</a:t>
            </a:r>
            <a:r>
              <a:rPr lang="en-US" altLang="zh-CN" sz="1600" dirty="0"/>
              <a:t>K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个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28E9909-A544-548A-68F1-E47439DC5B41}"/>
                  </a:ext>
                </a:extLst>
              </p:cNvPr>
              <p:cNvSpPr txBox="1"/>
              <p:nvPr/>
            </p:nvSpPr>
            <p:spPr>
              <a:xfrm>
                <a:off x="551483" y="3729365"/>
                <a:ext cx="7721794" cy="803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𝐷𝑒𝑓𝑜𝑟𝑚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𝐴𝑡𝑡𝑛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𝑞𝑘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𝑚𝑙𝑞𝑘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28E9909-A544-548A-68F1-E47439DC5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3" y="3729365"/>
                <a:ext cx="7721794" cy="803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C0F7531-FE57-77E6-8C50-10DB50A45737}"/>
              </a:ext>
            </a:extLst>
          </p:cNvPr>
          <p:cNvSpPr txBox="1"/>
          <p:nvPr/>
        </p:nvSpPr>
        <p:spPr>
          <a:xfrm>
            <a:off x="9080300" y="1471627"/>
            <a:ext cx="201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稀疏注意力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44D3F8-8CEE-F7D1-82D7-DFA09EA8E9E4}"/>
              </a:ext>
            </a:extLst>
          </p:cNvPr>
          <p:cNvSpPr txBox="1"/>
          <p:nvPr/>
        </p:nvSpPr>
        <p:spPr>
          <a:xfrm>
            <a:off x="9155146" y="3934133"/>
            <a:ext cx="201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多尺度稀疏注意力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591C5CB-DD1F-268F-671B-4DB678FB1A48}"/>
              </a:ext>
            </a:extLst>
          </p:cNvPr>
          <p:cNvCxnSpPr>
            <a:cxnSpLocks/>
          </p:cNvCxnSpPr>
          <p:nvPr/>
        </p:nvCxnSpPr>
        <p:spPr>
          <a:xfrm>
            <a:off x="6809744" y="3493095"/>
            <a:ext cx="0" cy="4102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0709883-FB47-F36C-42E3-B5BF68B787DF}"/>
              </a:ext>
            </a:extLst>
          </p:cNvPr>
          <p:cNvSpPr txBox="1"/>
          <p:nvPr/>
        </p:nvSpPr>
        <p:spPr>
          <a:xfrm>
            <a:off x="6907726" y="3506356"/>
            <a:ext cx="224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归一化</a:t>
            </a:r>
            <a:r>
              <a:rPr lang="zh-CN" altLang="en-US" sz="1600" dirty="0"/>
              <a:t>至</a:t>
            </a:r>
            <a:r>
              <a:rPr lang="en-US" altLang="zh-CN" sz="1600" dirty="0"/>
              <a:t>0</a:t>
            </a:r>
            <a:r>
              <a:rPr lang="zh-CN" altLang="en-US" sz="1600" dirty="0"/>
              <a:t>，</a:t>
            </a:r>
            <a:r>
              <a:rPr lang="en-US" altLang="zh-CN" sz="1600" dirty="0"/>
              <a:t>1</a:t>
            </a:r>
            <a:endParaRPr lang="zh-CN" altLang="en-US" sz="1600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EA8D04B-7246-2B00-7BD7-1A605911282F}"/>
              </a:ext>
            </a:extLst>
          </p:cNvPr>
          <p:cNvCxnSpPr>
            <a:cxnSpLocks/>
          </p:cNvCxnSpPr>
          <p:nvPr/>
        </p:nvCxnSpPr>
        <p:spPr>
          <a:xfrm flipV="1">
            <a:off x="6505786" y="4393900"/>
            <a:ext cx="0" cy="4282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4BE4418-7809-AE0D-AE42-35287C64A742}"/>
              </a:ext>
            </a:extLst>
          </p:cNvPr>
          <p:cNvSpPr txBox="1"/>
          <p:nvPr/>
        </p:nvSpPr>
        <p:spPr>
          <a:xfrm>
            <a:off x="5501637" y="4443375"/>
            <a:ext cx="1123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坐标映射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B4C93D-FE3B-61E6-36D0-C0F0008DE281}"/>
              </a:ext>
            </a:extLst>
          </p:cNvPr>
          <p:cNvSpPr txBox="1"/>
          <p:nvPr/>
        </p:nvSpPr>
        <p:spPr>
          <a:xfrm>
            <a:off x="2072116" y="4731242"/>
            <a:ext cx="4680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使得每个参考点在所有特征层均有一个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对应坐标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4250764-A5B4-98C6-41A0-0DD0B0E421DE}"/>
              </a:ext>
            </a:extLst>
          </p:cNvPr>
          <p:cNvCxnSpPr>
            <a:cxnSpLocks/>
          </p:cNvCxnSpPr>
          <p:nvPr/>
        </p:nvCxnSpPr>
        <p:spPr>
          <a:xfrm>
            <a:off x="4510346" y="3261012"/>
            <a:ext cx="0" cy="4102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FA35A42-E53B-986E-14EF-4FC9C19A8F61}"/>
              </a:ext>
            </a:extLst>
          </p:cNvPr>
          <p:cNvSpPr txBox="1"/>
          <p:nvPr/>
        </p:nvSpPr>
        <p:spPr>
          <a:xfrm>
            <a:off x="4536335" y="3287718"/>
            <a:ext cx="224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L</a:t>
            </a:r>
            <a:r>
              <a:rPr lang="zh-CN" altLang="en-US" sz="1600" dirty="0"/>
              <a:t>个特征层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ECBA9FA-C6C7-71FE-4223-AE298960660F}"/>
              </a:ext>
            </a:extLst>
          </p:cNvPr>
          <p:cNvSpPr txBox="1"/>
          <p:nvPr/>
        </p:nvSpPr>
        <p:spPr>
          <a:xfrm>
            <a:off x="560563" y="5574144"/>
            <a:ext cx="3840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每个</a:t>
            </a:r>
            <a:r>
              <a:rPr lang="en-US" altLang="zh-CN" sz="1600" dirty="0"/>
              <a:t>query</a:t>
            </a:r>
            <a:r>
              <a:rPr lang="zh-CN" altLang="en-US" sz="1600" dirty="0"/>
              <a:t>在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每个</a:t>
            </a:r>
            <a:r>
              <a:rPr lang="zh-CN" altLang="en-US" sz="1600" dirty="0"/>
              <a:t>特征层均会采样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K</a:t>
            </a:r>
            <a:r>
              <a:rPr lang="zh-CN" altLang="en-US" sz="1600" dirty="0"/>
              <a:t>个点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69628A-5E6B-F8CC-0145-74BE4688C31F}"/>
              </a:ext>
            </a:extLst>
          </p:cNvPr>
          <p:cNvSpPr txBox="1"/>
          <p:nvPr/>
        </p:nvSpPr>
        <p:spPr>
          <a:xfrm>
            <a:off x="5034216" y="5574144"/>
            <a:ext cx="3840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一个头共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LK</a:t>
            </a:r>
            <a:r>
              <a:rPr lang="zh-CN" altLang="en-US" sz="1600" dirty="0"/>
              <a:t>个点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A55E3F7-D067-EAD9-84EC-BAF27F60F7F3}"/>
              </a:ext>
            </a:extLst>
          </p:cNvPr>
          <p:cNvCxnSpPr/>
          <p:nvPr/>
        </p:nvCxnSpPr>
        <p:spPr>
          <a:xfrm>
            <a:off x="4401178" y="5729137"/>
            <a:ext cx="60479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" name="图片 36" descr="图片包含 图示&#10;&#10;AI 生成的内容可能不正确。">
            <a:extLst>
              <a:ext uri="{FF2B5EF4-FFF2-40B4-BE49-F238E27FC236}">
                <a16:creationId xmlns:a16="http://schemas.microsoft.com/office/drawing/2014/main" id="{3ED8B558-981B-A71F-97D3-0AEBD1061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936" y="4582758"/>
            <a:ext cx="4197442" cy="161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6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上有许多玩具&#10;&#10;AI 生成的内容可能不正确。">
            <a:extLst>
              <a:ext uri="{FF2B5EF4-FFF2-40B4-BE49-F238E27FC236}">
                <a16:creationId xmlns:a16="http://schemas.microsoft.com/office/drawing/2014/main" id="{41FE3B58-0528-BC79-3A9D-DA0945A86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21" y="1547446"/>
            <a:ext cx="6233324" cy="44169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964514-4868-0282-58DB-24D9F8147784}"/>
              </a:ext>
            </a:extLst>
          </p:cNvPr>
          <p:cNvSpPr txBox="1"/>
          <p:nvPr/>
        </p:nvSpPr>
        <p:spPr>
          <a:xfrm>
            <a:off x="476637" y="328312"/>
            <a:ext cx="3169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Deformable DETR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6C0243-42C7-5BE5-4D63-2EE4F24AFC16}"/>
              </a:ext>
            </a:extLst>
          </p:cNvPr>
          <p:cNvSpPr txBox="1"/>
          <p:nvPr/>
        </p:nvSpPr>
        <p:spPr>
          <a:xfrm>
            <a:off x="3371161" y="374478"/>
            <a:ext cx="296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Visual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图片 6" descr="冰箱里有许多照片&#10;&#10;AI 生成的内容可能不正确。">
            <a:extLst>
              <a:ext uri="{FF2B5EF4-FFF2-40B4-BE49-F238E27FC236}">
                <a16:creationId xmlns:a16="http://schemas.microsoft.com/office/drawing/2014/main" id="{51F06E53-CB4B-6CBA-774D-105C18071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748" y="789977"/>
            <a:ext cx="5032437" cy="55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750AEC-893E-58A8-328A-FC943B58368D}"/>
              </a:ext>
            </a:extLst>
          </p:cNvPr>
          <p:cNvSpPr txBox="1"/>
          <p:nvPr/>
        </p:nvSpPr>
        <p:spPr>
          <a:xfrm>
            <a:off x="476637" y="328312"/>
            <a:ext cx="3169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Deformable DETR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946D46-048E-C8AD-C61B-E5DDC7611B2C}"/>
              </a:ext>
            </a:extLst>
          </p:cNvPr>
          <p:cNvSpPr txBox="1"/>
          <p:nvPr/>
        </p:nvSpPr>
        <p:spPr>
          <a:xfrm>
            <a:off x="3371161" y="374478"/>
            <a:ext cx="296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Some Advance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2755C7-08A7-E10B-F641-E07EE277A02A}"/>
              </a:ext>
            </a:extLst>
          </p:cNvPr>
          <p:cNvSpPr txBox="1"/>
          <p:nvPr/>
        </p:nvSpPr>
        <p:spPr>
          <a:xfrm>
            <a:off x="599421" y="1576308"/>
            <a:ext cx="6094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Iterative Bounding Box Refinement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A3166B-A022-FE17-52C9-79A7C0D50F2A}"/>
              </a:ext>
            </a:extLst>
          </p:cNvPr>
          <p:cNvSpPr txBox="1"/>
          <p:nvPr/>
        </p:nvSpPr>
        <p:spPr>
          <a:xfrm>
            <a:off x="599421" y="2747360"/>
            <a:ext cx="6094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Two-Stage Deformable DETR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091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928</Words>
  <Application>Microsoft Office PowerPoint</Application>
  <PresentationFormat>宽屏</PresentationFormat>
  <Paragraphs>254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Rockwell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浩宇 曹</dc:creator>
  <cp:lastModifiedBy>浩宇 曹</cp:lastModifiedBy>
  <cp:revision>760</cp:revision>
  <dcterms:created xsi:type="dcterms:W3CDTF">2025-11-29T00:28:49Z</dcterms:created>
  <dcterms:modified xsi:type="dcterms:W3CDTF">2025-12-08T07:55:55Z</dcterms:modified>
</cp:coreProperties>
</file>