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0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67" r:id="rId29"/>
    <p:sldId id="284" r:id="rId30"/>
    <p:sldId id="285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43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3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45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1892BA-70F1-4707-AF86-6D0B3C12743F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FF1182-9563-499F-8100-A59D3E957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398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F1182-9563-499F-8100-A59D3E95797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83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F1182-9563-499F-8100-A59D3E95797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164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F1182-9563-499F-8100-A59D3E95797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2805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F1182-9563-499F-8100-A59D3E95797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745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F1182-9563-499F-8100-A59D3E95797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366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F1182-9563-499F-8100-A59D3E957974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039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F1182-9563-499F-8100-A59D3E957974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743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1EA38D-4D4B-7D34-E4DC-CC76FEC1F1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60F36B4-8011-1481-7778-0BED0F7A3F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883854-59F4-AEBC-4321-916B01E2D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01B8-F155-4CD9-A042-7121CB227D3F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269BDD-39E1-4599-ABEB-86FDE1E67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4807CD-46CF-497C-B603-BF6AF13F3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9283-C5C7-43E0-9798-F0D1E2967F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15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B9F9F5-BE8C-D0F6-281C-9E35203C4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0FD3F8-F52E-85CA-28BC-662AAA46F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A37D9-3A5A-7918-47F9-200A1A21B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01B8-F155-4CD9-A042-7121CB227D3F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0979D2-82D6-DEEF-85D3-C647C8B88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AFABD2-1A67-17FE-E4F9-12C3EE28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9283-C5C7-43E0-9798-F0D1E2967F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676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819FE6-66AE-CF25-7C64-E846F8053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32A44A-DDBB-3A12-16F8-7B0904D3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39E870-4837-835C-9446-314C2C8A2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01B8-F155-4CD9-A042-7121CB227D3F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9DFF89-2A0F-1D21-0865-BCBAA8A1A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801DC6-B3A2-3E6B-4705-EF4195B58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9283-C5C7-43E0-9798-F0D1E2967F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10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D4129F-B1E3-FD72-2542-97EAC9C67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A9CD06-76E3-60E3-9BF8-D9699024F6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A73ADF-9C13-C2E8-2D0B-C2B5E81BE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2D28C9-77B7-781A-7344-AE1D4053A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01B8-F155-4CD9-A042-7121CB227D3F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DEC5A9-55B7-3A78-02C5-ED3E2B882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6BFEFC-02BA-95C6-76C7-2EFFFBC4F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9283-C5C7-43E0-9798-F0D1E2967F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44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7741B-69AF-8E27-8B19-0076B034D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48A5A7-311F-EE0E-761E-CE70A40C2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BF5D4A-EF76-A77B-37DB-8A97981CE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B7DB003-904A-7FDD-FF9A-9E9EB46BDE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65EEA2C-1A80-BD1C-9222-FAD799B962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143CDBD-ABAB-FAE0-A45D-769539155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01B8-F155-4CD9-A042-7121CB227D3F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C5D9552-BC18-E33B-7374-2DFAFD28C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DF3C65-8323-FA7C-6B4A-48609E3E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9283-C5C7-43E0-9798-F0D1E2967F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34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D21E71-8FAC-AD39-24F4-648AC287B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D97018A-313A-5430-1011-E00E9B03A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01B8-F155-4CD9-A042-7121CB227D3F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B51B96-C25E-05DF-1C3D-2F75C3F97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6895EA2-DE8C-AC91-80CE-CAAB82516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9283-C5C7-43E0-9798-F0D1E2967F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817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44C0CA0-91A0-4A73-C92B-E357B80A0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01B8-F155-4CD9-A042-7121CB227D3F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91B43FD-F16A-D693-A0A6-E69A5257B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ED1521-EBDD-BFF9-C526-483EBF27A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9283-C5C7-43E0-9798-F0D1E2967F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511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3A1ED5-3517-0A25-3277-4B79817F1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1A4BEC-B278-95A4-FA01-172BBD1CE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88C58F5-93B2-9995-9CD2-BB67EE129D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40D3FE-EDF8-68C7-F054-48737DE88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01B8-F155-4CD9-A042-7121CB227D3F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207416-F7B0-0104-6FC9-948EE33E3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D0C59E-AC65-4049-DD54-C4F0B8975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9283-C5C7-43E0-9798-F0D1E2967F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027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E39F55-BEDA-8E7B-8C51-436B606DF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1AA48F9-BCCA-B83A-6C6B-496562521C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7D4A02-2D56-66DF-F1B4-08906FC402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E0DDFB-43A5-248F-1BBF-2A85D802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01B8-F155-4CD9-A042-7121CB227D3F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FE30B2-FF11-D870-F0E0-5D4E4E3B4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A76F0C-AC87-FA67-4229-4448ACD29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9283-C5C7-43E0-9798-F0D1E2967F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2878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8BACCC-55A7-6FD7-B6F6-E5B892963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CA8FC1-5D62-A796-B3A9-0CA857409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64CD77-260E-4024-A446-3194CB2D4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01B8-F155-4CD9-A042-7121CB227D3F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2167DB-E399-759E-6FB0-F0E3C30AB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C31480-145E-D603-1091-FDF0842C6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9283-C5C7-43E0-9798-F0D1E2967F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902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FC0DBEA-7673-9D0F-AF97-96DD9DE282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C616451-AA69-0AF1-51A8-D25356AD8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A0F88A-8D6A-3DC2-FE06-CDA32F523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01B8-F155-4CD9-A042-7121CB227D3F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7DEB45-7727-41F2-EAA3-8E4070596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098AAA-004E-CAC2-CFA3-297B21B6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9283-C5C7-43E0-9798-F0D1E2967F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84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A4C1474-7555-E8FA-B32D-4388B3A0E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38537F-2620-EEEB-5240-5C916F197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83021B-52E2-2735-525A-581B9F87A2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C01B8-F155-4CD9-A042-7121CB227D3F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3E8EAB-0895-8EFB-EE57-24C825D086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195743-4D46-547A-4113-B0B3FDE32D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F9283-C5C7-43E0-9798-F0D1E2967F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79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B51E47B-ABC3-4718-CCE0-AFBF179A4CC9}"/>
              </a:ext>
            </a:extLst>
          </p:cNvPr>
          <p:cNvSpPr txBox="1"/>
          <p:nvPr/>
        </p:nvSpPr>
        <p:spPr>
          <a:xfrm>
            <a:off x="969633" y="777805"/>
            <a:ext cx="1969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R-CNN(s)</a:t>
            </a:r>
            <a:endParaRPr lang="zh-CN" altLang="en-US" sz="3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0D55D65-B866-1A07-534F-1A4F4AC82E9C}"/>
              </a:ext>
            </a:extLst>
          </p:cNvPr>
          <p:cNvSpPr txBox="1"/>
          <p:nvPr/>
        </p:nvSpPr>
        <p:spPr>
          <a:xfrm>
            <a:off x="969633" y="2013092"/>
            <a:ext cx="773250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</a:rPr>
              <a:t>Region-based</a:t>
            </a:r>
          </a:p>
          <a:p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</a:rPr>
              <a:t>C</a:t>
            </a:r>
            <a:r>
              <a:rPr lang="en-US" altLang="zh-CN" sz="2800" dirty="0"/>
              <a:t>onvolutional </a:t>
            </a: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</a:rPr>
              <a:t>N</a:t>
            </a:r>
            <a:r>
              <a:rPr lang="en-US" altLang="zh-CN" sz="2800" dirty="0"/>
              <a:t>eural </a:t>
            </a: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</a:rPr>
              <a:t>N</a:t>
            </a:r>
            <a:r>
              <a:rPr lang="en-US" altLang="zh-CN" sz="2800" dirty="0"/>
              <a:t>etworks</a:t>
            </a:r>
            <a:endParaRPr lang="zh-CN" altLang="en-US" sz="28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BABD999-D50B-5B6D-600C-E0EA1288F2B9}"/>
              </a:ext>
            </a:extLst>
          </p:cNvPr>
          <p:cNvSpPr txBox="1"/>
          <p:nvPr/>
        </p:nvSpPr>
        <p:spPr>
          <a:xfrm>
            <a:off x="3206543" y="962470"/>
            <a:ext cx="1733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</a:rPr>
              <a:t>目标检测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918118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637E761-C3EB-FB2A-84AF-F47262F8A3F0}"/>
              </a:ext>
            </a:extLst>
          </p:cNvPr>
          <p:cNvSpPr txBox="1"/>
          <p:nvPr/>
        </p:nvSpPr>
        <p:spPr>
          <a:xfrm>
            <a:off x="5090576" y="954728"/>
            <a:ext cx="61583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Pipeline</a:t>
            </a:r>
            <a:r>
              <a:rPr lang="en-US" altLang="zh-CN" sz="2000" dirty="0"/>
              <a:t>: </a:t>
            </a:r>
            <a:r>
              <a:rPr lang="zh-CN" altLang="en-US" sz="2000" dirty="0"/>
              <a:t>候选框，</a:t>
            </a:r>
            <a:r>
              <a:rPr lang="en-US" altLang="zh-CN" sz="2000" dirty="0"/>
              <a:t>CNN</a:t>
            </a:r>
            <a:r>
              <a:rPr lang="zh-CN" altLang="en-US" sz="2000" dirty="0"/>
              <a:t>特征提取，</a:t>
            </a:r>
            <a:r>
              <a:rPr lang="en-US" altLang="zh-CN" sz="2000" dirty="0"/>
              <a:t>SVM</a:t>
            </a:r>
            <a:r>
              <a:rPr lang="zh-CN" altLang="en-US" sz="2000" dirty="0"/>
              <a:t>分类，</a:t>
            </a:r>
            <a:r>
              <a:rPr lang="en-US" altLang="zh-CN" sz="2000" dirty="0"/>
              <a:t>NMS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DF3A2C-CA9F-057D-6978-25D486382CED}"/>
              </a:ext>
            </a:extLst>
          </p:cNvPr>
          <p:cNvSpPr txBox="1"/>
          <p:nvPr/>
        </p:nvSpPr>
        <p:spPr>
          <a:xfrm>
            <a:off x="5090575" y="1937461"/>
            <a:ext cx="5157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</a:rPr>
              <a:t>先</a:t>
            </a:r>
            <a:r>
              <a:rPr lang="zh-CN" altLang="en-US" sz="2000" dirty="0"/>
              <a:t>特征图，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</a:rPr>
              <a:t>再</a:t>
            </a:r>
            <a:r>
              <a:rPr lang="zh-CN" altLang="en-US" sz="2000" dirty="0"/>
              <a:t>候选框，</a:t>
            </a:r>
            <a:r>
              <a:rPr lang="en-US" altLang="zh-CN" sz="2000" dirty="0" err="1">
                <a:solidFill>
                  <a:schemeClr val="accent5">
                    <a:lumMod val="75000"/>
                  </a:schemeClr>
                </a:solidFill>
              </a:rPr>
              <a:t>RoI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 Pooling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D3515C9-C4B4-481D-4024-6FA1D0E0AEDC}"/>
              </a:ext>
            </a:extLst>
          </p:cNvPr>
          <p:cNvSpPr txBox="1"/>
          <p:nvPr/>
        </p:nvSpPr>
        <p:spPr>
          <a:xfrm>
            <a:off x="5158082" y="2843250"/>
            <a:ext cx="61583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RPN</a:t>
            </a:r>
            <a:r>
              <a:rPr lang="zh-CN" altLang="en-US" sz="2000" dirty="0"/>
              <a:t>候选框</a:t>
            </a:r>
            <a:endParaRPr lang="en-US" altLang="zh-CN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D0BD8B2-DA5F-0585-CF29-61DF0EF5DBDC}"/>
              </a:ext>
            </a:extLst>
          </p:cNvPr>
          <p:cNvSpPr txBox="1"/>
          <p:nvPr/>
        </p:nvSpPr>
        <p:spPr>
          <a:xfrm>
            <a:off x="5158082" y="3864455"/>
            <a:ext cx="61583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多通道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</a:rPr>
              <a:t>位置信息，共享一切信息</a:t>
            </a:r>
            <a:endParaRPr lang="en-US" altLang="zh-CN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4E75555-1280-9472-85C0-FE5A8D7B1314}"/>
              </a:ext>
            </a:extLst>
          </p:cNvPr>
          <p:cNvSpPr txBox="1"/>
          <p:nvPr/>
        </p:nvSpPr>
        <p:spPr>
          <a:xfrm>
            <a:off x="5158082" y="4885660"/>
            <a:ext cx="61583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</a:rPr>
              <a:t>逐级</a:t>
            </a:r>
            <a:r>
              <a:rPr lang="zh-CN" altLang="en-US" sz="2000" dirty="0"/>
              <a:t>精确获取候选框</a:t>
            </a:r>
            <a:endParaRPr lang="en-US" altLang="zh-CN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288C9CA-4576-CA5F-0C2E-CD481531D9B6}"/>
              </a:ext>
            </a:extLst>
          </p:cNvPr>
          <p:cNvSpPr txBox="1"/>
          <p:nvPr/>
        </p:nvSpPr>
        <p:spPr>
          <a:xfrm>
            <a:off x="2015979" y="877784"/>
            <a:ext cx="14299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R-CNN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372A49-B937-E42E-09C0-66BACB397A6B}"/>
              </a:ext>
            </a:extLst>
          </p:cNvPr>
          <p:cNvSpPr txBox="1"/>
          <p:nvPr/>
        </p:nvSpPr>
        <p:spPr>
          <a:xfrm>
            <a:off x="1973021" y="1860517"/>
            <a:ext cx="251203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Fast R-CNN</a:t>
            </a:r>
            <a:endParaRPr lang="zh-CN" altLang="en-US" sz="2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1E1DC4-5C86-D11C-737D-D1A7B146D314}"/>
              </a:ext>
            </a:extLst>
          </p:cNvPr>
          <p:cNvSpPr txBox="1"/>
          <p:nvPr/>
        </p:nvSpPr>
        <p:spPr>
          <a:xfrm>
            <a:off x="1973022" y="2843250"/>
            <a:ext cx="251203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Faster R-CNN</a:t>
            </a:r>
            <a:endParaRPr lang="zh-CN" altLang="en-US" sz="28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8786698-8C03-0E1F-BADF-39EDD1E4E08C}"/>
              </a:ext>
            </a:extLst>
          </p:cNvPr>
          <p:cNvSpPr txBox="1"/>
          <p:nvPr/>
        </p:nvSpPr>
        <p:spPr>
          <a:xfrm>
            <a:off x="1973021" y="3825983"/>
            <a:ext cx="251203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RFCN</a:t>
            </a:r>
            <a:endParaRPr lang="zh-CN" altLang="en-US" sz="2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25CA2ED-6DEB-CEC2-64EC-92F78EC58C75}"/>
              </a:ext>
            </a:extLst>
          </p:cNvPr>
          <p:cNvSpPr txBox="1"/>
          <p:nvPr/>
        </p:nvSpPr>
        <p:spPr>
          <a:xfrm>
            <a:off x="1973021" y="4808716"/>
            <a:ext cx="28505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Cascade R-CNN</a:t>
            </a:r>
            <a:endParaRPr lang="zh-CN" altLang="en-US" sz="2800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E56BF37-0B41-839C-087A-E6469EB72CC6}"/>
              </a:ext>
            </a:extLst>
          </p:cNvPr>
          <p:cNvCxnSpPr>
            <a:cxnSpLocks/>
          </p:cNvCxnSpPr>
          <p:nvPr/>
        </p:nvCxnSpPr>
        <p:spPr>
          <a:xfrm>
            <a:off x="1638555" y="883099"/>
            <a:ext cx="0" cy="46579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30434869-5557-710D-14AF-21EC3D48A90A}"/>
              </a:ext>
            </a:extLst>
          </p:cNvPr>
          <p:cNvSpPr txBox="1"/>
          <p:nvPr/>
        </p:nvSpPr>
        <p:spPr>
          <a:xfrm>
            <a:off x="1113291" y="1488478"/>
            <a:ext cx="461665" cy="358184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/>
              <a:t>处理时间更短</a:t>
            </a:r>
            <a:r>
              <a:rPr lang="en-US" altLang="zh-CN" dirty="0"/>
              <a:t>	</a:t>
            </a:r>
            <a:r>
              <a:rPr lang="zh-CN" altLang="en-US" dirty="0"/>
              <a:t>识别精度更高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1C1A37-667F-4587-94EC-C33EE8AC95AC}"/>
              </a:ext>
            </a:extLst>
          </p:cNvPr>
          <p:cNvSpPr txBox="1"/>
          <p:nvPr/>
        </p:nvSpPr>
        <p:spPr>
          <a:xfrm>
            <a:off x="876053" y="5661974"/>
            <a:ext cx="18671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More 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Elegant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010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F0B5B15A-9170-638B-5D5E-97E4A56B6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23" y="3099142"/>
            <a:ext cx="7647190" cy="229610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778655E-7412-1467-4F2F-82340B206DB0}"/>
              </a:ext>
            </a:extLst>
          </p:cNvPr>
          <p:cNvSpPr txBox="1"/>
          <p:nvPr/>
        </p:nvSpPr>
        <p:spPr>
          <a:xfrm>
            <a:off x="395834" y="262004"/>
            <a:ext cx="14299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R-CNN</a:t>
            </a:r>
            <a:endParaRPr lang="zh-CN" altLang="en-US" sz="2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7E2D583-4844-8C72-03A1-C53275657169}"/>
              </a:ext>
            </a:extLst>
          </p:cNvPr>
          <p:cNvSpPr txBox="1"/>
          <p:nvPr/>
        </p:nvSpPr>
        <p:spPr>
          <a:xfrm>
            <a:off x="395834" y="1179707"/>
            <a:ext cx="19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Region Proposal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B28D30E-78DB-5ECA-D5F9-808C392E38A9}"/>
              </a:ext>
            </a:extLst>
          </p:cNvPr>
          <p:cNvSpPr txBox="1"/>
          <p:nvPr/>
        </p:nvSpPr>
        <p:spPr>
          <a:xfrm>
            <a:off x="3338477" y="1179707"/>
            <a:ext cx="2080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Feature Extraction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15F451-6C68-B560-BF7F-231D8BC845B0}"/>
              </a:ext>
            </a:extLst>
          </p:cNvPr>
          <p:cNvSpPr txBox="1"/>
          <p:nvPr/>
        </p:nvSpPr>
        <p:spPr>
          <a:xfrm>
            <a:off x="6362952" y="1179707"/>
            <a:ext cx="160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Classification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63F43C9-B98D-927A-4703-0173AF3626FB}"/>
              </a:ext>
            </a:extLst>
          </p:cNvPr>
          <p:cNvSpPr txBox="1"/>
          <p:nvPr/>
        </p:nvSpPr>
        <p:spPr>
          <a:xfrm>
            <a:off x="8922045" y="1179707"/>
            <a:ext cx="2942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Bounding-box Regression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8338B1D-BF7F-9D3C-22C7-889A38D93414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394419" y="1364373"/>
            <a:ext cx="9440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EAE069F-0B3A-6649-DD4A-E5F24EB7CCB1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418894" y="1364373"/>
            <a:ext cx="9440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6D8610F1-5A44-AE33-1088-BFADE282050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965713" y="1364373"/>
            <a:ext cx="9563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D60E5E2A-8168-62E4-D11F-74AD733FC579}"/>
              </a:ext>
            </a:extLst>
          </p:cNvPr>
          <p:cNvSpPr txBox="1"/>
          <p:nvPr/>
        </p:nvSpPr>
        <p:spPr>
          <a:xfrm>
            <a:off x="1825734" y="369726"/>
            <a:ext cx="9911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Pipeline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F5C6C47-BBBF-4D8E-C90E-2AF1752BDB26}"/>
              </a:ext>
            </a:extLst>
          </p:cNvPr>
          <p:cNvSpPr txBox="1"/>
          <p:nvPr/>
        </p:nvSpPr>
        <p:spPr>
          <a:xfrm>
            <a:off x="461306" y="1693162"/>
            <a:ext cx="1998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Selective Search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D48F984-A5DE-7307-124C-56BE6FF31145}"/>
              </a:ext>
            </a:extLst>
          </p:cNvPr>
          <p:cNvSpPr txBox="1"/>
          <p:nvPr/>
        </p:nvSpPr>
        <p:spPr>
          <a:xfrm>
            <a:off x="3957293" y="1701003"/>
            <a:ext cx="1998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CNN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9453BED-EA12-9059-B754-79902F873F96}"/>
              </a:ext>
            </a:extLst>
          </p:cNvPr>
          <p:cNvSpPr txBox="1"/>
          <p:nvPr/>
        </p:nvSpPr>
        <p:spPr>
          <a:xfrm>
            <a:off x="6841631" y="1701003"/>
            <a:ext cx="1998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SVM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C0C6F8B-FC49-1B5B-2BA6-80228A5A2B47}"/>
              </a:ext>
            </a:extLst>
          </p:cNvPr>
          <p:cNvSpPr txBox="1"/>
          <p:nvPr/>
        </p:nvSpPr>
        <p:spPr>
          <a:xfrm>
            <a:off x="9394074" y="1701003"/>
            <a:ext cx="1998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Linear Regression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B85BAB4-B663-799A-9DD0-9B2D4A72307B}"/>
              </a:ext>
            </a:extLst>
          </p:cNvPr>
          <p:cNvSpPr/>
          <p:nvPr/>
        </p:nvSpPr>
        <p:spPr>
          <a:xfrm>
            <a:off x="378179" y="2822998"/>
            <a:ext cx="3086866" cy="27614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946BCF4-DAE7-FF70-3716-6066AF455631}"/>
              </a:ext>
            </a:extLst>
          </p:cNvPr>
          <p:cNvSpPr/>
          <p:nvPr/>
        </p:nvSpPr>
        <p:spPr>
          <a:xfrm>
            <a:off x="3524701" y="2815384"/>
            <a:ext cx="2802191" cy="283759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77A7EB7-E7FA-BD53-2670-200843DFCF91}"/>
              </a:ext>
            </a:extLst>
          </p:cNvPr>
          <p:cNvSpPr/>
          <p:nvPr/>
        </p:nvSpPr>
        <p:spPr>
          <a:xfrm>
            <a:off x="6443890" y="2815385"/>
            <a:ext cx="1521823" cy="28375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60255798-E3EC-5C59-FE58-0B7BA27E01B7}"/>
              </a:ext>
            </a:extLst>
          </p:cNvPr>
          <p:cNvCxnSpPr/>
          <p:nvPr/>
        </p:nvCxnSpPr>
        <p:spPr>
          <a:xfrm>
            <a:off x="8035688" y="3896939"/>
            <a:ext cx="58811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8FCC8E06-6266-16F7-7655-3A5ECF455A11}"/>
              </a:ext>
            </a:extLst>
          </p:cNvPr>
          <p:cNvSpPr txBox="1"/>
          <p:nvPr/>
        </p:nvSpPr>
        <p:spPr>
          <a:xfrm>
            <a:off x="8625287" y="3712273"/>
            <a:ext cx="138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精修边界框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4BBE6D-C575-25A7-4549-EF3DC0CDA4FC}"/>
              </a:ext>
            </a:extLst>
          </p:cNvPr>
          <p:cNvSpPr/>
          <p:nvPr/>
        </p:nvSpPr>
        <p:spPr>
          <a:xfrm>
            <a:off x="7007929" y="2488841"/>
            <a:ext cx="2942642" cy="28375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49D6A7-98C6-E58E-38F6-4DE40B41E25B}"/>
              </a:ext>
            </a:extLst>
          </p:cNvPr>
          <p:cNvSpPr/>
          <p:nvPr/>
        </p:nvSpPr>
        <p:spPr>
          <a:xfrm>
            <a:off x="3444594" y="3171636"/>
            <a:ext cx="1511991" cy="283759"/>
          </a:xfrm>
          <a:prstGeom prst="rect">
            <a:avLst/>
          </a:prstGeom>
          <a:noFill/>
          <a:ln w="9525" cap="flat" cmpd="sng" algn="ctr">
            <a:solidFill>
              <a:schemeClr val="accent5">
                <a:lumMod val="75000"/>
              </a:schemeClr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350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1C51E4F-A009-63B1-492D-A30C2AE9CA75}"/>
              </a:ext>
            </a:extLst>
          </p:cNvPr>
          <p:cNvSpPr txBox="1"/>
          <p:nvPr/>
        </p:nvSpPr>
        <p:spPr>
          <a:xfrm>
            <a:off x="395834" y="262004"/>
            <a:ext cx="14299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R-CNN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F143B9-BE5E-A647-9CBC-301B0F6477A5}"/>
              </a:ext>
            </a:extLst>
          </p:cNvPr>
          <p:cNvSpPr txBox="1"/>
          <p:nvPr/>
        </p:nvSpPr>
        <p:spPr>
          <a:xfrm>
            <a:off x="1825734" y="369726"/>
            <a:ext cx="18993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Region Proposal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5EAD36-7E59-1BA9-117E-594BE7682764}"/>
              </a:ext>
            </a:extLst>
          </p:cNvPr>
          <p:cNvSpPr txBox="1"/>
          <p:nvPr/>
        </p:nvSpPr>
        <p:spPr>
          <a:xfrm>
            <a:off x="579939" y="1987732"/>
            <a:ext cx="1998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Selective Search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6F1CDE-78AB-D97B-0179-9091D9CF0B18}"/>
              </a:ext>
            </a:extLst>
          </p:cNvPr>
          <p:cNvSpPr txBox="1"/>
          <p:nvPr/>
        </p:nvSpPr>
        <p:spPr>
          <a:xfrm>
            <a:off x="579938" y="1496780"/>
            <a:ext cx="3660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RPN (Region Proposal Network)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E2D478-E88C-A104-6ADC-2F1FA1104B61}"/>
              </a:ext>
            </a:extLst>
          </p:cNvPr>
          <p:cNvSpPr txBox="1"/>
          <p:nvPr/>
        </p:nvSpPr>
        <p:spPr>
          <a:xfrm>
            <a:off x="579938" y="971725"/>
            <a:ext cx="3660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Anchor Free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D0F224F-D6EF-E192-216F-66648A0A1C21}"/>
              </a:ext>
            </a:extLst>
          </p:cNvPr>
          <p:cNvCxnSpPr>
            <a:cxnSpLocks/>
          </p:cNvCxnSpPr>
          <p:nvPr/>
        </p:nvCxnSpPr>
        <p:spPr>
          <a:xfrm flipV="1">
            <a:off x="395834" y="971725"/>
            <a:ext cx="0" cy="13422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716BB01A-AF15-E8F0-2122-40DDFB00F976}"/>
              </a:ext>
            </a:extLst>
          </p:cNvPr>
          <p:cNvSpPr txBox="1"/>
          <p:nvPr/>
        </p:nvSpPr>
        <p:spPr>
          <a:xfrm>
            <a:off x="3856029" y="1496780"/>
            <a:ext cx="57482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基于</a:t>
            </a:r>
            <a:r>
              <a:rPr lang="en-US" altLang="zh-CN" sz="1600" dirty="0"/>
              <a:t>Anchor</a:t>
            </a:r>
            <a:r>
              <a:rPr lang="zh-CN" altLang="en-US" sz="1600" dirty="0"/>
              <a:t>得到固定的先验框，然后使用回归精修这些框</a:t>
            </a:r>
            <a:endParaRPr lang="en-US" altLang="zh-CN" sz="16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AC97AFD-4273-5B7E-FBAA-00C366AF5373}"/>
              </a:ext>
            </a:extLst>
          </p:cNvPr>
          <p:cNvSpPr txBox="1"/>
          <p:nvPr/>
        </p:nvSpPr>
        <p:spPr>
          <a:xfrm>
            <a:off x="3856028" y="971725"/>
            <a:ext cx="6104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Anchor Based</a:t>
            </a:r>
            <a:r>
              <a:rPr lang="zh-CN" altLang="en-US" sz="1600" dirty="0"/>
              <a:t>先验框方法不是端到端，有冗余，对目标尺寸局限</a:t>
            </a:r>
            <a:endParaRPr lang="en-US" altLang="zh-CN" sz="16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38711EF-45BC-F584-4B41-EBC64717E028}"/>
              </a:ext>
            </a:extLst>
          </p:cNvPr>
          <p:cNvSpPr txBox="1"/>
          <p:nvPr/>
        </p:nvSpPr>
        <p:spPr>
          <a:xfrm>
            <a:off x="2271679" y="2760331"/>
            <a:ext cx="3824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/>
            </a:lvl1pPr>
          </a:lstStyle>
          <a:p>
            <a:r>
              <a:rPr lang="en-US" altLang="zh-CN" sz="1400" dirty="0"/>
              <a:t>Efficient Graph-Based Image Segmentation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B4C8AA7-D2C7-9E41-AAB0-02E7F522047C}"/>
              </a:ext>
            </a:extLst>
          </p:cNvPr>
          <p:cNvSpPr txBox="1"/>
          <p:nvPr/>
        </p:nvSpPr>
        <p:spPr>
          <a:xfrm>
            <a:off x="468708" y="2760330"/>
            <a:ext cx="1429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初始分割区域</a:t>
            </a:r>
            <a:endParaRPr lang="en-US" altLang="zh-CN" sz="1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EE3BAA5-C70C-96E0-1374-39335F710550}"/>
              </a:ext>
            </a:extLst>
          </p:cNvPr>
          <p:cNvSpPr txBox="1"/>
          <p:nvPr/>
        </p:nvSpPr>
        <p:spPr>
          <a:xfrm>
            <a:off x="579938" y="3926262"/>
            <a:ext cx="1207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计算相似度</a:t>
            </a:r>
            <a:endParaRPr lang="en-US" altLang="zh-CN" sz="16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5A2A138-DD6F-95DD-93B2-B7BBC2B2EAFD}"/>
              </a:ext>
            </a:extLst>
          </p:cNvPr>
          <p:cNvSpPr txBox="1"/>
          <p:nvPr/>
        </p:nvSpPr>
        <p:spPr>
          <a:xfrm>
            <a:off x="468708" y="5092194"/>
            <a:ext cx="1429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按相似度合并</a:t>
            </a:r>
            <a:endParaRPr lang="en-US" altLang="zh-CN" sz="16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458E7B7-1C48-C262-8895-C5E024B90E8D}"/>
              </a:ext>
            </a:extLst>
          </p:cNvPr>
          <p:cNvSpPr txBox="1"/>
          <p:nvPr/>
        </p:nvSpPr>
        <p:spPr>
          <a:xfrm>
            <a:off x="468708" y="6137270"/>
            <a:ext cx="1429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输出所有</a:t>
            </a:r>
            <a:r>
              <a:rPr lang="en-US" altLang="zh-CN" sz="1600" dirty="0"/>
              <a:t>Box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CA91752-776C-AF06-2BEC-51D63EDC9B9B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1183658" y="3098884"/>
            <a:ext cx="0" cy="8273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BF44917-8D29-0328-A97A-FDEB8822550F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183658" y="4264816"/>
            <a:ext cx="0" cy="8273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5D6F9C65-11BA-4773-3F38-BFC214281D79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1183658" y="5430748"/>
            <a:ext cx="0" cy="7065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C985824C-51EB-E8C5-7481-E273A7CA8E48}"/>
              </a:ext>
            </a:extLst>
          </p:cNvPr>
          <p:cNvSpPr txBox="1"/>
          <p:nvPr/>
        </p:nvSpPr>
        <p:spPr>
          <a:xfrm>
            <a:off x="5983488" y="2760330"/>
            <a:ext cx="170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/>
            </a:lvl1pPr>
          </a:lstStyle>
          <a:p>
            <a:r>
              <a:rPr lang="zh-CN" altLang="en-US" sz="1400" dirty="0"/>
              <a:t>基于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图</a:t>
            </a:r>
            <a:r>
              <a:rPr lang="zh-CN" altLang="en-US" sz="1400" dirty="0"/>
              <a:t>的图像分割</a:t>
            </a:r>
            <a:endParaRPr lang="en-US" altLang="zh-CN" sz="14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9B80B41-023C-76E1-682D-B78FBB33693C}"/>
              </a:ext>
            </a:extLst>
          </p:cNvPr>
          <p:cNvSpPr txBox="1"/>
          <p:nvPr/>
        </p:nvSpPr>
        <p:spPr>
          <a:xfrm>
            <a:off x="2271679" y="3098885"/>
            <a:ext cx="9290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/>
            </a:lvl1pPr>
          </a:lstStyle>
          <a:p>
            <a:r>
              <a:rPr lang="zh-CN" altLang="en-US" sz="1400" dirty="0"/>
              <a:t>将图像抽象成图数据结构，根据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边的权值</a:t>
            </a:r>
            <a:r>
              <a:rPr lang="zh-CN" altLang="en-US" sz="1400" dirty="0"/>
              <a:t>按照自适应阈值（越合并，对相似性兼容越严格）构建最小生成树</a:t>
            </a:r>
            <a:endParaRPr lang="en-US" altLang="zh-CN" sz="14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641527A-40D4-0915-7C28-B7EA73D11D11}"/>
              </a:ext>
            </a:extLst>
          </p:cNvPr>
          <p:cNvSpPr txBox="1"/>
          <p:nvPr/>
        </p:nvSpPr>
        <p:spPr>
          <a:xfrm>
            <a:off x="4743834" y="3381776"/>
            <a:ext cx="5216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/>
            </a:lvl1pPr>
          </a:lstStyle>
          <a:p>
            <a:r>
              <a:rPr lang="zh-CN" altLang="en-US" sz="1400" dirty="0"/>
              <a:t>边的权值指的是两个像素间的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相似性（本文中使用</a:t>
            </a:r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</a:rPr>
              <a:t>RGB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相似性）</a:t>
            </a:r>
            <a:endParaRPr lang="en-US" altLang="zh-CN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FECD7AF7-4AFF-ECD8-54EA-6B48C668EF5B}"/>
              </a:ext>
            </a:extLst>
          </p:cNvPr>
          <p:cNvCxnSpPr/>
          <p:nvPr/>
        </p:nvCxnSpPr>
        <p:spPr>
          <a:xfrm>
            <a:off x="2271679" y="3976719"/>
            <a:ext cx="9026377" cy="0"/>
          </a:xfrm>
          <a:prstGeom prst="line">
            <a:avLst/>
          </a:prstGeom>
          <a:ln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9136DB40-321B-74AB-F207-18BC70DAB5AB}"/>
              </a:ext>
            </a:extLst>
          </p:cNvPr>
          <p:cNvSpPr txBox="1"/>
          <p:nvPr/>
        </p:nvSpPr>
        <p:spPr>
          <a:xfrm>
            <a:off x="2271678" y="4095539"/>
            <a:ext cx="38243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/>
            </a:lvl1pPr>
          </a:lstStyle>
          <a:p>
            <a:r>
              <a:rPr lang="zh-CN" altLang="en-US" sz="1400" dirty="0"/>
              <a:t>对上一步初步分割出来的区域计算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相似度</a:t>
            </a:r>
            <a:endParaRPr lang="en-US" altLang="zh-CN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FF641AD-166C-E73B-7DDA-AF0E2F17155B}"/>
              </a:ext>
            </a:extLst>
          </p:cNvPr>
          <p:cNvSpPr txBox="1"/>
          <p:nvPr/>
        </p:nvSpPr>
        <p:spPr>
          <a:xfrm>
            <a:off x="5977351" y="4095538"/>
            <a:ext cx="2890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/>
            </a:lvl1pPr>
          </a:lstStyle>
          <a:p>
            <a:r>
              <a:rPr lang="zh-CN" altLang="en-US" sz="1400" dirty="0"/>
              <a:t>颜色，纹理，尺度，填充相似度</a:t>
            </a:r>
            <a:endParaRPr lang="en-US" altLang="zh-CN" sz="1400" dirty="0"/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1B7D27DE-F5C9-B893-0AC5-D8477F6158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899"/>
          <a:stretch>
            <a:fillRect/>
          </a:stretch>
        </p:blipFill>
        <p:spPr>
          <a:xfrm>
            <a:off x="2363989" y="4546777"/>
            <a:ext cx="2984077" cy="1129895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ACDD67B2-4687-F8EF-DD05-343FCAD856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823"/>
          <a:stretch>
            <a:fillRect/>
          </a:stretch>
        </p:blipFill>
        <p:spPr>
          <a:xfrm>
            <a:off x="5313039" y="4558535"/>
            <a:ext cx="2943656" cy="112989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293E9EEC-2C70-E734-5F0B-A1DD8C0E9044}"/>
              </a:ext>
            </a:extLst>
          </p:cNvPr>
          <p:cNvSpPr txBox="1"/>
          <p:nvPr/>
        </p:nvSpPr>
        <p:spPr>
          <a:xfrm>
            <a:off x="2271678" y="5901231"/>
            <a:ext cx="5417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/>
            </a:lvl1pPr>
          </a:lstStyle>
          <a:p>
            <a:r>
              <a:rPr lang="zh-CN" altLang="en-US" sz="1400" dirty="0"/>
              <a:t>按照相邻区域的相似度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逐步合并</a:t>
            </a:r>
            <a:r>
              <a:rPr lang="zh-CN" altLang="en-US" sz="1400" dirty="0"/>
              <a:t>，直到所有区域都合并成一个区域</a:t>
            </a:r>
            <a:endParaRPr lang="en-US" altLang="zh-CN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A3B45A4-190C-55EE-1306-8B299CDEB445}"/>
              </a:ext>
            </a:extLst>
          </p:cNvPr>
          <p:cNvSpPr txBox="1"/>
          <p:nvPr/>
        </p:nvSpPr>
        <p:spPr>
          <a:xfrm>
            <a:off x="2271678" y="6209008"/>
            <a:ext cx="5417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/>
            </a:lvl1pPr>
          </a:lstStyle>
          <a:p>
            <a:r>
              <a:rPr lang="zh-CN" altLang="en-US" sz="1400" dirty="0"/>
              <a:t>此时输出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所有存在过</a:t>
            </a:r>
            <a:r>
              <a:rPr lang="zh-CN" altLang="en-US" sz="1400" dirty="0"/>
              <a:t>的区域</a:t>
            </a:r>
            <a:endParaRPr lang="en-US" altLang="zh-CN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F97CEF4-B129-4AD6-EB71-4BB210AA1078}"/>
              </a:ext>
            </a:extLst>
          </p:cNvPr>
          <p:cNvSpPr/>
          <p:nvPr/>
        </p:nvSpPr>
        <p:spPr>
          <a:xfrm>
            <a:off x="8637960" y="5450901"/>
            <a:ext cx="245477" cy="236039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68A0C36-6D61-F4E0-4777-383817B668FF}"/>
              </a:ext>
            </a:extLst>
          </p:cNvPr>
          <p:cNvSpPr/>
          <p:nvPr/>
        </p:nvSpPr>
        <p:spPr>
          <a:xfrm>
            <a:off x="8883437" y="5450901"/>
            <a:ext cx="245477" cy="236039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AF4486C-9A0F-27AC-75EF-51FBE1F1C0DA}"/>
              </a:ext>
            </a:extLst>
          </p:cNvPr>
          <p:cNvSpPr/>
          <p:nvPr/>
        </p:nvSpPr>
        <p:spPr>
          <a:xfrm>
            <a:off x="8637961" y="5686940"/>
            <a:ext cx="245477" cy="23603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081F4D7-9872-9263-3911-06988414DB60}"/>
              </a:ext>
            </a:extLst>
          </p:cNvPr>
          <p:cNvSpPr/>
          <p:nvPr/>
        </p:nvSpPr>
        <p:spPr>
          <a:xfrm>
            <a:off x="8883437" y="5686940"/>
            <a:ext cx="245477" cy="23603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FE47CA91-0E88-F420-ABCA-B77D51F1F434}"/>
              </a:ext>
            </a:extLst>
          </p:cNvPr>
          <p:cNvCxnSpPr/>
          <p:nvPr/>
        </p:nvCxnSpPr>
        <p:spPr>
          <a:xfrm>
            <a:off x="9251397" y="568694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EEEC0153-D5F4-0C71-899F-D37BA980110A}"/>
              </a:ext>
            </a:extLst>
          </p:cNvPr>
          <p:cNvSpPr/>
          <p:nvPr/>
        </p:nvSpPr>
        <p:spPr>
          <a:xfrm>
            <a:off x="9810108" y="5458730"/>
            <a:ext cx="245477" cy="236039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17EE961-BC46-DC7D-11B8-7237F98AC14E}"/>
              </a:ext>
            </a:extLst>
          </p:cNvPr>
          <p:cNvSpPr/>
          <p:nvPr/>
        </p:nvSpPr>
        <p:spPr>
          <a:xfrm>
            <a:off x="10055585" y="5458730"/>
            <a:ext cx="245477" cy="23603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44F945F-72F9-3A8E-2316-588C10D33B75}"/>
              </a:ext>
            </a:extLst>
          </p:cNvPr>
          <p:cNvSpPr/>
          <p:nvPr/>
        </p:nvSpPr>
        <p:spPr>
          <a:xfrm>
            <a:off x="9810109" y="5694769"/>
            <a:ext cx="245477" cy="236039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3C0595CF-D5AD-1521-EFA7-D3E9AC5387DC}"/>
              </a:ext>
            </a:extLst>
          </p:cNvPr>
          <p:cNvSpPr/>
          <p:nvPr/>
        </p:nvSpPr>
        <p:spPr>
          <a:xfrm>
            <a:off x="10055585" y="5694769"/>
            <a:ext cx="245477" cy="23603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8E7B7151-9D49-674E-B754-5582F090AD43}"/>
              </a:ext>
            </a:extLst>
          </p:cNvPr>
          <p:cNvCxnSpPr/>
          <p:nvPr/>
        </p:nvCxnSpPr>
        <p:spPr>
          <a:xfrm>
            <a:off x="10489647" y="568694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FA4517F9-89F5-0B2D-FCE6-93206C6D2CC9}"/>
              </a:ext>
            </a:extLst>
          </p:cNvPr>
          <p:cNvSpPr/>
          <p:nvPr/>
        </p:nvSpPr>
        <p:spPr>
          <a:xfrm>
            <a:off x="11091446" y="5458730"/>
            <a:ext cx="245477" cy="2360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C6F92AB9-6BF6-E36A-F202-BE106F8AE7AC}"/>
              </a:ext>
            </a:extLst>
          </p:cNvPr>
          <p:cNvSpPr/>
          <p:nvPr/>
        </p:nvSpPr>
        <p:spPr>
          <a:xfrm>
            <a:off x="11336923" y="5458730"/>
            <a:ext cx="245477" cy="2360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8165F3A-5CAA-6A26-CCD7-F24419D79B9B}"/>
              </a:ext>
            </a:extLst>
          </p:cNvPr>
          <p:cNvSpPr/>
          <p:nvPr/>
        </p:nvSpPr>
        <p:spPr>
          <a:xfrm>
            <a:off x="11091447" y="5694769"/>
            <a:ext cx="245477" cy="2360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C51B29B-8E84-305D-479E-3DC7D14A343F}"/>
              </a:ext>
            </a:extLst>
          </p:cNvPr>
          <p:cNvSpPr/>
          <p:nvPr/>
        </p:nvSpPr>
        <p:spPr>
          <a:xfrm>
            <a:off x="11336923" y="5694769"/>
            <a:ext cx="245477" cy="2360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AE752BD-912B-6217-7828-B4A706BE4F4E}"/>
              </a:ext>
            </a:extLst>
          </p:cNvPr>
          <p:cNvSpPr/>
          <p:nvPr/>
        </p:nvSpPr>
        <p:spPr>
          <a:xfrm>
            <a:off x="8622362" y="6090988"/>
            <a:ext cx="245477" cy="236039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3D424633-24AF-824C-A5A1-297BD94C734B}"/>
              </a:ext>
            </a:extLst>
          </p:cNvPr>
          <p:cNvSpPr/>
          <p:nvPr/>
        </p:nvSpPr>
        <p:spPr>
          <a:xfrm>
            <a:off x="8903861" y="6090987"/>
            <a:ext cx="245477" cy="236039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E7519FB-38FB-9DEC-92C1-FECA45F10EF6}"/>
              </a:ext>
            </a:extLst>
          </p:cNvPr>
          <p:cNvSpPr/>
          <p:nvPr/>
        </p:nvSpPr>
        <p:spPr>
          <a:xfrm>
            <a:off x="8622361" y="6377016"/>
            <a:ext cx="245477" cy="23603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2D68303-3EEE-EE15-3CAF-322CDAB7E2C6}"/>
              </a:ext>
            </a:extLst>
          </p:cNvPr>
          <p:cNvSpPr/>
          <p:nvPr/>
        </p:nvSpPr>
        <p:spPr>
          <a:xfrm>
            <a:off x="8906530" y="6377014"/>
            <a:ext cx="245477" cy="23603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AEDE0C27-811A-C173-6972-761AF5E13858}"/>
              </a:ext>
            </a:extLst>
          </p:cNvPr>
          <p:cNvSpPr/>
          <p:nvPr/>
        </p:nvSpPr>
        <p:spPr>
          <a:xfrm>
            <a:off x="9797582" y="6090988"/>
            <a:ext cx="245477" cy="236039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A1B8AC8-8D66-8802-8400-AECD9F377998}"/>
              </a:ext>
            </a:extLst>
          </p:cNvPr>
          <p:cNvSpPr/>
          <p:nvPr/>
        </p:nvSpPr>
        <p:spPr>
          <a:xfrm>
            <a:off x="10082147" y="6090988"/>
            <a:ext cx="245477" cy="23603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BB11843-FB32-82A7-AF95-FBE3427C5785}"/>
              </a:ext>
            </a:extLst>
          </p:cNvPr>
          <p:cNvSpPr/>
          <p:nvPr/>
        </p:nvSpPr>
        <p:spPr>
          <a:xfrm>
            <a:off x="9797583" y="6327027"/>
            <a:ext cx="245477" cy="236039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017371C6-A152-B597-C883-84006AF3FBC6}"/>
              </a:ext>
            </a:extLst>
          </p:cNvPr>
          <p:cNvSpPr/>
          <p:nvPr/>
        </p:nvSpPr>
        <p:spPr>
          <a:xfrm>
            <a:off x="10082147" y="6327027"/>
            <a:ext cx="245477" cy="23603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303BD242-E018-DD79-CF16-0CEF246F8B47}"/>
              </a:ext>
            </a:extLst>
          </p:cNvPr>
          <p:cNvSpPr/>
          <p:nvPr/>
        </p:nvSpPr>
        <p:spPr>
          <a:xfrm>
            <a:off x="11128267" y="6110684"/>
            <a:ext cx="245477" cy="2360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0E416C3-2476-8A13-CCE2-1F88611192E1}"/>
              </a:ext>
            </a:extLst>
          </p:cNvPr>
          <p:cNvSpPr/>
          <p:nvPr/>
        </p:nvSpPr>
        <p:spPr>
          <a:xfrm>
            <a:off x="11373744" y="6110684"/>
            <a:ext cx="245477" cy="2360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3E07A60D-0C0D-0054-67E3-07D63D362349}"/>
              </a:ext>
            </a:extLst>
          </p:cNvPr>
          <p:cNvSpPr/>
          <p:nvPr/>
        </p:nvSpPr>
        <p:spPr>
          <a:xfrm>
            <a:off x="11128268" y="6346723"/>
            <a:ext cx="245477" cy="2360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204FBDB-BDF4-0B54-C597-2C28D7E2EC71}"/>
              </a:ext>
            </a:extLst>
          </p:cNvPr>
          <p:cNvSpPr/>
          <p:nvPr/>
        </p:nvSpPr>
        <p:spPr>
          <a:xfrm>
            <a:off x="11373744" y="6346723"/>
            <a:ext cx="245477" cy="2360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加号 76">
            <a:extLst>
              <a:ext uri="{FF2B5EF4-FFF2-40B4-BE49-F238E27FC236}">
                <a16:creationId xmlns:a16="http://schemas.microsoft.com/office/drawing/2014/main" id="{93685FE8-85D9-4841-C825-C496F4ACDF15}"/>
              </a:ext>
            </a:extLst>
          </p:cNvPr>
          <p:cNvSpPr/>
          <p:nvPr/>
        </p:nvSpPr>
        <p:spPr>
          <a:xfrm>
            <a:off x="9348788" y="6209006"/>
            <a:ext cx="245477" cy="236038"/>
          </a:xfrm>
          <a:prstGeom prst="mathPl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加号 77">
            <a:extLst>
              <a:ext uri="{FF2B5EF4-FFF2-40B4-BE49-F238E27FC236}">
                <a16:creationId xmlns:a16="http://schemas.microsoft.com/office/drawing/2014/main" id="{69152EA2-D5B7-A4BB-AF77-8824E1892AF5}"/>
              </a:ext>
            </a:extLst>
          </p:cNvPr>
          <p:cNvSpPr/>
          <p:nvPr/>
        </p:nvSpPr>
        <p:spPr>
          <a:xfrm>
            <a:off x="10600492" y="6239786"/>
            <a:ext cx="245477" cy="236038"/>
          </a:xfrm>
          <a:prstGeom prst="mathPl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449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5" grpId="0"/>
      <p:bldP spid="36" grpId="0"/>
      <p:bldP spid="37" grpId="0"/>
      <p:bldP spid="41" grpId="0"/>
      <p:bldP spid="42" grpId="0"/>
      <p:bldP spid="48" grpId="0"/>
      <p:bldP spid="49" grpId="0"/>
      <p:bldP spid="50" grpId="0" animBg="1"/>
      <p:bldP spid="51" grpId="0" animBg="1"/>
      <p:bldP spid="52" grpId="0" animBg="1"/>
      <p:bldP spid="53" grpId="0" animBg="1"/>
      <p:bldP spid="56" grpId="0" animBg="1"/>
      <p:bldP spid="57" grpId="0" animBg="1"/>
      <p:bldP spid="58" grpId="0" animBg="1"/>
      <p:bldP spid="59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839576EB-BA48-ED4B-3C3D-AE7DBF6CF0F9}"/>
              </a:ext>
            </a:extLst>
          </p:cNvPr>
          <p:cNvSpPr/>
          <p:nvPr/>
        </p:nvSpPr>
        <p:spPr>
          <a:xfrm>
            <a:off x="5566565" y="1219633"/>
            <a:ext cx="1368531" cy="128381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ED35671-30C2-2BA9-09B2-99A6EA46905E}"/>
              </a:ext>
            </a:extLst>
          </p:cNvPr>
          <p:cNvSpPr/>
          <p:nvPr/>
        </p:nvSpPr>
        <p:spPr>
          <a:xfrm>
            <a:off x="6081299" y="701339"/>
            <a:ext cx="362845" cy="33855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D5EE543-1433-C2FB-793E-EB2C1AD6CDBC}"/>
              </a:ext>
            </a:extLst>
          </p:cNvPr>
          <p:cNvSpPr/>
          <p:nvPr/>
        </p:nvSpPr>
        <p:spPr>
          <a:xfrm>
            <a:off x="6031816" y="661982"/>
            <a:ext cx="362845" cy="338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AAE798-A340-2A4A-2CC3-B0A6E1D7862B}"/>
              </a:ext>
            </a:extLst>
          </p:cNvPr>
          <p:cNvSpPr txBox="1"/>
          <p:nvPr/>
        </p:nvSpPr>
        <p:spPr>
          <a:xfrm>
            <a:off x="395834" y="262004"/>
            <a:ext cx="14299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R-CNN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FEB0FAA-8A26-0B46-FC9B-9D152097E1FC}"/>
              </a:ext>
            </a:extLst>
          </p:cNvPr>
          <p:cNvSpPr txBox="1"/>
          <p:nvPr/>
        </p:nvSpPr>
        <p:spPr>
          <a:xfrm>
            <a:off x="1825733" y="369726"/>
            <a:ext cx="2200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Feature Extraction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57225D-0318-66E5-7950-EFE11814D6DF}"/>
              </a:ext>
            </a:extLst>
          </p:cNvPr>
          <p:cNvSpPr txBox="1"/>
          <p:nvPr/>
        </p:nvSpPr>
        <p:spPr>
          <a:xfrm>
            <a:off x="308767" y="1060379"/>
            <a:ext cx="1429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Caffe</a:t>
            </a:r>
            <a:r>
              <a:rPr lang="zh-CN" altLang="en-US" sz="1600" dirty="0"/>
              <a:t>框架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6FB410-087E-8086-4622-2FBBDF35F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270" y="653458"/>
            <a:ext cx="4235489" cy="409327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7B7CDCD-54F6-3782-5918-C9ACB9A54D20}"/>
              </a:ext>
            </a:extLst>
          </p:cNvPr>
          <p:cNvSpPr txBox="1"/>
          <p:nvPr/>
        </p:nvSpPr>
        <p:spPr>
          <a:xfrm>
            <a:off x="2235757" y="1060379"/>
            <a:ext cx="1629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Pytorch</a:t>
            </a:r>
            <a:r>
              <a:rPr lang="zh-CN" altLang="en-US" sz="1600" dirty="0"/>
              <a:t>框架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602B6B-E1F5-D12E-6B4C-9E98BB6F3C6C}"/>
              </a:ext>
            </a:extLst>
          </p:cNvPr>
          <p:cNvSpPr txBox="1"/>
          <p:nvPr/>
        </p:nvSpPr>
        <p:spPr>
          <a:xfrm>
            <a:off x="2235757" y="1429711"/>
            <a:ext cx="2173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TensorFlow</a:t>
            </a:r>
            <a:r>
              <a:rPr lang="zh-CN" altLang="en-US" sz="1600" dirty="0"/>
              <a:t>框架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B9BF70E-A6A3-B064-7219-C7B2CC5FA63E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1591891" y="1229656"/>
            <a:ext cx="643866" cy="106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F2B53E36-1416-4ABC-CB86-D902B4D33773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868051" y="1240347"/>
            <a:ext cx="367706" cy="358641"/>
          </a:xfrm>
          <a:prstGeom prst="bentConnector3">
            <a:avLst>
              <a:gd name="adj1" fmla="val -8715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D37737D0-A005-87AE-3057-2B1281AAA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422" y="5023526"/>
            <a:ext cx="2601030" cy="1651089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8BC08CDA-B93E-B217-57CE-D1D32F55E978}"/>
              </a:ext>
            </a:extLst>
          </p:cNvPr>
          <p:cNvSpPr txBox="1"/>
          <p:nvPr/>
        </p:nvSpPr>
        <p:spPr>
          <a:xfrm>
            <a:off x="1005569" y="2701654"/>
            <a:ext cx="4620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利用</a:t>
            </a:r>
            <a:r>
              <a:rPr lang="en-US" altLang="zh-CN" sz="1400" dirty="0" err="1"/>
              <a:t>AlexNet</a:t>
            </a:r>
            <a:r>
              <a:rPr lang="zh-CN" altLang="en-US" sz="1400" dirty="0"/>
              <a:t>在</a:t>
            </a:r>
            <a:r>
              <a:rPr lang="en-US" altLang="zh-CN" sz="1400" dirty="0"/>
              <a:t>ImageNet</a:t>
            </a:r>
            <a:r>
              <a:rPr lang="zh-CN" altLang="en-US" sz="1400" dirty="0"/>
              <a:t>（大）上训练的权重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初始化</a:t>
            </a:r>
            <a:endParaRPr lang="en-US" altLang="zh-CN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zh-CN" altLang="en-US" sz="1400" dirty="0"/>
              <a:t>在</a:t>
            </a:r>
            <a:r>
              <a:rPr lang="en-US" altLang="zh-CN" sz="1400" dirty="0"/>
              <a:t>ILSVRC</a:t>
            </a:r>
            <a:r>
              <a:rPr lang="zh-CN" altLang="en-US" sz="1400" dirty="0"/>
              <a:t>（小）上做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微调</a:t>
            </a:r>
            <a:r>
              <a:rPr lang="zh-CN" altLang="en-US" sz="1400" dirty="0"/>
              <a:t>（</a:t>
            </a:r>
            <a:r>
              <a:rPr lang="en-US" altLang="zh-CN" sz="1400" dirty="0"/>
              <a:t>fine tuning</a:t>
            </a:r>
            <a:r>
              <a:rPr lang="zh-CN" altLang="en-US" sz="1400" dirty="0"/>
              <a:t>）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88EE534-E678-4394-4544-A4DB66DCE332}"/>
              </a:ext>
            </a:extLst>
          </p:cNvPr>
          <p:cNvSpPr/>
          <p:nvPr/>
        </p:nvSpPr>
        <p:spPr>
          <a:xfrm>
            <a:off x="6031816" y="83851"/>
            <a:ext cx="36284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5CDCDF9-C57C-25A7-80D3-3433D55D77AB}"/>
              </a:ext>
            </a:extLst>
          </p:cNvPr>
          <p:cNvSpPr/>
          <p:nvPr/>
        </p:nvSpPr>
        <p:spPr>
          <a:xfrm>
            <a:off x="5982333" y="622303"/>
            <a:ext cx="362845" cy="3385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753926E-471A-ED0A-DF9F-FA6C1D001809}"/>
              </a:ext>
            </a:extLst>
          </p:cNvPr>
          <p:cNvSpPr/>
          <p:nvPr/>
        </p:nvSpPr>
        <p:spPr>
          <a:xfrm>
            <a:off x="5658619" y="1588965"/>
            <a:ext cx="1184425" cy="24467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Conv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DFB328E-DA1D-231C-8D4A-B0CF8E82E279}"/>
              </a:ext>
            </a:extLst>
          </p:cNvPr>
          <p:cNvSpPr/>
          <p:nvPr/>
        </p:nvSpPr>
        <p:spPr>
          <a:xfrm>
            <a:off x="5658618" y="1876999"/>
            <a:ext cx="1184425" cy="24467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ReLU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C1AC697-AB0E-CF27-DE65-D603628FC266}"/>
              </a:ext>
            </a:extLst>
          </p:cNvPr>
          <p:cNvSpPr/>
          <p:nvPr/>
        </p:nvSpPr>
        <p:spPr>
          <a:xfrm>
            <a:off x="5658618" y="2165033"/>
            <a:ext cx="1184425" cy="2446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Pooling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45EDACF-76F2-765F-3913-093518A8A56E}"/>
              </a:ext>
            </a:extLst>
          </p:cNvPr>
          <p:cNvSpPr txBox="1"/>
          <p:nvPr/>
        </p:nvSpPr>
        <p:spPr>
          <a:xfrm>
            <a:off x="5547771" y="1200434"/>
            <a:ext cx="1629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Conv Block 1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7807715-C6D5-B921-16DF-1D1185CFF4E0}"/>
              </a:ext>
            </a:extLst>
          </p:cNvPr>
          <p:cNvSpPr txBox="1"/>
          <p:nvPr/>
        </p:nvSpPr>
        <p:spPr>
          <a:xfrm>
            <a:off x="6977546" y="1549364"/>
            <a:ext cx="808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4">
                    <a:lumMod val="75000"/>
                  </a:schemeClr>
                </a:solidFill>
              </a:rPr>
              <a:t>11 x 11</a:t>
            </a:r>
            <a:endParaRPr lang="zh-CN" altLang="en-US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B4079F4-BA62-8D44-DE6B-06138BD33725}"/>
              </a:ext>
            </a:extLst>
          </p:cNvPr>
          <p:cNvSpPr/>
          <p:nvPr/>
        </p:nvSpPr>
        <p:spPr>
          <a:xfrm>
            <a:off x="5566564" y="2656788"/>
            <a:ext cx="1368531" cy="36933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Conv Block 2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A504C19-C074-16A1-8C51-05BCA44FB27F}"/>
              </a:ext>
            </a:extLst>
          </p:cNvPr>
          <p:cNvSpPr txBox="1"/>
          <p:nvPr/>
        </p:nvSpPr>
        <p:spPr>
          <a:xfrm>
            <a:off x="7082382" y="2656788"/>
            <a:ext cx="808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4">
                    <a:lumMod val="75000"/>
                  </a:schemeClr>
                </a:solidFill>
              </a:rPr>
              <a:t>5 x 5</a:t>
            </a:r>
            <a:endParaRPr lang="zh-CN" altLang="en-US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E7D28D2-C18B-5633-DB5B-779E93630CF5}"/>
              </a:ext>
            </a:extLst>
          </p:cNvPr>
          <p:cNvSpPr/>
          <p:nvPr/>
        </p:nvSpPr>
        <p:spPr>
          <a:xfrm>
            <a:off x="5566563" y="3198906"/>
            <a:ext cx="1368531" cy="36933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Conv Block 3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E5B0FC7-1648-6679-ECE9-DC83C15E84B0}"/>
              </a:ext>
            </a:extLst>
          </p:cNvPr>
          <p:cNvSpPr txBox="1"/>
          <p:nvPr/>
        </p:nvSpPr>
        <p:spPr>
          <a:xfrm>
            <a:off x="7082381" y="3198906"/>
            <a:ext cx="808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3 x 3</a:t>
            </a:r>
            <a:endParaRPr lang="zh-CN" altLang="en-US" sz="14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7F9C141-0699-AD25-88D0-581B835BDE88}"/>
              </a:ext>
            </a:extLst>
          </p:cNvPr>
          <p:cNvSpPr/>
          <p:nvPr/>
        </p:nvSpPr>
        <p:spPr>
          <a:xfrm>
            <a:off x="5566562" y="3761847"/>
            <a:ext cx="1368531" cy="36933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Conv Block 4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2E0203D-D96E-7671-7620-F19FA98A9CD8}"/>
              </a:ext>
            </a:extLst>
          </p:cNvPr>
          <p:cNvSpPr txBox="1"/>
          <p:nvPr/>
        </p:nvSpPr>
        <p:spPr>
          <a:xfrm>
            <a:off x="7082380" y="3761847"/>
            <a:ext cx="808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3 x 3</a:t>
            </a:r>
            <a:endParaRPr lang="zh-CN" altLang="en-US" sz="1400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DF54C6-E0F5-242E-F834-1F055AB5BAF2}"/>
              </a:ext>
            </a:extLst>
          </p:cNvPr>
          <p:cNvSpPr/>
          <p:nvPr/>
        </p:nvSpPr>
        <p:spPr>
          <a:xfrm>
            <a:off x="5566561" y="4324788"/>
            <a:ext cx="1368531" cy="36933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Conv Block 5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755761C-1949-0F8F-BD49-FEC04CF5DB08}"/>
              </a:ext>
            </a:extLst>
          </p:cNvPr>
          <p:cNvSpPr txBox="1"/>
          <p:nvPr/>
        </p:nvSpPr>
        <p:spPr>
          <a:xfrm>
            <a:off x="7078031" y="4323241"/>
            <a:ext cx="808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3 x 3</a:t>
            </a:r>
            <a:endParaRPr lang="zh-CN" altLang="en-US" sz="1400" dirty="0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A2EE380E-F87D-7C21-DB68-B5CB965AC1C2}"/>
              </a:ext>
            </a:extLst>
          </p:cNvPr>
          <p:cNvCxnSpPr>
            <a:cxnSpLocks/>
          </p:cNvCxnSpPr>
          <p:nvPr/>
        </p:nvCxnSpPr>
        <p:spPr>
          <a:xfrm>
            <a:off x="6213238" y="447491"/>
            <a:ext cx="0" cy="1679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C48934CC-9215-76F6-AEA2-DCE54527A3A4}"/>
              </a:ext>
            </a:extLst>
          </p:cNvPr>
          <p:cNvCxnSpPr>
            <a:cxnSpLocks/>
          </p:cNvCxnSpPr>
          <p:nvPr/>
        </p:nvCxnSpPr>
        <p:spPr>
          <a:xfrm>
            <a:off x="6250829" y="1051702"/>
            <a:ext cx="0" cy="1679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D939DD5A-1DD9-844C-7C9C-2D3451F35939}"/>
              </a:ext>
            </a:extLst>
          </p:cNvPr>
          <p:cNvCxnSpPr>
            <a:cxnSpLocks/>
            <a:stCxn id="30" idx="2"/>
            <a:endCxn id="33" idx="0"/>
          </p:cNvCxnSpPr>
          <p:nvPr/>
        </p:nvCxnSpPr>
        <p:spPr>
          <a:xfrm flipH="1">
            <a:off x="6250830" y="2503443"/>
            <a:ext cx="1" cy="1533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D1142BF5-1563-3F05-9733-AFDD2D74F831}"/>
              </a:ext>
            </a:extLst>
          </p:cNvPr>
          <p:cNvCxnSpPr>
            <a:cxnSpLocks/>
            <a:stCxn id="33" idx="2"/>
            <a:endCxn id="35" idx="0"/>
          </p:cNvCxnSpPr>
          <p:nvPr/>
        </p:nvCxnSpPr>
        <p:spPr>
          <a:xfrm flipH="1">
            <a:off x="6250829" y="3026120"/>
            <a:ext cx="1" cy="1727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D39FF807-77A7-7A48-1775-B214B522D902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 flipH="1">
            <a:off x="6250828" y="3568238"/>
            <a:ext cx="1" cy="1936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524715BB-2CEE-A298-1DD8-293AA0613BF3}"/>
              </a:ext>
            </a:extLst>
          </p:cNvPr>
          <p:cNvCxnSpPr>
            <a:cxnSpLocks/>
            <a:stCxn id="37" idx="2"/>
            <a:endCxn id="39" idx="0"/>
          </p:cNvCxnSpPr>
          <p:nvPr/>
        </p:nvCxnSpPr>
        <p:spPr>
          <a:xfrm flipH="1">
            <a:off x="6250827" y="4131179"/>
            <a:ext cx="1" cy="1936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B47E5C6A-8A34-F178-DF9E-51E1F5222B6B}"/>
              </a:ext>
            </a:extLst>
          </p:cNvPr>
          <p:cNvSpPr/>
          <p:nvPr/>
        </p:nvSpPr>
        <p:spPr>
          <a:xfrm>
            <a:off x="7027151" y="1549364"/>
            <a:ext cx="640283" cy="30777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39274F2E-159F-AA74-CB57-17E2DBEF0BF8}"/>
              </a:ext>
            </a:extLst>
          </p:cNvPr>
          <p:cNvCxnSpPr/>
          <p:nvPr/>
        </p:nvCxnSpPr>
        <p:spPr>
          <a:xfrm>
            <a:off x="7037629" y="720388"/>
            <a:ext cx="0" cy="7562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B22ED221-0B87-4E24-9F2A-2BB048B28E65}"/>
              </a:ext>
            </a:extLst>
          </p:cNvPr>
          <p:cNvSpPr txBox="1"/>
          <p:nvPr/>
        </p:nvSpPr>
        <p:spPr>
          <a:xfrm>
            <a:off x="7053290" y="813945"/>
            <a:ext cx="102051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大卷积核：</a:t>
            </a:r>
            <a:endParaRPr lang="en-US" altLang="zh-CN" sz="1100" dirty="0"/>
          </a:p>
          <a:p>
            <a:r>
              <a:rPr lang="zh-CN" altLang="en-US" sz="1100" dirty="0"/>
              <a:t>更大</a:t>
            </a:r>
            <a:r>
              <a:rPr lang="zh-CN" altLang="en-US" sz="1100" dirty="0">
                <a:solidFill>
                  <a:schemeClr val="accent6">
                    <a:lumMod val="75000"/>
                  </a:schemeClr>
                </a:solidFill>
              </a:rPr>
              <a:t>感受野</a:t>
            </a:r>
            <a:endParaRPr lang="en-US" altLang="zh-CN" sz="11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CN" altLang="en-US" sz="1100" dirty="0"/>
              <a:t>更快</a:t>
            </a:r>
            <a:r>
              <a:rPr lang="zh-CN" altLang="en-US" sz="1100" dirty="0">
                <a:solidFill>
                  <a:schemeClr val="accent6">
                    <a:lumMod val="75000"/>
                  </a:schemeClr>
                </a:solidFill>
              </a:rPr>
              <a:t>降维</a:t>
            </a: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06A21D22-373B-05EF-2469-654D5C01947F}"/>
              </a:ext>
            </a:extLst>
          </p:cNvPr>
          <p:cNvCxnSpPr>
            <a:cxnSpLocks/>
          </p:cNvCxnSpPr>
          <p:nvPr/>
        </p:nvCxnSpPr>
        <p:spPr>
          <a:xfrm>
            <a:off x="7037629" y="1979976"/>
            <a:ext cx="0" cy="6161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376E77AC-CF6E-18BD-B9D9-044744D94CE5}"/>
              </a:ext>
            </a:extLst>
          </p:cNvPr>
          <p:cNvSpPr txBox="1"/>
          <p:nvPr/>
        </p:nvSpPr>
        <p:spPr>
          <a:xfrm>
            <a:off x="7066014" y="2056272"/>
            <a:ext cx="10205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卷积核尺寸</a:t>
            </a:r>
            <a:r>
              <a:rPr lang="zh-CN" altLang="en-US" sz="1100" dirty="0">
                <a:solidFill>
                  <a:schemeClr val="accent4">
                    <a:lumMod val="75000"/>
                  </a:schemeClr>
                </a:solidFill>
              </a:rPr>
              <a:t>非恒定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922338A7-18BC-BA14-F51D-E0D4692804CF}"/>
              </a:ext>
            </a:extLst>
          </p:cNvPr>
          <p:cNvSpPr/>
          <p:nvPr/>
        </p:nvSpPr>
        <p:spPr>
          <a:xfrm>
            <a:off x="7052656" y="2657025"/>
            <a:ext cx="640283" cy="307777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10D44CB2-BBFB-F7BD-1E1C-25FE4A3AB0F2}"/>
              </a:ext>
            </a:extLst>
          </p:cNvPr>
          <p:cNvSpPr/>
          <p:nvPr/>
        </p:nvSpPr>
        <p:spPr>
          <a:xfrm>
            <a:off x="5560426" y="4858717"/>
            <a:ext cx="1368531" cy="638333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C684CF44-AFA5-48A0-58FB-A8404AA634DC}"/>
              </a:ext>
            </a:extLst>
          </p:cNvPr>
          <p:cNvSpPr txBox="1"/>
          <p:nvPr/>
        </p:nvSpPr>
        <p:spPr>
          <a:xfrm>
            <a:off x="5958311" y="4868534"/>
            <a:ext cx="1013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FC 1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7B0D9DB4-671C-664B-503F-D9F924C40FC1}"/>
              </a:ext>
            </a:extLst>
          </p:cNvPr>
          <p:cNvSpPr/>
          <p:nvPr/>
        </p:nvSpPr>
        <p:spPr>
          <a:xfrm>
            <a:off x="5655872" y="5221910"/>
            <a:ext cx="203151" cy="1948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D26D9E04-BF7A-736C-78A7-96A437EFD300}"/>
              </a:ext>
            </a:extLst>
          </p:cNvPr>
          <p:cNvSpPr/>
          <p:nvPr/>
        </p:nvSpPr>
        <p:spPr>
          <a:xfrm>
            <a:off x="6150109" y="5218749"/>
            <a:ext cx="203151" cy="1948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12D3686F-7787-6716-6613-D827976FB915}"/>
              </a:ext>
            </a:extLst>
          </p:cNvPr>
          <p:cNvSpPr/>
          <p:nvPr/>
        </p:nvSpPr>
        <p:spPr>
          <a:xfrm>
            <a:off x="6644346" y="5207088"/>
            <a:ext cx="203151" cy="1948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48B4E822-0381-EE6E-35EF-5CA3BD45BB8E}"/>
              </a:ext>
            </a:extLst>
          </p:cNvPr>
          <p:cNvSpPr/>
          <p:nvPr/>
        </p:nvSpPr>
        <p:spPr>
          <a:xfrm>
            <a:off x="5560426" y="5579361"/>
            <a:ext cx="1368531" cy="58784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9262D99C-D422-4E14-8C32-76F8BEAF9663}"/>
              </a:ext>
            </a:extLst>
          </p:cNvPr>
          <p:cNvSpPr txBox="1"/>
          <p:nvPr/>
        </p:nvSpPr>
        <p:spPr>
          <a:xfrm>
            <a:off x="5943547" y="5831568"/>
            <a:ext cx="1013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FC 2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0CB2B67C-0270-ABE7-61D1-60D152AAD4AB}"/>
              </a:ext>
            </a:extLst>
          </p:cNvPr>
          <p:cNvSpPr/>
          <p:nvPr/>
        </p:nvSpPr>
        <p:spPr>
          <a:xfrm>
            <a:off x="5657326" y="5645362"/>
            <a:ext cx="203151" cy="1948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2B0F7942-D494-E75A-05BE-9EF68540E90E}"/>
              </a:ext>
            </a:extLst>
          </p:cNvPr>
          <p:cNvSpPr/>
          <p:nvPr/>
        </p:nvSpPr>
        <p:spPr>
          <a:xfrm>
            <a:off x="6151563" y="5642201"/>
            <a:ext cx="203151" cy="1948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EFC37F24-370D-BDB1-7E7D-4EE63ADCA911}"/>
              </a:ext>
            </a:extLst>
          </p:cNvPr>
          <p:cNvSpPr/>
          <p:nvPr/>
        </p:nvSpPr>
        <p:spPr>
          <a:xfrm>
            <a:off x="6645800" y="5630540"/>
            <a:ext cx="203151" cy="1948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98DEB59F-8F00-112A-2704-4AEC37F90B0E}"/>
              </a:ext>
            </a:extLst>
          </p:cNvPr>
          <p:cNvCxnSpPr>
            <a:stCxn id="74" idx="4"/>
            <a:endCxn id="80" idx="0"/>
          </p:cNvCxnSpPr>
          <p:nvPr/>
        </p:nvCxnSpPr>
        <p:spPr>
          <a:xfrm>
            <a:off x="5757448" y="5416738"/>
            <a:ext cx="495691" cy="2254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3CDE0DB9-81A0-B83C-8ED5-B6534CCD23C5}"/>
              </a:ext>
            </a:extLst>
          </p:cNvPr>
          <p:cNvCxnSpPr>
            <a:cxnSpLocks/>
            <a:stCxn id="75" idx="4"/>
            <a:endCxn id="80" idx="0"/>
          </p:cNvCxnSpPr>
          <p:nvPr/>
        </p:nvCxnSpPr>
        <p:spPr>
          <a:xfrm>
            <a:off x="6251685" y="5413577"/>
            <a:ext cx="1454" cy="228624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D926387-B254-903D-6873-DFC509DC4472}"/>
              </a:ext>
            </a:extLst>
          </p:cNvPr>
          <p:cNvCxnSpPr>
            <a:cxnSpLocks/>
            <a:stCxn id="76" idx="4"/>
            <a:endCxn id="80" idx="0"/>
          </p:cNvCxnSpPr>
          <p:nvPr/>
        </p:nvCxnSpPr>
        <p:spPr>
          <a:xfrm flipH="1">
            <a:off x="6253139" y="5401916"/>
            <a:ext cx="492783" cy="240285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B952FD3E-4F0D-31D0-2A38-521ADDCD54B5}"/>
              </a:ext>
            </a:extLst>
          </p:cNvPr>
          <p:cNvCxnSpPr>
            <a:cxnSpLocks/>
            <a:stCxn id="74" idx="4"/>
            <a:endCxn id="79" idx="0"/>
          </p:cNvCxnSpPr>
          <p:nvPr/>
        </p:nvCxnSpPr>
        <p:spPr>
          <a:xfrm>
            <a:off x="5757448" y="5416738"/>
            <a:ext cx="1454" cy="228624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8D7CDDFE-1E6D-847C-9784-517CE63F580B}"/>
              </a:ext>
            </a:extLst>
          </p:cNvPr>
          <p:cNvCxnSpPr>
            <a:cxnSpLocks/>
            <a:stCxn id="75" idx="4"/>
            <a:endCxn id="79" idx="0"/>
          </p:cNvCxnSpPr>
          <p:nvPr/>
        </p:nvCxnSpPr>
        <p:spPr>
          <a:xfrm flipH="1">
            <a:off x="5758902" y="5413577"/>
            <a:ext cx="492783" cy="231785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16E6A721-2796-989E-B6EF-F78CE1326206}"/>
              </a:ext>
            </a:extLst>
          </p:cNvPr>
          <p:cNvCxnSpPr>
            <a:cxnSpLocks/>
            <a:stCxn id="76" idx="4"/>
            <a:endCxn id="81" idx="0"/>
          </p:cNvCxnSpPr>
          <p:nvPr/>
        </p:nvCxnSpPr>
        <p:spPr>
          <a:xfrm>
            <a:off x="6745922" y="5401916"/>
            <a:ext cx="1454" cy="228624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3788B70C-A41C-2BB4-9933-4E15EB93A962}"/>
              </a:ext>
            </a:extLst>
          </p:cNvPr>
          <p:cNvCxnSpPr>
            <a:cxnSpLocks/>
            <a:stCxn id="75" idx="4"/>
            <a:endCxn id="81" idx="0"/>
          </p:cNvCxnSpPr>
          <p:nvPr/>
        </p:nvCxnSpPr>
        <p:spPr>
          <a:xfrm>
            <a:off x="6251685" y="5413577"/>
            <a:ext cx="495691" cy="2169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4A8EE514-FD63-BDF6-8F42-E623677386C6}"/>
              </a:ext>
            </a:extLst>
          </p:cNvPr>
          <p:cNvCxnSpPr>
            <a:cxnSpLocks/>
            <a:stCxn id="76" idx="4"/>
            <a:endCxn id="79" idx="0"/>
          </p:cNvCxnSpPr>
          <p:nvPr/>
        </p:nvCxnSpPr>
        <p:spPr>
          <a:xfrm flipH="1">
            <a:off x="5758902" y="5401916"/>
            <a:ext cx="987020" cy="243446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1C5BBAA4-4D99-D4A6-D371-4868AF06A6C9}"/>
              </a:ext>
            </a:extLst>
          </p:cNvPr>
          <p:cNvCxnSpPr>
            <a:cxnSpLocks/>
            <a:stCxn id="74" idx="4"/>
            <a:endCxn id="81" idx="0"/>
          </p:cNvCxnSpPr>
          <p:nvPr/>
        </p:nvCxnSpPr>
        <p:spPr>
          <a:xfrm>
            <a:off x="5757448" y="5416738"/>
            <a:ext cx="989928" cy="213802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矩形 107">
            <a:extLst>
              <a:ext uri="{FF2B5EF4-FFF2-40B4-BE49-F238E27FC236}">
                <a16:creationId xmlns:a16="http://schemas.microsoft.com/office/drawing/2014/main" id="{5DC6C4AE-EC58-3D02-9437-3FAFCA9F67E1}"/>
              </a:ext>
            </a:extLst>
          </p:cNvPr>
          <p:cNvSpPr/>
          <p:nvPr/>
        </p:nvSpPr>
        <p:spPr>
          <a:xfrm>
            <a:off x="5566560" y="6305283"/>
            <a:ext cx="1368531" cy="369332"/>
          </a:xfrm>
          <a:prstGeom prst="rect">
            <a:avLst/>
          </a:prstGeom>
          <a:ln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Softmax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anose="02060603020205020403"/>
              <a:ea typeface="方正姚体" panose="02010601030101010101" pitchFamily="2" charset="-122"/>
              <a:cs typeface="+mn-cs"/>
            </a:endParaRPr>
          </a:p>
        </p:txBody>
      </p:sp>
      <p:pic>
        <p:nvPicPr>
          <p:cNvPr id="110" name="图片 109">
            <a:extLst>
              <a:ext uri="{FF2B5EF4-FFF2-40B4-BE49-F238E27FC236}">
                <a16:creationId xmlns:a16="http://schemas.microsoft.com/office/drawing/2014/main" id="{C2D9A84E-AD5F-B83F-F72F-FD08F3DD26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41" y="4238760"/>
            <a:ext cx="5364744" cy="2516580"/>
          </a:xfrm>
          <a:prstGeom prst="rect">
            <a:avLst/>
          </a:prstGeom>
        </p:spPr>
      </p:pic>
      <p:cxnSp>
        <p:nvCxnSpPr>
          <p:cNvPr id="112" name="连接符: 肘形 111">
            <a:extLst>
              <a:ext uri="{FF2B5EF4-FFF2-40B4-BE49-F238E27FC236}">
                <a16:creationId xmlns:a16="http://schemas.microsoft.com/office/drawing/2014/main" id="{319C6463-3528-47E4-2DC0-597EC903E2AF}"/>
              </a:ext>
            </a:extLst>
          </p:cNvPr>
          <p:cNvCxnSpPr>
            <a:cxnSpLocks/>
            <a:stCxn id="39" idx="2"/>
            <a:endCxn id="110" idx="0"/>
          </p:cNvCxnSpPr>
          <p:nvPr/>
        </p:nvCxnSpPr>
        <p:spPr>
          <a:xfrm rot="5400000" flipH="1">
            <a:off x="4289040" y="2732333"/>
            <a:ext cx="455360" cy="3468214"/>
          </a:xfrm>
          <a:prstGeom prst="bentConnector5">
            <a:avLst>
              <a:gd name="adj1" fmla="val -15340"/>
              <a:gd name="adj2" fmla="val 21194"/>
              <a:gd name="adj3" fmla="val 150202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E84A4173-3221-4479-B110-5535F2571236}"/>
              </a:ext>
            </a:extLst>
          </p:cNvPr>
          <p:cNvCxnSpPr>
            <a:stCxn id="39" idx="2"/>
          </p:cNvCxnSpPr>
          <p:nvPr/>
        </p:nvCxnSpPr>
        <p:spPr>
          <a:xfrm>
            <a:off x="6250827" y="4694120"/>
            <a:ext cx="857" cy="1744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5" name="文本框 124">
            <a:extLst>
              <a:ext uri="{FF2B5EF4-FFF2-40B4-BE49-F238E27FC236}">
                <a16:creationId xmlns:a16="http://schemas.microsoft.com/office/drawing/2014/main" id="{AB84B50A-DB8D-B6DE-B6F7-7EE44BCD701E}"/>
              </a:ext>
            </a:extLst>
          </p:cNvPr>
          <p:cNvSpPr txBox="1"/>
          <p:nvPr/>
        </p:nvSpPr>
        <p:spPr>
          <a:xfrm>
            <a:off x="760340" y="3942124"/>
            <a:ext cx="2549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网络学到了什么？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E6EA9E87-DD9D-49CB-F589-1FF14ED700A1}"/>
              </a:ext>
            </a:extLst>
          </p:cNvPr>
          <p:cNvSpPr txBox="1"/>
          <p:nvPr/>
        </p:nvSpPr>
        <p:spPr>
          <a:xfrm>
            <a:off x="213899" y="1947890"/>
            <a:ext cx="3142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监督数据（有标签数据）少</a:t>
            </a:r>
          </a:p>
        </p:txBody>
      </p: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A2CF548E-0E77-3A74-2991-0D41995E9C75}"/>
              </a:ext>
            </a:extLst>
          </p:cNvPr>
          <p:cNvCxnSpPr/>
          <p:nvPr/>
        </p:nvCxnSpPr>
        <p:spPr>
          <a:xfrm>
            <a:off x="322509" y="2965687"/>
            <a:ext cx="7180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1" name="文本框 140">
            <a:extLst>
              <a:ext uri="{FF2B5EF4-FFF2-40B4-BE49-F238E27FC236}">
                <a16:creationId xmlns:a16="http://schemas.microsoft.com/office/drawing/2014/main" id="{2881ADBF-D4B9-E1BB-5B36-370FB1D8A706}"/>
              </a:ext>
            </a:extLst>
          </p:cNvPr>
          <p:cNvSpPr txBox="1"/>
          <p:nvPr/>
        </p:nvSpPr>
        <p:spPr>
          <a:xfrm>
            <a:off x="395834" y="2672941"/>
            <a:ext cx="607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trick</a:t>
            </a:r>
            <a:endParaRPr lang="zh-CN" altLang="en-US" sz="1400" dirty="0"/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23F58AD0-CE22-DE72-1A57-40C4FA125976}"/>
              </a:ext>
            </a:extLst>
          </p:cNvPr>
          <p:cNvSpPr txBox="1"/>
          <p:nvPr/>
        </p:nvSpPr>
        <p:spPr>
          <a:xfrm>
            <a:off x="213899" y="2340706"/>
            <a:ext cx="3142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特征提取框架为</a:t>
            </a:r>
            <a:r>
              <a:rPr lang="en-US" altLang="zh-CN" sz="1600" dirty="0" err="1">
                <a:solidFill>
                  <a:schemeClr val="accent5">
                    <a:lumMod val="75000"/>
                  </a:schemeClr>
                </a:solidFill>
              </a:rPr>
              <a:t>AlexNet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271CFCCE-B04C-D87E-EE52-BFA92A922550}"/>
              </a:ext>
            </a:extLst>
          </p:cNvPr>
          <p:cNvCxnSpPr>
            <a:cxnSpLocks/>
          </p:cNvCxnSpPr>
          <p:nvPr/>
        </p:nvCxnSpPr>
        <p:spPr>
          <a:xfrm>
            <a:off x="2743525" y="2549924"/>
            <a:ext cx="26015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6" name="文本框 145">
            <a:extLst>
              <a:ext uri="{FF2B5EF4-FFF2-40B4-BE49-F238E27FC236}">
                <a16:creationId xmlns:a16="http://schemas.microsoft.com/office/drawing/2014/main" id="{ACA7ECBF-0ABE-BA9A-9256-EC47388F24F3}"/>
              </a:ext>
            </a:extLst>
          </p:cNvPr>
          <p:cNvSpPr txBox="1"/>
          <p:nvPr/>
        </p:nvSpPr>
        <p:spPr>
          <a:xfrm>
            <a:off x="1012753" y="3323680"/>
            <a:ext cx="4620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数据增强，构建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正负例样本</a:t>
            </a:r>
            <a:r>
              <a:rPr lang="zh-CN" altLang="en-US" sz="1400" dirty="0"/>
              <a:t>训练</a:t>
            </a:r>
          </a:p>
        </p:txBody>
      </p: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6828D464-A986-BF15-5007-468ACD3438EF}"/>
              </a:ext>
            </a:extLst>
          </p:cNvPr>
          <p:cNvCxnSpPr/>
          <p:nvPr/>
        </p:nvCxnSpPr>
        <p:spPr>
          <a:xfrm>
            <a:off x="320361" y="3487232"/>
            <a:ext cx="7180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8" name="文本框 147">
            <a:extLst>
              <a:ext uri="{FF2B5EF4-FFF2-40B4-BE49-F238E27FC236}">
                <a16:creationId xmlns:a16="http://schemas.microsoft.com/office/drawing/2014/main" id="{507958FD-11A1-E302-00A2-0E5CEABE1292}"/>
              </a:ext>
            </a:extLst>
          </p:cNvPr>
          <p:cNvSpPr txBox="1"/>
          <p:nvPr/>
        </p:nvSpPr>
        <p:spPr>
          <a:xfrm>
            <a:off x="393686" y="3194486"/>
            <a:ext cx="607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trick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435004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5" grpId="0" animBg="1"/>
      <p:bldP spid="24" grpId="0" animBg="1"/>
      <p:bldP spid="22" grpId="0" animBg="1"/>
      <p:bldP spid="23" grpId="0" animBg="1"/>
      <p:bldP spid="26" grpId="0" animBg="1"/>
      <p:bldP spid="28" grpId="0" animBg="1"/>
      <p:bldP spid="29" grpId="0" animBg="1"/>
      <p:bldP spid="31" grpId="0"/>
      <p:bldP spid="32" grpId="0"/>
      <p:bldP spid="33" grpId="0" animBg="1"/>
      <p:bldP spid="34" grpId="0"/>
      <p:bldP spid="35" grpId="0" animBg="1"/>
      <p:bldP spid="36" grpId="0"/>
      <p:bldP spid="37" grpId="0" animBg="1"/>
      <p:bldP spid="38" grpId="0"/>
      <p:bldP spid="39" grpId="0" animBg="1"/>
      <p:bldP spid="40" grpId="0"/>
      <p:bldP spid="63" grpId="0" animBg="1"/>
      <p:bldP spid="66" grpId="0"/>
      <p:bldP spid="68" grpId="0"/>
      <p:bldP spid="69" grpId="0" animBg="1"/>
      <p:bldP spid="72" grpId="0" animBg="1"/>
      <p:bldP spid="73" grpId="0"/>
      <p:bldP spid="74" grpId="0" animBg="1"/>
      <p:bldP spid="75" grpId="0" animBg="1"/>
      <p:bldP spid="76" grpId="0" animBg="1"/>
      <p:bldP spid="77" grpId="0" animBg="1"/>
      <p:bldP spid="78" grpId="0"/>
      <p:bldP spid="79" grpId="0" animBg="1"/>
      <p:bldP spid="80" grpId="0" animBg="1"/>
      <p:bldP spid="81" grpId="0" animBg="1"/>
      <p:bldP spid="108" grpId="0" animBg="1"/>
      <p:bldP spid="1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316C55-FC0C-06BC-BBE1-D528548345E0}"/>
              </a:ext>
            </a:extLst>
          </p:cNvPr>
          <p:cNvSpPr txBox="1"/>
          <p:nvPr/>
        </p:nvSpPr>
        <p:spPr>
          <a:xfrm>
            <a:off x="395834" y="262004"/>
            <a:ext cx="14299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R-CNN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3A59AF4-FB44-6BBE-1F29-6085B8A6F7CE}"/>
              </a:ext>
            </a:extLst>
          </p:cNvPr>
          <p:cNvSpPr txBox="1"/>
          <p:nvPr/>
        </p:nvSpPr>
        <p:spPr>
          <a:xfrm>
            <a:off x="1825733" y="369726"/>
            <a:ext cx="2200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Classification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E358A3F-3831-E837-D0E4-EA352EBDAA22}"/>
              </a:ext>
            </a:extLst>
          </p:cNvPr>
          <p:cNvCxnSpPr>
            <a:cxnSpLocks/>
          </p:cNvCxnSpPr>
          <p:nvPr/>
        </p:nvCxnSpPr>
        <p:spPr>
          <a:xfrm flipV="1">
            <a:off x="3238257" y="2996433"/>
            <a:ext cx="0" cy="15342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4238FAE-2E3C-54D6-53A7-4E520903A9B2}"/>
              </a:ext>
            </a:extLst>
          </p:cNvPr>
          <p:cNvCxnSpPr>
            <a:cxnSpLocks/>
          </p:cNvCxnSpPr>
          <p:nvPr/>
        </p:nvCxnSpPr>
        <p:spPr>
          <a:xfrm>
            <a:off x="3238257" y="4530661"/>
            <a:ext cx="17306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E3DB182D-32F0-6B2F-9575-B8D1D673AEA6}"/>
              </a:ext>
            </a:extLst>
          </p:cNvPr>
          <p:cNvSpPr/>
          <p:nvPr/>
        </p:nvSpPr>
        <p:spPr>
          <a:xfrm>
            <a:off x="3433621" y="3180176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2D9F7E8-808E-1A32-2A9F-006C76CE4F13}"/>
              </a:ext>
            </a:extLst>
          </p:cNvPr>
          <p:cNvSpPr/>
          <p:nvPr/>
        </p:nvSpPr>
        <p:spPr>
          <a:xfrm>
            <a:off x="3799795" y="3525406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329CE18-F44E-FFB2-FE93-9FB20466F61C}"/>
              </a:ext>
            </a:extLst>
          </p:cNvPr>
          <p:cNvSpPr/>
          <p:nvPr/>
        </p:nvSpPr>
        <p:spPr>
          <a:xfrm>
            <a:off x="3528738" y="4005235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13656F4-E99C-5EBC-B820-222A8A5E222C}"/>
              </a:ext>
            </a:extLst>
          </p:cNvPr>
          <p:cNvSpPr/>
          <p:nvPr/>
        </p:nvSpPr>
        <p:spPr>
          <a:xfrm>
            <a:off x="4398134" y="3308802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BB05D3F-5DA3-8680-A3B6-04235527E1A0}"/>
              </a:ext>
            </a:extLst>
          </p:cNvPr>
          <p:cNvSpPr/>
          <p:nvPr/>
        </p:nvSpPr>
        <p:spPr>
          <a:xfrm>
            <a:off x="4515754" y="3964584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1E1DF5D-3D2D-6BBF-8FA2-A3AA2FC4518A}"/>
              </a:ext>
            </a:extLst>
          </p:cNvPr>
          <p:cNvSpPr/>
          <p:nvPr/>
        </p:nvSpPr>
        <p:spPr>
          <a:xfrm>
            <a:off x="4085146" y="3805927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EB2B153E-6A7A-ED8C-538D-A59C755FCE38}"/>
              </a:ext>
            </a:extLst>
          </p:cNvPr>
          <p:cNvSpPr/>
          <p:nvPr/>
        </p:nvSpPr>
        <p:spPr>
          <a:xfrm>
            <a:off x="4085146" y="4238432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74027439-460B-82CB-B3DD-97C86DFFB703}"/>
              </a:ext>
            </a:extLst>
          </p:cNvPr>
          <p:cNvSpPr/>
          <p:nvPr/>
        </p:nvSpPr>
        <p:spPr>
          <a:xfrm>
            <a:off x="3990029" y="3112711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DBB59E97-6E3A-72E7-87CA-54F65116C766}"/>
              </a:ext>
            </a:extLst>
          </p:cNvPr>
          <p:cNvSpPr/>
          <p:nvPr/>
        </p:nvSpPr>
        <p:spPr>
          <a:xfrm>
            <a:off x="7655766" y="3552257"/>
            <a:ext cx="1110781" cy="811307"/>
          </a:xfrm>
          <a:custGeom>
            <a:avLst/>
            <a:gdLst>
              <a:gd name="connsiteX0" fmla="*/ 0 w 1110781"/>
              <a:gd name="connsiteY0" fmla="*/ 811307 h 811307"/>
              <a:gd name="connsiteX1" fmla="*/ 368215 w 1110781"/>
              <a:gd name="connsiteY1" fmla="*/ 142383 h 811307"/>
              <a:gd name="connsiteX2" fmla="*/ 1110781 w 1110781"/>
              <a:gd name="connsiteY2" fmla="*/ 1234 h 811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10781" h="811307">
                <a:moveTo>
                  <a:pt x="0" y="811307"/>
                </a:moveTo>
                <a:cubicBezTo>
                  <a:pt x="91542" y="544351"/>
                  <a:pt x="183085" y="277395"/>
                  <a:pt x="368215" y="142383"/>
                </a:cubicBezTo>
                <a:cubicBezTo>
                  <a:pt x="553345" y="7371"/>
                  <a:pt x="989066" y="-4903"/>
                  <a:pt x="1110781" y="1234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7EA8671-9BEA-414C-4D2A-4666BB5CC928}"/>
              </a:ext>
            </a:extLst>
          </p:cNvPr>
          <p:cNvSpPr txBox="1"/>
          <p:nvPr/>
        </p:nvSpPr>
        <p:spPr>
          <a:xfrm>
            <a:off x="457073" y="3206316"/>
            <a:ext cx="292574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MLP(Neural Network: 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NN</a:t>
            </a:r>
            <a:r>
              <a:rPr lang="en-US" altLang="zh-CN" sz="1600" dirty="0"/>
              <a:t>)</a:t>
            </a:r>
          </a:p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M</a:t>
            </a:r>
            <a:r>
              <a:rPr lang="en-US" altLang="zh-CN" dirty="0"/>
              <a:t>ulti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l</a:t>
            </a:r>
            <a:r>
              <a:rPr lang="en-US" altLang="zh-CN" dirty="0"/>
              <a:t>ayer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P</a:t>
            </a:r>
            <a:r>
              <a:rPr lang="en-US" altLang="zh-CN" dirty="0"/>
              <a:t>erceptron</a:t>
            </a:r>
            <a:endParaRPr lang="en-US" altLang="zh-CN" sz="1600" dirty="0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41AA88FD-9C87-144B-9286-8268F3A1905F}"/>
              </a:ext>
            </a:extLst>
          </p:cNvPr>
          <p:cNvSpPr/>
          <p:nvPr/>
        </p:nvSpPr>
        <p:spPr>
          <a:xfrm>
            <a:off x="4485571" y="3642518"/>
            <a:ext cx="190234" cy="175952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?</a:t>
            </a: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F4A8C09D-1BB2-D772-2ECF-9861ACF7116D}"/>
              </a:ext>
            </a:extLst>
          </p:cNvPr>
          <p:cNvCxnSpPr>
            <a:cxnSpLocks/>
          </p:cNvCxnSpPr>
          <p:nvPr/>
        </p:nvCxnSpPr>
        <p:spPr>
          <a:xfrm flipV="1">
            <a:off x="7175052" y="2996433"/>
            <a:ext cx="0" cy="15342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0AFB9AA3-0964-5F7B-4DC1-5EEA4323617F}"/>
              </a:ext>
            </a:extLst>
          </p:cNvPr>
          <p:cNvCxnSpPr>
            <a:cxnSpLocks/>
          </p:cNvCxnSpPr>
          <p:nvPr/>
        </p:nvCxnSpPr>
        <p:spPr>
          <a:xfrm>
            <a:off x="7175052" y="4530661"/>
            <a:ext cx="17306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椭圆 48">
            <a:extLst>
              <a:ext uri="{FF2B5EF4-FFF2-40B4-BE49-F238E27FC236}">
                <a16:creationId xmlns:a16="http://schemas.microsoft.com/office/drawing/2014/main" id="{21A1525C-0EAC-4F0D-22AD-83F7A096B26B}"/>
              </a:ext>
            </a:extLst>
          </p:cNvPr>
          <p:cNvSpPr/>
          <p:nvPr/>
        </p:nvSpPr>
        <p:spPr>
          <a:xfrm>
            <a:off x="7370416" y="3180176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29EA3774-D0CC-1C70-2CD9-39F11079FA26}"/>
              </a:ext>
            </a:extLst>
          </p:cNvPr>
          <p:cNvSpPr/>
          <p:nvPr/>
        </p:nvSpPr>
        <p:spPr>
          <a:xfrm>
            <a:off x="7736590" y="3525406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DF46E219-0277-91A8-51AA-B2B695F54600}"/>
              </a:ext>
            </a:extLst>
          </p:cNvPr>
          <p:cNvSpPr/>
          <p:nvPr/>
        </p:nvSpPr>
        <p:spPr>
          <a:xfrm>
            <a:off x="7465533" y="4005235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4AE6C974-A3AA-3595-EF08-306CE5F7531F}"/>
              </a:ext>
            </a:extLst>
          </p:cNvPr>
          <p:cNvSpPr/>
          <p:nvPr/>
        </p:nvSpPr>
        <p:spPr>
          <a:xfrm>
            <a:off x="8334929" y="3308802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BC9F275F-4C6A-031D-2C28-3788F3F675DD}"/>
              </a:ext>
            </a:extLst>
          </p:cNvPr>
          <p:cNvSpPr/>
          <p:nvPr/>
        </p:nvSpPr>
        <p:spPr>
          <a:xfrm>
            <a:off x="8452549" y="3964584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BB379010-DE06-273B-CCB9-AE3BDD9E5BC2}"/>
              </a:ext>
            </a:extLst>
          </p:cNvPr>
          <p:cNvSpPr/>
          <p:nvPr/>
        </p:nvSpPr>
        <p:spPr>
          <a:xfrm>
            <a:off x="8021941" y="3805927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504C4C94-ABB9-0ADD-FBE1-D62BAE5385C8}"/>
              </a:ext>
            </a:extLst>
          </p:cNvPr>
          <p:cNvSpPr/>
          <p:nvPr/>
        </p:nvSpPr>
        <p:spPr>
          <a:xfrm>
            <a:off x="8021941" y="4238432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B24DA39B-FC7E-2623-6764-367D8F50B6BE}"/>
              </a:ext>
            </a:extLst>
          </p:cNvPr>
          <p:cNvSpPr/>
          <p:nvPr/>
        </p:nvSpPr>
        <p:spPr>
          <a:xfrm>
            <a:off x="7926824" y="3112711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36A84802-0331-9614-1A59-C1EAE3C9D59D}"/>
              </a:ext>
            </a:extLst>
          </p:cNvPr>
          <p:cNvSpPr/>
          <p:nvPr/>
        </p:nvSpPr>
        <p:spPr>
          <a:xfrm>
            <a:off x="8422366" y="3642518"/>
            <a:ext cx="190234" cy="175952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?</a:t>
            </a: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53262908-D6EE-E622-B8ED-0B9441FDD561}"/>
              </a:ext>
            </a:extLst>
          </p:cNvPr>
          <p:cNvSpPr/>
          <p:nvPr/>
        </p:nvSpPr>
        <p:spPr>
          <a:xfrm>
            <a:off x="9639993" y="3552257"/>
            <a:ext cx="1110781" cy="811307"/>
          </a:xfrm>
          <a:custGeom>
            <a:avLst/>
            <a:gdLst>
              <a:gd name="connsiteX0" fmla="*/ 0 w 1110781"/>
              <a:gd name="connsiteY0" fmla="*/ 811307 h 811307"/>
              <a:gd name="connsiteX1" fmla="*/ 368215 w 1110781"/>
              <a:gd name="connsiteY1" fmla="*/ 142383 h 811307"/>
              <a:gd name="connsiteX2" fmla="*/ 1110781 w 1110781"/>
              <a:gd name="connsiteY2" fmla="*/ 1234 h 811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10781" h="811307">
                <a:moveTo>
                  <a:pt x="0" y="811307"/>
                </a:moveTo>
                <a:cubicBezTo>
                  <a:pt x="91542" y="544351"/>
                  <a:pt x="183085" y="277395"/>
                  <a:pt x="368215" y="142383"/>
                </a:cubicBezTo>
                <a:cubicBezTo>
                  <a:pt x="553345" y="7371"/>
                  <a:pt x="989066" y="-4903"/>
                  <a:pt x="1110781" y="1234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514F05D9-7CF2-9A91-3D33-3EE5C7CB9E08}"/>
              </a:ext>
            </a:extLst>
          </p:cNvPr>
          <p:cNvCxnSpPr>
            <a:cxnSpLocks/>
          </p:cNvCxnSpPr>
          <p:nvPr/>
        </p:nvCxnSpPr>
        <p:spPr>
          <a:xfrm flipV="1">
            <a:off x="9159279" y="2996433"/>
            <a:ext cx="0" cy="15342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7DA044BA-34ED-ACD9-B743-A1C12EC8CF8F}"/>
              </a:ext>
            </a:extLst>
          </p:cNvPr>
          <p:cNvCxnSpPr>
            <a:cxnSpLocks/>
          </p:cNvCxnSpPr>
          <p:nvPr/>
        </p:nvCxnSpPr>
        <p:spPr>
          <a:xfrm>
            <a:off x="9159279" y="4530661"/>
            <a:ext cx="17306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椭圆 60">
            <a:extLst>
              <a:ext uri="{FF2B5EF4-FFF2-40B4-BE49-F238E27FC236}">
                <a16:creationId xmlns:a16="http://schemas.microsoft.com/office/drawing/2014/main" id="{48AB2999-3AA3-B604-62AE-FC9F25DBF347}"/>
              </a:ext>
            </a:extLst>
          </p:cNvPr>
          <p:cNvSpPr/>
          <p:nvPr/>
        </p:nvSpPr>
        <p:spPr>
          <a:xfrm>
            <a:off x="9354643" y="3180176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E18A446F-B2C9-94CB-3D7C-347747C69CD8}"/>
              </a:ext>
            </a:extLst>
          </p:cNvPr>
          <p:cNvSpPr/>
          <p:nvPr/>
        </p:nvSpPr>
        <p:spPr>
          <a:xfrm>
            <a:off x="9720817" y="3525406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598BE3D2-40D1-3EBE-BDCD-426015862144}"/>
              </a:ext>
            </a:extLst>
          </p:cNvPr>
          <p:cNvSpPr/>
          <p:nvPr/>
        </p:nvSpPr>
        <p:spPr>
          <a:xfrm>
            <a:off x="9449760" y="4005235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D7881E2A-F169-20C5-A268-A4EA845864DE}"/>
              </a:ext>
            </a:extLst>
          </p:cNvPr>
          <p:cNvSpPr/>
          <p:nvPr/>
        </p:nvSpPr>
        <p:spPr>
          <a:xfrm>
            <a:off x="10319156" y="3308802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E452426B-98ED-4D84-97F4-D9F2B9B111A2}"/>
              </a:ext>
            </a:extLst>
          </p:cNvPr>
          <p:cNvSpPr/>
          <p:nvPr/>
        </p:nvSpPr>
        <p:spPr>
          <a:xfrm>
            <a:off x="10436776" y="3964584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CF6C362E-2486-3086-4631-5AB063D460DD}"/>
              </a:ext>
            </a:extLst>
          </p:cNvPr>
          <p:cNvSpPr/>
          <p:nvPr/>
        </p:nvSpPr>
        <p:spPr>
          <a:xfrm>
            <a:off x="10006168" y="3805927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59D79D7B-25D7-630D-CBCB-A0D8E6A53E71}"/>
              </a:ext>
            </a:extLst>
          </p:cNvPr>
          <p:cNvSpPr/>
          <p:nvPr/>
        </p:nvSpPr>
        <p:spPr>
          <a:xfrm>
            <a:off x="10006168" y="4238432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B2A9D756-11B4-C496-E740-8C7D4A294E47}"/>
              </a:ext>
            </a:extLst>
          </p:cNvPr>
          <p:cNvSpPr/>
          <p:nvPr/>
        </p:nvSpPr>
        <p:spPr>
          <a:xfrm>
            <a:off x="9911051" y="3112711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2CFCA9E6-1F7B-91AB-12A8-72835CA6EFE2}"/>
              </a:ext>
            </a:extLst>
          </p:cNvPr>
          <p:cNvSpPr/>
          <p:nvPr/>
        </p:nvSpPr>
        <p:spPr>
          <a:xfrm>
            <a:off x="10406593" y="3642518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lt1"/>
              </a:solidFill>
            </a:endParaRPr>
          </a:p>
        </p:txBody>
      </p:sp>
      <p:sp>
        <p:nvSpPr>
          <p:cNvPr id="70" name="任意多边形: 形状 69">
            <a:extLst>
              <a:ext uri="{FF2B5EF4-FFF2-40B4-BE49-F238E27FC236}">
                <a16:creationId xmlns:a16="http://schemas.microsoft.com/office/drawing/2014/main" id="{04714A34-2082-45DB-4AA3-5136FBC672A4}"/>
              </a:ext>
            </a:extLst>
          </p:cNvPr>
          <p:cNvSpPr/>
          <p:nvPr/>
        </p:nvSpPr>
        <p:spPr>
          <a:xfrm>
            <a:off x="5622434" y="3044127"/>
            <a:ext cx="803935" cy="1368532"/>
          </a:xfrm>
          <a:custGeom>
            <a:avLst/>
            <a:gdLst>
              <a:gd name="connsiteX0" fmla="*/ 0 w 1110781"/>
              <a:gd name="connsiteY0" fmla="*/ 811307 h 811307"/>
              <a:gd name="connsiteX1" fmla="*/ 368215 w 1110781"/>
              <a:gd name="connsiteY1" fmla="*/ 142383 h 811307"/>
              <a:gd name="connsiteX2" fmla="*/ 1110781 w 1110781"/>
              <a:gd name="connsiteY2" fmla="*/ 1234 h 811307"/>
              <a:gd name="connsiteX0" fmla="*/ 0 w 871441"/>
              <a:gd name="connsiteY0" fmla="*/ 1521993 h 1521993"/>
              <a:gd name="connsiteX1" fmla="*/ 368215 w 871441"/>
              <a:gd name="connsiteY1" fmla="*/ 853069 h 1521993"/>
              <a:gd name="connsiteX2" fmla="*/ 871441 w 871441"/>
              <a:gd name="connsiteY2" fmla="*/ 38 h 1521993"/>
              <a:gd name="connsiteX0" fmla="*/ 0 w 871441"/>
              <a:gd name="connsiteY0" fmla="*/ 1521993 h 1521993"/>
              <a:gd name="connsiteX1" fmla="*/ 362078 w 871441"/>
              <a:gd name="connsiteY1" fmla="*/ 871480 h 1521993"/>
              <a:gd name="connsiteX2" fmla="*/ 871441 w 871441"/>
              <a:gd name="connsiteY2" fmla="*/ 38 h 1521993"/>
              <a:gd name="connsiteX0" fmla="*/ 0 w 871441"/>
              <a:gd name="connsiteY0" fmla="*/ 1522002 h 1522002"/>
              <a:gd name="connsiteX1" fmla="*/ 362078 w 871441"/>
              <a:gd name="connsiteY1" fmla="*/ 871489 h 1522002"/>
              <a:gd name="connsiteX2" fmla="*/ 871441 w 871441"/>
              <a:gd name="connsiteY2" fmla="*/ 47 h 1522002"/>
              <a:gd name="connsiteX0" fmla="*/ 0 w 871441"/>
              <a:gd name="connsiteY0" fmla="*/ 1522002 h 1522002"/>
              <a:gd name="connsiteX1" fmla="*/ 362078 w 871441"/>
              <a:gd name="connsiteY1" fmla="*/ 871489 h 1522002"/>
              <a:gd name="connsiteX2" fmla="*/ 871441 w 871441"/>
              <a:gd name="connsiteY2" fmla="*/ 47 h 1522002"/>
              <a:gd name="connsiteX0" fmla="*/ 0 w 871441"/>
              <a:gd name="connsiteY0" fmla="*/ 1522002 h 1522002"/>
              <a:gd name="connsiteX1" fmla="*/ 362078 w 871441"/>
              <a:gd name="connsiteY1" fmla="*/ 871489 h 1522002"/>
              <a:gd name="connsiteX2" fmla="*/ 871441 w 871441"/>
              <a:gd name="connsiteY2" fmla="*/ 47 h 1522002"/>
              <a:gd name="connsiteX0" fmla="*/ 0 w 791661"/>
              <a:gd name="connsiteY0" fmla="*/ 1319510 h 1319510"/>
              <a:gd name="connsiteX1" fmla="*/ 362078 w 791661"/>
              <a:gd name="connsiteY1" fmla="*/ 668997 h 1319510"/>
              <a:gd name="connsiteX2" fmla="*/ 791661 w 791661"/>
              <a:gd name="connsiteY2" fmla="*/ 73 h 1319510"/>
              <a:gd name="connsiteX0" fmla="*/ 0 w 791661"/>
              <a:gd name="connsiteY0" fmla="*/ 1319510 h 1319510"/>
              <a:gd name="connsiteX1" fmla="*/ 362078 w 791661"/>
              <a:gd name="connsiteY1" fmla="*/ 668997 h 1319510"/>
              <a:gd name="connsiteX2" fmla="*/ 791661 w 791661"/>
              <a:gd name="connsiteY2" fmla="*/ 73 h 1319510"/>
              <a:gd name="connsiteX0" fmla="*/ 0 w 791661"/>
              <a:gd name="connsiteY0" fmla="*/ 1319539 h 1319539"/>
              <a:gd name="connsiteX1" fmla="*/ 362078 w 791661"/>
              <a:gd name="connsiteY1" fmla="*/ 669026 h 1319539"/>
              <a:gd name="connsiteX2" fmla="*/ 791661 w 791661"/>
              <a:gd name="connsiteY2" fmla="*/ 102 h 1319539"/>
              <a:gd name="connsiteX0" fmla="*/ 0 w 791661"/>
              <a:gd name="connsiteY0" fmla="*/ 1319437 h 1319437"/>
              <a:gd name="connsiteX1" fmla="*/ 362078 w 791661"/>
              <a:gd name="connsiteY1" fmla="*/ 668924 h 1319437"/>
              <a:gd name="connsiteX2" fmla="*/ 791661 w 791661"/>
              <a:gd name="connsiteY2" fmla="*/ 0 h 1319437"/>
              <a:gd name="connsiteX0" fmla="*/ 0 w 803935"/>
              <a:gd name="connsiteY0" fmla="*/ 1368532 h 1368532"/>
              <a:gd name="connsiteX1" fmla="*/ 374352 w 803935"/>
              <a:gd name="connsiteY1" fmla="*/ 668924 h 1368532"/>
              <a:gd name="connsiteX2" fmla="*/ 803935 w 803935"/>
              <a:gd name="connsiteY2" fmla="*/ 0 h 1368532"/>
              <a:gd name="connsiteX0" fmla="*/ 0 w 803935"/>
              <a:gd name="connsiteY0" fmla="*/ 1368532 h 1368532"/>
              <a:gd name="connsiteX1" fmla="*/ 374352 w 803935"/>
              <a:gd name="connsiteY1" fmla="*/ 668924 h 1368532"/>
              <a:gd name="connsiteX2" fmla="*/ 803935 w 803935"/>
              <a:gd name="connsiteY2" fmla="*/ 0 h 136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3935" h="1368532">
                <a:moveTo>
                  <a:pt x="0" y="1368532"/>
                </a:moveTo>
                <a:cubicBezTo>
                  <a:pt x="244966" y="1052481"/>
                  <a:pt x="244454" y="1055549"/>
                  <a:pt x="374352" y="668924"/>
                </a:cubicBezTo>
                <a:cubicBezTo>
                  <a:pt x="498113" y="263888"/>
                  <a:pt x="528797" y="233202"/>
                  <a:pt x="803935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1673A7AE-A1D4-B74E-1863-0252D4CC2C0F}"/>
              </a:ext>
            </a:extLst>
          </p:cNvPr>
          <p:cNvCxnSpPr>
            <a:cxnSpLocks/>
          </p:cNvCxnSpPr>
          <p:nvPr/>
        </p:nvCxnSpPr>
        <p:spPr>
          <a:xfrm flipV="1">
            <a:off x="5153994" y="2996433"/>
            <a:ext cx="0" cy="15342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1C7AE8C4-41F4-947B-6489-CA1A1B235B57}"/>
              </a:ext>
            </a:extLst>
          </p:cNvPr>
          <p:cNvCxnSpPr>
            <a:cxnSpLocks/>
          </p:cNvCxnSpPr>
          <p:nvPr/>
        </p:nvCxnSpPr>
        <p:spPr>
          <a:xfrm>
            <a:off x="5153994" y="4530661"/>
            <a:ext cx="17306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3" name="椭圆 72">
            <a:extLst>
              <a:ext uri="{FF2B5EF4-FFF2-40B4-BE49-F238E27FC236}">
                <a16:creationId xmlns:a16="http://schemas.microsoft.com/office/drawing/2014/main" id="{19F5DC74-174D-6C2A-D3EA-D64131FDD4AF}"/>
              </a:ext>
            </a:extLst>
          </p:cNvPr>
          <p:cNvSpPr/>
          <p:nvPr/>
        </p:nvSpPr>
        <p:spPr>
          <a:xfrm>
            <a:off x="5349358" y="3180176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279C8E3E-37E4-25CD-FD08-09F9A4019BF5}"/>
              </a:ext>
            </a:extLst>
          </p:cNvPr>
          <p:cNvSpPr/>
          <p:nvPr/>
        </p:nvSpPr>
        <p:spPr>
          <a:xfrm>
            <a:off x="5715532" y="3525406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0F3D1C52-CA8C-F62C-358D-97CDE72D4FC5}"/>
              </a:ext>
            </a:extLst>
          </p:cNvPr>
          <p:cNvSpPr/>
          <p:nvPr/>
        </p:nvSpPr>
        <p:spPr>
          <a:xfrm>
            <a:off x="5444475" y="4005235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827522EA-F407-104F-5BE8-9B9A9E37BFC3}"/>
              </a:ext>
            </a:extLst>
          </p:cNvPr>
          <p:cNvSpPr/>
          <p:nvPr/>
        </p:nvSpPr>
        <p:spPr>
          <a:xfrm>
            <a:off x="6313871" y="3308802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268DFF26-575E-6B7E-1953-FB9146C1B721}"/>
              </a:ext>
            </a:extLst>
          </p:cNvPr>
          <p:cNvSpPr/>
          <p:nvPr/>
        </p:nvSpPr>
        <p:spPr>
          <a:xfrm>
            <a:off x="6431491" y="3964584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1E68C864-EDD2-585D-EDB2-AB0B8AF55380}"/>
              </a:ext>
            </a:extLst>
          </p:cNvPr>
          <p:cNvSpPr/>
          <p:nvPr/>
        </p:nvSpPr>
        <p:spPr>
          <a:xfrm>
            <a:off x="6000883" y="3805927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322976BE-8E13-B1C0-6B0C-CE0FFEDD8727}"/>
              </a:ext>
            </a:extLst>
          </p:cNvPr>
          <p:cNvSpPr/>
          <p:nvPr/>
        </p:nvSpPr>
        <p:spPr>
          <a:xfrm>
            <a:off x="6000883" y="4238432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22EE1886-54D9-11F3-7880-A4323F6590F6}"/>
              </a:ext>
            </a:extLst>
          </p:cNvPr>
          <p:cNvSpPr/>
          <p:nvPr/>
        </p:nvSpPr>
        <p:spPr>
          <a:xfrm>
            <a:off x="5905766" y="3112711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6FFEC3E4-54E2-4C72-646C-7A12EF8200A6}"/>
              </a:ext>
            </a:extLst>
          </p:cNvPr>
          <p:cNvSpPr/>
          <p:nvPr/>
        </p:nvSpPr>
        <p:spPr>
          <a:xfrm>
            <a:off x="6401308" y="3642518"/>
            <a:ext cx="190234" cy="175952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?</a:t>
            </a:r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27E42A23-03C7-7C4D-075B-E6B72ADA4A4C}"/>
              </a:ext>
            </a:extLst>
          </p:cNvPr>
          <p:cNvCxnSpPr/>
          <p:nvPr/>
        </p:nvCxnSpPr>
        <p:spPr>
          <a:xfrm>
            <a:off x="4432371" y="1000317"/>
            <a:ext cx="128109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5BFF4FFD-84FF-A9F9-2150-415406BD9C4D}"/>
              </a:ext>
            </a:extLst>
          </p:cNvPr>
          <p:cNvSpPr txBox="1"/>
          <p:nvPr/>
        </p:nvSpPr>
        <p:spPr>
          <a:xfrm>
            <a:off x="4652788" y="687199"/>
            <a:ext cx="1024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初始化</a:t>
            </a:r>
          </a:p>
        </p:txBody>
      </p: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78FAB793-4F8A-29DB-9E39-0D0B359367B3}"/>
              </a:ext>
            </a:extLst>
          </p:cNvPr>
          <p:cNvCxnSpPr/>
          <p:nvPr/>
        </p:nvCxnSpPr>
        <p:spPr>
          <a:xfrm>
            <a:off x="6389038" y="1003783"/>
            <a:ext cx="128109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B5EEC50A-F61A-A123-47C0-3A24A294CBE1}"/>
              </a:ext>
            </a:extLst>
          </p:cNvPr>
          <p:cNvSpPr txBox="1"/>
          <p:nvPr/>
        </p:nvSpPr>
        <p:spPr>
          <a:xfrm>
            <a:off x="6646011" y="686151"/>
            <a:ext cx="1024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学习</a:t>
            </a:r>
            <a:r>
              <a:rPr lang="en-US" altLang="zh-CN" sz="1400" dirty="0"/>
              <a:t>….</a:t>
            </a:r>
            <a:endParaRPr lang="zh-CN" altLang="en-US" sz="1400" dirty="0"/>
          </a:p>
        </p:txBody>
      </p: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96BB0904-9818-69FE-EA2B-AD6AAAD47BAB}"/>
              </a:ext>
            </a:extLst>
          </p:cNvPr>
          <p:cNvCxnSpPr/>
          <p:nvPr/>
        </p:nvCxnSpPr>
        <p:spPr>
          <a:xfrm>
            <a:off x="8337045" y="1014899"/>
            <a:ext cx="128109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5A739E72-00B8-DB71-886B-9855E3ACB34A}"/>
              </a:ext>
            </a:extLst>
          </p:cNvPr>
          <p:cNvSpPr txBox="1"/>
          <p:nvPr/>
        </p:nvSpPr>
        <p:spPr>
          <a:xfrm>
            <a:off x="8713347" y="700408"/>
            <a:ext cx="1024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分类</a:t>
            </a:r>
          </a:p>
        </p:txBody>
      </p: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2E2C0DC8-8C3B-AFE8-5541-22BB2D658619}"/>
              </a:ext>
            </a:extLst>
          </p:cNvPr>
          <p:cNvCxnSpPr>
            <a:cxnSpLocks/>
          </p:cNvCxnSpPr>
          <p:nvPr/>
        </p:nvCxnSpPr>
        <p:spPr>
          <a:xfrm flipH="1" flipV="1">
            <a:off x="11079731" y="1557487"/>
            <a:ext cx="23569" cy="2638079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9" name="文本框 148">
            <a:extLst>
              <a:ext uri="{FF2B5EF4-FFF2-40B4-BE49-F238E27FC236}">
                <a16:creationId xmlns:a16="http://schemas.microsoft.com/office/drawing/2014/main" id="{4094E8CE-AE46-32B6-35EC-7C9ADAD7CDEC}"/>
              </a:ext>
            </a:extLst>
          </p:cNvPr>
          <p:cNvSpPr txBox="1"/>
          <p:nvPr/>
        </p:nvSpPr>
        <p:spPr>
          <a:xfrm>
            <a:off x="11058647" y="2432561"/>
            <a:ext cx="461665" cy="125244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/>
              <a:t>核函数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89D09A03-AFD3-2435-718A-8786CF212E23}"/>
              </a:ext>
            </a:extLst>
          </p:cNvPr>
          <p:cNvSpPr txBox="1"/>
          <p:nvPr/>
        </p:nvSpPr>
        <p:spPr>
          <a:xfrm>
            <a:off x="485999" y="3759988"/>
            <a:ext cx="2925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寻找超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曲</a:t>
            </a:r>
            <a:r>
              <a:rPr lang="zh-CN" altLang="en-US" sz="1600" dirty="0"/>
              <a:t>面</a:t>
            </a:r>
            <a:endParaRPr lang="en-US" altLang="zh-CN" sz="1600" dirty="0"/>
          </a:p>
          <a:p>
            <a:r>
              <a:rPr lang="zh-CN" altLang="en-US" sz="1600" dirty="0"/>
              <a:t>可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多</a:t>
            </a:r>
            <a:r>
              <a:rPr lang="zh-CN" altLang="en-US" sz="1600" dirty="0"/>
              <a:t>分类</a:t>
            </a:r>
            <a:endParaRPr lang="en-US" altLang="zh-CN" sz="1600" dirty="0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20E16E13-1021-49FA-21F6-5D093BB6E1AE}"/>
              </a:ext>
            </a:extLst>
          </p:cNvPr>
          <p:cNvSpPr/>
          <p:nvPr/>
        </p:nvSpPr>
        <p:spPr>
          <a:xfrm>
            <a:off x="466333" y="4802446"/>
            <a:ext cx="1368531" cy="638333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6A66CD0A-716E-5EC9-509F-AC183722FF40}"/>
              </a:ext>
            </a:extLst>
          </p:cNvPr>
          <p:cNvSpPr txBox="1"/>
          <p:nvPr/>
        </p:nvSpPr>
        <p:spPr>
          <a:xfrm>
            <a:off x="864218" y="4812263"/>
            <a:ext cx="1013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FC 1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6" name="椭圆 155">
            <a:extLst>
              <a:ext uri="{FF2B5EF4-FFF2-40B4-BE49-F238E27FC236}">
                <a16:creationId xmlns:a16="http://schemas.microsoft.com/office/drawing/2014/main" id="{8453B00A-E2CF-0014-BD9F-93AE0EA62312}"/>
              </a:ext>
            </a:extLst>
          </p:cNvPr>
          <p:cNvSpPr/>
          <p:nvPr/>
        </p:nvSpPr>
        <p:spPr>
          <a:xfrm>
            <a:off x="561779" y="5165639"/>
            <a:ext cx="203151" cy="1948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椭圆 156">
            <a:extLst>
              <a:ext uri="{FF2B5EF4-FFF2-40B4-BE49-F238E27FC236}">
                <a16:creationId xmlns:a16="http://schemas.microsoft.com/office/drawing/2014/main" id="{D9B5A56A-9942-320A-E637-D3CF12284A2A}"/>
              </a:ext>
            </a:extLst>
          </p:cNvPr>
          <p:cNvSpPr/>
          <p:nvPr/>
        </p:nvSpPr>
        <p:spPr>
          <a:xfrm>
            <a:off x="1056016" y="5162478"/>
            <a:ext cx="203151" cy="1948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椭圆 157">
            <a:extLst>
              <a:ext uri="{FF2B5EF4-FFF2-40B4-BE49-F238E27FC236}">
                <a16:creationId xmlns:a16="http://schemas.microsoft.com/office/drawing/2014/main" id="{AAC1A3CF-71D2-1FD2-141D-71ED53C085F5}"/>
              </a:ext>
            </a:extLst>
          </p:cNvPr>
          <p:cNvSpPr/>
          <p:nvPr/>
        </p:nvSpPr>
        <p:spPr>
          <a:xfrm>
            <a:off x="1550253" y="5150817"/>
            <a:ext cx="203151" cy="1948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097D6F54-E62A-128D-C783-8D96F2D8DFD7}"/>
              </a:ext>
            </a:extLst>
          </p:cNvPr>
          <p:cNvSpPr/>
          <p:nvPr/>
        </p:nvSpPr>
        <p:spPr>
          <a:xfrm>
            <a:off x="466333" y="5523090"/>
            <a:ext cx="1368531" cy="58784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93363D77-27B0-1AF3-777A-4D990C2AB1EF}"/>
              </a:ext>
            </a:extLst>
          </p:cNvPr>
          <p:cNvSpPr txBox="1"/>
          <p:nvPr/>
        </p:nvSpPr>
        <p:spPr>
          <a:xfrm>
            <a:off x="849454" y="5775297"/>
            <a:ext cx="1013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FC 2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1" name="椭圆 160">
            <a:extLst>
              <a:ext uri="{FF2B5EF4-FFF2-40B4-BE49-F238E27FC236}">
                <a16:creationId xmlns:a16="http://schemas.microsoft.com/office/drawing/2014/main" id="{DB48AAF4-CD24-EC2A-B35C-20343F0204E4}"/>
              </a:ext>
            </a:extLst>
          </p:cNvPr>
          <p:cNvSpPr/>
          <p:nvPr/>
        </p:nvSpPr>
        <p:spPr>
          <a:xfrm>
            <a:off x="563233" y="5589091"/>
            <a:ext cx="203151" cy="1948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椭圆 161">
            <a:extLst>
              <a:ext uri="{FF2B5EF4-FFF2-40B4-BE49-F238E27FC236}">
                <a16:creationId xmlns:a16="http://schemas.microsoft.com/office/drawing/2014/main" id="{B1BAB6D7-5315-80C5-C96C-6F42502D654C}"/>
              </a:ext>
            </a:extLst>
          </p:cNvPr>
          <p:cNvSpPr/>
          <p:nvPr/>
        </p:nvSpPr>
        <p:spPr>
          <a:xfrm>
            <a:off x="1057470" y="5585930"/>
            <a:ext cx="203151" cy="1948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椭圆 162">
            <a:extLst>
              <a:ext uri="{FF2B5EF4-FFF2-40B4-BE49-F238E27FC236}">
                <a16:creationId xmlns:a16="http://schemas.microsoft.com/office/drawing/2014/main" id="{DB66BCAB-CFB2-1A52-D136-C975D1A54BD4}"/>
              </a:ext>
            </a:extLst>
          </p:cNvPr>
          <p:cNvSpPr/>
          <p:nvPr/>
        </p:nvSpPr>
        <p:spPr>
          <a:xfrm>
            <a:off x="1551707" y="5574269"/>
            <a:ext cx="203151" cy="1948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A418B5BB-856A-307A-FC1C-7D3379D7795E}"/>
              </a:ext>
            </a:extLst>
          </p:cNvPr>
          <p:cNvCxnSpPr>
            <a:stCxn id="156" idx="4"/>
            <a:endCxn id="162" idx="0"/>
          </p:cNvCxnSpPr>
          <p:nvPr/>
        </p:nvCxnSpPr>
        <p:spPr>
          <a:xfrm>
            <a:off x="663355" y="5360467"/>
            <a:ext cx="495691" cy="2254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81020985-DC8C-F9E4-6805-C56A92AE2655}"/>
              </a:ext>
            </a:extLst>
          </p:cNvPr>
          <p:cNvCxnSpPr>
            <a:cxnSpLocks/>
            <a:stCxn id="157" idx="4"/>
            <a:endCxn id="162" idx="0"/>
          </p:cNvCxnSpPr>
          <p:nvPr/>
        </p:nvCxnSpPr>
        <p:spPr>
          <a:xfrm>
            <a:off x="1157592" y="5357306"/>
            <a:ext cx="1454" cy="228624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293DD759-B015-994E-8030-3E702CE34F68}"/>
              </a:ext>
            </a:extLst>
          </p:cNvPr>
          <p:cNvCxnSpPr>
            <a:cxnSpLocks/>
            <a:stCxn id="158" idx="4"/>
            <a:endCxn id="162" idx="0"/>
          </p:cNvCxnSpPr>
          <p:nvPr/>
        </p:nvCxnSpPr>
        <p:spPr>
          <a:xfrm flipH="1">
            <a:off x="1159046" y="5345645"/>
            <a:ext cx="492783" cy="240285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7" name="直接连接符 166">
            <a:extLst>
              <a:ext uri="{FF2B5EF4-FFF2-40B4-BE49-F238E27FC236}">
                <a16:creationId xmlns:a16="http://schemas.microsoft.com/office/drawing/2014/main" id="{9DC1A27D-D0DF-6A1B-D385-B46E6B13D387}"/>
              </a:ext>
            </a:extLst>
          </p:cNvPr>
          <p:cNvCxnSpPr>
            <a:cxnSpLocks/>
            <a:stCxn id="156" idx="4"/>
            <a:endCxn id="161" idx="0"/>
          </p:cNvCxnSpPr>
          <p:nvPr/>
        </p:nvCxnSpPr>
        <p:spPr>
          <a:xfrm>
            <a:off x="663355" y="5360467"/>
            <a:ext cx="1454" cy="228624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8" name="直接连接符 167">
            <a:extLst>
              <a:ext uri="{FF2B5EF4-FFF2-40B4-BE49-F238E27FC236}">
                <a16:creationId xmlns:a16="http://schemas.microsoft.com/office/drawing/2014/main" id="{A6BE80AE-0F4D-71C4-76EB-A747AEF81444}"/>
              </a:ext>
            </a:extLst>
          </p:cNvPr>
          <p:cNvCxnSpPr>
            <a:cxnSpLocks/>
            <a:stCxn id="157" idx="4"/>
            <a:endCxn id="161" idx="0"/>
          </p:cNvCxnSpPr>
          <p:nvPr/>
        </p:nvCxnSpPr>
        <p:spPr>
          <a:xfrm flipH="1">
            <a:off x="664809" y="5357306"/>
            <a:ext cx="492783" cy="231785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9" name="直接连接符 168">
            <a:extLst>
              <a:ext uri="{FF2B5EF4-FFF2-40B4-BE49-F238E27FC236}">
                <a16:creationId xmlns:a16="http://schemas.microsoft.com/office/drawing/2014/main" id="{BCE2DDF4-B859-997F-C417-1D979FE442DB}"/>
              </a:ext>
            </a:extLst>
          </p:cNvPr>
          <p:cNvCxnSpPr>
            <a:cxnSpLocks/>
            <a:stCxn id="158" idx="4"/>
            <a:endCxn id="163" idx="0"/>
          </p:cNvCxnSpPr>
          <p:nvPr/>
        </p:nvCxnSpPr>
        <p:spPr>
          <a:xfrm>
            <a:off x="1651829" y="5345645"/>
            <a:ext cx="1454" cy="228624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B1215F55-EF51-EFAF-3889-80C954A3EFCD}"/>
              </a:ext>
            </a:extLst>
          </p:cNvPr>
          <p:cNvCxnSpPr>
            <a:cxnSpLocks/>
            <a:stCxn id="157" idx="4"/>
            <a:endCxn id="163" idx="0"/>
          </p:cNvCxnSpPr>
          <p:nvPr/>
        </p:nvCxnSpPr>
        <p:spPr>
          <a:xfrm>
            <a:off x="1157592" y="5357306"/>
            <a:ext cx="495691" cy="2169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0F2166FD-D6E0-3F2D-B970-C8FA69580DEF}"/>
              </a:ext>
            </a:extLst>
          </p:cNvPr>
          <p:cNvCxnSpPr>
            <a:cxnSpLocks/>
            <a:stCxn id="158" idx="4"/>
            <a:endCxn id="161" idx="0"/>
          </p:cNvCxnSpPr>
          <p:nvPr/>
        </p:nvCxnSpPr>
        <p:spPr>
          <a:xfrm flipH="1">
            <a:off x="664809" y="5345645"/>
            <a:ext cx="987020" cy="243446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74998460-EA8D-96CE-5951-8F75F37BCC6B}"/>
              </a:ext>
            </a:extLst>
          </p:cNvPr>
          <p:cNvCxnSpPr>
            <a:cxnSpLocks/>
            <a:stCxn id="156" idx="4"/>
            <a:endCxn id="163" idx="0"/>
          </p:cNvCxnSpPr>
          <p:nvPr/>
        </p:nvCxnSpPr>
        <p:spPr>
          <a:xfrm>
            <a:off x="663355" y="5360467"/>
            <a:ext cx="989928" cy="213802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3" name="矩形 172">
            <a:extLst>
              <a:ext uri="{FF2B5EF4-FFF2-40B4-BE49-F238E27FC236}">
                <a16:creationId xmlns:a16="http://schemas.microsoft.com/office/drawing/2014/main" id="{DF2D9237-6125-836B-09F3-53C4CA92A84D}"/>
              </a:ext>
            </a:extLst>
          </p:cNvPr>
          <p:cNvSpPr/>
          <p:nvPr/>
        </p:nvSpPr>
        <p:spPr>
          <a:xfrm>
            <a:off x="472467" y="6249012"/>
            <a:ext cx="1368531" cy="369332"/>
          </a:xfrm>
          <a:prstGeom prst="rect">
            <a:avLst/>
          </a:prstGeom>
          <a:ln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Softmax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anose="02060603020205020403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FA98F03D-39B2-ED55-42C4-CFA80DD8534B}"/>
              </a:ext>
            </a:extLst>
          </p:cNvPr>
          <p:cNvSpPr/>
          <p:nvPr/>
        </p:nvSpPr>
        <p:spPr>
          <a:xfrm>
            <a:off x="2241507" y="4806211"/>
            <a:ext cx="1424265" cy="1852335"/>
          </a:xfrm>
          <a:prstGeom prst="rect">
            <a:avLst/>
          </a:prstGeom>
          <a:ln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anose="02060603020205020403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6EF3917E-9242-F6DB-2FC0-C3D220A44B3C}"/>
              </a:ext>
            </a:extLst>
          </p:cNvPr>
          <p:cNvSpPr/>
          <p:nvPr/>
        </p:nvSpPr>
        <p:spPr>
          <a:xfrm>
            <a:off x="2313616" y="4872709"/>
            <a:ext cx="1288744" cy="31804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</a:rPr>
              <a:t>Class 1 SVM</a:t>
            </a:r>
            <a:endParaRPr lang="zh-CN" alt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DC3E9493-A1A3-F05B-3B7E-1BBBD9E43B11}"/>
              </a:ext>
            </a:extLst>
          </p:cNvPr>
          <p:cNvSpPr/>
          <p:nvPr/>
        </p:nvSpPr>
        <p:spPr>
          <a:xfrm>
            <a:off x="2313619" y="5257231"/>
            <a:ext cx="1288744" cy="31804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</a:rPr>
              <a:t>Class 2 SVM</a:t>
            </a:r>
            <a:endParaRPr lang="zh-CN" alt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D0F4D782-16CE-652B-B95C-F8E1509110AE}"/>
              </a:ext>
            </a:extLst>
          </p:cNvPr>
          <p:cNvSpPr/>
          <p:nvPr/>
        </p:nvSpPr>
        <p:spPr>
          <a:xfrm>
            <a:off x="2313611" y="6269512"/>
            <a:ext cx="1288744" cy="31804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</a:rPr>
              <a:t>Class 21 SVM</a:t>
            </a:r>
            <a:endParaRPr lang="zh-CN" alt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F0CD1863-892F-DB4B-5A44-A34F84205EEC}"/>
              </a:ext>
            </a:extLst>
          </p:cNvPr>
          <p:cNvSpPr txBox="1"/>
          <p:nvPr/>
        </p:nvSpPr>
        <p:spPr>
          <a:xfrm>
            <a:off x="2816466" y="5719573"/>
            <a:ext cx="461665" cy="3810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….</a:t>
            </a:r>
            <a:endParaRPr lang="zh-CN" altLang="en-US" dirty="0"/>
          </a:p>
        </p:txBody>
      </p:sp>
      <p:cxnSp>
        <p:nvCxnSpPr>
          <p:cNvPr id="181" name="连接符: 肘形 180">
            <a:extLst>
              <a:ext uri="{FF2B5EF4-FFF2-40B4-BE49-F238E27FC236}">
                <a16:creationId xmlns:a16="http://schemas.microsoft.com/office/drawing/2014/main" id="{70EF471E-3AA1-835C-E287-0843F17D8FE1}"/>
              </a:ext>
            </a:extLst>
          </p:cNvPr>
          <p:cNvCxnSpPr>
            <a:stCxn id="173" idx="3"/>
            <a:endCxn id="175" idx="1"/>
          </p:cNvCxnSpPr>
          <p:nvPr/>
        </p:nvCxnSpPr>
        <p:spPr>
          <a:xfrm flipV="1">
            <a:off x="1840998" y="5732379"/>
            <a:ext cx="400509" cy="70129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2" name="文本框 181">
            <a:extLst>
              <a:ext uri="{FF2B5EF4-FFF2-40B4-BE49-F238E27FC236}">
                <a16:creationId xmlns:a16="http://schemas.microsoft.com/office/drawing/2014/main" id="{3951317E-5B06-5A65-A78B-6363BDD490C0}"/>
              </a:ext>
            </a:extLst>
          </p:cNvPr>
          <p:cNvSpPr txBox="1"/>
          <p:nvPr/>
        </p:nvSpPr>
        <p:spPr>
          <a:xfrm>
            <a:off x="3957280" y="5540833"/>
            <a:ext cx="46527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因为有标签样本少，训练二分类</a:t>
            </a:r>
            <a:r>
              <a:rPr lang="en-US" altLang="zh-CN" sz="1600" dirty="0"/>
              <a:t>SVM</a:t>
            </a:r>
            <a:r>
              <a:rPr lang="zh-CN" altLang="en-US" sz="1600" dirty="0"/>
              <a:t>效果更好</a:t>
            </a:r>
            <a:endParaRPr lang="en-US" altLang="zh-CN" sz="16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0609BB0-C782-4651-7BE1-52981717A02C}"/>
              </a:ext>
            </a:extLst>
          </p:cNvPr>
          <p:cNvSpPr txBox="1"/>
          <p:nvPr/>
        </p:nvSpPr>
        <p:spPr>
          <a:xfrm>
            <a:off x="5803436" y="5903783"/>
            <a:ext cx="46527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负难样本挖掘</a:t>
            </a:r>
            <a:endParaRPr lang="en-US" altLang="zh-CN" sz="1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FB6199F-B3BC-2D39-4C68-25BFD54F68D3}"/>
              </a:ext>
            </a:extLst>
          </p:cNvPr>
          <p:cNvSpPr txBox="1"/>
          <p:nvPr/>
        </p:nvSpPr>
        <p:spPr>
          <a:xfrm>
            <a:off x="395834" y="1321773"/>
            <a:ext cx="292574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SVM</a:t>
            </a:r>
          </a:p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S</a:t>
            </a:r>
            <a:r>
              <a:rPr lang="en-US" altLang="zh-CN" dirty="0"/>
              <a:t>upport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V</a:t>
            </a:r>
            <a:r>
              <a:rPr lang="en-US" altLang="zh-CN" dirty="0"/>
              <a:t>ector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M</a:t>
            </a:r>
            <a:r>
              <a:rPr lang="en-US" altLang="zh-CN" dirty="0"/>
              <a:t>achines</a:t>
            </a:r>
            <a:endParaRPr lang="en-US" altLang="zh-CN" sz="1600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C83A70A-7C6A-4ACA-D96B-3BA8D04F6772}"/>
              </a:ext>
            </a:extLst>
          </p:cNvPr>
          <p:cNvCxnSpPr>
            <a:cxnSpLocks/>
          </p:cNvCxnSpPr>
          <p:nvPr/>
        </p:nvCxnSpPr>
        <p:spPr>
          <a:xfrm flipV="1">
            <a:off x="3208723" y="1187833"/>
            <a:ext cx="0" cy="15342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E51C7F9-83D8-5FDE-685D-3040C40B0DFF}"/>
              </a:ext>
            </a:extLst>
          </p:cNvPr>
          <p:cNvCxnSpPr>
            <a:cxnSpLocks/>
          </p:cNvCxnSpPr>
          <p:nvPr/>
        </p:nvCxnSpPr>
        <p:spPr>
          <a:xfrm>
            <a:off x="3208723" y="2722061"/>
            <a:ext cx="17306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6C57F9DF-6CA8-36E7-1A2B-9E96FD6978C3}"/>
              </a:ext>
            </a:extLst>
          </p:cNvPr>
          <p:cNvSpPr/>
          <p:nvPr/>
        </p:nvSpPr>
        <p:spPr>
          <a:xfrm>
            <a:off x="3404087" y="1371576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D6787AB-8536-C906-6056-8CACDB43AD9B}"/>
              </a:ext>
            </a:extLst>
          </p:cNvPr>
          <p:cNvSpPr/>
          <p:nvPr/>
        </p:nvSpPr>
        <p:spPr>
          <a:xfrm>
            <a:off x="3770261" y="1716806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33FB44A8-46BB-23FE-DFE7-724E566956C6}"/>
              </a:ext>
            </a:extLst>
          </p:cNvPr>
          <p:cNvSpPr/>
          <p:nvPr/>
        </p:nvSpPr>
        <p:spPr>
          <a:xfrm>
            <a:off x="3499204" y="2196635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DF319623-F60F-C80A-2615-DAA87F67DAE1}"/>
              </a:ext>
            </a:extLst>
          </p:cNvPr>
          <p:cNvSpPr/>
          <p:nvPr/>
        </p:nvSpPr>
        <p:spPr>
          <a:xfrm>
            <a:off x="4368600" y="1500202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514485D8-0489-55C5-B5F6-7D59BF8057CA}"/>
              </a:ext>
            </a:extLst>
          </p:cNvPr>
          <p:cNvSpPr/>
          <p:nvPr/>
        </p:nvSpPr>
        <p:spPr>
          <a:xfrm>
            <a:off x="4486220" y="2155984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31595D7E-3724-0FD3-E216-477F69C19765}"/>
              </a:ext>
            </a:extLst>
          </p:cNvPr>
          <p:cNvSpPr/>
          <p:nvPr/>
        </p:nvSpPr>
        <p:spPr>
          <a:xfrm>
            <a:off x="4058670" y="2126147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BAD3CE57-F46D-9841-650E-B430E2A5AE10}"/>
              </a:ext>
            </a:extLst>
          </p:cNvPr>
          <p:cNvSpPr/>
          <p:nvPr/>
        </p:nvSpPr>
        <p:spPr>
          <a:xfrm>
            <a:off x="4055612" y="2429832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F83F3BF3-BEF8-2B5D-F0F9-233337C7D845}"/>
              </a:ext>
            </a:extLst>
          </p:cNvPr>
          <p:cNvSpPr/>
          <p:nvPr/>
        </p:nvSpPr>
        <p:spPr>
          <a:xfrm>
            <a:off x="3960495" y="1304111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868DF53A-42E6-1551-4A94-F1C025C430F1}"/>
              </a:ext>
            </a:extLst>
          </p:cNvPr>
          <p:cNvSpPr/>
          <p:nvPr/>
        </p:nvSpPr>
        <p:spPr>
          <a:xfrm>
            <a:off x="4456037" y="1833918"/>
            <a:ext cx="190234" cy="175952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?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10B3B75C-BD38-9F17-709F-D78B2D784C15}"/>
              </a:ext>
            </a:extLst>
          </p:cNvPr>
          <p:cNvCxnSpPr>
            <a:cxnSpLocks/>
          </p:cNvCxnSpPr>
          <p:nvPr/>
        </p:nvCxnSpPr>
        <p:spPr>
          <a:xfrm flipV="1">
            <a:off x="7145518" y="1187833"/>
            <a:ext cx="0" cy="15342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A4ED06B3-E372-A251-3AD0-9B472C3B2799}"/>
              </a:ext>
            </a:extLst>
          </p:cNvPr>
          <p:cNvCxnSpPr>
            <a:cxnSpLocks/>
          </p:cNvCxnSpPr>
          <p:nvPr/>
        </p:nvCxnSpPr>
        <p:spPr>
          <a:xfrm>
            <a:off x="7145518" y="2722061"/>
            <a:ext cx="17306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椭圆 29">
            <a:extLst>
              <a:ext uri="{FF2B5EF4-FFF2-40B4-BE49-F238E27FC236}">
                <a16:creationId xmlns:a16="http://schemas.microsoft.com/office/drawing/2014/main" id="{148EE3B9-AA3B-5981-88AF-45D5AA06F850}"/>
              </a:ext>
            </a:extLst>
          </p:cNvPr>
          <p:cNvSpPr/>
          <p:nvPr/>
        </p:nvSpPr>
        <p:spPr>
          <a:xfrm>
            <a:off x="7340882" y="1371576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5E552581-54EA-FCFA-F18A-952DBFFFB322}"/>
              </a:ext>
            </a:extLst>
          </p:cNvPr>
          <p:cNvSpPr/>
          <p:nvPr/>
        </p:nvSpPr>
        <p:spPr>
          <a:xfrm>
            <a:off x="7707056" y="1716806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93FED6B-74B6-7214-EE5D-24BE6A19C5A4}"/>
              </a:ext>
            </a:extLst>
          </p:cNvPr>
          <p:cNvSpPr/>
          <p:nvPr/>
        </p:nvSpPr>
        <p:spPr>
          <a:xfrm>
            <a:off x="7435999" y="2196635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03DDF2AB-D87B-0F8E-F65B-68691A1B4885}"/>
              </a:ext>
            </a:extLst>
          </p:cNvPr>
          <p:cNvSpPr/>
          <p:nvPr/>
        </p:nvSpPr>
        <p:spPr>
          <a:xfrm>
            <a:off x="8305395" y="1500202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ECC34B1B-3F1A-5DC8-86E4-D834AC6EF23F}"/>
              </a:ext>
            </a:extLst>
          </p:cNvPr>
          <p:cNvSpPr/>
          <p:nvPr/>
        </p:nvSpPr>
        <p:spPr>
          <a:xfrm>
            <a:off x="8423015" y="2155984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F840E89E-6449-398F-4511-5147F365FC19}"/>
              </a:ext>
            </a:extLst>
          </p:cNvPr>
          <p:cNvSpPr/>
          <p:nvPr/>
        </p:nvSpPr>
        <p:spPr>
          <a:xfrm>
            <a:off x="7995465" y="2126147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E7214F1B-3F8F-DCA8-D169-5E063ED33381}"/>
              </a:ext>
            </a:extLst>
          </p:cNvPr>
          <p:cNvSpPr/>
          <p:nvPr/>
        </p:nvSpPr>
        <p:spPr>
          <a:xfrm>
            <a:off x="7992407" y="2429832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D171465C-FA12-10F7-B022-11609BAEC654}"/>
              </a:ext>
            </a:extLst>
          </p:cNvPr>
          <p:cNvSpPr/>
          <p:nvPr/>
        </p:nvSpPr>
        <p:spPr>
          <a:xfrm>
            <a:off x="7897290" y="1304111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3D01F7EF-EBD1-C762-00E2-56D77D2A01E6}"/>
              </a:ext>
            </a:extLst>
          </p:cNvPr>
          <p:cNvSpPr/>
          <p:nvPr/>
        </p:nvSpPr>
        <p:spPr>
          <a:xfrm>
            <a:off x="8392832" y="1833918"/>
            <a:ext cx="190234" cy="175952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?</a:t>
            </a: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B33C94B8-68F4-3FDB-E152-BCE40CD0C1DD}"/>
              </a:ext>
            </a:extLst>
          </p:cNvPr>
          <p:cNvCxnSpPr>
            <a:cxnSpLocks/>
          </p:cNvCxnSpPr>
          <p:nvPr/>
        </p:nvCxnSpPr>
        <p:spPr>
          <a:xfrm flipV="1">
            <a:off x="9129745" y="1187833"/>
            <a:ext cx="0" cy="15342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7E5561A8-D470-C444-12C4-C4EE8B34ABDF}"/>
              </a:ext>
            </a:extLst>
          </p:cNvPr>
          <p:cNvCxnSpPr>
            <a:cxnSpLocks/>
          </p:cNvCxnSpPr>
          <p:nvPr/>
        </p:nvCxnSpPr>
        <p:spPr>
          <a:xfrm>
            <a:off x="9129745" y="2722061"/>
            <a:ext cx="17306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椭圆 42">
            <a:extLst>
              <a:ext uri="{FF2B5EF4-FFF2-40B4-BE49-F238E27FC236}">
                <a16:creationId xmlns:a16="http://schemas.microsoft.com/office/drawing/2014/main" id="{AC2C6CCD-E089-22B3-1471-8BEF1EBADC25}"/>
              </a:ext>
            </a:extLst>
          </p:cNvPr>
          <p:cNvSpPr/>
          <p:nvPr/>
        </p:nvSpPr>
        <p:spPr>
          <a:xfrm>
            <a:off x="9325109" y="1371576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78B70913-64DF-B930-2F2B-C71723CF277E}"/>
              </a:ext>
            </a:extLst>
          </p:cNvPr>
          <p:cNvSpPr/>
          <p:nvPr/>
        </p:nvSpPr>
        <p:spPr>
          <a:xfrm>
            <a:off x="9691283" y="1716806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333C7C74-0942-DA7C-F77B-C4BE27FDEF08}"/>
              </a:ext>
            </a:extLst>
          </p:cNvPr>
          <p:cNvSpPr/>
          <p:nvPr/>
        </p:nvSpPr>
        <p:spPr>
          <a:xfrm>
            <a:off x="9420226" y="2196635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5076E190-FBA4-AAF8-ACCB-C548038794EB}"/>
              </a:ext>
            </a:extLst>
          </p:cNvPr>
          <p:cNvSpPr/>
          <p:nvPr/>
        </p:nvSpPr>
        <p:spPr>
          <a:xfrm>
            <a:off x="10289622" y="1500202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9E7678CE-2B5F-D758-8973-885C5C6B169C}"/>
              </a:ext>
            </a:extLst>
          </p:cNvPr>
          <p:cNvSpPr/>
          <p:nvPr/>
        </p:nvSpPr>
        <p:spPr>
          <a:xfrm>
            <a:off x="10407242" y="2155984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D8EC422F-F7A5-D544-157F-6D398752E2D6}"/>
              </a:ext>
            </a:extLst>
          </p:cNvPr>
          <p:cNvSpPr/>
          <p:nvPr/>
        </p:nvSpPr>
        <p:spPr>
          <a:xfrm>
            <a:off x="9979692" y="2126147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3EB5333F-047E-4914-D5CA-ABDFFB6ACDDF}"/>
              </a:ext>
            </a:extLst>
          </p:cNvPr>
          <p:cNvSpPr/>
          <p:nvPr/>
        </p:nvSpPr>
        <p:spPr>
          <a:xfrm>
            <a:off x="9976634" y="2429832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B129324F-FD20-4E24-9BA9-2A79960876DA}"/>
              </a:ext>
            </a:extLst>
          </p:cNvPr>
          <p:cNvSpPr/>
          <p:nvPr/>
        </p:nvSpPr>
        <p:spPr>
          <a:xfrm>
            <a:off x="9881517" y="1304111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id="{B7FABF77-E5E1-4A3F-E3E7-1ECF3967B1C4}"/>
              </a:ext>
            </a:extLst>
          </p:cNvPr>
          <p:cNvSpPr/>
          <p:nvPr/>
        </p:nvSpPr>
        <p:spPr>
          <a:xfrm>
            <a:off x="10377059" y="1833918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lt1"/>
              </a:solidFill>
            </a:endParaRPr>
          </a:p>
        </p:txBody>
      </p: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D845B338-D3ED-95ED-30F5-B22C96208A23}"/>
              </a:ext>
            </a:extLst>
          </p:cNvPr>
          <p:cNvCxnSpPr>
            <a:cxnSpLocks/>
          </p:cNvCxnSpPr>
          <p:nvPr/>
        </p:nvCxnSpPr>
        <p:spPr>
          <a:xfrm flipV="1">
            <a:off x="5124460" y="1187833"/>
            <a:ext cx="0" cy="15342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FE4D15DF-62A4-A64E-9478-061C650BCDE1}"/>
              </a:ext>
            </a:extLst>
          </p:cNvPr>
          <p:cNvCxnSpPr>
            <a:cxnSpLocks/>
          </p:cNvCxnSpPr>
          <p:nvPr/>
        </p:nvCxnSpPr>
        <p:spPr>
          <a:xfrm>
            <a:off x="5124460" y="2722061"/>
            <a:ext cx="17306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3" name="椭圆 142">
            <a:extLst>
              <a:ext uri="{FF2B5EF4-FFF2-40B4-BE49-F238E27FC236}">
                <a16:creationId xmlns:a16="http://schemas.microsoft.com/office/drawing/2014/main" id="{881DA7EF-CCA3-7A6E-2434-554F58080D57}"/>
              </a:ext>
            </a:extLst>
          </p:cNvPr>
          <p:cNvSpPr/>
          <p:nvPr/>
        </p:nvSpPr>
        <p:spPr>
          <a:xfrm>
            <a:off x="5319824" y="1371576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椭圆 144">
            <a:extLst>
              <a:ext uri="{FF2B5EF4-FFF2-40B4-BE49-F238E27FC236}">
                <a16:creationId xmlns:a16="http://schemas.microsoft.com/office/drawing/2014/main" id="{678237F9-4A3F-07EA-A3BD-5C156BE51817}"/>
              </a:ext>
            </a:extLst>
          </p:cNvPr>
          <p:cNvSpPr/>
          <p:nvPr/>
        </p:nvSpPr>
        <p:spPr>
          <a:xfrm>
            <a:off x="5685998" y="1716806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椭圆 145">
            <a:extLst>
              <a:ext uri="{FF2B5EF4-FFF2-40B4-BE49-F238E27FC236}">
                <a16:creationId xmlns:a16="http://schemas.microsoft.com/office/drawing/2014/main" id="{16756ED8-268D-E65B-AD6B-118CCFDD242C}"/>
              </a:ext>
            </a:extLst>
          </p:cNvPr>
          <p:cNvSpPr/>
          <p:nvPr/>
        </p:nvSpPr>
        <p:spPr>
          <a:xfrm>
            <a:off x="5414941" y="2196635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0E90668C-0DEE-0431-F246-441F91C1729E}"/>
              </a:ext>
            </a:extLst>
          </p:cNvPr>
          <p:cNvSpPr/>
          <p:nvPr/>
        </p:nvSpPr>
        <p:spPr>
          <a:xfrm>
            <a:off x="6284337" y="1500202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B12677E6-2BA7-DD2F-B319-933678915104}"/>
              </a:ext>
            </a:extLst>
          </p:cNvPr>
          <p:cNvSpPr/>
          <p:nvPr/>
        </p:nvSpPr>
        <p:spPr>
          <a:xfrm>
            <a:off x="6401957" y="2155984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45002A1A-2FE5-664F-D22C-4BF5E6DC989E}"/>
              </a:ext>
            </a:extLst>
          </p:cNvPr>
          <p:cNvSpPr/>
          <p:nvPr/>
        </p:nvSpPr>
        <p:spPr>
          <a:xfrm>
            <a:off x="5974407" y="2126147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椭圆 151">
            <a:extLst>
              <a:ext uri="{FF2B5EF4-FFF2-40B4-BE49-F238E27FC236}">
                <a16:creationId xmlns:a16="http://schemas.microsoft.com/office/drawing/2014/main" id="{155B83EF-7CB7-FCCF-2D80-E2CA573E060D}"/>
              </a:ext>
            </a:extLst>
          </p:cNvPr>
          <p:cNvSpPr/>
          <p:nvPr/>
        </p:nvSpPr>
        <p:spPr>
          <a:xfrm>
            <a:off x="5971349" y="2429832"/>
            <a:ext cx="190234" cy="17595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椭圆 173">
            <a:extLst>
              <a:ext uri="{FF2B5EF4-FFF2-40B4-BE49-F238E27FC236}">
                <a16:creationId xmlns:a16="http://schemas.microsoft.com/office/drawing/2014/main" id="{F220BCCF-43A4-2457-B016-8A67D4236D66}"/>
              </a:ext>
            </a:extLst>
          </p:cNvPr>
          <p:cNvSpPr/>
          <p:nvPr/>
        </p:nvSpPr>
        <p:spPr>
          <a:xfrm>
            <a:off x="5876232" y="1304111"/>
            <a:ext cx="190234" cy="17595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椭圆 179">
            <a:extLst>
              <a:ext uri="{FF2B5EF4-FFF2-40B4-BE49-F238E27FC236}">
                <a16:creationId xmlns:a16="http://schemas.microsoft.com/office/drawing/2014/main" id="{31DE9273-E844-B903-3347-16CF9B536A18}"/>
              </a:ext>
            </a:extLst>
          </p:cNvPr>
          <p:cNvSpPr/>
          <p:nvPr/>
        </p:nvSpPr>
        <p:spPr>
          <a:xfrm>
            <a:off x="6371774" y="1833918"/>
            <a:ext cx="190234" cy="175952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?</a:t>
            </a:r>
          </a:p>
        </p:txBody>
      </p: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591C250B-199B-1BE9-C654-836613099707}"/>
              </a:ext>
            </a:extLst>
          </p:cNvPr>
          <p:cNvCxnSpPr/>
          <p:nvPr/>
        </p:nvCxnSpPr>
        <p:spPr>
          <a:xfrm flipV="1">
            <a:off x="7438533" y="1500202"/>
            <a:ext cx="1304097" cy="110558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4" name="直接连接符 183">
            <a:extLst>
              <a:ext uri="{FF2B5EF4-FFF2-40B4-BE49-F238E27FC236}">
                <a16:creationId xmlns:a16="http://schemas.microsoft.com/office/drawing/2014/main" id="{8FD49E9F-8767-3F96-A906-80D0D0ADF351}"/>
              </a:ext>
            </a:extLst>
          </p:cNvPr>
          <p:cNvCxnSpPr/>
          <p:nvPr/>
        </p:nvCxnSpPr>
        <p:spPr>
          <a:xfrm flipV="1">
            <a:off x="9420220" y="1480063"/>
            <a:ext cx="1304097" cy="110558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5" name="直接连接符 184">
            <a:extLst>
              <a:ext uri="{FF2B5EF4-FFF2-40B4-BE49-F238E27FC236}">
                <a16:creationId xmlns:a16="http://schemas.microsoft.com/office/drawing/2014/main" id="{4FA72FE7-08A0-C392-E652-7B1D6B0FF6E4}"/>
              </a:ext>
            </a:extLst>
          </p:cNvPr>
          <p:cNvCxnSpPr>
            <a:cxnSpLocks/>
          </p:cNvCxnSpPr>
          <p:nvPr/>
        </p:nvCxnSpPr>
        <p:spPr>
          <a:xfrm flipV="1">
            <a:off x="5749410" y="1173934"/>
            <a:ext cx="503222" cy="143185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6" name="文本框 185">
            <a:extLst>
              <a:ext uri="{FF2B5EF4-FFF2-40B4-BE49-F238E27FC236}">
                <a16:creationId xmlns:a16="http://schemas.microsoft.com/office/drawing/2014/main" id="{E9889969-2D07-FC27-1DF5-DCEB45BB89D6}"/>
              </a:ext>
            </a:extLst>
          </p:cNvPr>
          <p:cNvSpPr txBox="1"/>
          <p:nvPr/>
        </p:nvSpPr>
        <p:spPr>
          <a:xfrm>
            <a:off x="397896" y="1930230"/>
            <a:ext cx="2925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寻找超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平</a:t>
            </a:r>
            <a:r>
              <a:rPr lang="zh-CN" altLang="en-US" sz="1600" dirty="0"/>
              <a:t>面</a:t>
            </a:r>
            <a:endParaRPr lang="en-US" altLang="zh-CN" sz="1600" dirty="0"/>
          </a:p>
          <a:p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二</a:t>
            </a:r>
            <a:r>
              <a:rPr lang="zh-CN" altLang="en-US" sz="1600" dirty="0"/>
              <a:t>分类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493594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8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32" grpId="0" animBg="1"/>
      <p:bldP spid="45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149" grpId="0"/>
      <p:bldP spid="154" grpId="0" animBg="1"/>
      <p:bldP spid="155" grpId="0"/>
      <p:bldP spid="156" grpId="0" animBg="1"/>
      <p:bldP spid="157" grpId="0" animBg="1"/>
      <p:bldP spid="158" grpId="0" animBg="1"/>
      <p:bldP spid="159" grpId="0" animBg="1"/>
      <p:bldP spid="160" grpId="0"/>
      <p:bldP spid="161" grpId="0" animBg="1"/>
      <p:bldP spid="162" grpId="0" animBg="1"/>
      <p:bldP spid="163" grpId="0" animBg="1"/>
      <p:bldP spid="173" grpId="0" animBg="1"/>
      <p:bldP spid="175" grpId="0" animBg="1"/>
      <p:bldP spid="176" grpId="0" animBg="1"/>
      <p:bldP spid="177" grpId="0" animBg="1"/>
      <p:bldP spid="178" grpId="0" animBg="1"/>
      <p:bldP spid="179" grpId="0"/>
      <p:bldP spid="182" grpId="0"/>
      <p:bldP spid="4" grpId="0"/>
      <p:bldP spid="11" grpId="0" animBg="1"/>
      <p:bldP spid="12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0" grpId="0" animBg="1"/>
      <p:bldP spid="31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3" grpId="0" animBg="1"/>
      <p:bldP spid="44" grpId="0" animBg="1"/>
      <p:bldP spid="46" grpId="0" animBg="1"/>
      <p:bldP spid="82" grpId="0" animBg="1"/>
      <p:bldP spid="99" grpId="0" animBg="1"/>
      <p:bldP spid="112" grpId="0" animBg="1"/>
      <p:bldP spid="124" grpId="0" animBg="1"/>
      <p:bldP spid="136" grpId="0" animBg="1"/>
      <p:bldP spid="140" grpId="0" animBg="1"/>
      <p:bldP spid="143" grpId="0" animBg="1"/>
      <p:bldP spid="145" grpId="0" animBg="1"/>
      <p:bldP spid="146" grpId="0" animBg="1"/>
      <p:bldP spid="147" grpId="0" animBg="1"/>
      <p:bldP spid="148" grpId="0" animBg="1"/>
      <p:bldP spid="150" grpId="0" animBg="1"/>
      <p:bldP spid="152" grpId="0" animBg="1"/>
      <p:bldP spid="174" grpId="0" animBg="1"/>
      <p:bldP spid="18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07E4C07-5464-56B0-5ACB-B1E956DABD00}"/>
              </a:ext>
            </a:extLst>
          </p:cNvPr>
          <p:cNvSpPr txBox="1"/>
          <p:nvPr/>
        </p:nvSpPr>
        <p:spPr>
          <a:xfrm>
            <a:off x="395834" y="262004"/>
            <a:ext cx="14299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R-CNN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5BC257-E78D-C34D-76DC-7189F8DBB063}"/>
              </a:ext>
            </a:extLst>
          </p:cNvPr>
          <p:cNvSpPr txBox="1"/>
          <p:nvPr/>
        </p:nvSpPr>
        <p:spPr>
          <a:xfrm>
            <a:off x="1825733" y="369726"/>
            <a:ext cx="2666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Bounding-box Regression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8C7271-A8DB-872A-396D-9C92583740E5}"/>
              </a:ext>
            </a:extLst>
          </p:cNvPr>
          <p:cNvSpPr txBox="1"/>
          <p:nvPr/>
        </p:nvSpPr>
        <p:spPr>
          <a:xfrm>
            <a:off x="504664" y="1149375"/>
            <a:ext cx="3142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结果差因为框不准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4C3F440-299F-DB2E-B170-1A6E770CCF01}"/>
              </a:ext>
            </a:extLst>
          </p:cNvPr>
          <p:cNvSpPr txBox="1"/>
          <p:nvPr/>
        </p:nvSpPr>
        <p:spPr>
          <a:xfrm>
            <a:off x="1319011" y="1590159"/>
            <a:ext cx="1371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精修边界框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C0E4570-78F5-66C2-70F6-4AEBB4CB4570}"/>
              </a:ext>
            </a:extLst>
          </p:cNvPr>
          <p:cNvCxnSpPr/>
          <p:nvPr/>
        </p:nvCxnSpPr>
        <p:spPr>
          <a:xfrm>
            <a:off x="600992" y="1746471"/>
            <a:ext cx="7180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22C47F3-6BEA-1C0A-47AB-67E0F94AFC2B}"/>
              </a:ext>
            </a:extLst>
          </p:cNvPr>
          <p:cNvSpPr txBox="1"/>
          <p:nvPr/>
        </p:nvSpPr>
        <p:spPr>
          <a:xfrm>
            <a:off x="674317" y="1453725"/>
            <a:ext cx="607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trick</a:t>
            </a:r>
            <a:endParaRPr lang="zh-CN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FD550F-CCED-70A3-C0A3-75298C176C4D}"/>
              </a:ext>
            </a:extLst>
          </p:cNvPr>
          <p:cNvSpPr/>
          <p:nvPr/>
        </p:nvSpPr>
        <p:spPr>
          <a:xfrm>
            <a:off x="428904" y="3668701"/>
            <a:ext cx="1123055" cy="78276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89B5C9E-B042-837F-6CF0-61083D2F87ED}"/>
              </a:ext>
            </a:extLst>
          </p:cNvPr>
          <p:cNvSpPr/>
          <p:nvPr/>
        </p:nvSpPr>
        <p:spPr>
          <a:xfrm>
            <a:off x="1066632" y="4060083"/>
            <a:ext cx="1184935" cy="85702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9BFD158-408B-2419-83DF-B137A60D068C}"/>
              </a:ext>
            </a:extLst>
          </p:cNvPr>
          <p:cNvSpPr txBox="1"/>
          <p:nvPr/>
        </p:nvSpPr>
        <p:spPr>
          <a:xfrm>
            <a:off x="508176" y="3702905"/>
            <a:ext cx="4822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88B4AC5-8199-9E44-6640-12886DCBF46F}"/>
              </a:ext>
            </a:extLst>
          </p:cNvPr>
          <p:cNvSpPr txBox="1"/>
          <p:nvPr/>
        </p:nvSpPr>
        <p:spPr>
          <a:xfrm>
            <a:off x="1925292" y="4578556"/>
            <a:ext cx="4822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8A149EE-F9A0-E5EE-7884-22BAB1B743D3}"/>
              </a:ext>
            </a:extLst>
          </p:cNvPr>
          <p:cNvSpPr/>
          <p:nvPr/>
        </p:nvSpPr>
        <p:spPr>
          <a:xfrm>
            <a:off x="1066632" y="4060083"/>
            <a:ext cx="485327" cy="39138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EBB559-2A26-3F31-5827-C452C9A42B36}"/>
              </a:ext>
            </a:extLst>
          </p:cNvPr>
          <p:cNvSpPr txBox="1"/>
          <p:nvPr/>
        </p:nvSpPr>
        <p:spPr>
          <a:xfrm>
            <a:off x="1097316" y="4917110"/>
            <a:ext cx="1371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1">
                    <a:lumMod val="75000"/>
                  </a:schemeClr>
                </a:solidFill>
              </a:rPr>
              <a:t>Ground Truth</a:t>
            </a:r>
            <a:endParaRPr lang="zh-CN" alt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6FD92A3-785F-B053-1A00-B63C69C848CF}"/>
              </a:ext>
            </a:extLst>
          </p:cNvPr>
          <p:cNvSpPr txBox="1"/>
          <p:nvPr/>
        </p:nvSpPr>
        <p:spPr>
          <a:xfrm>
            <a:off x="633213" y="3425906"/>
            <a:ext cx="1371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</a:rPr>
              <a:t>Predict</a:t>
            </a:r>
            <a:endParaRPr lang="zh-CN" alt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7AA40DA-A3B7-86DE-DA92-104ECEDBCB29}"/>
              </a:ext>
            </a:extLst>
          </p:cNvPr>
          <p:cNvSpPr txBox="1"/>
          <p:nvPr/>
        </p:nvSpPr>
        <p:spPr>
          <a:xfrm>
            <a:off x="1163288" y="4092032"/>
            <a:ext cx="388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37D676A-6101-921A-8CD9-B4E891DC56C2}"/>
              </a:ext>
            </a:extLst>
          </p:cNvPr>
          <p:cNvSpPr txBox="1"/>
          <p:nvPr/>
        </p:nvSpPr>
        <p:spPr>
          <a:xfrm>
            <a:off x="2798519" y="2948853"/>
            <a:ext cx="2666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altLang="zh-CN" dirty="0"/>
              <a:t>I</a:t>
            </a:r>
            <a:r>
              <a:rPr lang="en-US" altLang="zh-CN" dirty="0">
                <a:solidFill>
                  <a:schemeClr val="tx1"/>
                </a:solidFill>
              </a:rPr>
              <a:t>ntersection </a:t>
            </a:r>
            <a:r>
              <a:rPr lang="en-US" altLang="zh-CN" dirty="0"/>
              <a:t>o</a:t>
            </a:r>
            <a:r>
              <a:rPr lang="en-US" altLang="zh-CN" dirty="0">
                <a:solidFill>
                  <a:schemeClr val="tx1"/>
                </a:solidFill>
              </a:rPr>
              <a:t>ver </a:t>
            </a:r>
            <a:r>
              <a:rPr lang="en-US" altLang="zh-CN" dirty="0"/>
              <a:t>U</a:t>
            </a:r>
            <a:r>
              <a:rPr lang="en-US" altLang="zh-CN" dirty="0">
                <a:solidFill>
                  <a:schemeClr val="tx1"/>
                </a:solidFill>
              </a:rPr>
              <a:t>nion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BBCBDDC-149B-7C87-C1ED-356D7A5360F8}"/>
                  </a:ext>
                </a:extLst>
              </p:cNvPr>
              <p:cNvSpPr txBox="1"/>
              <p:nvPr/>
            </p:nvSpPr>
            <p:spPr>
              <a:xfrm>
                <a:off x="2753115" y="3644585"/>
                <a:ext cx="2757293" cy="565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𝐼𝑜𝑈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nary>
                            <m:naryPr>
                              <m:chr m:val="⋂"/>
                              <m:subHide m:val="on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nary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nary>
                            <m:naryPr>
                              <m:chr m:val="⋃"/>
                              <m:subHide m:val="on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nary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BBCBDDC-149B-7C87-C1ED-356D7A536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115" y="3644585"/>
                <a:ext cx="2757293" cy="5657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963E75E5-4457-9BA2-F5C4-51209B8F3787}"/>
              </a:ext>
            </a:extLst>
          </p:cNvPr>
          <p:cNvSpPr txBox="1"/>
          <p:nvPr/>
        </p:nvSpPr>
        <p:spPr>
          <a:xfrm>
            <a:off x="2753115" y="4332335"/>
            <a:ext cx="24244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A = 2, B = 2, I = 1.9</a:t>
            </a:r>
          </a:p>
          <a:p>
            <a:r>
              <a:rPr lang="en-US" altLang="zh-CN" sz="1600" dirty="0" err="1"/>
              <a:t>IoU</a:t>
            </a:r>
            <a:r>
              <a:rPr lang="en-US" altLang="zh-CN" sz="1600" dirty="0"/>
              <a:t> = 0.9</a:t>
            </a:r>
            <a:endParaRPr lang="zh-CN" altLang="en-US" sz="16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2EE6118-9150-1D53-96DA-D1D061166170}"/>
              </a:ext>
            </a:extLst>
          </p:cNvPr>
          <p:cNvSpPr txBox="1"/>
          <p:nvPr/>
        </p:nvSpPr>
        <p:spPr>
          <a:xfrm>
            <a:off x="2798519" y="4987962"/>
            <a:ext cx="24244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A = 2, B = 2, I = 1.5</a:t>
            </a:r>
          </a:p>
          <a:p>
            <a:r>
              <a:rPr lang="en-US" altLang="zh-CN" sz="1600" dirty="0" err="1"/>
              <a:t>IoU</a:t>
            </a:r>
            <a:r>
              <a:rPr lang="en-US" altLang="zh-CN" sz="1600" dirty="0"/>
              <a:t> = 0.6</a:t>
            </a:r>
            <a:endParaRPr lang="zh-CN" altLang="en-US" sz="16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156C231-B441-5C9D-C5B2-B8ACD02CC7FA}"/>
              </a:ext>
            </a:extLst>
          </p:cNvPr>
          <p:cNvSpPr txBox="1"/>
          <p:nvPr/>
        </p:nvSpPr>
        <p:spPr>
          <a:xfrm>
            <a:off x="7691045" y="1201182"/>
            <a:ext cx="3148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altLang="zh-CN" dirty="0"/>
              <a:t>N</a:t>
            </a:r>
            <a:r>
              <a:rPr lang="en-US" altLang="zh-CN" dirty="0">
                <a:solidFill>
                  <a:schemeClr val="tx1"/>
                </a:solidFill>
              </a:rPr>
              <a:t>on-</a:t>
            </a:r>
            <a:r>
              <a:rPr lang="en-US" altLang="zh-CN" dirty="0"/>
              <a:t>M</a:t>
            </a:r>
            <a:r>
              <a:rPr lang="en-US" altLang="zh-CN" dirty="0">
                <a:solidFill>
                  <a:schemeClr val="tx1"/>
                </a:solidFill>
              </a:rPr>
              <a:t>aximum </a:t>
            </a:r>
            <a:r>
              <a:rPr lang="en-US" altLang="zh-CN" dirty="0"/>
              <a:t>S</a:t>
            </a:r>
            <a:r>
              <a:rPr lang="en-US" altLang="zh-CN" dirty="0">
                <a:solidFill>
                  <a:schemeClr val="tx1"/>
                </a:solidFill>
              </a:rPr>
              <a:t>uppression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55A26CCD-6F13-6BEB-12BC-801D966BA2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58"/>
          <a:stretch>
            <a:fillRect/>
          </a:stretch>
        </p:blipFill>
        <p:spPr>
          <a:xfrm>
            <a:off x="5955874" y="1915016"/>
            <a:ext cx="2985893" cy="3755189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8B4C974E-0401-C27B-3416-033404AA1389}"/>
              </a:ext>
            </a:extLst>
          </p:cNvPr>
          <p:cNvSpPr/>
          <p:nvPr/>
        </p:nvSpPr>
        <p:spPr>
          <a:xfrm>
            <a:off x="6906396" y="3038558"/>
            <a:ext cx="1116919" cy="2460115"/>
          </a:xfrm>
          <a:prstGeom prst="rect">
            <a:avLst/>
          </a:prstGeom>
          <a:noFill/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D74F5E3-F697-D454-0B57-9E71FCC5C2D4}"/>
              </a:ext>
            </a:extLst>
          </p:cNvPr>
          <p:cNvSpPr/>
          <p:nvPr/>
        </p:nvSpPr>
        <p:spPr>
          <a:xfrm>
            <a:off x="7046522" y="2894074"/>
            <a:ext cx="1116919" cy="2460115"/>
          </a:xfrm>
          <a:prstGeom prst="rect">
            <a:avLst/>
          </a:prstGeom>
          <a:noFill/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A18F535-DECF-DF93-CD13-56618A5DD201}"/>
              </a:ext>
            </a:extLst>
          </p:cNvPr>
          <p:cNvSpPr/>
          <p:nvPr/>
        </p:nvSpPr>
        <p:spPr>
          <a:xfrm>
            <a:off x="6976459" y="3124324"/>
            <a:ext cx="1116919" cy="2460115"/>
          </a:xfrm>
          <a:prstGeom prst="rect">
            <a:avLst/>
          </a:prstGeom>
          <a:noFill/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67A7927-E51C-8581-0F38-86A954A88AB1}"/>
              </a:ext>
            </a:extLst>
          </p:cNvPr>
          <p:cNvSpPr/>
          <p:nvPr/>
        </p:nvSpPr>
        <p:spPr>
          <a:xfrm>
            <a:off x="6807163" y="2951680"/>
            <a:ext cx="1116919" cy="2460115"/>
          </a:xfrm>
          <a:prstGeom prst="rect">
            <a:avLst/>
          </a:prstGeom>
          <a:noFill/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41B153F-B5CC-AD6D-D0B8-02B8E74DB0F7}"/>
              </a:ext>
            </a:extLst>
          </p:cNvPr>
          <p:cNvSpPr/>
          <p:nvPr/>
        </p:nvSpPr>
        <p:spPr>
          <a:xfrm>
            <a:off x="6707930" y="3177058"/>
            <a:ext cx="1116919" cy="2460115"/>
          </a:xfrm>
          <a:prstGeom prst="rect">
            <a:avLst/>
          </a:prstGeom>
          <a:noFill/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1FDD3439-2FB1-8A1F-1446-4FB2B393C4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58"/>
          <a:stretch>
            <a:fillRect/>
          </a:stretch>
        </p:blipFill>
        <p:spPr>
          <a:xfrm>
            <a:off x="9081893" y="1915016"/>
            <a:ext cx="2985893" cy="3755189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1FF20F86-385C-BADD-8484-6CE1AFDE0317}"/>
              </a:ext>
            </a:extLst>
          </p:cNvPr>
          <p:cNvSpPr/>
          <p:nvPr/>
        </p:nvSpPr>
        <p:spPr>
          <a:xfrm>
            <a:off x="10172541" y="2894074"/>
            <a:ext cx="1116919" cy="2460115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15A8930-D795-868E-3B75-15C77DD2642D}"/>
              </a:ext>
            </a:extLst>
          </p:cNvPr>
          <p:cNvSpPr/>
          <p:nvPr/>
        </p:nvSpPr>
        <p:spPr>
          <a:xfrm>
            <a:off x="10102478" y="3124324"/>
            <a:ext cx="1116919" cy="2460115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C837448-AF98-2AC4-EFB5-E015D272AA62}"/>
              </a:ext>
            </a:extLst>
          </p:cNvPr>
          <p:cNvSpPr/>
          <p:nvPr/>
        </p:nvSpPr>
        <p:spPr>
          <a:xfrm>
            <a:off x="9933182" y="2951680"/>
            <a:ext cx="1116919" cy="2460115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223349F-73A9-AA5D-CDBD-EBB99682A9D1}"/>
              </a:ext>
            </a:extLst>
          </p:cNvPr>
          <p:cNvSpPr/>
          <p:nvPr/>
        </p:nvSpPr>
        <p:spPr>
          <a:xfrm>
            <a:off x="9833949" y="3177058"/>
            <a:ext cx="1116919" cy="2460115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670D600-70BC-E5CD-C09D-836C5C8A7929}"/>
              </a:ext>
            </a:extLst>
          </p:cNvPr>
          <p:cNvSpPr/>
          <p:nvPr/>
        </p:nvSpPr>
        <p:spPr>
          <a:xfrm>
            <a:off x="10032415" y="3038558"/>
            <a:ext cx="1116919" cy="246011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849A176-FAEA-EF21-7281-2AB7F30A7E71}"/>
              </a:ext>
            </a:extLst>
          </p:cNvPr>
          <p:cNvSpPr txBox="1"/>
          <p:nvPr/>
        </p:nvSpPr>
        <p:spPr>
          <a:xfrm>
            <a:off x="7802632" y="1515489"/>
            <a:ext cx="3148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根据</a:t>
            </a:r>
            <a:r>
              <a:rPr lang="en-US" altLang="zh-CN" dirty="0" err="1">
                <a:solidFill>
                  <a:schemeClr val="tx1"/>
                </a:solidFill>
              </a:rPr>
              <a:t>IoU</a:t>
            </a:r>
            <a:r>
              <a:rPr lang="zh-CN" altLang="en-US" dirty="0">
                <a:solidFill>
                  <a:schemeClr val="tx1"/>
                </a:solidFill>
              </a:rPr>
              <a:t>设定</a:t>
            </a:r>
            <a:r>
              <a:rPr lang="zh-CN" altLang="en-US" dirty="0"/>
              <a:t>阈值</a:t>
            </a:r>
            <a:r>
              <a:rPr lang="zh-CN" altLang="en-US" dirty="0">
                <a:solidFill>
                  <a:schemeClr val="tx1"/>
                </a:solidFill>
              </a:rPr>
              <a:t>筛选框框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3A6BB96-780A-485D-55BE-4708C0AE3A01}"/>
              </a:ext>
            </a:extLst>
          </p:cNvPr>
          <p:cNvSpPr txBox="1"/>
          <p:nvPr/>
        </p:nvSpPr>
        <p:spPr>
          <a:xfrm>
            <a:off x="2792069" y="2579521"/>
            <a:ext cx="60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altLang="zh-CN" sz="1800" dirty="0" err="1">
                <a:solidFill>
                  <a:schemeClr val="tx1"/>
                </a:solidFill>
              </a:rPr>
              <a:t>IoU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89B8F02-B010-A66C-F878-BB24EA484BB3}"/>
              </a:ext>
            </a:extLst>
          </p:cNvPr>
          <p:cNvSpPr txBox="1"/>
          <p:nvPr/>
        </p:nvSpPr>
        <p:spPr>
          <a:xfrm>
            <a:off x="6499601" y="1220827"/>
            <a:ext cx="965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altLang="zh-CN" sz="1800" dirty="0">
                <a:solidFill>
                  <a:schemeClr val="tx1"/>
                </a:solidFill>
              </a:rPr>
              <a:t>NMS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5D3258B-E5ED-EFD2-0E37-B60F923C5891}"/>
              </a:ext>
            </a:extLst>
          </p:cNvPr>
          <p:cNvCxnSpPr/>
          <p:nvPr/>
        </p:nvCxnSpPr>
        <p:spPr>
          <a:xfrm>
            <a:off x="5683291" y="713968"/>
            <a:ext cx="0" cy="58612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0ED9FE4F-EE7E-7645-68E5-29FA6D5CA49E}"/>
              </a:ext>
            </a:extLst>
          </p:cNvPr>
          <p:cNvSpPr txBox="1"/>
          <p:nvPr/>
        </p:nvSpPr>
        <p:spPr>
          <a:xfrm>
            <a:off x="2798519" y="1374129"/>
            <a:ext cx="3188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与分类的</a:t>
            </a:r>
            <a:r>
              <a:rPr lang="en-US" altLang="zh-CN" sz="1400" dirty="0"/>
              <a:t>SVM</a:t>
            </a:r>
            <a:r>
              <a:rPr lang="zh-CN" altLang="en-US" sz="1400" dirty="0"/>
              <a:t>分离，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单独</a:t>
            </a:r>
            <a:r>
              <a:rPr lang="zh-CN" altLang="en-US" sz="1400" dirty="0"/>
              <a:t>训练</a:t>
            </a:r>
          </a:p>
        </p:txBody>
      </p:sp>
    </p:spTree>
    <p:extLst>
      <p:ext uri="{BB962C8B-B14F-4D97-AF65-F5344CB8AC3E}">
        <p14:creationId xmlns:p14="http://schemas.microsoft.com/office/powerpoint/2010/main" val="2594947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/>
      <p:bldP spid="13" grpId="0" animBg="1"/>
      <p:bldP spid="14" grpId="0"/>
      <p:bldP spid="15" grpId="0"/>
      <p:bldP spid="16" grpId="0"/>
      <p:bldP spid="18" grpId="0"/>
      <p:bldP spid="20" grpId="0"/>
      <p:bldP spid="21" grpId="0"/>
      <p:bldP spid="22" grpId="0"/>
      <p:bldP spid="23" grpId="0"/>
      <p:bldP spid="28" grpId="0" animBg="1"/>
      <p:bldP spid="29" grpId="0" animBg="1"/>
      <p:bldP spid="30" grpId="0" animBg="1"/>
      <p:bldP spid="31" grpId="0" animBg="1"/>
      <p:bldP spid="32" grpId="0" animBg="1"/>
      <p:bldP spid="35" grpId="0" animBg="1"/>
      <p:bldP spid="36" grpId="0" animBg="1"/>
      <p:bldP spid="37" grpId="0" animBg="1"/>
      <p:bldP spid="38" grpId="0" animBg="1"/>
      <p:bldP spid="34" grpId="0" animBg="1"/>
      <p:bldP spid="39" grpId="0"/>
      <p:bldP spid="4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423FC1A-EC46-CBF7-6D9D-9DEF3067AED9}"/>
              </a:ext>
            </a:extLst>
          </p:cNvPr>
          <p:cNvSpPr txBox="1"/>
          <p:nvPr/>
        </p:nvSpPr>
        <p:spPr>
          <a:xfrm>
            <a:off x="395834" y="262004"/>
            <a:ext cx="14299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R-CNN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415F95C-D704-CBAC-373B-828217DC7F30}"/>
              </a:ext>
            </a:extLst>
          </p:cNvPr>
          <p:cNvSpPr txBox="1"/>
          <p:nvPr/>
        </p:nvSpPr>
        <p:spPr>
          <a:xfrm>
            <a:off x="1825734" y="369726"/>
            <a:ext cx="9911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Test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094E8C-8446-39D9-E286-1B348F3F7A8B}"/>
              </a:ext>
            </a:extLst>
          </p:cNvPr>
          <p:cNvSpPr txBox="1"/>
          <p:nvPr/>
        </p:nvSpPr>
        <p:spPr>
          <a:xfrm>
            <a:off x="5077565" y="2833188"/>
            <a:ext cx="96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altLang="zh-CN" sz="1800" dirty="0">
                <a:solidFill>
                  <a:schemeClr val="tx1"/>
                </a:solidFill>
              </a:rPr>
              <a:t>PR</a:t>
            </a:r>
            <a:r>
              <a:rPr lang="zh-CN" altLang="en-US" sz="1800" dirty="0">
                <a:solidFill>
                  <a:schemeClr val="tx1"/>
                </a:solidFill>
              </a:rPr>
              <a:t>曲线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761998D-51BE-4AE2-14EC-4854D92856B5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791149" y="3493020"/>
            <a:ext cx="3256659" cy="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0647E7D-BFD4-46E3-F44C-0B74D4D7DCB6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2321287" y="1956768"/>
            <a:ext cx="0" cy="3072505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2528667-77BF-E9BE-023A-51774605E482}"/>
              </a:ext>
            </a:extLst>
          </p:cNvPr>
          <p:cNvSpPr txBox="1"/>
          <p:nvPr/>
        </p:nvSpPr>
        <p:spPr>
          <a:xfrm>
            <a:off x="1991430" y="1310437"/>
            <a:ext cx="659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zh-CN" altLang="en-US" sz="1800" dirty="0"/>
              <a:t>真实</a:t>
            </a:r>
            <a:endParaRPr lang="en-US" altLang="zh-CN" sz="1800" dirty="0"/>
          </a:p>
          <a:p>
            <a:r>
              <a:rPr lang="zh-CN" altLang="en-US" sz="1800" dirty="0"/>
              <a:t>正类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CCEA6E2-E641-894E-5F44-D43418E5720F}"/>
              </a:ext>
            </a:extLst>
          </p:cNvPr>
          <p:cNvSpPr txBox="1"/>
          <p:nvPr/>
        </p:nvSpPr>
        <p:spPr>
          <a:xfrm>
            <a:off x="1991430" y="5029273"/>
            <a:ext cx="659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zh-CN" altLang="en-US" sz="1800" dirty="0">
                <a:solidFill>
                  <a:schemeClr val="accent2">
                    <a:lumMod val="75000"/>
                  </a:schemeClr>
                </a:solidFill>
              </a:rPr>
              <a:t>真实</a:t>
            </a:r>
            <a:endParaRPr lang="en-US" altLang="zh-CN" sz="18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1800" dirty="0">
                <a:solidFill>
                  <a:schemeClr val="accent2">
                    <a:lumMod val="75000"/>
                  </a:schemeClr>
                </a:solidFill>
              </a:rPr>
              <a:t>负类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E4A2398-BBB6-43A2-E919-08B332A23FD7}"/>
              </a:ext>
            </a:extLst>
          </p:cNvPr>
          <p:cNvSpPr txBox="1"/>
          <p:nvPr/>
        </p:nvSpPr>
        <p:spPr>
          <a:xfrm>
            <a:off x="4047808" y="3169855"/>
            <a:ext cx="659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zh-CN" altLang="en-US" sz="1800" dirty="0">
                <a:solidFill>
                  <a:schemeClr val="accent4">
                    <a:lumMod val="75000"/>
                  </a:schemeClr>
                </a:solidFill>
              </a:rPr>
              <a:t>预测正类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4CAA4C6-5802-CE6B-3987-82E7634C6AD5}"/>
              </a:ext>
            </a:extLst>
          </p:cNvPr>
          <p:cNvSpPr txBox="1"/>
          <p:nvPr/>
        </p:nvSpPr>
        <p:spPr>
          <a:xfrm>
            <a:off x="131435" y="3169854"/>
            <a:ext cx="659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zh-CN" altLang="en-US" sz="1800" dirty="0">
                <a:solidFill>
                  <a:schemeClr val="accent3">
                    <a:lumMod val="75000"/>
                  </a:schemeClr>
                </a:solidFill>
              </a:rPr>
              <a:t>预测负类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C1770F4-1AE2-07BF-96A6-6D58D4B89DD6}"/>
              </a:ext>
            </a:extLst>
          </p:cNvPr>
          <p:cNvSpPr txBox="1"/>
          <p:nvPr/>
        </p:nvSpPr>
        <p:spPr>
          <a:xfrm>
            <a:off x="2547844" y="2445584"/>
            <a:ext cx="15822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TP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True Positive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97E479A-F8FB-F14A-05A6-258CBF8D1A49}"/>
              </a:ext>
            </a:extLst>
          </p:cNvPr>
          <p:cNvSpPr txBox="1"/>
          <p:nvPr/>
        </p:nvSpPr>
        <p:spPr>
          <a:xfrm>
            <a:off x="771715" y="3867045"/>
            <a:ext cx="18103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TN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True Negative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EC23C83-81C0-408A-66D2-B0CF6AEC1CDA}"/>
              </a:ext>
            </a:extLst>
          </p:cNvPr>
          <p:cNvSpPr txBox="1"/>
          <p:nvPr/>
        </p:nvSpPr>
        <p:spPr>
          <a:xfrm>
            <a:off x="800226" y="2452608"/>
            <a:ext cx="1753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FP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False Positive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36284FB-9E70-11FD-B3FE-5CF9D76680FE}"/>
              </a:ext>
            </a:extLst>
          </p:cNvPr>
          <p:cNvSpPr txBox="1"/>
          <p:nvPr/>
        </p:nvSpPr>
        <p:spPr>
          <a:xfrm>
            <a:off x="2547844" y="3860021"/>
            <a:ext cx="172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FN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False Negative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562F2116-C6B0-432E-6E46-549ADE0DCB2A}"/>
                  </a:ext>
                </a:extLst>
              </p:cNvPr>
              <p:cNvSpPr txBox="1"/>
              <p:nvPr/>
            </p:nvSpPr>
            <p:spPr>
              <a:xfrm>
                <a:off x="5094899" y="1175010"/>
                <a:ext cx="2233817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𝑝𝑟𝑒𝑐𝑖𝑠𝑖𝑜𝑛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562F2116-C6B0-432E-6E46-549ADE0DC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4899" y="1175010"/>
                <a:ext cx="2233817" cy="5231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FF73F49-21C0-11C0-13E7-D3B75EF1484F}"/>
                  </a:ext>
                </a:extLst>
              </p:cNvPr>
              <p:cNvSpPr txBox="1"/>
              <p:nvPr/>
            </p:nvSpPr>
            <p:spPr>
              <a:xfrm>
                <a:off x="8341325" y="1169999"/>
                <a:ext cx="1895712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𝑟𝑒𝑐𝑎𝑙𝑙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FF73F49-21C0-11C0-13E7-D3B75EF14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1325" y="1169999"/>
                <a:ext cx="1895712" cy="5231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9C235F5-F784-7F08-442C-546BDB57DB88}"/>
                  </a:ext>
                </a:extLst>
              </p:cNvPr>
              <p:cNvSpPr txBox="1"/>
              <p:nvPr/>
            </p:nvSpPr>
            <p:spPr>
              <a:xfrm>
                <a:off x="5094899" y="2164047"/>
                <a:ext cx="4303614" cy="5725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=(1+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𝑝𝑟𝑒𝑐𝑖𝑠𝑖𝑜𝑛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𝑟𝑒𝑐𝑎𝑙𝑙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𝑝𝑟𝑒𝑐𝑖𝑠𝑖𝑜𝑛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𝑟𝑒𝑐𝑎𝑙𝑙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9C235F5-F784-7F08-442C-546BDB57D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4899" y="2164047"/>
                <a:ext cx="4303614" cy="5725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6">
            <a:extLst>
              <a:ext uri="{FF2B5EF4-FFF2-40B4-BE49-F238E27FC236}">
                <a16:creationId xmlns:a16="http://schemas.microsoft.com/office/drawing/2014/main" id="{EB5C56CE-4B9C-3A72-CAE0-4E3CFC36AF16}"/>
              </a:ext>
            </a:extLst>
          </p:cNvPr>
          <p:cNvSpPr txBox="1"/>
          <p:nvPr/>
        </p:nvSpPr>
        <p:spPr>
          <a:xfrm>
            <a:off x="4974112" y="708280"/>
            <a:ext cx="1172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</a:rPr>
              <a:t>基础指标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35527432-055E-212F-8215-EAA6EAB0EC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712" y="3285819"/>
            <a:ext cx="4608758" cy="3072505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409011FB-5964-2484-C7EB-199A0FF417F5}"/>
              </a:ext>
            </a:extLst>
          </p:cNvPr>
          <p:cNvSpPr txBox="1"/>
          <p:nvPr/>
        </p:nvSpPr>
        <p:spPr>
          <a:xfrm>
            <a:off x="5813846" y="1728794"/>
            <a:ext cx="33885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zh-CN" altLang="en-US" sz="1400" dirty="0">
                <a:solidFill>
                  <a:schemeClr val="tx1"/>
                </a:solidFill>
              </a:rPr>
              <a:t>找出来的东西有多少是真的？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DE137C3-78EF-0457-DFCC-C8D63215BEB6}"/>
              </a:ext>
            </a:extLst>
          </p:cNvPr>
          <p:cNvSpPr txBox="1"/>
          <p:nvPr/>
        </p:nvSpPr>
        <p:spPr>
          <a:xfrm>
            <a:off x="8803454" y="1738626"/>
            <a:ext cx="33885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zh-CN" altLang="en-US" sz="1400" dirty="0">
                <a:solidFill>
                  <a:schemeClr val="tx1"/>
                </a:solidFill>
              </a:rPr>
              <a:t>该找的东西找回来多少？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300C957-814F-8A2C-AEA8-58E5A81D0BF3}"/>
              </a:ext>
            </a:extLst>
          </p:cNvPr>
          <p:cNvSpPr txBox="1"/>
          <p:nvPr/>
        </p:nvSpPr>
        <p:spPr>
          <a:xfrm>
            <a:off x="7979152" y="3976056"/>
            <a:ext cx="40908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zh-CN" altLang="en-US" sz="1400" dirty="0">
                <a:solidFill>
                  <a:schemeClr val="tx1"/>
                </a:solidFill>
              </a:rPr>
              <a:t>根据不同</a:t>
            </a:r>
            <a:r>
              <a:rPr lang="zh-CN" altLang="en-US" sz="1400" dirty="0"/>
              <a:t>置信度阈值</a:t>
            </a:r>
            <a:r>
              <a:rPr lang="zh-CN" altLang="en-US" sz="1400" dirty="0">
                <a:solidFill>
                  <a:schemeClr val="tx1"/>
                </a:solidFill>
              </a:rPr>
              <a:t>得到（</a:t>
            </a:r>
            <a:r>
              <a:rPr lang="en-US" altLang="zh-CN" sz="1400" dirty="0">
                <a:solidFill>
                  <a:schemeClr val="tx1"/>
                </a:solidFill>
              </a:rPr>
              <a:t>precision</a:t>
            </a:r>
            <a:r>
              <a:rPr lang="zh-CN" altLang="en-US" sz="1400" dirty="0">
                <a:solidFill>
                  <a:schemeClr val="tx1"/>
                </a:solidFill>
              </a:rPr>
              <a:t>，</a:t>
            </a:r>
            <a:r>
              <a:rPr lang="en-US" altLang="zh-CN" sz="1400" dirty="0">
                <a:solidFill>
                  <a:schemeClr val="tx1"/>
                </a:solidFill>
              </a:rPr>
              <a:t>recall</a:t>
            </a:r>
            <a:r>
              <a:rPr lang="zh-CN" altLang="en-US" sz="1400" dirty="0">
                <a:solidFill>
                  <a:schemeClr val="tx1"/>
                </a:solidFill>
              </a:rPr>
              <a:t>）对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E822BF1-5581-B7FB-A7D4-29220E3DB76A}"/>
              </a:ext>
            </a:extLst>
          </p:cNvPr>
          <p:cNvSpPr txBox="1"/>
          <p:nvPr/>
        </p:nvSpPr>
        <p:spPr>
          <a:xfrm>
            <a:off x="8009724" y="4436369"/>
            <a:ext cx="37132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altLang="zh-CN" sz="1400" dirty="0">
                <a:solidFill>
                  <a:schemeClr val="tx1"/>
                </a:solidFill>
              </a:rPr>
              <a:t>AP</a:t>
            </a:r>
            <a:r>
              <a:rPr lang="zh-CN" altLang="en-US" sz="1400" dirty="0">
                <a:solidFill>
                  <a:schemeClr val="tx1"/>
                </a:solidFill>
              </a:rPr>
              <a:t>即</a:t>
            </a:r>
            <a:r>
              <a:rPr lang="en-US" altLang="zh-CN" sz="1400" dirty="0">
                <a:solidFill>
                  <a:schemeClr val="tx1"/>
                </a:solidFill>
              </a:rPr>
              <a:t>PR</a:t>
            </a:r>
            <a:r>
              <a:rPr lang="zh-CN" altLang="en-US" sz="1400" dirty="0">
                <a:solidFill>
                  <a:schemeClr val="tx1"/>
                </a:solidFill>
              </a:rPr>
              <a:t>曲线下的</a:t>
            </a:r>
            <a:r>
              <a:rPr lang="zh-CN" altLang="en-US" sz="1400" dirty="0"/>
              <a:t>面积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FCA2917-D05F-6DE3-B251-07AF057ED575}"/>
              </a:ext>
            </a:extLst>
          </p:cNvPr>
          <p:cNvSpPr txBox="1"/>
          <p:nvPr/>
        </p:nvSpPr>
        <p:spPr>
          <a:xfrm>
            <a:off x="8039814" y="4790958"/>
            <a:ext cx="37132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altLang="zh-CN" sz="1400" dirty="0" err="1">
                <a:solidFill>
                  <a:schemeClr val="tx1"/>
                </a:solidFill>
              </a:rPr>
              <a:t>mAP</a:t>
            </a:r>
            <a:r>
              <a:rPr lang="zh-CN" altLang="en-US" sz="1400" dirty="0">
                <a:solidFill>
                  <a:schemeClr val="tx1"/>
                </a:solidFill>
              </a:rPr>
              <a:t>为</a:t>
            </a:r>
            <a:r>
              <a:rPr lang="en-US" altLang="zh-CN" sz="1400" dirty="0">
                <a:solidFill>
                  <a:schemeClr val="tx1"/>
                </a:solidFill>
              </a:rPr>
              <a:t>AP</a:t>
            </a:r>
            <a:r>
              <a:rPr lang="zh-CN" altLang="en-US" sz="1400" dirty="0">
                <a:solidFill>
                  <a:schemeClr val="tx1"/>
                </a:solidFill>
              </a:rPr>
              <a:t>的平均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57CE067-1889-6DEF-E322-03DB3621BFB8}"/>
              </a:ext>
            </a:extLst>
          </p:cNvPr>
          <p:cNvSpPr txBox="1"/>
          <p:nvPr/>
        </p:nvSpPr>
        <p:spPr>
          <a:xfrm>
            <a:off x="8341325" y="5066163"/>
            <a:ext cx="37132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r>
              <a:rPr lang="en-US" altLang="zh-CN" dirty="0"/>
              <a:t>mAP@</a:t>
            </a:r>
            <a:r>
              <a:rPr lang="en-US" altLang="zh-CN"/>
              <a:t>0.5</a:t>
            </a:r>
            <a:r>
              <a:rPr lang="zh-CN" altLang="en-US"/>
              <a:t>，</a:t>
            </a:r>
            <a:r>
              <a:rPr lang="en-US" altLang="zh-CN"/>
              <a:t>mAP</a:t>
            </a:r>
            <a:r>
              <a:rPr lang="en-US" altLang="zh-CN" dirty="0"/>
              <a:t>@(0.5, 0.95)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6BAB1F7-3C5C-4357-32EA-96AA8F567E42}"/>
              </a:ext>
            </a:extLst>
          </p:cNvPr>
          <p:cNvSpPr txBox="1"/>
          <p:nvPr/>
        </p:nvSpPr>
        <p:spPr>
          <a:xfrm>
            <a:off x="8356778" y="5373940"/>
            <a:ext cx="37132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r>
              <a:rPr lang="zh-CN" altLang="en-US" dirty="0"/>
              <a:t>表示按不同</a:t>
            </a:r>
            <a:r>
              <a:rPr lang="en-US" altLang="zh-CN" dirty="0" err="1">
                <a:solidFill>
                  <a:schemeClr val="accent5">
                    <a:lumMod val="75000"/>
                  </a:schemeClr>
                </a:solidFill>
              </a:rPr>
              <a:t>IoU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阈值</a:t>
            </a:r>
            <a:r>
              <a:rPr lang="zh-CN" altLang="en-US" dirty="0"/>
              <a:t>取值得到的</a:t>
            </a:r>
            <a:r>
              <a:rPr lang="en-US" altLang="zh-CN" dirty="0" err="1"/>
              <a:t>mAP</a:t>
            </a:r>
            <a:endParaRPr lang="zh-CN" altLang="en-US" dirty="0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ECE17AA0-B1F0-9181-EA94-A6C46AD14272}"/>
              </a:ext>
            </a:extLst>
          </p:cNvPr>
          <p:cNvCxnSpPr/>
          <p:nvPr/>
        </p:nvCxnSpPr>
        <p:spPr>
          <a:xfrm>
            <a:off x="4775028" y="472855"/>
            <a:ext cx="0" cy="58612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292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4" grpId="0"/>
      <p:bldP spid="35" grpId="0"/>
      <p:bldP spid="36" grpId="0"/>
      <p:bldP spid="37" grpId="0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C5A5EAA-17F7-6502-CA6D-085F9EA47EE8}"/>
              </a:ext>
            </a:extLst>
          </p:cNvPr>
          <p:cNvSpPr txBox="1"/>
          <p:nvPr/>
        </p:nvSpPr>
        <p:spPr>
          <a:xfrm>
            <a:off x="395834" y="262004"/>
            <a:ext cx="14299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R-CNN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973F60-D0D7-0803-B442-D445540298A9}"/>
              </a:ext>
            </a:extLst>
          </p:cNvPr>
          <p:cNvSpPr txBox="1"/>
          <p:nvPr/>
        </p:nvSpPr>
        <p:spPr>
          <a:xfrm>
            <a:off x="1825734" y="369726"/>
            <a:ext cx="9911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Discuss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B0C66A-CBE6-8A30-A4AA-C809875D1948}"/>
              </a:ext>
            </a:extLst>
          </p:cNvPr>
          <p:cNvSpPr txBox="1"/>
          <p:nvPr/>
        </p:nvSpPr>
        <p:spPr>
          <a:xfrm>
            <a:off x="395834" y="3438888"/>
            <a:ext cx="4231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Maybe there’s something </a:t>
            </a:r>
            <a:r>
              <a:rPr lang="en-US" altLang="zh-CN" dirty="0">
                <a:solidFill>
                  <a:srgbClr val="FF0000"/>
                </a:solidFill>
              </a:rPr>
              <a:t>WRONG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1F570EB-3C7A-90CD-1727-5950F82C67A3}"/>
              </a:ext>
            </a:extLst>
          </p:cNvPr>
          <p:cNvSpPr txBox="1"/>
          <p:nvPr/>
        </p:nvSpPr>
        <p:spPr>
          <a:xfrm>
            <a:off x="395834" y="4133786"/>
            <a:ext cx="19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Region Proposal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972779-803B-168E-E565-683F976FF122}"/>
              </a:ext>
            </a:extLst>
          </p:cNvPr>
          <p:cNvSpPr txBox="1"/>
          <p:nvPr/>
        </p:nvSpPr>
        <p:spPr>
          <a:xfrm>
            <a:off x="3338477" y="4133786"/>
            <a:ext cx="2080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Feature Extraction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A45E307-8095-A6E5-87DF-ACA8E24BA6BC}"/>
              </a:ext>
            </a:extLst>
          </p:cNvPr>
          <p:cNvSpPr txBox="1"/>
          <p:nvPr/>
        </p:nvSpPr>
        <p:spPr>
          <a:xfrm>
            <a:off x="6362952" y="4133786"/>
            <a:ext cx="160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Classification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55FBFC-583F-48FE-63CD-AC07A2335300}"/>
              </a:ext>
            </a:extLst>
          </p:cNvPr>
          <p:cNvSpPr txBox="1"/>
          <p:nvPr/>
        </p:nvSpPr>
        <p:spPr>
          <a:xfrm>
            <a:off x="8922045" y="4133786"/>
            <a:ext cx="2942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Bounding-box Regression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C73BDF9-EFA9-CB91-B1B7-2B3BD5B3CBE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394419" y="4318452"/>
            <a:ext cx="9440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2AAF87E-CA4C-29E4-6A7A-55B1A919E614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418894" y="4318452"/>
            <a:ext cx="9440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C98F234-5ED9-2056-80BD-79093C106B2F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7965713" y="4318452"/>
            <a:ext cx="9563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2AB7A6C-823A-5F08-2CA3-DB9F53582ECC}"/>
              </a:ext>
            </a:extLst>
          </p:cNvPr>
          <p:cNvSpPr txBox="1"/>
          <p:nvPr/>
        </p:nvSpPr>
        <p:spPr>
          <a:xfrm>
            <a:off x="940228" y="4764728"/>
            <a:ext cx="5155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Region Proposal</a:t>
            </a:r>
            <a:r>
              <a:rPr lang="zh-CN" altLang="en-US" sz="1600" dirty="0"/>
              <a:t>给出约</a:t>
            </a:r>
            <a:r>
              <a:rPr lang="en-US" altLang="zh-CN" sz="1600" dirty="0">
                <a:solidFill>
                  <a:srgbClr val="FF0000"/>
                </a:solidFill>
              </a:rPr>
              <a:t>2k</a:t>
            </a:r>
            <a:r>
              <a:rPr lang="zh-CN" altLang="en-US" sz="1600" dirty="0">
                <a:solidFill>
                  <a:srgbClr val="FF0000"/>
                </a:solidFill>
              </a:rPr>
              <a:t>个框</a:t>
            </a:r>
            <a:r>
              <a:rPr lang="zh-CN" altLang="en-US" sz="1600" dirty="0"/>
              <a:t>，是不是太多了？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3D97940-F299-D4CA-B858-341915AE3054}"/>
              </a:ext>
            </a:extLst>
          </p:cNvPr>
          <p:cNvSpPr txBox="1"/>
          <p:nvPr/>
        </p:nvSpPr>
        <p:spPr>
          <a:xfrm>
            <a:off x="940227" y="5272558"/>
            <a:ext cx="72157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对</a:t>
            </a:r>
            <a:r>
              <a:rPr lang="zh-CN" altLang="en-US" sz="1600" dirty="0">
                <a:solidFill>
                  <a:srgbClr val="FF0000"/>
                </a:solidFill>
              </a:rPr>
              <a:t>每个框</a:t>
            </a:r>
            <a:r>
              <a:rPr lang="zh-CN" altLang="en-US" sz="1600" dirty="0"/>
              <a:t>，都需要再</a:t>
            </a:r>
            <a:r>
              <a:rPr lang="en-US" altLang="zh-CN" sz="1600" dirty="0"/>
              <a:t>Feature Extraction</a:t>
            </a:r>
            <a:r>
              <a:rPr lang="zh-CN" altLang="en-US" sz="1600" dirty="0"/>
              <a:t>，多了大量重复冗余计算？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BF3674D-586A-3B66-3D75-ED22EBE9A983}"/>
              </a:ext>
            </a:extLst>
          </p:cNvPr>
          <p:cNvSpPr txBox="1"/>
          <p:nvPr/>
        </p:nvSpPr>
        <p:spPr>
          <a:xfrm>
            <a:off x="940228" y="5765000"/>
            <a:ext cx="63258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Classification</a:t>
            </a:r>
            <a:r>
              <a:rPr lang="zh-CN" altLang="en-US" sz="1600" dirty="0"/>
              <a:t>中</a:t>
            </a:r>
            <a:r>
              <a:rPr lang="zh-CN" altLang="en-US" sz="1600" dirty="0">
                <a:solidFill>
                  <a:srgbClr val="FF0000"/>
                </a:solidFill>
              </a:rPr>
              <a:t>每个类单独</a:t>
            </a:r>
            <a:r>
              <a:rPr lang="zh-CN" altLang="en-US" sz="1600" dirty="0"/>
              <a:t>一个</a:t>
            </a:r>
            <a:r>
              <a:rPr lang="en-US" altLang="zh-CN" sz="1600" dirty="0"/>
              <a:t>SVM</a:t>
            </a:r>
            <a:r>
              <a:rPr lang="zh-CN" altLang="en-US" sz="1600" dirty="0"/>
              <a:t>，又是重复的计算？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96D53F9-82E8-0DC3-57AC-659C1EA21A1D}"/>
              </a:ext>
            </a:extLst>
          </p:cNvPr>
          <p:cNvSpPr txBox="1"/>
          <p:nvPr/>
        </p:nvSpPr>
        <p:spPr>
          <a:xfrm>
            <a:off x="940227" y="6257442"/>
            <a:ext cx="63258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Bounding-box</a:t>
            </a:r>
            <a:r>
              <a:rPr lang="zh-CN" altLang="en-US" sz="1600" dirty="0"/>
              <a:t>也</a:t>
            </a:r>
            <a:r>
              <a:rPr lang="zh-CN" altLang="en-US" sz="1600" dirty="0">
                <a:solidFill>
                  <a:srgbClr val="FF0000"/>
                </a:solidFill>
              </a:rPr>
              <a:t>和</a:t>
            </a:r>
            <a:r>
              <a:rPr lang="en-US" altLang="zh-CN" sz="1600" dirty="0">
                <a:solidFill>
                  <a:srgbClr val="FF0000"/>
                </a:solidFill>
              </a:rPr>
              <a:t>SVM</a:t>
            </a:r>
            <a:r>
              <a:rPr lang="zh-CN" altLang="en-US" sz="1600" dirty="0">
                <a:solidFill>
                  <a:srgbClr val="FF0000"/>
                </a:solidFill>
              </a:rPr>
              <a:t>一样</a:t>
            </a:r>
            <a:r>
              <a:rPr lang="zh-CN" altLang="en-US" sz="1600" dirty="0"/>
              <a:t>，大量重复，且</a:t>
            </a:r>
            <a:r>
              <a:rPr lang="zh-CN" altLang="en-US" sz="1600" dirty="0">
                <a:solidFill>
                  <a:srgbClr val="FF0000"/>
                </a:solidFill>
              </a:rPr>
              <a:t>提升并不明显</a:t>
            </a:r>
            <a:r>
              <a:rPr lang="zh-CN" altLang="en-US" sz="1600" dirty="0"/>
              <a:t>？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F6D71FA-B1F6-5ADF-0BE5-DC7EBAB54293}"/>
              </a:ext>
            </a:extLst>
          </p:cNvPr>
          <p:cNvCxnSpPr>
            <a:cxnSpLocks/>
          </p:cNvCxnSpPr>
          <p:nvPr/>
        </p:nvCxnSpPr>
        <p:spPr>
          <a:xfrm>
            <a:off x="497090" y="4934005"/>
            <a:ext cx="4469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100735A1-41CE-8034-97B2-B56A4762B7E7}"/>
              </a:ext>
            </a:extLst>
          </p:cNvPr>
          <p:cNvCxnSpPr>
            <a:cxnSpLocks/>
          </p:cNvCxnSpPr>
          <p:nvPr/>
        </p:nvCxnSpPr>
        <p:spPr>
          <a:xfrm>
            <a:off x="493259" y="5441835"/>
            <a:ext cx="4469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CFF5539B-4092-DF84-D50D-B78155865877}"/>
              </a:ext>
            </a:extLst>
          </p:cNvPr>
          <p:cNvCxnSpPr>
            <a:cxnSpLocks/>
          </p:cNvCxnSpPr>
          <p:nvPr/>
        </p:nvCxnSpPr>
        <p:spPr>
          <a:xfrm>
            <a:off x="493259" y="5923148"/>
            <a:ext cx="4469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758F80E-E29A-7FC8-DD6E-3A60410F7AB2}"/>
              </a:ext>
            </a:extLst>
          </p:cNvPr>
          <p:cNvCxnSpPr>
            <a:cxnSpLocks/>
          </p:cNvCxnSpPr>
          <p:nvPr/>
        </p:nvCxnSpPr>
        <p:spPr>
          <a:xfrm>
            <a:off x="493259" y="6426719"/>
            <a:ext cx="4469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FC7B6EA3-136F-BE3B-45D1-72A53E13F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59" y="943372"/>
            <a:ext cx="9321971" cy="224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119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6" grpId="0"/>
      <p:bldP spid="17" grpId="0"/>
      <p:bldP spid="18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1499E15-1655-6AFA-8049-CF29752B1A4D}"/>
              </a:ext>
            </a:extLst>
          </p:cNvPr>
          <p:cNvSpPr txBox="1"/>
          <p:nvPr/>
        </p:nvSpPr>
        <p:spPr>
          <a:xfrm>
            <a:off x="770186" y="747752"/>
            <a:ext cx="30224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Fast R-CNN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A1898B-E67C-F3FD-0EF6-FE9ACD290F8E}"/>
              </a:ext>
            </a:extLst>
          </p:cNvPr>
          <p:cNvSpPr txBox="1"/>
          <p:nvPr/>
        </p:nvSpPr>
        <p:spPr>
          <a:xfrm>
            <a:off x="1212043" y="1931714"/>
            <a:ext cx="5890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对</a:t>
            </a:r>
            <a:r>
              <a:rPr lang="zh-CN" altLang="en-US" sz="1600" dirty="0">
                <a:solidFill>
                  <a:srgbClr val="FF0000"/>
                </a:solidFill>
              </a:rPr>
              <a:t>每个框</a:t>
            </a:r>
            <a:r>
              <a:rPr lang="zh-CN" altLang="en-US" sz="1600" dirty="0"/>
              <a:t>，都需要</a:t>
            </a:r>
            <a:r>
              <a:rPr lang="en-US" altLang="zh-CN" sz="1600" dirty="0"/>
              <a:t>Feature Extraction</a:t>
            </a:r>
            <a:r>
              <a:rPr lang="zh-CN" altLang="en-US" sz="1600" dirty="0"/>
              <a:t>，多了大量重复冗余计算？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576520-5A6F-0280-2997-93A37E8CF00E}"/>
              </a:ext>
            </a:extLst>
          </p:cNvPr>
          <p:cNvSpPr txBox="1"/>
          <p:nvPr/>
        </p:nvSpPr>
        <p:spPr>
          <a:xfrm>
            <a:off x="1212043" y="3080806"/>
            <a:ext cx="63258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Classification</a:t>
            </a:r>
            <a:r>
              <a:rPr lang="zh-CN" altLang="en-US" sz="1600" dirty="0"/>
              <a:t>中</a:t>
            </a:r>
            <a:r>
              <a:rPr lang="zh-CN" altLang="en-US" sz="1600" dirty="0">
                <a:solidFill>
                  <a:srgbClr val="FF0000"/>
                </a:solidFill>
              </a:rPr>
              <a:t>每个类单独</a:t>
            </a:r>
            <a:r>
              <a:rPr lang="zh-CN" altLang="en-US" sz="1600" dirty="0"/>
              <a:t>一个</a:t>
            </a:r>
            <a:r>
              <a:rPr lang="en-US" altLang="zh-CN" sz="1600" dirty="0"/>
              <a:t>SVM</a:t>
            </a:r>
            <a:r>
              <a:rPr lang="zh-CN" altLang="en-US" sz="1600" dirty="0"/>
              <a:t>，又是重复的计算？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42D137B-DB4E-4D90-9ABB-9CB7030E249B}"/>
              </a:ext>
            </a:extLst>
          </p:cNvPr>
          <p:cNvCxnSpPr>
            <a:cxnSpLocks/>
          </p:cNvCxnSpPr>
          <p:nvPr/>
        </p:nvCxnSpPr>
        <p:spPr>
          <a:xfrm>
            <a:off x="1787889" y="2687966"/>
            <a:ext cx="6505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BB9373D0-6020-3BE3-46FF-2463B1D128F2}"/>
              </a:ext>
            </a:extLst>
          </p:cNvPr>
          <p:cNvSpPr txBox="1"/>
          <p:nvPr/>
        </p:nvSpPr>
        <p:spPr>
          <a:xfrm>
            <a:off x="2438402" y="2518689"/>
            <a:ext cx="70001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先</a:t>
            </a:r>
            <a:r>
              <a:rPr lang="zh-CN" altLang="en-US" sz="1600" dirty="0"/>
              <a:t>对整体做特征提取，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再</a:t>
            </a:r>
            <a:r>
              <a:rPr lang="zh-CN" altLang="en-US" sz="1600" dirty="0"/>
              <a:t>按照</a:t>
            </a:r>
            <a:r>
              <a:rPr lang="en-US" altLang="zh-CN" sz="1600" dirty="0"/>
              <a:t>Region Proposal</a:t>
            </a:r>
            <a:r>
              <a:rPr lang="zh-CN" altLang="en-US" sz="1600" dirty="0"/>
              <a:t>投影特征图</a:t>
            </a:r>
            <a:r>
              <a:rPr lang="en-US" altLang="zh-CN" sz="1600" dirty="0"/>
              <a:t>…..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224231F-DB50-B88E-9206-B4FBB2A5E3CD}"/>
              </a:ext>
            </a:extLst>
          </p:cNvPr>
          <p:cNvCxnSpPr>
            <a:cxnSpLocks/>
          </p:cNvCxnSpPr>
          <p:nvPr/>
        </p:nvCxnSpPr>
        <p:spPr>
          <a:xfrm>
            <a:off x="1787889" y="3667782"/>
            <a:ext cx="6505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3B84692A-6EA0-F819-F359-EEF76D30FFC8}"/>
              </a:ext>
            </a:extLst>
          </p:cNvPr>
          <p:cNvSpPr txBox="1"/>
          <p:nvPr/>
        </p:nvSpPr>
        <p:spPr>
          <a:xfrm>
            <a:off x="2438402" y="3498505"/>
            <a:ext cx="5890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使用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SoftMax</a:t>
            </a:r>
            <a:r>
              <a:rPr lang="en-US" altLang="zh-CN" sz="1600" dirty="0"/>
              <a:t>…..</a:t>
            </a:r>
            <a:endParaRPr lang="zh-CN" altLang="en-US" sz="16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5A5344B-28A7-CA86-50CF-EEFDFF90D2A3}"/>
              </a:ext>
            </a:extLst>
          </p:cNvPr>
          <p:cNvSpPr txBox="1"/>
          <p:nvPr/>
        </p:nvSpPr>
        <p:spPr>
          <a:xfrm>
            <a:off x="3223927" y="778529"/>
            <a:ext cx="18083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共享计算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C176EF3-A879-5DD9-9EE5-856A90EDA8E8}"/>
              </a:ext>
            </a:extLst>
          </p:cNvPr>
          <p:cNvSpPr txBox="1"/>
          <p:nvPr/>
        </p:nvSpPr>
        <p:spPr>
          <a:xfrm>
            <a:off x="3942329" y="4742207"/>
            <a:ext cx="38754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More than just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SHARING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79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ECE2A2B-C335-76BF-941D-9874606CBDF2}"/>
              </a:ext>
            </a:extLst>
          </p:cNvPr>
          <p:cNvSpPr txBox="1"/>
          <p:nvPr/>
        </p:nvSpPr>
        <p:spPr>
          <a:xfrm>
            <a:off x="395834" y="262004"/>
            <a:ext cx="30224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Fast R-CNN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E46AE1-4C6A-C266-ECD2-E974C90A374F}"/>
              </a:ext>
            </a:extLst>
          </p:cNvPr>
          <p:cNvSpPr txBox="1"/>
          <p:nvPr/>
        </p:nvSpPr>
        <p:spPr>
          <a:xfrm>
            <a:off x="503222" y="1727097"/>
            <a:ext cx="4749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特征只被提取了一次，而非每个候选框都重复提取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8F0829-20AB-BFB8-CBF3-FC02236484D2}"/>
              </a:ext>
            </a:extLst>
          </p:cNvPr>
          <p:cNvSpPr txBox="1"/>
          <p:nvPr/>
        </p:nvSpPr>
        <p:spPr>
          <a:xfrm>
            <a:off x="2746271" y="400410"/>
            <a:ext cx="9911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Pipeline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1A16B8-7CC0-3268-FF3D-52D32AA26D84}"/>
              </a:ext>
            </a:extLst>
          </p:cNvPr>
          <p:cNvSpPr txBox="1"/>
          <p:nvPr/>
        </p:nvSpPr>
        <p:spPr>
          <a:xfrm>
            <a:off x="503222" y="1335851"/>
            <a:ext cx="19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Region Proposal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839904-DC24-2D8C-1CBE-3A932EC970A4}"/>
              </a:ext>
            </a:extLst>
          </p:cNvPr>
          <p:cNvSpPr txBox="1"/>
          <p:nvPr/>
        </p:nvSpPr>
        <p:spPr>
          <a:xfrm>
            <a:off x="3418260" y="1341374"/>
            <a:ext cx="2080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Feature Extraction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A14070-B46A-6EDD-BC36-944ED579A36F}"/>
              </a:ext>
            </a:extLst>
          </p:cNvPr>
          <p:cNvSpPr txBox="1"/>
          <p:nvPr/>
        </p:nvSpPr>
        <p:spPr>
          <a:xfrm>
            <a:off x="8846341" y="1848289"/>
            <a:ext cx="160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Classification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2660A78-2D69-0BC8-8893-D097F043A54A}"/>
              </a:ext>
            </a:extLst>
          </p:cNvPr>
          <p:cNvSpPr txBox="1"/>
          <p:nvPr/>
        </p:nvSpPr>
        <p:spPr>
          <a:xfrm>
            <a:off x="8829991" y="1357051"/>
            <a:ext cx="2942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Bounding-box Regression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A2ECB93-B1EB-83BC-255B-84658C94C2A2}"/>
              </a:ext>
            </a:extLst>
          </p:cNvPr>
          <p:cNvCxnSpPr>
            <a:cxnSpLocks/>
          </p:cNvCxnSpPr>
          <p:nvPr/>
        </p:nvCxnSpPr>
        <p:spPr>
          <a:xfrm>
            <a:off x="5556968" y="1542343"/>
            <a:ext cx="9440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CCF6C83-6E3C-E458-B2FE-94E8EDA232C5}"/>
              </a:ext>
            </a:extLst>
          </p:cNvPr>
          <p:cNvCxnSpPr>
            <a:cxnSpLocks/>
          </p:cNvCxnSpPr>
          <p:nvPr/>
        </p:nvCxnSpPr>
        <p:spPr>
          <a:xfrm>
            <a:off x="7890009" y="1542343"/>
            <a:ext cx="9563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65F0FC2B-DB7F-5B87-7648-C33E82369561}"/>
              </a:ext>
            </a:extLst>
          </p:cNvPr>
          <p:cNvSpPr txBox="1"/>
          <p:nvPr/>
        </p:nvSpPr>
        <p:spPr>
          <a:xfrm>
            <a:off x="6556261" y="1357051"/>
            <a:ext cx="1415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accent5">
                    <a:lumMod val="75000"/>
                  </a:schemeClr>
                </a:solidFill>
              </a:rPr>
              <a:t>RoI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 Pooling</a:t>
            </a:r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6CB923BB-68C0-A6BC-FDF5-04DC0F280A97}"/>
              </a:ext>
            </a:extLst>
          </p:cNvPr>
          <p:cNvCxnSpPr>
            <a:cxnSpLocks/>
          </p:cNvCxnSpPr>
          <p:nvPr/>
        </p:nvCxnSpPr>
        <p:spPr>
          <a:xfrm>
            <a:off x="8297106" y="1541717"/>
            <a:ext cx="549235" cy="475849"/>
          </a:xfrm>
          <a:prstGeom prst="bentConnector3">
            <a:avLst>
              <a:gd name="adj1" fmla="val -1033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图片 23">
            <a:extLst>
              <a:ext uri="{FF2B5EF4-FFF2-40B4-BE49-F238E27FC236}">
                <a16:creationId xmlns:a16="http://schemas.microsoft.com/office/drawing/2014/main" id="{26FFD13F-B7B7-DC05-EFC8-A8F7ACB9B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30" y="2717635"/>
            <a:ext cx="5449060" cy="2200582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4E620F8B-80A1-E78D-EB02-AFD7AAA2C73D}"/>
              </a:ext>
            </a:extLst>
          </p:cNvPr>
          <p:cNvSpPr/>
          <p:nvPr/>
        </p:nvSpPr>
        <p:spPr>
          <a:xfrm>
            <a:off x="683147" y="2075741"/>
            <a:ext cx="3169514" cy="283759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16EE29B-4688-8F1F-33EF-FB7FB5FB02B4}"/>
              </a:ext>
            </a:extLst>
          </p:cNvPr>
          <p:cNvSpPr/>
          <p:nvPr/>
        </p:nvSpPr>
        <p:spPr>
          <a:xfrm>
            <a:off x="683147" y="2391713"/>
            <a:ext cx="3169514" cy="283759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A313FB5-5977-1D62-E4BA-773CD5E3217B}"/>
              </a:ext>
            </a:extLst>
          </p:cNvPr>
          <p:cNvSpPr/>
          <p:nvPr/>
        </p:nvSpPr>
        <p:spPr>
          <a:xfrm>
            <a:off x="4988885" y="2391714"/>
            <a:ext cx="1081306" cy="28375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004BDA5-DAD7-3BC1-5F10-3FB147E182DA}"/>
              </a:ext>
            </a:extLst>
          </p:cNvPr>
          <p:cNvSpPr/>
          <p:nvPr/>
        </p:nvSpPr>
        <p:spPr>
          <a:xfrm>
            <a:off x="3878549" y="2075741"/>
            <a:ext cx="1084448" cy="59973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5317BFE-8A8E-66D3-0A4C-AED22226AA0A}"/>
              </a:ext>
            </a:extLst>
          </p:cNvPr>
          <p:cNvSpPr/>
          <p:nvPr/>
        </p:nvSpPr>
        <p:spPr>
          <a:xfrm>
            <a:off x="4988885" y="2059555"/>
            <a:ext cx="1081306" cy="28375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B5805C8-1AF5-546C-3531-59E057874C8D}"/>
              </a:ext>
            </a:extLst>
          </p:cNvPr>
          <p:cNvSpPr txBox="1"/>
          <p:nvPr/>
        </p:nvSpPr>
        <p:spPr>
          <a:xfrm>
            <a:off x="6890716" y="2672354"/>
            <a:ext cx="19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accent5">
                    <a:lumMod val="75000"/>
                  </a:schemeClr>
                </a:solidFill>
              </a:rPr>
              <a:t>RoI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 Pooling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5496910-8443-FE78-95D7-B6A863F7A9BB}"/>
              </a:ext>
            </a:extLst>
          </p:cNvPr>
          <p:cNvSpPr txBox="1"/>
          <p:nvPr/>
        </p:nvSpPr>
        <p:spPr>
          <a:xfrm>
            <a:off x="6890715" y="3047604"/>
            <a:ext cx="2928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R</a:t>
            </a:r>
            <a:r>
              <a:rPr lang="en-US" altLang="zh-CN" dirty="0"/>
              <a:t>egion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o</a:t>
            </a:r>
            <a:r>
              <a:rPr lang="en-US" altLang="zh-CN" dirty="0"/>
              <a:t>f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I</a:t>
            </a:r>
            <a:r>
              <a:rPr lang="en-US" altLang="zh-CN" dirty="0"/>
              <a:t>nterest Pooling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5C74BE3-8AB2-CE7E-1F8F-48D5FBB3AFB1}"/>
              </a:ext>
            </a:extLst>
          </p:cNvPr>
          <p:cNvSpPr txBox="1"/>
          <p:nvPr/>
        </p:nvSpPr>
        <p:spPr>
          <a:xfrm>
            <a:off x="7555552" y="3538842"/>
            <a:ext cx="3743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缩放裁剪图像</a:t>
            </a:r>
            <a:r>
              <a:rPr lang="zh-CN" altLang="en-US" dirty="0"/>
              <a:t>以满足</a:t>
            </a:r>
            <a:r>
              <a:rPr lang="en-US" altLang="zh-CN" dirty="0"/>
              <a:t>FC</a:t>
            </a:r>
            <a:r>
              <a:rPr lang="zh-CN" altLang="en-US" dirty="0"/>
              <a:t>层输入</a:t>
            </a:r>
            <a:endParaRPr lang="en-US" altLang="zh-CN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994DC2B-B42A-D505-99A9-7E4D00B216A0}"/>
              </a:ext>
            </a:extLst>
          </p:cNvPr>
          <p:cNvCxnSpPr>
            <a:cxnSpLocks/>
          </p:cNvCxnSpPr>
          <p:nvPr/>
        </p:nvCxnSpPr>
        <p:spPr>
          <a:xfrm>
            <a:off x="7032902" y="3791014"/>
            <a:ext cx="522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A3F2476-4AA5-A972-759C-41C17AA0711A}"/>
              </a:ext>
            </a:extLst>
          </p:cNvPr>
          <p:cNvSpPr txBox="1"/>
          <p:nvPr/>
        </p:nvSpPr>
        <p:spPr>
          <a:xfrm>
            <a:off x="6990433" y="3483237"/>
            <a:ext cx="607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解决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7318141-34D8-7C41-330E-CD8B2CBED8F4}"/>
              </a:ext>
            </a:extLst>
          </p:cNvPr>
          <p:cNvSpPr txBox="1"/>
          <p:nvPr/>
        </p:nvSpPr>
        <p:spPr>
          <a:xfrm>
            <a:off x="8029092" y="3908174"/>
            <a:ext cx="303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信息损失，复杂操作</a:t>
            </a:r>
            <a:endParaRPr lang="en-US" altLang="zh-CN" dirty="0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7014C39-F6AE-F9D3-65B7-CA4EAB4198F2}"/>
              </a:ext>
            </a:extLst>
          </p:cNvPr>
          <p:cNvCxnSpPr>
            <a:cxnSpLocks/>
          </p:cNvCxnSpPr>
          <p:nvPr/>
        </p:nvCxnSpPr>
        <p:spPr>
          <a:xfrm>
            <a:off x="7537657" y="4183968"/>
            <a:ext cx="522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E0D11CCB-E3F4-A9F7-6FDB-214E2E4CCE35}"/>
              </a:ext>
            </a:extLst>
          </p:cNvPr>
          <p:cNvSpPr txBox="1"/>
          <p:nvPr/>
        </p:nvSpPr>
        <p:spPr>
          <a:xfrm>
            <a:off x="7495188" y="3876191"/>
            <a:ext cx="630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避免</a:t>
            </a:r>
          </a:p>
        </p:txBody>
      </p: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1D58EA4D-1EFE-4E97-3647-8E15AF6F2C86}"/>
              </a:ext>
            </a:extLst>
          </p:cNvPr>
          <p:cNvCxnSpPr>
            <a:cxnSpLocks/>
            <a:stCxn id="5" idx="0"/>
            <a:endCxn id="17" idx="0"/>
          </p:cNvCxnSpPr>
          <p:nvPr/>
        </p:nvCxnSpPr>
        <p:spPr>
          <a:xfrm rot="16200000" flipH="1">
            <a:off x="4372685" y="-1534319"/>
            <a:ext cx="21200" cy="5761541"/>
          </a:xfrm>
          <a:prstGeom prst="bentConnector3">
            <a:avLst>
              <a:gd name="adj1" fmla="val -1078302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EC5EEB15-0D63-3165-B92E-4ABA9D9147E0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501807" y="1520517"/>
            <a:ext cx="916453" cy="55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11B28387-D03E-8B00-953B-8CFE42ED297D}"/>
              </a:ext>
            </a:extLst>
          </p:cNvPr>
          <p:cNvSpPr txBox="1"/>
          <p:nvPr/>
        </p:nvSpPr>
        <p:spPr>
          <a:xfrm>
            <a:off x="2445504" y="1212740"/>
            <a:ext cx="1174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Projection</a:t>
            </a:r>
            <a:endParaRPr lang="zh-CN" altLang="en-US" sz="1400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54051958-7088-4E42-DFB3-33669C1BAF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81" t="40716" r="10027" b="49479"/>
          <a:stretch>
            <a:fillRect/>
          </a:stretch>
        </p:blipFill>
        <p:spPr>
          <a:xfrm>
            <a:off x="3579022" y="4853903"/>
            <a:ext cx="730293" cy="672445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A1AB7D21-B294-27CD-6276-CF7196E268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67" t="10536" r="8149" b="9246"/>
          <a:stretch>
            <a:fillRect/>
          </a:stretch>
        </p:blipFill>
        <p:spPr>
          <a:xfrm>
            <a:off x="1671522" y="4851539"/>
            <a:ext cx="1839680" cy="1822306"/>
          </a:xfrm>
          <a:prstGeom prst="rect">
            <a:avLst/>
          </a:prstGeom>
        </p:spPr>
      </p:pic>
      <p:sp>
        <p:nvSpPr>
          <p:cNvPr id="57" name="矩形 56">
            <a:extLst>
              <a:ext uri="{FF2B5EF4-FFF2-40B4-BE49-F238E27FC236}">
                <a16:creationId xmlns:a16="http://schemas.microsoft.com/office/drawing/2014/main" id="{A0D498F4-78B5-951A-150E-C435E479C6DA}"/>
              </a:ext>
            </a:extLst>
          </p:cNvPr>
          <p:cNvSpPr/>
          <p:nvPr/>
        </p:nvSpPr>
        <p:spPr>
          <a:xfrm>
            <a:off x="2243822" y="5289294"/>
            <a:ext cx="750741" cy="951524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9A09CA1-FB25-8AE0-CFC9-136548C7CC6F}"/>
              </a:ext>
            </a:extLst>
          </p:cNvPr>
          <p:cNvSpPr/>
          <p:nvPr/>
        </p:nvSpPr>
        <p:spPr>
          <a:xfrm>
            <a:off x="3870104" y="5030441"/>
            <a:ext cx="159459" cy="254126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E8AE4317-D889-92FC-C5AA-99C00162D5B3}"/>
              </a:ext>
            </a:extLst>
          </p:cNvPr>
          <p:cNvCxnSpPr>
            <a:cxnSpLocks/>
          </p:cNvCxnSpPr>
          <p:nvPr/>
        </p:nvCxnSpPr>
        <p:spPr>
          <a:xfrm flipV="1">
            <a:off x="2981510" y="5030441"/>
            <a:ext cx="888594" cy="258853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906C2062-1EAA-1FA1-2E55-6468B85E5CC8}"/>
              </a:ext>
            </a:extLst>
          </p:cNvPr>
          <p:cNvCxnSpPr>
            <a:cxnSpLocks/>
          </p:cNvCxnSpPr>
          <p:nvPr/>
        </p:nvCxnSpPr>
        <p:spPr>
          <a:xfrm flipV="1">
            <a:off x="3000887" y="5284566"/>
            <a:ext cx="862158" cy="956252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6" name="图片 65">
            <a:extLst>
              <a:ext uri="{FF2B5EF4-FFF2-40B4-BE49-F238E27FC236}">
                <a16:creationId xmlns:a16="http://schemas.microsoft.com/office/drawing/2014/main" id="{0E702825-AA04-C0AE-A46A-7D3282535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127" t="43439" r="13372" b="53524"/>
          <a:stretch>
            <a:fillRect/>
          </a:stretch>
        </p:blipFill>
        <p:spPr>
          <a:xfrm>
            <a:off x="3881511" y="5971805"/>
            <a:ext cx="130721" cy="208227"/>
          </a:xfrm>
          <a:prstGeom prst="rect">
            <a:avLst/>
          </a:prstGeom>
        </p:spPr>
      </p:pic>
      <p:sp>
        <p:nvSpPr>
          <p:cNvPr id="67" name="矩形 66">
            <a:extLst>
              <a:ext uri="{FF2B5EF4-FFF2-40B4-BE49-F238E27FC236}">
                <a16:creationId xmlns:a16="http://schemas.microsoft.com/office/drawing/2014/main" id="{1CC8709B-B4F0-C776-7014-9AB9EF7CE5D8}"/>
              </a:ext>
            </a:extLst>
          </p:cNvPr>
          <p:cNvSpPr/>
          <p:nvPr/>
        </p:nvSpPr>
        <p:spPr>
          <a:xfrm>
            <a:off x="3870104" y="5948856"/>
            <a:ext cx="159459" cy="254126"/>
          </a:xfrm>
          <a:prstGeom prst="rect">
            <a:avLst/>
          </a:prstGeom>
          <a:noFill/>
          <a:ln w="28575" cap="flat" cmpd="sng" algn="ctr">
            <a:solidFill>
              <a:schemeClr val="accent4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8" name="图片 67">
            <a:extLst>
              <a:ext uri="{FF2B5EF4-FFF2-40B4-BE49-F238E27FC236}">
                <a16:creationId xmlns:a16="http://schemas.microsoft.com/office/drawing/2014/main" id="{E0AFB566-6B61-3843-56CF-4B5A251E1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127" t="43439" r="13372" b="53524"/>
          <a:stretch>
            <a:fillRect/>
          </a:stretch>
        </p:blipFill>
        <p:spPr>
          <a:xfrm>
            <a:off x="4907147" y="5278760"/>
            <a:ext cx="824065" cy="840460"/>
          </a:xfrm>
          <a:prstGeom prst="rect">
            <a:avLst/>
          </a:prstGeom>
        </p:spPr>
      </p:pic>
      <p:sp>
        <p:nvSpPr>
          <p:cNvPr id="69" name="矩形 68">
            <a:extLst>
              <a:ext uri="{FF2B5EF4-FFF2-40B4-BE49-F238E27FC236}">
                <a16:creationId xmlns:a16="http://schemas.microsoft.com/office/drawing/2014/main" id="{0DE8A418-D55C-E0BA-BFDC-CADE0357AAF5}"/>
              </a:ext>
            </a:extLst>
          </p:cNvPr>
          <p:cNvSpPr/>
          <p:nvPr/>
        </p:nvSpPr>
        <p:spPr>
          <a:xfrm>
            <a:off x="4906827" y="5266791"/>
            <a:ext cx="824385" cy="843396"/>
          </a:xfrm>
          <a:prstGeom prst="rect">
            <a:avLst/>
          </a:prstGeom>
          <a:noFill/>
          <a:ln w="28575" cap="flat" cmpd="sng" algn="ctr">
            <a:solidFill>
              <a:schemeClr val="accent4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9362F86B-83EE-6024-DC05-FF2503F1D936}"/>
              </a:ext>
            </a:extLst>
          </p:cNvPr>
          <p:cNvCxnSpPr>
            <a:cxnSpLocks/>
          </p:cNvCxnSpPr>
          <p:nvPr/>
        </p:nvCxnSpPr>
        <p:spPr>
          <a:xfrm flipV="1">
            <a:off x="4029563" y="5278760"/>
            <a:ext cx="870940" cy="702079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43CE2233-CEE0-B6AB-79D9-1BE1CA0C47C7}"/>
              </a:ext>
            </a:extLst>
          </p:cNvPr>
          <p:cNvCxnSpPr>
            <a:cxnSpLocks/>
            <a:stCxn id="67" idx="2"/>
          </p:cNvCxnSpPr>
          <p:nvPr/>
        </p:nvCxnSpPr>
        <p:spPr>
          <a:xfrm flipV="1">
            <a:off x="3949834" y="6110187"/>
            <a:ext cx="950669" cy="92795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6" name="矩形 85">
            <a:extLst>
              <a:ext uri="{FF2B5EF4-FFF2-40B4-BE49-F238E27FC236}">
                <a16:creationId xmlns:a16="http://schemas.microsoft.com/office/drawing/2014/main" id="{B31F431E-A183-EB18-D7B5-0FF544302711}"/>
              </a:ext>
            </a:extLst>
          </p:cNvPr>
          <p:cNvSpPr/>
          <p:nvPr/>
        </p:nvSpPr>
        <p:spPr>
          <a:xfrm>
            <a:off x="5061181" y="5278760"/>
            <a:ext cx="534392" cy="837963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D248A538-BAC8-6C28-11FB-6E6D00EA0A8F}"/>
              </a:ext>
            </a:extLst>
          </p:cNvPr>
          <p:cNvCxnSpPr/>
          <p:nvPr/>
        </p:nvCxnSpPr>
        <p:spPr>
          <a:xfrm>
            <a:off x="3944168" y="5611507"/>
            <a:ext cx="0" cy="2004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1" name="图片 90">
            <a:extLst>
              <a:ext uri="{FF2B5EF4-FFF2-40B4-BE49-F238E27FC236}">
                <a16:creationId xmlns:a16="http://schemas.microsoft.com/office/drawing/2014/main" id="{E232DCF1-0067-9694-C209-7269103053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67" t="10536" r="8149" b="9246"/>
          <a:stretch>
            <a:fillRect/>
          </a:stretch>
        </p:blipFill>
        <p:spPr>
          <a:xfrm>
            <a:off x="7495188" y="4867322"/>
            <a:ext cx="1839680" cy="1822306"/>
          </a:xfrm>
          <a:prstGeom prst="rect">
            <a:avLst/>
          </a:prstGeom>
        </p:spPr>
      </p:pic>
      <p:pic>
        <p:nvPicPr>
          <p:cNvPr id="92" name="图片 91">
            <a:extLst>
              <a:ext uri="{FF2B5EF4-FFF2-40B4-BE49-F238E27FC236}">
                <a16:creationId xmlns:a16="http://schemas.microsoft.com/office/drawing/2014/main" id="{8B8171C5-E40F-EB29-F621-477F03002D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81" t="40716" r="10027" b="49479"/>
          <a:stretch>
            <a:fillRect/>
          </a:stretch>
        </p:blipFill>
        <p:spPr>
          <a:xfrm>
            <a:off x="6262091" y="5466600"/>
            <a:ext cx="730293" cy="672445"/>
          </a:xfrm>
          <a:prstGeom prst="rect">
            <a:avLst/>
          </a:prstGeom>
        </p:spPr>
      </p:pic>
      <p:sp>
        <p:nvSpPr>
          <p:cNvPr id="95" name="矩形 94">
            <a:extLst>
              <a:ext uri="{FF2B5EF4-FFF2-40B4-BE49-F238E27FC236}">
                <a16:creationId xmlns:a16="http://schemas.microsoft.com/office/drawing/2014/main" id="{C60C4965-F475-9988-67D2-7F6B85D6D08E}"/>
              </a:ext>
            </a:extLst>
          </p:cNvPr>
          <p:cNvSpPr/>
          <p:nvPr/>
        </p:nvSpPr>
        <p:spPr>
          <a:xfrm>
            <a:off x="6503021" y="5661357"/>
            <a:ext cx="248429" cy="254126"/>
          </a:xfrm>
          <a:prstGeom prst="rect">
            <a:avLst/>
          </a:prstGeom>
          <a:noFill/>
          <a:ln w="28575" cap="flat" cmpd="sng" algn="ctr">
            <a:solidFill>
              <a:schemeClr val="accent4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D7D80CDD-F298-EFC0-3678-41CBE57840F5}"/>
              </a:ext>
            </a:extLst>
          </p:cNvPr>
          <p:cNvSpPr/>
          <p:nvPr/>
        </p:nvSpPr>
        <p:spPr>
          <a:xfrm>
            <a:off x="6547507" y="5661357"/>
            <a:ext cx="159459" cy="254126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0FE7CCE6-387C-6932-0237-0EBEC4DA01B5}"/>
              </a:ext>
            </a:extLst>
          </p:cNvPr>
          <p:cNvSpPr/>
          <p:nvPr/>
        </p:nvSpPr>
        <p:spPr>
          <a:xfrm>
            <a:off x="7786749" y="5305077"/>
            <a:ext cx="1274449" cy="951524"/>
          </a:xfrm>
          <a:prstGeom prst="rect">
            <a:avLst/>
          </a:prstGeom>
          <a:noFill/>
          <a:ln w="28575" cap="flat" cmpd="sng" algn="ctr">
            <a:solidFill>
              <a:schemeClr val="accent4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8B9F5FB0-3B07-FC73-DCB6-BBA009CB8AE8}"/>
              </a:ext>
            </a:extLst>
          </p:cNvPr>
          <p:cNvSpPr/>
          <p:nvPr/>
        </p:nvSpPr>
        <p:spPr>
          <a:xfrm>
            <a:off x="8061718" y="5305077"/>
            <a:ext cx="750741" cy="951524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3524C09B-1CAE-A3F9-00F1-8E1A711112AC}"/>
              </a:ext>
            </a:extLst>
          </p:cNvPr>
          <p:cNvCxnSpPr>
            <a:cxnSpLocks/>
          </p:cNvCxnSpPr>
          <p:nvPr/>
        </p:nvCxnSpPr>
        <p:spPr>
          <a:xfrm>
            <a:off x="6023735" y="4910244"/>
            <a:ext cx="0" cy="17636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C9647B0F-28F1-23C0-D4A1-8F5D5ECE7FE5}"/>
              </a:ext>
            </a:extLst>
          </p:cNvPr>
          <p:cNvCxnSpPr>
            <a:cxnSpLocks/>
          </p:cNvCxnSpPr>
          <p:nvPr/>
        </p:nvCxnSpPr>
        <p:spPr>
          <a:xfrm>
            <a:off x="7063847" y="5748360"/>
            <a:ext cx="32100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A42CD277-0AC3-46A0-40C8-E38D05EF3054}"/>
              </a:ext>
            </a:extLst>
          </p:cNvPr>
          <p:cNvSpPr txBox="1"/>
          <p:nvPr/>
        </p:nvSpPr>
        <p:spPr>
          <a:xfrm>
            <a:off x="10178198" y="5484556"/>
            <a:ext cx="1839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信息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失真</a:t>
            </a:r>
            <a:r>
              <a:rPr lang="zh-CN" altLang="en-US" dirty="0"/>
              <a:t>！</a:t>
            </a:r>
            <a:endParaRPr lang="en-US" altLang="zh-CN" dirty="0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2029DE89-3F4C-A6E0-E445-5E5B81125EF1}"/>
              </a:ext>
            </a:extLst>
          </p:cNvPr>
          <p:cNvSpPr/>
          <p:nvPr/>
        </p:nvSpPr>
        <p:spPr>
          <a:xfrm>
            <a:off x="6890715" y="2622550"/>
            <a:ext cx="4092313" cy="181971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FC89C3EB-1B99-D8FE-AC4C-C47317287ACD}"/>
              </a:ext>
            </a:extLst>
          </p:cNvPr>
          <p:cNvCxnSpPr/>
          <p:nvPr/>
        </p:nvCxnSpPr>
        <p:spPr>
          <a:xfrm flipV="1">
            <a:off x="10769400" y="4564027"/>
            <a:ext cx="0" cy="7410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B90B8299-D166-9C57-4BD6-7E63F9CCB6EC}"/>
              </a:ext>
            </a:extLst>
          </p:cNvPr>
          <p:cNvSpPr txBox="1"/>
          <p:nvPr/>
        </p:nvSpPr>
        <p:spPr>
          <a:xfrm>
            <a:off x="10843653" y="4816493"/>
            <a:ext cx="1174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解决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FDB539CE-2169-967B-36BD-1FFA79301695}"/>
              </a:ext>
            </a:extLst>
          </p:cNvPr>
          <p:cNvSpPr/>
          <p:nvPr/>
        </p:nvSpPr>
        <p:spPr>
          <a:xfrm>
            <a:off x="405032" y="5305077"/>
            <a:ext cx="824385" cy="843396"/>
          </a:xfrm>
          <a:prstGeom prst="rect">
            <a:avLst/>
          </a:prstGeom>
          <a:noFill/>
          <a:ln w="28575" cap="flat" cmpd="sng" algn="ctr">
            <a:solidFill>
              <a:schemeClr val="accent4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固定输入</a:t>
            </a:r>
          </a:p>
        </p:txBody>
      </p:sp>
    </p:spTree>
    <p:extLst>
      <p:ext uri="{BB962C8B-B14F-4D97-AF65-F5344CB8AC3E}">
        <p14:creationId xmlns:p14="http://schemas.microsoft.com/office/powerpoint/2010/main" val="59555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8" grpId="0"/>
      <p:bldP spid="20" grpId="0"/>
      <p:bldP spid="22" grpId="0"/>
      <p:bldP spid="57" grpId="0" animBg="1"/>
      <p:bldP spid="58" grpId="0" animBg="1"/>
      <p:bldP spid="67" grpId="0" animBg="1"/>
      <p:bldP spid="69" grpId="0" animBg="1"/>
      <p:bldP spid="86" grpId="0" animBg="1"/>
      <p:bldP spid="95" grpId="0" animBg="1"/>
      <p:bldP spid="94" grpId="0" animBg="1"/>
      <p:bldP spid="96" grpId="0" animBg="1"/>
      <p:bldP spid="93" grpId="0" animBg="1"/>
      <p:bldP spid="104" grpId="0"/>
      <p:bldP spid="105" grpId="0" animBg="1"/>
      <p:bldP spid="108" grpId="0"/>
      <p:bldP spid="10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082FC83-60EC-56E1-300F-A82407031683}"/>
              </a:ext>
            </a:extLst>
          </p:cNvPr>
          <p:cNvSpPr txBox="1"/>
          <p:nvPr/>
        </p:nvSpPr>
        <p:spPr>
          <a:xfrm>
            <a:off x="395834" y="262004"/>
            <a:ext cx="30224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Fast R-CNN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1C6EA7-8605-4293-DA33-5506BD7C15A6}"/>
              </a:ext>
            </a:extLst>
          </p:cNvPr>
          <p:cNvSpPr txBox="1"/>
          <p:nvPr/>
        </p:nvSpPr>
        <p:spPr>
          <a:xfrm>
            <a:off x="2746271" y="400410"/>
            <a:ext cx="9911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chemeClr val="accent5">
                    <a:lumMod val="75000"/>
                  </a:schemeClr>
                </a:solidFill>
              </a:rPr>
              <a:t>SPPNet</a:t>
            </a:r>
            <a:endParaRPr lang="en-US" altLang="zh-CN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414FAC-760B-A2A0-BF1D-4E60E9EEFFF0}"/>
              </a:ext>
            </a:extLst>
          </p:cNvPr>
          <p:cNvSpPr txBox="1"/>
          <p:nvPr/>
        </p:nvSpPr>
        <p:spPr>
          <a:xfrm>
            <a:off x="5216379" y="1510703"/>
            <a:ext cx="3137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S</a:t>
            </a:r>
            <a:r>
              <a:rPr lang="en-US" altLang="zh-CN" dirty="0"/>
              <a:t>patial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P</a:t>
            </a:r>
            <a:r>
              <a:rPr lang="en-US" altLang="zh-CN" dirty="0"/>
              <a:t>yramid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P</a:t>
            </a:r>
            <a:r>
              <a:rPr lang="en-US" altLang="zh-CN" dirty="0"/>
              <a:t>ooling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A3040E-9AC5-E709-1656-CD0B59A37C72}"/>
              </a:ext>
            </a:extLst>
          </p:cNvPr>
          <p:cNvSpPr txBox="1"/>
          <p:nvPr/>
        </p:nvSpPr>
        <p:spPr>
          <a:xfrm>
            <a:off x="5184160" y="1139884"/>
            <a:ext cx="3137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空间金字塔池化（</a:t>
            </a:r>
            <a:r>
              <a:rPr lang="en-US" altLang="zh-CN" dirty="0"/>
              <a:t>SPP</a:t>
            </a:r>
            <a:r>
              <a:rPr lang="zh-CN" altLang="en-US" dirty="0"/>
              <a:t>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CAA4AC4-FDD5-4B83-BDF8-3C47B0018620}"/>
              </a:ext>
            </a:extLst>
          </p:cNvPr>
          <p:cNvSpPr txBox="1"/>
          <p:nvPr/>
        </p:nvSpPr>
        <p:spPr>
          <a:xfrm>
            <a:off x="8787040" y="1510703"/>
            <a:ext cx="3137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F</a:t>
            </a:r>
            <a:r>
              <a:rPr lang="en-US" altLang="zh-CN" dirty="0"/>
              <a:t>eature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P</a:t>
            </a:r>
            <a:r>
              <a:rPr lang="en-US" altLang="zh-CN" dirty="0"/>
              <a:t>yramid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N</a:t>
            </a:r>
            <a:r>
              <a:rPr lang="en-US" altLang="zh-CN" dirty="0"/>
              <a:t>etwork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528EE92-8FC5-E557-655C-37B90C9ADDDB}"/>
              </a:ext>
            </a:extLst>
          </p:cNvPr>
          <p:cNvSpPr txBox="1"/>
          <p:nvPr/>
        </p:nvSpPr>
        <p:spPr>
          <a:xfrm>
            <a:off x="8754821" y="1139884"/>
            <a:ext cx="3137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特征金字塔网络（</a:t>
            </a:r>
            <a:r>
              <a:rPr lang="en-US" altLang="zh-CN" dirty="0"/>
              <a:t>FPN</a:t>
            </a:r>
            <a:r>
              <a:rPr lang="zh-CN" altLang="en-US" dirty="0"/>
              <a:t>）</a:t>
            </a:r>
          </a:p>
        </p:txBody>
      </p:sp>
      <p:sp>
        <p:nvSpPr>
          <p:cNvPr id="11" name="等号 10">
            <a:extLst>
              <a:ext uri="{FF2B5EF4-FFF2-40B4-BE49-F238E27FC236}">
                <a16:creationId xmlns:a16="http://schemas.microsoft.com/office/drawing/2014/main" id="{23CBD50D-B81B-ED78-799A-C6B06F6558E6}"/>
              </a:ext>
            </a:extLst>
          </p:cNvPr>
          <p:cNvSpPr/>
          <p:nvPr/>
        </p:nvSpPr>
        <p:spPr>
          <a:xfrm>
            <a:off x="7869056" y="1324550"/>
            <a:ext cx="963496" cy="369332"/>
          </a:xfrm>
          <a:prstGeom prst="mathEqual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F0358B2-C52A-4E48-0A3E-6EC1D5668AC1}"/>
              </a:ext>
            </a:extLst>
          </p:cNvPr>
          <p:cNvSpPr/>
          <p:nvPr/>
        </p:nvSpPr>
        <p:spPr>
          <a:xfrm rot="18800909">
            <a:off x="8292946" y="1184703"/>
            <a:ext cx="110465" cy="6490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037D9C8-82F9-61D7-9C87-281811E82967}"/>
              </a:ext>
            </a:extLst>
          </p:cNvPr>
          <p:cNvSpPr txBox="1"/>
          <p:nvPr/>
        </p:nvSpPr>
        <p:spPr>
          <a:xfrm>
            <a:off x="428053" y="1141371"/>
            <a:ext cx="397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让特征图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尺寸统一</a:t>
            </a:r>
            <a:r>
              <a:rPr lang="zh-CN" altLang="en-US" dirty="0"/>
              <a:t>，以便</a:t>
            </a:r>
            <a:r>
              <a:rPr lang="en-US" altLang="zh-CN" dirty="0"/>
              <a:t>FC</a:t>
            </a:r>
            <a:r>
              <a:rPr lang="zh-CN" altLang="en-US" dirty="0"/>
              <a:t>层输入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932F77A-437A-FFD9-231E-F1B159F8CB65}"/>
              </a:ext>
            </a:extLst>
          </p:cNvPr>
          <p:cNvCxnSpPr>
            <a:cxnSpLocks/>
          </p:cNvCxnSpPr>
          <p:nvPr/>
        </p:nvCxnSpPr>
        <p:spPr>
          <a:xfrm>
            <a:off x="540049" y="1816526"/>
            <a:ext cx="72415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B35233EF-2BDC-FCBC-36ED-8E777A601CE2}"/>
              </a:ext>
            </a:extLst>
          </p:cNvPr>
          <p:cNvSpPr txBox="1"/>
          <p:nvPr/>
        </p:nvSpPr>
        <p:spPr>
          <a:xfrm>
            <a:off x="1411494" y="1624094"/>
            <a:ext cx="991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accent5">
                    <a:lumMod val="75000"/>
                  </a:schemeClr>
                </a:solidFill>
              </a:rPr>
              <a:t>SPPNet</a:t>
            </a:r>
            <a:endParaRPr lang="en-US" altLang="zh-C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9C234CB-CFBD-C49E-EAE8-C706F4E7162F}"/>
              </a:ext>
            </a:extLst>
          </p:cNvPr>
          <p:cNvSpPr txBox="1"/>
          <p:nvPr/>
        </p:nvSpPr>
        <p:spPr>
          <a:xfrm>
            <a:off x="428053" y="2307106"/>
            <a:ext cx="19776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Max Pooling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2874854-36F1-13BE-E5BF-3512810085E7}"/>
              </a:ext>
            </a:extLst>
          </p:cNvPr>
          <p:cNvSpPr/>
          <p:nvPr/>
        </p:nvSpPr>
        <p:spPr>
          <a:xfrm>
            <a:off x="601422" y="2852270"/>
            <a:ext cx="202518" cy="2454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25EDCE2-FDC6-5A0E-97E0-6DA3A16B474E}"/>
              </a:ext>
            </a:extLst>
          </p:cNvPr>
          <p:cNvSpPr/>
          <p:nvPr/>
        </p:nvSpPr>
        <p:spPr>
          <a:xfrm>
            <a:off x="803940" y="2852270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6EA0720-CC75-A747-1F02-1A2AE4106F58}"/>
              </a:ext>
            </a:extLst>
          </p:cNvPr>
          <p:cNvSpPr/>
          <p:nvPr/>
        </p:nvSpPr>
        <p:spPr>
          <a:xfrm>
            <a:off x="1006458" y="2852270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FAE038F-C096-233A-7CB1-731868415236}"/>
              </a:ext>
            </a:extLst>
          </p:cNvPr>
          <p:cNvSpPr/>
          <p:nvPr/>
        </p:nvSpPr>
        <p:spPr>
          <a:xfrm>
            <a:off x="1208976" y="2852270"/>
            <a:ext cx="202518" cy="24547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61775FB-34AF-E891-3199-109EF1688CE2}"/>
              </a:ext>
            </a:extLst>
          </p:cNvPr>
          <p:cNvSpPr/>
          <p:nvPr/>
        </p:nvSpPr>
        <p:spPr>
          <a:xfrm>
            <a:off x="601422" y="3060925"/>
            <a:ext cx="202518" cy="2454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C9028C-1E35-8AB0-0974-0EBE10916E5B}"/>
              </a:ext>
            </a:extLst>
          </p:cNvPr>
          <p:cNvSpPr/>
          <p:nvPr/>
        </p:nvSpPr>
        <p:spPr>
          <a:xfrm>
            <a:off x="803940" y="3060925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A77236A-09C6-2D31-5DBD-D33C4B60778A}"/>
              </a:ext>
            </a:extLst>
          </p:cNvPr>
          <p:cNvSpPr/>
          <p:nvPr/>
        </p:nvSpPr>
        <p:spPr>
          <a:xfrm>
            <a:off x="1006458" y="3060925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996EEB-F07D-8033-DD86-2126F979945A}"/>
              </a:ext>
            </a:extLst>
          </p:cNvPr>
          <p:cNvSpPr/>
          <p:nvPr/>
        </p:nvSpPr>
        <p:spPr>
          <a:xfrm>
            <a:off x="1208976" y="3060924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50F1693-AD19-46FD-890E-1B91AD7EA77C}"/>
              </a:ext>
            </a:extLst>
          </p:cNvPr>
          <p:cNvSpPr/>
          <p:nvPr/>
        </p:nvSpPr>
        <p:spPr>
          <a:xfrm>
            <a:off x="601422" y="3269579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B50B740-0988-1059-55F9-B32826E21777}"/>
              </a:ext>
            </a:extLst>
          </p:cNvPr>
          <p:cNvSpPr/>
          <p:nvPr/>
        </p:nvSpPr>
        <p:spPr>
          <a:xfrm>
            <a:off x="803940" y="3269579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B6E2D49-14C4-F421-9957-5F772F8430C1}"/>
              </a:ext>
            </a:extLst>
          </p:cNvPr>
          <p:cNvSpPr/>
          <p:nvPr/>
        </p:nvSpPr>
        <p:spPr>
          <a:xfrm>
            <a:off x="1006458" y="3269579"/>
            <a:ext cx="202518" cy="2454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E56AC0-02FF-90AA-1461-82C444D4B628}"/>
              </a:ext>
            </a:extLst>
          </p:cNvPr>
          <p:cNvSpPr/>
          <p:nvPr/>
        </p:nvSpPr>
        <p:spPr>
          <a:xfrm>
            <a:off x="1208976" y="3269579"/>
            <a:ext cx="202518" cy="24547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F81108E-698B-AEFE-C182-69CBF03BD240}"/>
              </a:ext>
            </a:extLst>
          </p:cNvPr>
          <p:cNvSpPr/>
          <p:nvPr/>
        </p:nvSpPr>
        <p:spPr>
          <a:xfrm>
            <a:off x="601422" y="3478234"/>
            <a:ext cx="202518" cy="2454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42260AE-CEF9-342F-EEBD-C2E5D104416A}"/>
              </a:ext>
            </a:extLst>
          </p:cNvPr>
          <p:cNvSpPr/>
          <p:nvPr/>
        </p:nvSpPr>
        <p:spPr>
          <a:xfrm>
            <a:off x="803940" y="3478234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648A856-0BFA-A426-4618-7958D7AE8A80}"/>
              </a:ext>
            </a:extLst>
          </p:cNvPr>
          <p:cNvSpPr/>
          <p:nvPr/>
        </p:nvSpPr>
        <p:spPr>
          <a:xfrm>
            <a:off x="1006458" y="3478234"/>
            <a:ext cx="202518" cy="2454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CC0F97A-70C3-2334-2002-CD533C6F8AA3}"/>
              </a:ext>
            </a:extLst>
          </p:cNvPr>
          <p:cNvSpPr/>
          <p:nvPr/>
        </p:nvSpPr>
        <p:spPr>
          <a:xfrm>
            <a:off x="1208976" y="3478233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C8DA50C1-459F-5A46-2870-3AB022ED3CC9}"/>
              </a:ext>
            </a:extLst>
          </p:cNvPr>
          <p:cNvCxnSpPr>
            <a:cxnSpLocks/>
          </p:cNvCxnSpPr>
          <p:nvPr/>
        </p:nvCxnSpPr>
        <p:spPr>
          <a:xfrm>
            <a:off x="1006458" y="2791283"/>
            <a:ext cx="0" cy="100488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B36C4085-BAAE-9407-775E-BEB5782603AD}"/>
              </a:ext>
            </a:extLst>
          </p:cNvPr>
          <p:cNvCxnSpPr>
            <a:cxnSpLocks/>
          </p:cNvCxnSpPr>
          <p:nvPr/>
        </p:nvCxnSpPr>
        <p:spPr>
          <a:xfrm flipH="1">
            <a:off x="540049" y="3269579"/>
            <a:ext cx="99823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8C29E647-F5CC-7BBA-A061-C3185DAB37B1}"/>
              </a:ext>
            </a:extLst>
          </p:cNvPr>
          <p:cNvCxnSpPr>
            <a:cxnSpLocks/>
          </p:cNvCxnSpPr>
          <p:nvPr/>
        </p:nvCxnSpPr>
        <p:spPr>
          <a:xfrm>
            <a:off x="1622989" y="3269578"/>
            <a:ext cx="37964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6B0E31DE-616E-BDDC-AFE8-2C09416CA21E}"/>
              </a:ext>
            </a:extLst>
          </p:cNvPr>
          <p:cNvSpPr/>
          <p:nvPr/>
        </p:nvSpPr>
        <p:spPr>
          <a:xfrm>
            <a:off x="2141783" y="2852269"/>
            <a:ext cx="202518" cy="2454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49F4278-BDE4-EFBC-CCBF-057B7E74D10F}"/>
              </a:ext>
            </a:extLst>
          </p:cNvPr>
          <p:cNvSpPr/>
          <p:nvPr/>
        </p:nvSpPr>
        <p:spPr>
          <a:xfrm>
            <a:off x="2749337" y="2852269"/>
            <a:ext cx="202518" cy="24547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279CB5C-6BF7-F2C1-0262-0D9056A332CC}"/>
              </a:ext>
            </a:extLst>
          </p:cNvPr>
          <p:cNvSpPr/>
          <p:nvPr/>
        </p:nvSpPr>
        <p:spPr>
          <a:xfrm>
            <a:off x="2749337" y="3269578"/>
            <a:ext cx="202518" cy="24547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B816956-880D-41E6-9653-FE4A8329B3D9}"/>
              </a:ext>
            </a:extLst>
          </p:cNvPr>
          <p:cNvSpPr/>
          <p:nvPr/>
        </p:nvSpPr>
        <p:spPr>
          <a:xfrm>
            <a:off x="2344301" y="3478233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EC95C4BA-B5CD-D560-C949-32C2B2A636FE}"/>
              </a:ext>
            </a:extLst>
          </p:cNvPr>
          <p:cNvCxnSpPr>
            <a:cxnSpLocks/>
          </p:cNvCxnSpPr>
          <p:nvPr/>
        </p:nvCxnSpPr>
        <p:spPr>
          <a:xfrm>
            <a:off x="3185057" y="3269578"/>
            <a:ext cx="3582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885B2612-7AD9-B5BA-0DC4-C4C0360005DB}"/>
              </a:ext>
            </a:extLst>
          </p:cNvPr>
          <p:cNvCxnSpPr>
            <a:cxnSpLocks/>
          </p:cNvCxnSpPr>
          <p:nvPr/>
        </p:nvCxnSpPr>
        <p:spPr>
          <a:xfrm>
            <a:off x="2541564" y="2791282"/>
            <a:ext cx="0" cy="100488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E54A16EE-18AD-2CFB-22AA-01228170E982}"/>
              </a:ext>
            </a:extLst>
          </p:cNvPr>
          <p:cNvCxnSpPr>
            <a:cxnSpLocks/>
          </p:cNvCxnSpPr>
          <p:nvPr/>
        </p:nvCxnSpPr>
        <p:spPr>
          <a:xfrm flipH="1">
            <a:off x="2075155" y="3269578"/>
            <a:ext cx="99823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ED69A59A-D62E-1BF1-5857-B41EB5BC8B4C}"/>
              </a:ext>
            </a:extLst>
          </p:cNvPr>
          <p:cNvSpPr/>
          <p:nvPr/>
        </p:nvSpPr>
        <p:spPr>
          <a:xfrm>
            <a:off x="3673798" y="3060924"/>
            <a:ext cx="202518" cy="2454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FD34D0C-E357-4F84-8047-D7C9759DA305}"/>
              </a:ext>
            </a:extLst>
          </p:cNvPr>
          <p:cNvSpPr/>
          <p:nvPr/>
        </p:nvSpPr>
        <p:spPr>
          <a:xfrm>
            <a:off x="3871988" y="3060925"/>
            <a:ext cx="202518" cy="24547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DAD43CB-6753-FBF4-A83B-EC6804163ABB}"/>
              </a:ext>
            </a:extLst>
          </p:cNvPr>
          <p:cNvSpPr/>
          <p:nvPr/>
        </p:nvSpPr>
        <p:spPr>
          <a:xfrm>
            <a:off x="3874152" y="3306400"/>
            <a:ext cx="202518" cy="24547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5DF3B7A8-1A0A-E8E8-7CA9-76290792BCEF}"/>
              </a:ext>
            </a:extLst>
          </p:cNvPr>
          <p:cNvSpPr/>
          <p:nvPr/>
        </p:nvSpPr>
        <p:spPr>
          <a:xfrm>
            <a:off x="3674880" y="3306399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5722FCF-C384-9890-3DEA-2311404A7F0D}"/>
              </a:ext>
            </a:extLst>
          </p:cNvPr>
          <p:cNvSpPr txBox="1"/>
          <p:nvPr/>
        </p:nvSpPr>
        <p:spPr>
          <a:xfrm>
            <a:off x="4880474" y="3108901"/>
            <a:ext cx="6632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高响应区</a:t>
            </a:r>
            <a:r>
              <a:rPr lang="zh-CN" altLang="en-US" dirty="0"/>
              <a:t>意味着检测到对应模式，是我们所关心的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E98BDB1C-34DA-6A9C-E47E-BD5D06E2A760}"/>
              </a:ext>
            </a:extLst>
          </p:cNvPr>
          <p:cNvSpPr txBox="1"/>
          <p:nvPr/>
        </p:nvSpPr>
        <p:spPr>
          <a:xfrm>
            <a:off x="4405248" y="2807213"/>
            <a:ext cx="1690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丢失信息？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39072C40-82B0-1400-514C-181E927E5A12}"/>
              </a:ext>
            </a:extLst>
          </p:cNvPr>
          <p:cNvCxnSpPr>
            <a:cxnSpLocks/>
          </p:cNvCxnSpPr>
          <p:nvPr/>
        </p:nvCxnSpPr>
        <p:spPr>
          <a:xfrm>
            <a:off x="4522231" y="3317867"/>
            <a:ext cx="3582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9FD131E3-543F-187A-3E13-025863CD1860}"/>
              </a:ext>
            </a:extLst>
          </p:cNvPr>
          <p:cNvSpPr txBox="1"/>
          <p:nvPr/>
        </p:nvSpPr>
        <p:spPr>
          <a:xfrm>
            <a:off x="423864" y="4080720"/>
            <a:ext cx="2777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Spatial Pyramid Pooling</a:t>
            </a: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20B467E0-274B-0E43-C4A6-0B63B37DE179}"/>
              </a:ext>
            </a:extLst>
          </p:cNvPr>
          <p:cNvCxnSpPr>
            <a:cxnSpLocks/>
          </p:cNvCxnSpPr>
          <p:nvPr/>
        </p:nvCxnSpPr>
        <p:spPr>
          <a:xfrm>
            <a:off x="488950" y="3935870"/>
            <a:ext cx="111315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EEDB3196-DAD9-60FE-0D3A-1D66F0C02446}"/>
              </a:ext>
            </a:extLst>
          </p:cNvPr>
          <p:cNvCxnSpPr>
            <a:cxnSpLocks/>
          </p:cNvCxnSpPr>
          <p:nvPr/>
        </p:nvCxnSpPr>
        <p:spPr>
          <a:xfrm>
            <a:off x="488950" y="2228850"/>
            <a:ext cx="111315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0EAB89E5-2CED-0801-1830-C1C92F591AB4}"/>
              </a:ext>
            </a:extLst>
          </p:cNvPr>
          <p:cNvSpPr txBox="1"/>
          <p:nvPr/>
        </p:nvSpPr>
        <p:spPr>
          <a:xfrm>
            <a:off x="630473" y="5608321"/>
            <a:ext cx="782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 x 1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AABBF28-8B54-8D45-3ABF-7239293181F5}"/>
              </a:ext>
            </a:extLst>
          </p:cNvPr>
          <p:cNvSpPr txBox="1"/>
          <p:nvPr/>
        </p:nvSpPr>
        <p:spPr>
          <a:xfrm>
            <a:off x="2795179" y="5554732"/>
            <a:ext cx="782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 x 2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605417CA-177A-12C6-C27F-10345D1DEAC1}"/>
              </a:ext>
            </a:extLst>
          </p:cNvPr>
          <p:cNvSpPr txBox="1"/>
          <p:nvPr/>
        </p:nvSpPr>
        <p:spPr>
          <a:xfrm>
            <a:off x="5314979" y="5554732"/>
            <a:ext cx="782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4 x 4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1468805-0268-7945-E68B-1CDAF1D91EA7}"/>
              </a:ext>
            </a:extLst>
          </p:cNvPr>
          <p:cNvSpPr/>
          <p:nvPr/>
        </p:nvSpPr>
        <p:spPr>
          <a:xfrm>
            <a:off x="556657" y="4565667"/>
            <a:ext cx="202518" cy="2454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F6F97BFD-E428-9462-0DAD-1B8319F1B21B}"/>
              </a:ext>
            </a:extLst>
          </p:cNvPr>
          <p:cNvSpPr/>
          <p:nvPr/>
        </p:nvSpPr>
        <p:spPr>
          <a:xfrm>
            <a:off x="759175" y="4565667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6CADD801-1006-02CF-2E53-87C65354C0CC}"/>
              </a:ext>
            </a:extLst>
          </p:cNvPr>
          <p:cNvSpPr/>
          <p:nvPr/>
        </p:nvSpPr>
        <p:spPr>
          <a:xfrm>
            <a:off x="961693" y="4565667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08F0D866-3E0F-2258-6F4D-4687B7410F35}"/>
              </a:ext>
            </a:extLst>
          </p:cNvPr>
          <p:cNvSpPr/>
          <p:nvPr/>
        </p:nvSpPr>
        <p:spPr>
          <a:xfrm>
            <a:off x="1164211" y="4565667"/>
            <a:ext cx="202518" cy="24547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73019C05-E390-932F-91EB-E9DF67C3ABAF}"/>
              </a:ext>
            </a:extLst>
          </p:cNvPr>
          <p:cNvSpPr/>
          <p:nvPr/>
        </p:nvSpPr>
        <p:spPr>
          <a:xfrm>
            <a:off x="556657" y="4774322"/>
            <a:ext cx="202518" cy="2454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8370A9D7-1E03-1B16-FAC2-27601C4C522F}"/>
              </a:ext>
            </a:extLst>
          </p:cNvPr>
          <p:cNvSpPr/>
          <p:nvPr/>
        </p:nvSpPr>
        <p:spPr>
          <a:xfrm>
            <a:off x="759175" y="4774322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E7EFCCE0-903B-F37C-1655-483A19AF432E}"/>
              </a:ext>
            </a:extLst>
          </p:cNvPr>
          <p:cNvSpPr/>
          <p:nvPr/>
        </p:nvSpPr>
        <p:spPr>
          <a:xfrm>
            <a:off x="961693" y="4774322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39BC368B-4F99-9002-A033-B9D147603C08}"/>
              </a:ext>
            </a:extLst>
          </p:cNvPr>
          <p:cNvSpPr/>
          <p:nvPr/>
        </p:nvSpPr>
        <p:spPr>
          <a:xfrm>
            <a:off x="1164211" y="4774321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43576922-3B4B-ACE4-1890-F711256BE548}"/>
              </a:ext>
            </a:extLst>
          </p:cNvPr>
          <p:cNvSpPr/>
          <p:nvPr/>
        </p:nvSpPr>
        <p:spPr>
          <a:xfrm>
            <a:off x="556657" y="4982976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1CAA5342-92B0-0C70-516A-8EB8D0BC8C87}"/>
              </a:ext>
            </a:extLst>
          </p:cNvPr>
          <p:cNvSpPr/>
          <p:nvPr/>
        </p:nvSpPr>
        <p:spPr>
          <a:xfrm>
            <a:off x="759175" y="4982976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7060B73-63A4-6840-4CB2-57F2DA51FFAA}"/>
              </a:ext>
            </a:extLst>
          </p:cNvPr>
          <p:cNvSpPr/>
          <p:nvPr/>
        </p:nvSpPr>
        <p:spPr>
          <a:xfrm>
            <a:off x="961693" y="4982976"/>
            <a:ext cx="202518" cy="2454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D730CBF4-C0F6-2DF9-AC58-4469EA9BB87C}"/>
              </a:ext>
            </a:extLst>
          </p:cNvPr>
          <p:cNvSpPr/>
          <p:nvPr/>
        </p:nvSpPr>
        <p:spPr>
          <a:xfrm>
            <a:off x="1164211" y="4982976"/>
            <a:ext cx="202518" cy="24547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5DD7723C-01B1-7F79-81F2-07712540549F}"/>
              </a:ext>
            </a:extLst>
          </p:cNvPr>
          <p:cNvSpPr/>
          <p:nvPr/>
        </p:nvSpPr>
        <p:spPr>
          <a:xfrm>
            <a:off x="556657" y="5191631"/>
            <a:ext cx="202518" cy="2454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BEFF7DE0-6311-26C6-C655-C970AC4BAA14}"/>
              </a:ext>
            </a:extLst>
          </p:cNvPr>
          <p:cNvSpPr/>
          <p:nvPr/>
        </p:nvSpPr>
        <p:spPr>
          <a:xfrm>
            <a:off x="759175" y="5191631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BB8C4FB0-0946-36A2-65E2-CBFD1484F616}"/>
              </a:ext>
            </a:extLst>
          </p:cNvPr>
          <p:cNvSpPr/>
          <p:nvPr/>
        </p:nvSpPr>
        <p:spPr>
          <a:xfrm>
            <a:off x="961693" y="5191631"/>
            <a:ext cx="202518" cy="2454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59868201-5FA2-0037-1CA5-EC83DF621F75}"/>
              </a:ext>
            </a:extLst>
          </p:cNvPr>
          <p:cNvSpPr/>
          <p:nvPr/>
        </p:nvSpPr>
        <p:spPr>
          <a:xfrm>
            <a:off x="1164211" y="5191630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E6625564-9C54-5E19-A5AE-CAC7087C9435}"/>
              </a:ext>
            </a:extLst>
          </p:cNvPr>
          <p:cNvCxnSpPr>
            <a:cxnSpLocks/>
          </p:cNvCxnSpPr>
          <p:nvPr/>
        </p:nvCxnSpPr>
        <p:spPr>
          <a:xfrm>
            <a:off x="1539554" y="4987374"/>
            <a:ext cx="37964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8" name="矩形 97">
            <a:extLst>
              <a:ext uri="{FF2B5EF4-FFF2-40B4-BE49-F238E27FC236}">
                <a16:creationId xmlns:a16="http://schemas.microsoft.com/office/drawing/2014/main" id="{B7BC5433-816D-AA92-9A41-72217D790AB8}"/>
              </a:ext>
            </a:extLst>
          </p:cNvPr>
          <p:cNvSpPr/>
          <p:nvPr/>
        </p:nvSpPr>
        <p:spPr>
          <a:xfrm>
            <a:off x="2041790" y="4860238"/>
            <a:ext cx="202518" cy="2454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DD1975C9-52C2-4116-93A3-8EAFD451ADAC}"/>
              </a:ext>
            </a:extLst>
          </p:cNvPr>
          <p:cNvSpPr/>
          <p:nvPr/>
        </p:nvSpPr>
        <p:spPr>
          <a:xfrm>
            <a:off x="2738061" y="4539773"/>
            <a:ext cx="202518" cy="2454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FF366DEB-27C0-D7A0-3102-0329EFE77E57}"/>
              </a:ext>
            </a:extLst>
          </p:cNvPr>
          <p:cNvSpPr/>
          <p:nvPr/>
        </p:nvSpPr>
        <p:spPr>
          <a:xfrm>
            <a:off x="2940579" y="4539773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D75D0F72-80F5-3372-0FD7-8342F0674628}"/>
              </a:ext>
            </a:extLst>
          </p:cNvPr>
          <p:cNvSpPr/>
          <p:nvPr/>
        </p:nvSpPr>
        <p:spPr>
          <a:xfrm>
            <a:off x="3143097" y="4539773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A1DE3961-F96D-2283-4AF3-407E63AE9337}"/>
              </a:ext>
            </a:extLst>
          </p:cNvPr>
          <p:cNvSpPr/>
          <p:nvPr/>
        </p:nvSpPr>
        <p:spPr>
          <a:xfrm>
            <a:off x="3345615" y="4539773"/>
            <a:ext cx="202518" cy="24547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9C8E3DE4-11A8-9634-A15B-208EBD9DF6EC}"/>
              </a:ext>
            </a:extLst>
          </p:cNvPr>
          <p:cNvSpPr/>
          <p:nvPr/>
        </p:nvSpPr>
        <p:spPr>
          <a:xfrm>
            <a:off x="2738061" y="4748428"/>
            <a:ext cx="202518" cy="2454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9D5E44A0-63E0-6925-81CD-749BB256BAF4}"/>
              </a:ext>
            </a:extLst>
          </p:cNvPr>
          <p:cNvSpPr/>
          <p:nvPr/>
        </p:nvSpPr>
        <p:spPr>
          <a:xfrm>
            <a:off x="2940579" y="4748428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E0D4844B-EEAD-CD55-76B7-6AA40B3A4702}"/>
              </a:ext>
            </a:extLst>
          </p:cNvPr>
          <p:cNvSpPr/>
          <p:nvPr/>
        </p:nvSpPr>
        <p:spPr>
          <a:xfrm>
            <a:off x="3143097" y="4748428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35964643-4D54-D02A-B2C1-FCAB57AE1F62}"/>
              </a:ext>
            </a:extLst>
          </p:cNvPr>
          <p:cNvSpPr/>
          <p:nvPr/>
        </p:nvSpPr>
        <p:spPr>
          <a:xfrm>
            <a:off x="3345615" y="4748427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EBC176D7-2CE8-F8E3-FCFD-48C048A17D90}"/>
              </a:ext>
            </a:extLst>
          </p:cNvPr>
          <p:cNvSpPr/>
          <p:nvPr/>
        </p:nvSpPr>
        <p:spPr>
          <a:xfrm>
            <a:off x="2738061" y="4957082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193CC13E-DAEA-70FC-A386-4333181CF9FE}"/>
              </a:ext>
            </a:extLst>
          </p:cNvPr>
          <p:cNvSpPr/>
          <p:nvPr/>
        </p:nvSpPr>
        <p:spPr>
          <a:xfrm>
            <a:off x="2940579" y="4957082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E436B9D2-19A6-4988-A630-CC155EAC460D}"/>
              </a:ext>
            </a:extLst>
          </p:cNvPr>
          <p:cNvSpPr/>
          <p:nvPr/>
        </p:nvSpPr>
        <p:spPr>
          <a:xfrm>
            <a:off x="3143097" y="4957082"/>
            <a:ext cx="202518" cy="2454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34736F63-E052-2E6F-99B7-082D47C07F07}"/>
              </a:ext>
            </a:extLst>
          </p:cNvPr>
          <p:cNvSpPr/>
          <p:nvPr/>
        </p:nvSpPr>
        <p:spPr>
          <a:xfrm>
            <a:off x="3345615" y="4957082"/>
            <a:ext cx="202518" cy="24547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D53BB04C-A1C6-A2E7-07F8-6F57C2D0A7DC}"/>
              </a:ext>
            </a:extLst>
          </p:cNvPr>
          <p:cNvSpPr/>
          <p:nvPr/>
        </p:nvSpPr>
        <p:spPr>
          <a:xfrm>
            <a:off x="2738061" y="5165737"/>
            <a:ext cx="202518" cy="2454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32E408AA-0220-3023-7DE6-1AB635A2C6CB}"/>
              </a:ext>
            </a:extLst>
          </p:cNvPr>
          <p:cNvSpPr/>
          <p:nvPr/>
        </p:nvSpPr>
        <p:spPr>
          <a:xfrm>
            <a:off x="2940579" y="5165737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534026FF-FE0A-5E59-7578-6E0B65271501}"/>
              </a:ext>
            </a:extLst>
          </p:cNvPr>
          <p:cNvSpPr/>
          <p:nvPr/>
        </p:nvSpPr>
        <p:spPr>
          <a:xfrm>
            <a:off x="3143097" y="5165737"/>
            <a:ext cx="202518" cy="2454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CC91375C-021B-409E-BD38-2B68AEDE842C}"/>
              </a:ext>
            </a:extLst>
          </p:cNvPr>
          <p:cNvSpPr/>
          <p:nvPr/>
        </p:nvSpPr>
        <p:spPr>
          <a:xfrm>
            <a:off x="3345615" y="5165736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39C7F15E-24D3-35B8-3D5A-921F8F11CD48}"/>
              </a:ext>
            </a:extLst>
          </p:cNvPr>
          <p:cNvCxnSpPr>
            <a:cxnSpLocks/>
          </p:cNvCxnSpPr>
          <p:nvPr/>
        </p:nvCxnSpPr>
        <p:spPr>
          <a:xfrm>
            <a:off x="3720958" y="4961480"/>
            <a:ext cx="37964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A90CDB43-4E86-0E8B-0620-B3E476E8BE9D}"/>
              </a:ext>
            </a:extLst>
          </p:cNvPr>
          <p:cNvCxnSpPr>
            <a:cxnSpLocks/>
          </p:cNvCxnSpPr>
          <p:nvPr/>
        </p:nvCxnSpPr>
        <p:spPr>
          <a:xfrm>
            <a:off x="3143097" y="4480531"/>
            <a:ext cx="0" cy="100488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0E3FABB3-4657-D5FA-AEDD-CD2E7F3D6FE7}"/>
              </a:ext>
            </a:extLst>
          </p:cNvPr>
          <p:cNvCxnSpPr>
            <a:cxnSpLocks/>
          </p:cNvCxnSpPr>
          <p:nvPr/>
        </p:nvCxnSpPr>
        <p:spPr>
          <a:xfrm flipH="1">
            <a:off x="2676688" y="4958827"/>
            <a:ext cx="99823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0" name="矩形 119">
            <a:extLst>
              <a:ext uri="{FF2B5EF4-FFF2-40B4-BE49-F238E27FC236}">
                <a16:creationId xmlns:a16="http://schemas.microsoft.com/office/drawing/2014/main" id="{8DDF984A-FEDA-AC63-64F0-EE6C9DE7133A}"/>
              </a:ext>
            </a:extLst>
          </p:cNvPr>
          <p:cNvSpPr/>
          <p:nvPr/>
        </p:nvSpPr>
        <p:spPr>
          <a:xfrm>
            <a:off x="4206160" y="4700679"/>
            <a:ext cx="202518" cy="2454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9FDB7B70-A2CF-1268-F23A-79C09C28EC49}"/>
              </a:ext>
            </a:extLst>
          </p:cNvPr>
          <p:cNvSpPr/>
          <p:nvPr/>
        </p:nvSpPr>
        <p:spPr>
          <a:xfrm>
            <a:off x="4404350" y="4700680"/>
            <a:ext cx="202518" cy="24547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53F365F-3083-CCA4-5DC8-A07D3DCCCC19}"/>
              </a:ext>
            </a:extLst>
          </p:cNvPr>
          <p:cNvSpPr/>
          <p:nvPr/>
        </p:nvSpPr>
        <p:spPr>
          <a:xfrm>
            <a:off x="4406514" y="4946155"/>
            <a:ext cx="202518" cy="24547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19D63395-00F9-9311-8253-3A4EC746FA8E}"/>
              </a:ext>
            </a:extLst>
          </p:cNvPr>
          <p:cNvSpPr/>
          <p:nvPr/>
        </p:nvSpPr>
        <p:spPr>
          <a:xfrm>
            <a:off x="4207242" y="4946154"/>
            <a:ext cx="199272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57B9AFD7-CBC7-AFB2-4400-657D0BDB2C6C}"/>
              </a:ext>
            </a:extLst>
          </p:cNvPr>
          <p:cNvSpPr/>
          <p:nvPr/>
        </p:nvSpPr>
        <p:spPr>
          <a:xfrm>
            <a:off x="5250377" y="4570807"/>
            <a:ext cx="202518" cy="2454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95C27642-1C43-46BC-41AD-E5CD01081BE2}"/>
              </a:ext>
            </a:extLst>
          </p:cNvPr>
          <p:cNvSpPr/>
          <p:nvPr/>
        </p:nvSpPr>
        <p:spPr>
          <a:xfrm>
            <a:off x="5452895" y="4570807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FF248994-0AEC-E0FF-90F2-B95811617AC7}"/>
              </a:ext>
            </a:extLst>
          </p:cNvPr>
          <p:cNvSpPr/>
          <p:nvPr/>
        </p:nvSpPr>
        <p:spPr>
          <a:xfrm>
            <a:off x="5655413" y="4570807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ACD27B2B-4DBA-6D10-448E-DAC5FB9C71C2}"/>
              </a:ext>
            </a:extLst>
          </p:cNvPr>
          <p:cNvSpPr/>
          <p:nvPr/>
        </p:nvSpPr>
        <p:spPr>
          <a:xfrm>
            <a:off x="5857931" y="4570807"/>
            <a:ext cx="202518" cy="24547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89388D0C-24A8-B8B2-A0AB-1F118647DCFF}"/>
              </a:ext>
            </a:extLst>
          </p:cNvPr>
          <p:cNvSpPr/>
          <p:nvPr/>
        </p:nvSpPr>
        <p:spPr>
          <a:xfrm>
            <a:off x="5250377" y="4779462"/>
            <a:ext cx="202518" cy="2454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AF1F2F16-5339-EE99-553E-D759097E3A52}"/>
              </a:ext>
            </a:extLst>
          </p:cNvPr>
          <p:cNvSpPr/>
          <p:nvPr/>
        </p:nvSpPr>
        <p:spPr>
          <a:xfrm>
            <a:off x="5452895" y="4779462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00E829AC-3B06-F8DF-4098-4462B08C253A}"/>
              </a:ext>
            </a:extLst>
          </p:cNvPr>
          <p:cNvSpPr/>
          <p:nvPr/>
        </p:nvSpPr>
        <p:spPr>
          <a:xfrm>
            <a:off x="5655413" y="4779462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DF403D2F-70A1-163C-01C8-80BE3EB1078E}"/>
              </a:ext>
            </a:extLst>
          </p:cNvPr>
          <p:cNvSpPr/>
          <p:nvPr/>
        </p:nvSpPr>
        <p:spPr>
          <a:xfrm>
            <a:off x="5857931" y="4779461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B136AF43-7414-4189-55E8-B142BE6EAC2C}"/>
              </a:ext>
            </a:extLst>
          </p:cNvPr>
          <p:cNvSpPr/>
          <p:nvPr/>
        </p:nvSpPr>
        <p:spPr>
          <a:xfrm>
            <a:off x="5250377" y="4988116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E2220967-2A61-919A-6B17-BF29429F79C7}"/>
              </a:ext>
            </a:extLst>
          </p:cNvPr>
          <p:cNvSpPr/>
          <p:nvPr/>
        </p:nvSpPr>
        <p:spPr>
          <a:xfrm>
            <a:off x="5452895" y="4988116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4477A1D3-7C7F-BC79-CBA6-378CC46014E4}"/>
              </a:ext>
            </a:extLst>
          </p:cNvPr>
          <p:cNvSpPr/>
          <p:nvPr/>
        </p:nvSpPr>
        <p:spPr>
          <a:xfrm>
            <a:off x="5655413" y="4988116"/>
            <a:ext cx="202518" cy="2454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8F3F7F39-8096-5164-83E0-25187DB0F2FA}"/>
              </a:ext>
            </a:extLst>
          </p:cNvPr>
          <p:cNvSpPr/>
          <p:nvPr/>
        </p:nvSpPr>
        <p:spPr>
          <a:xfrm>
            <a:off x="5857931" y="4988116"/>
            <a:ext cx="202518" cy="24547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A2C27D4C-F223-057E-9914-20C46C04A625}"/>
              </a:ext>
            </a:extLst>
          </p:cNvPr>
          <p:cNvSpPr/>
          <p:nvPr/>
        </p:nvSpPr>
        <p:spPr>
          <a:xfrm>
            <a:off x="5250377" y="5196771"/>
            <a:ext cx="202518" cy="2454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1A053C27-0376-8F74-B898-AA70B8711E71}"/>
              </a:ext>
            </a:extLst>
          </p:cNvPr>
          <p:cNvSpPr/>
          <p:nvPr/>
        </p:nvSpPr>
        <p:spPr>
          <a:xfrm>
            <a:off x="5452895" y="5196771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02AD3333-3AE6-D486-6B5F-3AB15ECA9581}"/>
              </a:ext>
            </a:extLst>
          </p:cNvPr>
          <p:cNvSpPr/>
          <p:nvPr/>
        </p:nvSpPr>
        <p:spPr>
          <a:xfrm>
            <a:off x="5655413" y="5196771"/>
            <a:ext cx="202518" cy="2454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CCDD50CF-E555-EA3C-F770-59071411CD8B}"/>
              </a:ext>
            </a:extLst>
          </p:cNvPr>
          <p:cNvSpPr/>
          <p:nvPr/>
        </p:nvSpPr>
        <p:spPr>
          <a:xfrm>
            <a:off x="5857931" y="5196770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DE494594-EF62-8C86-E003-23EE84E70808}"/>
              </a:ext>
            </a:extLst>
          </p:cNvPr>
          <p:cNvCxnSpPr>
            <a:cxnSpLocks/>
          </p:cNvCxnSpPr>
          <p:nvPr/>
        </p:nvCxnSpPr>
        <p:spPr>
          <a:xfrm>
            <a:off x="5655413" y="4509820"/>
            <a:ext cx="0" cy="100488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B9A9D251-3155-021A-75D1-3E5774B122F8}"/>
              </a:ext>
            </a:extLst>
          </p:cNvPr>
          <p:cNvCxnSpPr>
            <a:cxnSpLocks/>
          </p:cNvCxnSpPr>
          <p:nvPr/>
        </p:nvCxnSpPr>
        <p:spPr>
          <a:xfrm flipH="1">
            <a:off x="5189004" y="4988116"/>
            <a:ext cx="99823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16665A2A-92FE-FF31-0E31-FE5BF20DCE64}"/>
              </a:ext>
            </a:extLst>
          </p:cNvPr>
          <p:cNvCxnSpPr>
            <a:cxnSpLocks/>
          </p:cNvCxnSpPr>
          <p:nvPr/>
        </p:nvCxnSpPr>
        <p:spPr>
          <a:xfrm>
            <a:off x="6309712" y="4982975"/>
            <a:ext cx="37964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3" name="矩形 142">
            <a:extLst>
              <a:ext uri="{FF2B5EF4-FFF2-40B4-BE49-F238E27FC236}">
                <a16:creationId xmlns:a16="http://schemas.microsoft.com/office/drawing/2014/main" id="{92FE4BD8-561B-ED9C-F82A-EBE7CF212513}"/>
              </a:ext>
            </a:extLst>
          </p:cNvPr>
          <p:cNvSpPr/>
          <p:nvPr/>
        </p:nvSpPr>
        <p:spPr>
          <a:xfrm>
            <a:off x="6838814" y="4555009"/>
            <a:ext cx="202518" cy="2454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D444306A-B6FF-8C82-3C49-28655F435FB0}"/>
              </a:ext>
            </a:extLst>
          </p:cNvPr>
          <p:cNvSpPr/>
          <p:nvPr/>
        </p:nvSpPr>
        <p:spPr>
          <a:xfrm>
            <a:off x="7041332" y="4555009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56E45E84-FEB9-EFA5-07F6-6382CCC8FB44}"/>
              </a:ext>
            </a:extLst>
          </p:cNvPr>
          <p:cNvSpPr/>
          <p:nvPr/>
        </p:nvSpPr>
        <p:spPr>
          <a:xfrm>
            <a:off x="7243850" y="4555009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0690C3C5-DDDB-B62C-9298-370F7E9E83BC}"/>
              </a:ext>
            </a:extLst>
          </p:cNvPr>
          <p:cNvSpPr/>
          <p:nvPr/>
        </p:nvSpPr>
        <p:spPr>
          <a:xfrm>
            <a:off x="7446368" y="4555009"/>
            <a:ext cx="202518" cy="24547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CD6AA5FE-24CD-E23D-8453-9522B5CC3654}"/>
              </a:ext>
            </a:extLst>
          </p:cNvPr>
          <p:cNvSpPr/>
          <p:nvPr/>
        </p:nvSpPr>
        <p:spPr>
          <a:xfrm>
            <a:off x="6838814" y="4763664"/>
            <a:ext cx="202518" cy="2454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1B9B0BB0-F22D-558C-9C98-682D4E3F6DB1}"/>
              </a:ext>
            </a:extLst>
          </p:cNvPr>
          <p:cNvSpPr/>
          <p:nvPr/>
        </p:nvSpPr>
        <p:spPr>
          <a:xfrm>
            <a:off x="7041332" y="4763664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358A3FB5-B935-5DA5-86FD-E16EA182D365}"/>
              </a:ext>
            </a:extLst>
          </p:cNvPr>
          <p:cNvSpPr/>
          <p:nvPr/>
        </p:nvSpPr>
        <p:spPr>
          <a:xfrm>
            <a:off x="7243850" y="4763664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E5809F0F-FE88-E31D-311B-65BAEB7A352E}"/>
              </a:ext>
            </a:extLst>
          </p:cNvPr>
          <p:cNvSpPr/>
          <p:nvPr/>
        </p:nvSpPr>
        <p:spPr>
          <a:xfrm>
            <a:off x="7446368" y="4763663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F2E3C72E-C008-9A0D-51DB-7433E3F4BD78}"/>
              </a:ext>
            </a:extLst>
          </p:cNvPr>
          <p:cNvSpPr/>
          <p:nvPr/>
        </p:nvSpPr>
        <p:spPr>
          <a:xfrm>
            <a:off x="6838814" y="4972318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87CACAD2-14A0-657E-5C4A-522E8572818B}"/>
              </a:ext>
            </a:extLst>
          </p:cNvPr>
          <p:cNvSpPr/>
          <p:nvPr/>
        </p:nvSpPr>
        <p:spPr>
          <a:xfrm>
            <a:off x="7041332" y="4972318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1A6D481A-CD8D-52A4-1771-91239CECFA86}"/>
              </a:ext>
            </a:extLst>
          </p:cNvPr>
          <p:cNvSpPr/>
          <p:nvPr/>
        </p:nvSpPr>
        <p:spPr>
          <a:xfrm>
            <a:off x="7243850" y="4972318"/>
            <a:ext cx="202518" cy="2454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C07F94B7-CC35-D97F-7529-C0CE570F85CA}"/>
              </a:ext>
            </a:extLst>
          </p:cNvPr>
          <p:cNvSpPr/>
          <p:nvPr/>
        </p:nvSpPr>
        <p:spPr>
          <a:xfrm>
            <a:off x="7446368" y="4972318"/>
            <a:ext cx="202518" cy="24547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F7465BA1-9563-3CD6-5EAF-20EE528B19D3}"/>
              </a:ext>
            </a:extLst>
          </p:cNvPr>
          <p:cNvSpPr/>
          <p:nvPr/>
        </p:nvSpPr>
        <p:spPr>
          <a:xfrm>
            <a:off x="6838814" y="5180973"/>
            <a:ext cx="202518" cy="2454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6FAAFD8C-C811-3A32-FD16-D51FFAEA236E}"/>
              </a:ext>
            </a:extLst>
          </p:cNvPr>
          <p:cNvSpPr/>
          <p:nvPr/>
        </p:nvSpPr>
        <p:spPr>
          <a:xfrm>
            <a:off x="7041332" y="5180973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AAAC1DBD-C2CA-DCA0-1056-C1DD85CE3A93}"/>
              </a:ext>
            </a:extLst>
          </p:cNvPr>
          <p:cNvSpPr/>
          <p:nvPr/>
        </p:nvSpPr>
        <p:spPr>
          <a:xfrm>
            <a:off x="7243850" y="5180973"/>
            <a:ext cx="202518" cy="2454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44AC5047-144E-4E13-A27D-509FEF706506}"/>
              </a:ext>
            </a:extLst>
          </p:cNvPr>
          <p:cNvSpPr/>
          <p:nvPr/>
        </p:nvSpPr>
        <p:spPr>
          <a:xfrm>
            <a:off x="7446368" y="5180972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04EEC5D1-D4CB-C7AF-99CF-964B5F5C95E2}"/>
              </a:ext>
            </a:extLst>
          </p:cNvPr>
          <p:cNvCxnSpPr>
            <a:cxnSpLocks/>
          </p:cNvCxnSpPr>
          <p:nvPr/>
        </p:nvCxnSpPr>
        <p:spPr>
          <a:xfrm>
            <a:off x="5861670" y="4517352"/>
            <a:ext cx="0" cy="100488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15AE552F-9B45-397D-7310-71A62C7BCF80}"/>
              </a:ext>
            </a:extLst>
          </p:cNvPr>
          <p:cNvCxnSpPr>
            <a:cxnSpLocks/>
          </p:cNvCxnSpPr>
          <p:nvPr/>
        </p:nvCxnSpPr>
        <p:spPr>
          <a:xfrm flipH="1">
            <a:off x="5185426" y="5194373"/>
            <a:ext cx="99823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19FF3092-A225-D224-B054-3207BFB65A0C}"/>
              </a:ext>
            </a:extLst>
          </p:cNvPr>
          <p:cNvCxnSpPr>
            <a:cxnSpLocks/>
          </p:cNvCxnSpPr>
          <p:nvPr/>
        </p:nvCxnSpPr>
        <p:spPr>
          <a:xfrm>
            <a:off x="5442570" y="4517352"/>
            <a:ext cx="0" cy="100488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DE4B7E08-1F93-2E81-A7C8-FDC3F60C7127}"/>
              </a:ext>
            </a:extLst>
          </p:cNvPr>
          <p:cNvCxnSpPr>
            <a:cxnSpLocks/>
          </p:cNvCxnSpPr>
          <p:nvPr/>
        </p:nvCxnSpPr>
        <p:spPr>
          <a:xfrm flipH="1">
            <a:off x="5144945" y="4785249"/>
            <a:ext cx="99823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CD006C73-78F4-3590-6FD1-9047A7CCA21D}"/>
              </a:ext>
            </a:extLst>
          </p:cNvPr>
          <p:cNvCxnSpPr/>
          <p:nvPr/>
        </p:nvCxnSpPr>
        <p:spPr>
          <a:xfrm>
            <a:off x="521169" y="6233541"/>
            <a:ext cx="12539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5" name="矩形 164">
            <a:extLst>
              <a:ext uri="{FF2B5EF4-FFF2-40B4-BE49-F238E27FC236}">
                <a16:creationId xmlns:a16="http://schemas.microsoft.com/office/drawing/2014/main" id="{4F0E09E3-A167-6717-60A3-C2011FB47E27}"/>
              </a:ext>
            </a:extLst>
          </p:cNvPr>
          <p:cNvSpPr/>
          <p:nvPr/>
        </p:nvSpPr>
        <p:spPr>
          <a:xfrm>
            <a:off x="2041790" y="6050196"/>
            <a:ext cx="202518" cy="2454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F4231111-C619-2945-2DDB-7299B9A8EDDC}"/>
              </a:ext>
            </a:extLst>
          </p:cNvPr>
          <p:cNvSpPr/>
          <p:nvPr/>
        </p:nvSpPr>
        <p:spPr>
          <a:xfrm>
            <a:off x="2434819" y="6050196"/>
            <a:ext cx="202518" cy="2454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1010DE71-DD5F-02CB-5A18-8205C5E473AF}"/>
              </a:ext>
            </a:extLst>
          </p:cNvPr>
          <p:cNvSpPr/>
          <p:nvPr/>
        </p:nvSpPr>
        <p:spPr>
          <a:xfrm>
            <a:off x="2667755" y="6050196"/>
            <a:ext cx="202518" cy="24547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F9D94975-A964-A32B-D16E-41E434F3638F}"/>
              </a:ext>
            </a:extLst>
          </p:cNvPr>
          <p:cNvSpPr/>
          <p:nvPr/>
        </p:nvSpPr>
        <p:spPr>
          <a:xfrm>
            <a:off x="3132715" y="6050196"/>
            <a:ext cx="202518" cy="24547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DF552D3C-F628-511C-B70F-D7F266394657}"/>
              </a:ext>
            </a:extLst>
          </p:cNvPr>
          <p:cNvSpPr/>
          <p:nvPr/>
        </p:nvSpPr>
        <p:spPr>
          <a:xfrm>
            <a:off x="2906341" y="6050196"/>
            <a:ext cx="199272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A604E40D-4295-9FD0-01D4-5CE0FF5CF548}"/>
              </a:ext>
            </a:extLst>
          </p:cNvPr>
          <p:cNvSpPr/>
          <p:nvPr/>
        </p:nvSpPr>
        <p:spPr>
          <a:xfrm>
            <a:off x="3645398" y="6054388"/>
            <a:ext cx="202518" cy="2454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522BBD8E-CCEB-DCA9-5274-AF1400BEBA62}"/>
              </a:ext>
            </a:extLst>
          </p:cNvPr>
          <p:cNvSpPr/>
          <p:nvPr/>
        </p:nvSpPr>
        <p:spPr>
          <a:xfrm>
            <a:off x="3904207" y="6035978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0D0A9564-8204-2C61-B389-E8D07E5C0813}"/>
              </a:ext>
            </a:extLst>
          </p:cNvPr>
          <p:cNvSpPr/>
          <p:nvPr/>
        </p:nvSpPr>
        <p:spPr>
          <a:xfrm>
            <a:off x="4168501" y="6048251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77307A5C-F354-B03E-8011-43809BDF7EBB}"/>
              </a:ext>
            </a:extLst>
          </p:cNvPr>
          <p:cNvSpPr/>
          <p:nvPr/>
        </p:nvSpPr>
        <p:spPr>
          <a:xfrm>
            <a:off x="4437467" y="6042114"/>
            <a:ext cx="202518" cy="24547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FEFF31FA-F3F6-8071-2057-0B72C29D5516}"/>
              </a:ext>
            </a:extLst>
          </p:cNvPr>
          <p:cNvSpPr/>
          <p:nvPr/>
        </p:nvSpPr>
        <p:spPr>
          <a:xfrm>
            <a:off x="4710175" y="6042114"/>
            <a:ext cx="202518" cy="2454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62599C88-B14E-DC5E-4533-F5C0425D8559}"/>
              </a:ext>
            </a:extLst>
          </p:cNvPr>
          <p:cNvSpPr/>
          <p:nvPr/>
        </p:nvSpPr>
        <p:spPr>
          <a:xfrm>
            <a:off x="5013861" y="6048251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6C009F1F-B50F-D87B-C04B-9D3212FF4AE6}"/>
              </a:ext>
            </a:extLst>
          </p:cNvPr>
          <p:cNvSpPr/>
          <p:nvPr/>
        </p:nvSpPr>
        <p:spPr>
          <a:xfrm>
            <a:off x="5248598" y="6042115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9369C145-101E-4AA4-029D-3CFAAFC80192}"/>
              </a:ext>
            </a:extLst>
          </p:cNvPr>
          <p:cNvSpPr/>
          <p:nvPr/>
        </p:nvSpPr>
        <p:spPr>
          <a:xfrm>
            <a:off x="5487936" y="6035976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8D755ECB-8A6C-34C9-191E-E16C606792FF}"/>
              </a:ext>
            </a:extLst>
          </p:cNvPr>
          <p:cNvSpPr/>
          <p:nvPr/>
        </p:nvSpPr>
        <p:spPr>
          <a:xfrm>
            <a:off x="5737075" y="6048250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282B702B-343D-0002-1E14-4F7BCBAAB265}"/>
              </a:ext>
            </a:extLst>
          </p:cNvPr>
          <p:cNvSpPr/>
          <p:nvPr/>
        </p:nvSpPr>
        <p:spPr>
          <a:xfrm>
            <a:off x="5985685" y="6048251"/>
            <a:ext cx="202518" cy="245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54A59F34-342E-A797-2160-65FD6CC31A6D}"/>
              </a:ext>
            </a:extLst>
          </p:cNvPr>
          <p:cNvSpPr/>
          <p:nvPr/>
        </p:nvSpPr>
        <p:spPr>
          <a:xfrm>
            <a:off x="6248914" y="6060524"/>
            <a:ext cx="202518" cy="2454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FE77CA44-181B-0869-E410-066BEF21DC3C}"/>
              </a:ext>
            </a:extLst>
          </p:cNvPr>
          <p:cNvSpPr/>
          <p:nvPr/>
        </p:nvSpPr>
        <p:spPr>
          <a:xfrm>
            <a:off x="6514084" y="6054388"/>
            <a:ext cx="202518" cy="24547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55A781FE-C0A7-1217-350D-1756C5CB98C2}"/>
              </a:ext>
            </a:extLst>
          </p:cNvPr>
          <p:cNvSpPr/>
          <p:nvPr/>
        </p:nvSpPr>
        <p:spPr>
          <a:xfrm>
            <a:off x="6785127" y="6048250"/>
            <a:ext cx="202518" cy="2454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AE2161B6-6E80-E9FD-081F-80DF0790941E}"/>
              </a:ext>
            </a:extLst>
          </p:cNvPr>
          <p:cNvSpPr/>
          <p:nvPr/>
        </p:nvSpPr>
        <p:spPr>
          <a:xfrm>
            <a:off x="7034438" y="6048250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3A6AF65D-1E60-AE2E-F93C-2BFD4066583D}"/>
              </a:ext>
            </a:extLst>
          </p:cNvPr>
          <p:cNvSpPr/>
          <p:nvPr/>
        </p:nvSpPr>
        <p:spPr>
          <a:xfrm>
            <a:off x="7298326" y="6035977"/>
            <a:ext cx="202518" cy="2454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6711958C-2B2C-43DF-5A52-2D8DC79F7F2A}"/>
              </a:ext>
            </a:extLst>
          </p:cNvPr>
          <p:cNvSpPr/>
          <p:nvPr/>
        </p:nvSpPr>
        <p:spPr>
          <a:xfrm>
            <a:off x="7551072" y="6029839"/>
            <a:ext cx="202518" cy="245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0868BACB-769D-5BC7-6289-CCA51BDE2A64}"/>
              </a:ext>
            </a:extLst>
          </p:cNvPr>
          <p:cNvSpPr txBox="1"/>
          <p:nvPr/>
        </p:nvSpPr>
        <p:spPr>
          <a:xfrm>
            <a:off x="2003897" y="6324089"/>
            <a:ext cx="379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605FA639-8D93-6BA6-AB67-858DF144416D}"/>
              </a:ext>
            </a:extLst>
          </p:cNvPr>
          <p:cNvSpPr txBox="1"/>
          <p:nvPr/>
        </p:nvSpPr>
        <p:spPr>
          <a:xfrm>
            <a:off x="2738061" y="6330673"/>
            <a:ext cx="379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B7E1A07D-87C7-1F88-00A4-36C85AFE30E7}"/>
              </a:ext>
            </a:extLst>
          </p:cNvPr>
          <p:cNvSpPr txBox="1"/>
          <p:nvPr/>
        </p:nvSpPr>
        <p:spPr>
          <a:xfrm>
            <a:off x="5314978" y="6347614"/>
            <a:ext cx="69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16</a:t>
            </a:r>
            <a:endParaRPr lang="zh-CN" altLang="en-US" dirty="0"/>
          </a:p>
        </p:txBody>
      </p:sp>
      <p:sp>
        <p:nvSpPr>
          <p:cNvPr id="189" name="加号 188">
            <a:extLst>
              <a:ext uri="{FF2B5EF4-FFF2-40B4-BE49-F238E27FC236}">
                <a16:creationId xmlns:a16="http://schemas.microsoft.com/office/drawing/2014/main" id="{260D8C40-7BA3-3270-2584-4DA8CC6E9367}"/>
              </a:ext>
            </a:extLst>
          </p:cNvPr>
          <p:cNvSpPr/>
          <p:nvPr/>
        </p:nvSpPr>
        <p:spPr>
          <a:xfrm>
            <a:off x="2402600" y="6388526"/>
            <a:ext cx="273094" cy="257751"/>
          </a:xfrm>
          <a:prstGeom prst="mathPlus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加号 189">
            <a:extLst>
              <a:ext uri="{FF2B5EF4-FFF2-40B4-BE49-F238E27FC236}">
                <a16:creationId xmlns:a16="http://schemas.microsoft.com/office/drawing/2014/main" id="{D61BD3C5-5690-6C37-3BCA-B07FE8D8252F}"/>
              </a:ext>
            </a:extLst>
          </p:cNvPr>
          <p:cNvSpPr/>
          <p:nvPr/>
        </p:nvSpPr>
        <p:spPr>
          <a:xfrm>
            <a:off x="4132154" y="6381366"/>
            <a:ext cx="273094" cy="257751"/>
          </a:xfrm>
          <a:prstGeom prst="mathPlus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等号 190">
            <a:extLst>
              <a:ext uri="{FF2B5EF4-FFF2-40B4-BE49-F238E27FC236}">
                <a16:creationId xmlns:a16="http://schemas.microsoft.com/office/drawing/2014/main" id="{8B97734A-1D9F-4AD1-FC91-61E710BB2366}"/>
              </a:ext>
            </a:extLst>
          </p:cNvPr>
          <p:cNvSpPr/>
          <p:nvPr/>
        </p:nvSpPr>
        <p:spPr>
          <a:xfrm>
            <a:off x="7794908" y="6321019"/>
            <a:ext cx="649484" cy="361149"/>
          </a:xfrm>
          <a:prstGeom prst="mathEqual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E84399A9-D689-AB83-DED3-F3E6B8527EF5}"/>
              </a:ext>
            </a:extLst>
          </p:cNvPr>
          <p:cNvSpPr txBox="1"/>
          <p:nvPr/>
        </p:nvSpPr>
        <p:spPr>
          <a:xfrm>
            <a:off x="8485389" y="6285221"/>
            <a:ext cx="69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21</a:t>
            </a:r>
            <a:endParaRPr lang="zh-CN" altLang="en-US" dirty="0"/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73150FFD-8BE6-C504-6FF6-A1685E946534}"/>
              </a:ext>
            </a:extLst>
          </p:cNvPr>
          <p:cNvSpPr txBox="1"/>
          <p:nvPr/>
        </p:nvSpPr>
        <p:spPr>
          <a:xfrm>
            <a:off x="8233541" y="4240312"/>
            <a:ext cx="1432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丢失信息？</a:t>
            </a:r>
          </a:p>
        </p:txBody>
      </p: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36C7894C-CD1E-47E9-438F-440172E82B8B}"/>
              </a:ext>
            </a:extLst>
          </p:cNvPr>
          <p:cNvCxnSpPr>
            <a:cxnSpLocks/>
          </p:cNvCxnSpPr>
          <p:nvPr/>
        </p:nvCxnSpPr>
        <p:spPr>
          <a:xfrm>
            <a:off x="8389425" y="4753535"/>
            <a:ext cx="30361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5" name="文本框 194">
            <a:extLst>
              <a:ext uri="{FF2B5EF4-FFF2-40B4-BE49-F238E27FC236}">
                <a16:creationId xmlns:a16="http://schemas.microsoft.com/office/drawing/2014/main" id="{7D009C21-6FF0-FF29-1314-328C5617539F}"/>
              </a:ext>
            </a:extLst>
          </p:cNvPr>
          <p:cNvSpPr txBox="1"/>
          <p:nvPr/>
        </p:nvSpPr>
        <p:spPr>
          <a:xfrm>
            <a:off x="8721040" y="4568869"/>
            <a:ext cx="3169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位置信息</a:t>
            </a:r>
            <a:r>
              <a:rPr lang="zh-CN" altLang="en-US" dirty="0"/>
              <a:t>确实丢失了</a:t>
            </a: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363E8365-176E-23B6-3712-227936C1AFA6}"/>
              </a:ext>
            </a:extLst>
          </p:cNvPr>
          <p:cNvSpPr txBox="1"/>
          <p:nvPr/>
        </p:nvSpPr>
        <p:spPr>
          <a:xfrm>
            <a:off x="8256203" y="4950166"/>
            <a:ext cx="1432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But…</a:t>
            </a:r>
            <a:endParaRPr lang="zh-CN" altLang="en-US" dirty="0"/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34B9B69D-4BBB-359B-27FB-29661245DB13}"/>
              </a:ext>
            </a:extLst>
          </p:cNvPr>
          <p:cNvSpPr txBox="1"/>
          <p:nvPr/>
        </p:nvSpPr>
        <p:spPr>
          <a:xfrm>
            <a:off x="8754821" y="5263947"/>
            <a:ext cx="3169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不同尺度池化</a:t>
            </a:r>
            <a:r>
              <a:rPr lang="zh-CN" altLang="en-US" dirty="0"/>
              <a:t>弥补了一些</a:t>
            </a: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1F3E6ECA-19A4-B063-3F45-13A49DB5A892}"/>
              </a:ext>
            </a:extLst>
          </p:cNvPr>
          <p:cNvSpPr txBox="1"/>
          <p:nvPr/>
        </p:nvSpPr>
        <p:spPr>
          <a:xfrm>
            <a:off x="8754821" y="5642890"/>
            <a:ext cx="3169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FC</a:t>
            </a:r>
            <a:r>
              <a:rPr lang="zh-CN" altLang="en-US" dirty="0"/>
              <a:t>层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不关心</a:t>
            </a:r>
            <a:r>
              <a:rPr lang="zh-CN" altLang="en-US" dirty="0"/>
              <a:t>位置信息</a:t>
            </a:r>
          </a:p>
        </p:txBody>
      </p:sp>
    </p:spTree>
    <p:extLst>
      <p:ext uri="{BB962C8B-B14F-4D97-AF65-F5344CB8AC3E}">
        <p14:creationId xmlns:p14="http://schemas.microsoft.com/office/powerpoint/2010/main" val="3897034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4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4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0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6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8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4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6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50" grpId="0" animBg="1"/>
      <p:bldP spid="51" grpId="0" animBg="1"/>
      <p:bldP spid="52" grpId="0" animBg="1"/>
      <p:bldP spid="53" grpId="0" animBg="1"/>
      <p:bldP spid="61" grpId="0" animBg="1"/>
      <p:bldP spid="62" grpId="0" animBg="1"/>
      <p:bldP spid="63" grpId="0" animBg="1"/>
      <p:bldP spid="64" grpId="0" animBg="1"/>
      <p:bldP spid="66" grpId="0"/>
      <p:bldP spid="67" grpId="0"/>
      <p:bldP spid="69" grpId="0"/>
      <p:bldP spid="75" grpId="0"/>
      <p:bldP spid="77" grpId="0"/>
      <p:bldP spid="78" grpId="0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8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65" grpId="0" animBg="1"/>
      <p:bldP spid="166" grpId="0" animBg="1"/>
      <p:bldP spid="167" grpId="0" animBg="1"/>
      <p:bldP spid="168" grpId="0" animBg="1"/>
      <p:bldP spid="169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/>
      <p:bldP spid="187" grpId="0"/>
      <p:bldP spid="188" grpId="0"/>
      <p:bldP spid="189" grpId="0" animBg="1"/>
      <p:bldP spid="190" grpId="0" animBg="1"/>
      <p:bldP spid="191" grpId="0" animBg="1"/>
      <p:bldP spid="192" grpId="0"/>
      <p:bldP spid="193" grpId="0"/>
      <p:bldP spid="195" grpId="0"/>
      <p:bldP spid="196" grpId="0"/>
      <p:bldP spid="197" grpId="0"/>
      <p:bldP spid="19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5E610-B5DB-76AB-FD25-07693F769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C254976-A1E4-7BC8-0A9D-CAF9F03EB803}"/>
              </a:ext>
            </a:extLst>
          </p:cNvPr>
          <p:cNvSpPr txBox="1"/>
          <p:nvPr/>
        </p:nvSpPr>
        <p:spPr>
          <a:xfrm>
            <a:off x="395834" y="262004"/>
            <a:ext cx="30224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Fast R-CNN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3501B1-F9A6-1F94-A011-F553BE757A94}"/>
              </a:ext>
            </a:extLst>
          </p:cNvPr>
          <p:cNvSpPr txBox="1"/>
          <p:nvPr/>
        </p:nvSpPr>
        <p:spPr>
          <a:xfrm>
            <a:off x="2746270" y="400410"/>
            <a:ext cx="23273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chemeClr val="accent5">
                    <a:lumMod val="75000"/>
                  </a:schemeClr>
                </a:solidFill>
              </a:rPr>
              <a:t>RoI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 Pooling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EB1618-0B41-599D-2A85-2CB35AE4B41C}"/>
              </a:ext>
            </a:extLst>
          </p:cNvPr>
          <p:cNvSpPr txBox="1"/>
          <p:nvPr/>
        </p:nvSpPr>
        <p:spPr>
          <a:xfrm>
            <a:off x="428053" y="1141371"/>
            <a:ext cx="397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固定尺度</a:t>
            </a:r>
            <a:r>
              <a:rPr lang="en-US" altLang="zh-CN" dirty="0"/>
              <a:t>7 x 7</a:t>
            </a:r>
            <a:r>
              <a:rPr lang="zh-CN" altLang="en-US" dirty="0"/>
              <a:t>进行池化</a:t>
            </a:r>
          </a:p>
        </p:txBody>
      </p:sp>
    </p:spTree>
    <p:extLst>
      <p:ext uri="{BB962C8B-B14F-4D97-AF65-F5344CB8AC3E}">
        <p14:creationId xmlns:p14="http://schemas.microsoft.com/office/powerpoint/2010/main" val="736159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矩形 67">
            <a:extLst>
              <a:ext uri="{FF2B5EF4-FFF2-40B4-BE49-F238E27FC236}">
                <a16:creationId xmlns:a16="http://schemas.microsoft.com/office/drawing/2014/main" id="{3D564450-36CF-9DFC-E19B-B7B9FE39184C}"/>
              </a:ext>
            </a:extLst>
          </p:cNvPr>
          <p:cNvSpPr/>
          <p:nvPr/>
        </p:nvSpPr>
        <p:spPr>
          <a:xfrm>
            <a:off x="2746270" y="3882977"/>
            <a:ext cx="2042465" cy="127258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244F4F69-ED2C-93C7-69B7-F768120A711C}"/>
              </a:ext>
            </a:extLst>
          </p:cNvPr>
          <p:cNvSpPr txBox="1"/>
          <p:nvPr/>
        </p:nvSpPr>
        <p:spPr>
          <a:xfrm>
            <a:off x="2859545" y="4755924"/>
            <a:ext cx="18127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101 dims </a:t>
            </a:r>
            <a:r>
              <a:rPr lang="en-US" altLang="zh-CN" sz="1600" dirty="0" err="1">
                <a:solidFill>
                  <a:schemeClr val="accent5">
                    <a:lumMod val="75000"/>
                  </a:schemeClr>
                </a:solidFill>
              </a:rPr>
              <a:t>Softmax</a:t>
            </a:r>
            <a:endParaRPr lang="en-US" altLang="zh-CN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D2DB607-FCB1-0B83-D880-275E02E4F84A}"/>
              </a:ext>
            </a:extLst>
          </p:cNvPr>
          <p:cNvSpPr/>
          <p:nvPr/>
        </p:nvSpPr>
        <p:spPr>
          <a:xfrm>
            <a:off x="1930572" y="1230716"/>
            <a:ext cx="1288744" cy="31804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</a:rPr>
              <a:t>Class 1 SVM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9619570-FC78-E4D6-5C4B-851FD01C89C3}"/>
              </a:ext>
            </a:extLst>
          </p:cNvPr>
          <p:cNvSpPr/>
          <p:nvPr/>
        </p:nvSpPr>
        <p:spPr>
          <a:xfrm>
            <a:off x="1930567" y="1717659"/>
            <a:ext cx="1288744" cy="31804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</a:rPr>
              <a:t>Class 2 SVM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F3D6B5-E18C-FFA2-1211-663EA3AC61FB}"/>
              </a:ext>
            </a:extLst>
          </p:cNvPr>
          <p:cNvSpPr/>
          <p:nvPr/>
        </p:nvSpPr>
        <p:spPr>
          <a:xfrm>
            <a:off x="1930567" y="2501137"/>
            <a:ext cx="1288744" cy="31804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</a:rPr>
              <a:t>Class 21SVM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482630-274E-1383-3D44-9CA3F13BE237}"/>
              </a:ext>
            </a:extLst>
          </p:cNvPr>
          <p:cNvSpPr txBox="1"/>
          <p:nvPr/>
        </p:nvSpPr>
        <p:spPr>
          <a:xfrm>
            <a:off x="395834" y="262004"/>
            <a:ext cx="30224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Fast R-CNN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DD4538-0C25-0BB5-1B89-C8C9377BCDE7}"/>
              </a:ext>
            </a:extLst>
          </p:cNvPr>
          <p:cNvSpPr txBox="1"/>
          <p:nvPr/>
        </p:nvSpPr>
        <p:spPr>
          <a:xfrm>
            <a:off x="2746270" y="400410"/>
            <a:ext cx="33497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Classification &amp; </a:t>
            </a:r>
            <a:r>
              <a:rPr lang="en-US" altLang="zh-CN" sz="1600" dirty="0" err="1">
                <a:solidFill>
                  <a:schemeClr val="accent5">
                    <a:lumMod val="75000"/>
                  </a:schemeClr>
                </a:solidFill>
              </a:rPr>
              <a:t>BBox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 Regression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DBF7C79-49DC-47DE-572F-F361D342C46E}"/>
              </a:ext>
            </a:extLst>
          </p:cNvPr>
          <p:cNvSpPr txBox="1"/>
          <p:nvPr/>
        </p:nvSpPr>
        <p:spPr>
          <a:xfrm>
            <a:off x="2433422" y="2077580"/>
            <a:ext cx="461665" cy="3810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….</a:t>
            </a:r>
            <a:endParaRPr lang="zh-CN" altLang="en-US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019AED0-137C-5648-6113-5769A913B75E}"/>
              </a:ext>
            </a:extLst>
          </p:cNvPr>
          <p:cNvCxnSpPr>
            <a:endCxn id="7" idx="1"/>
          </p:cNvCxnSpPr>
          <p:nvPr/>
        </p:nvCxnSpPr>
        <p:spPr>
          <a:xfrm flipV="1">
            <a:off x="1553706" y="1389738"/>
            <a:ext cx="376866" cy="38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EB73611-A6C6-89D6-A1B6-7DB581B58834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1553706" y="1876681"/>
            <a:ext cx="3768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F701D56-0968-2B76-40C6-589E88D1DDE9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553706" y="2660159"/>
            <a:ext cx="3768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A73AE79-6B31-40D8-00B5-A62B759AD678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1553706" y="1605533"/>
            <a:ext cx="20657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F8F73AF-76E5-FE1A-7971-7D775DE15337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1553706" y="2088115"/>
            <a:ext cx="20424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1EFA1AF-4039-9962-5B8B-5170B29C05C4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1553706" y="2914159"/>
            <a:ext cx="204246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CA82B7FF-69E5-8742-F44E-22158732D241}"/>
              </a:ext>
            </a:extLst>
          </p:cNvPr>
          <p:cNvSpPr/>
          <p:nvPr/>
        </p:nvSpPr>
        <p:spPr>
          <a:xfrm>
            <a:off x="3619414" y="1446511"/>
            <a:ext cx="1288744" cy="31804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Class 1 BBR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FAAE756-ED94-84FA-72D3-DD3C7FDE25FA}"/>
              </a:ext>
            </a:extLst>
          </p:cNvPr>
          <p:cNvSpPr/>
          <p:nvPr/>
        </p:nvSpPr>
        <p:spPr>
          <a:xfrm>
            <a:off x="3596172" y="1929093"/>
            <a:ext cx="1288744" cy="31804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Class 2 BBR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AA3F8D7-2461-63D7-83FC-6D532E73C03A}"/>
              </a:ext>
            </a:extLst>
          </p:cNvPr>
          <p:cNvSpPr/>
          <p:nvPr/>
        </p:nvSpPr>
        <p:spPr>
          <a:xfrm>
            <a:off x="3596172" y="2755137"/>
            <a:ext cx="1288744" cy="31804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Class 20 BBR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AFA7F67-90AE-2751-7B64-183534DE54CA}"/>
              </a:ext>
            </a:extLst>
          </p:cNvPr>
          <p:cNvSpPr txBox="1"/>
          <p:nvPr/>
        </p:nvSpPr>
        <p:spPr>
          <a:xfrm>
            <a:off x="4137883" y="2310617"/>
            <a:ext cx="461665" cy="3810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….</a:t>
            </a:r>
            <a:endParaRPr lang="zh-CN" altLang="en-US" dirty="0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831F1F66-D4CF-38D4-7E19-F5FCDEF759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81" t="40716" r="10027" b="49479"/>
          <a:stretch>
            <a:fillRect/>
          </a:stretch>
        </p:blipFill>
        <p:spPr>
          <a:xfrm>
            <a:off x="532567" y="1751892"/>
            <a:ext cx="730293" cy="672445"/>
          </a:xfrm>
          <a:prstGeom prst="rect">
            <a:avLst/>
          </a:prstGeom>
        </p:spPr>
      </p:pic>
      <p:sp>
        <p:nvSpPr>
          <p:cNvPr id="44" name="矩形 43">
            <a:extLst>
              <a:ext uri="{FF2B5EF4-FFF2-40B4-BE49-F238E27FC236}">
                <a16:creationId xmlns:a16="http://schemas.microsoft.com/office/drawing/2014/main" id="{7C8938C3-C064-5205-7A4D-DA4B2D0A7BED}"/>
              </a:ext>
            </a:extLst>
          </p:cNvPr>
          <p:cNvSpPr/>
          <p:nvPr/>
        </p:nvSpPr>
        <p:spPr>
          <a:xfrm>
            <a:off x="7592454" y="1629896"/>
            <a:ext cx="1028700" cy="82872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·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A86E3B7C-7A64-F90F-963A-CD2D1C4990E9}"/>
              </a:ext>
            </a:extLst>
          </p:cNvPr>
          <p:cNvCxnSpPr>
            <a:cxnSpLocks/>
          </p:cNvCxnSpPr>
          <p:nvPr/>
        </p:nvCxnSpPr>
        <p:spPr>
          <a:xfrm flipV="1">
            <a:off x="8462985" y="2472734"/>
            <a:ext cx="0" cy="1695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C3F9693F-B971-B5D8-1C6E-360639F040AD}"/>
              </a:ext>
            </a:extLst>
          </p:cNvPr>
          <p:cNvCxnSpPr>
            <a:cxnSpLocks/>
          </p:cNvCxnSpPr>
          <p:nvPr/>
        </p:nvCxnSpPr>
        <p:spPr>
          <a:xfrm>
            <a:off x="8620143" y="2247137"/>
            <a:ext cx="15342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24F35A6B-EB6F-5FA6-E83A-8393A0501A1F}"/>
              </a:ext>
            </a:extLst>
          </p:cNvPr>
          <p:cNvCxnSpPr>
            <a:cxnSpLocks/>
          </p:cNvCxnSpPr>
          <p:nvPr/>
        </p:nvCxnSpPr>
        <p:spPr>
          <a:xfrm flipV="1">
            <a:off x="7498461" y="2077659"/>
            <a:ext cx="0" cy="44646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65710AA-16E3-7795-1373-167773A5429D}"/>
              </a:ext>
            </a:extLst>
          </p:cNvPr>
          <p:cNvCxnSpPr>
            <a:cxnSpLocks/>
          </p:cNvCxnSpPr>
          <p:nvPr/>
        </p:nvCxnSpPr>
        <p:spPr>
          <a:xfrm>
            <a:off x="7498461" y="2055324"/>
            <a:ext cx="564556" cy="13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052C7AED-7DEA-6FA1-C1C6-593F44BF59C2}"/>
              </a:ext>
            </a:extLst>
          </p:cNvPr>
          <p:cNvSpPr txBox="1"/>
          <p:nvPr/>
        </p:nvSpPr>
        <p:spPr>
          <a:xfrm>
            <a:off x="7726339" y="2020539"/>
            <a:ext cx="3627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3">
                    <a:lumMod val="75000"/>
                  </a:schemeClr>
                </a:solidFill>
              </a:rPr>
              <a:t>Δ</a:t>
            </a:r>
            <a:endParaRPr lang="zh-CN" altLang="en-US" sz="14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BA30591-2166-1E0D-4EE4-675751966761}"/>
              </a:ext>
            </a:extLst>
          </p:cNvPr>
          <p:cNvSpPr txBox="1"/>
          <p:nvPr/>
        </p:nvSpPr>
        <p:spPr>
          <a:xfrm>
            <a:off x="7251563" y="2128767"/>
            <a:ext cx="3627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Δ</a:t>
            </a:r>
            <a:endParaRPr lang="zh-CN" altLang="en-US" sz="14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D6C8CE68-8DFB-4FEF-4584-9FBA4D3C96A9}"/>
              </a:ext>
            </a:extLst>
          </p:cNvPr>
          <p:cNvSpPr txBox="1"/>
          <p:nvPr/>
        </p:nvSpPr>
        <p:spPr>
          <a:xfrm>
            <a:off x="8563203" y="1949568"/>
            <a:ext cx="3627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4">
                    <a:lumMod val="75000"/>
                  </a:schemeClr>
                </a:solidFill>
              </a:rPr>
              <a:t>Δ</a:t>
            </a:r>
            <a:endParaRPr lang="zh-CN" altLang="en-US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33F71A5-98F0-8431-933F-79E19C8AA057}"/>
              </a:ext>
            </a:extLst>
          </p:cNvPr>
          <p:cNvSpPr txBox="1"/>
          <p:nvPr/>
        </p:nvSpPr>
        <p:spPr>
          <a:xfrm>
            <a:off x="8439768" y="2396574"/>
            <a:ext cx="3627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</a:rPr>
              <a:t>Δ</a:t>
            </a:r>
            <a:endParaRPr lang="zh-CN" alt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055B695-318A-B387-729A-86FD3B5DD374}"/>
              </a:ext>
            </a:extLst>
          </p:cNvPr>
          <p:cNvSpPr/>
          <p:nvPr/>
        </p:nvSpPr>
        <p:spPr>
          <a:xfrm>
            <a:off x="2843737" y="3954884"/>
            <a:ext cx="1864684" cy="31804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</a:rPr>
              <a:t>21 Classes  </a:t>
            </a:r>
            <a:r>
              <a:rPr lang="en-US" altLang="zh-CN" sz="1400" dirty="0" err="1">
                <a:solidFill>
                  <a:schemeClr val="accent2">
                    <a:lumMod val="75000"/>
                  </a:schemeClr>
                </a:solidFill>
              </a:rPr>
              <a:t>Softmax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EA16C7F-D822-07E0-8ACA-F5A2BBC4D71E}"/>
              </a:ext>
            </a:extLst>
          </p:cNvPr>
          <p:cNvSpPr/>
          <p:nvPr/>
        </p:nvSpPr>
        <p:spPr>
          <a:xfrm>
            <a:off x="2843731" y="4323079"/>
            <a:ext cx="1864685" cy="31804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20 x 4 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</a:rPr>
              <a:t>Δs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70" name="表格 69">
            <a:extLst>
              <a:ext uri="{FF2B5EF4-FFF2-40B4-BE49-F238E27FC236}">
                <a16:creationId xmlns:a16="http://schemas.microsoft.com/office/drawing/2014/main" id="{A952579E-E93C-3AF7-679C-05DE9C361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277700"/>
              </p:ext>
            </p:extLst>
          </p:nvPr>
        </p:nvGraphicFramePr>
        <p:xfrm>
          <a:off x="416668" y="4348941"/>
          <a:ext cx="14579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92374781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2855203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997802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9404753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2170512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1366674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5225028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516935"/>
                  </a:ext>
                </a:extLst>
              </a:tr>
            </a:tbl>
          </a:graphicData>
        </a:graphic>
      </p:graphicFrame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C5EB0265-104D-C50B-036F-BA8475BA17E4}"/>
              </a:ext>
            </a:extLst>
          </p:cNvPr>
          <p:cNvCxnSpPr>
            <a:cxnSpLocks/>
          </p:cNvCxnSpPr>
          <p:nvPr/>
        </p:nvCxnSpPr>
        <p:spPr>
          <a:xfrm>
            <a:off x="2039555" y="4524152"/>
            <a:ext cx="3768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08BAA28D-CA85-7D22-389C-FCBCDA6F3AF6}"/>
              </a:ext>
            </a:extLst>
          </p:cNvPr>
          <p:cNvSpPr txBox="1"/>
          <p:nvPr/>
        </p:nvSpPr>
        <p:spPr>
          <a:xfrm>
            <a:off x="3000539" y="5515419"/>
            <a:ext cx="195584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Multi-Task Loss</a:t>
            </a:r>
            <a:endParaRPr lang="zh-CN" altLang="en-US" sz="1600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B98E183-1DF8-0376-99B8-FEBFF615B3E8}"/>
              </a:ext>
            </a:extLst>
          </p:cNvPr>
          <p:cNvSpPr/>
          <p:nvPr/>
        </p:nvSpPr>
        <p:spPr>
          <a:xfrm>
            <a:off x="6838951" y="1928106"/>
            <a:ext cx="1333521" cy="1196094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C3178F2B-5A16-0F05-DE22-8D3FBC88C6C5}"/>
              </a:ext>
            </a:extLst>
          </p:cNvPr>
          <p:cNvSpPr/>
          <p:nvPr/>
        </p:nvSpPr>
        <p:spPr>
          <a:xfrm>
            <a:off x="7440043" y="1446211"/>
            <a:ext cx="1333521" cy="1196094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8E3D97F-A014-7D24-55F1-13730D28FD48}"/>
              </a:ext>
            </a:extLst>
          </p:cNvPr>
          <p:cNvSpPr txBox="1"/>
          <p:nvPr/>
        </p:nvSpPr>
        <p:spPr>
          <a:xfrm>
            <a:off x="6741010" y="3429000"/>
            <a:ext cx="195584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为什么这么简单？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F4C5B8-A37E-84B5-9F26-430958930033}"/>
              </a:ext>
            </a:extLst>
          </p:cNvPr>
          <p:cNvSpPr txBox="1"/>
          <p:nvPr/>
        </p:nvSpPr>
        <p:spPr>
          <a:xfrm>
            <a:off x="7271052" y="3767554"/>
            <a:ext cx="302157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在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深层语义</a:t>
            </a:r>
            <a:r>
              <a:rPr lang="zh-CN" altLang="en-US" sz="1600" dirty="0"/>
              <a:t>上做近似线性变换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8753372-DBFE-5A64-EA7D-C5C26093B1E2}"/>
              </a:ext>
            </a:extLst>
          </p:cNvPr>
          <p:cNvSpPr txBox="1"/>
          <p:nvPr/>
        </p:nvSpPr>
        <p:spPr>
          <a:xfrm>
            <a:off x="7271051" y="4072354"/>
            <a:ext cx="21746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这里不是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瓶颈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D8673BA6-F8DF-8A70-744C-50B146850CE1}"/>
              </a:ext>
            </a:extLst>
          </p:cNvPr>
          <p:cNvCxnSpPr>
            <a:cxnSpLocks/>
          </p:cNvCxnSpPr>
          <p:nvPr/>
        </p:nvCxnSpPr>
        <p:spPr>
          <a:xfrm>
            <a:off x="6894190" y="3918584"/>
            <a:ext cx="3768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583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/>
      <p:bldP spid="44" grpId="0" animBg="1"/>
      <p:bldP spid="55" grpId="0"/>
      <p:bldP spid="56" grpId="0"/>
      <p:bldP spid="57" grpId="0"/>
      <p:bldP spid="58" grpId="0"/>
      <p:bldP spid="60" grpId="0" animBg="1"/>
      <p:bldP spid="63" grpId="0" animBg="1"/>
      <p:bldP spid="72" grpId="0"/>
      <p:bldP spid="45" grpId="0" animBg="1"/>
      <p:bldP spid="81" grpId="0" animBg="1"/>
      <p:bldP spid="4" grpId="0"/>
      <p:bldP spid="6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99FE2-1AA1-AC88-DC5E-952D4ADED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43463E6-3320-4DE3-4954-F66D9A51F213}"/>
              </a:ext>
            </a:extLst>
          </p:cNvPr>
          <p:cNvSpPr txBox="1"/>
          <p:nvPr/>
        </p:nvSpPr>
        <p:spPr>
          <a:xfrm>
            <a:off x="395834" y="262004"/>
            <a:ext cx="30224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Fast R-CNN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51B18C-2D18-DD4F-F6F6-AFE309488EF4}"/>
              </a:ext>
            </a:extLst>
          </p:cNvPr>
          <p:cNvSpPr txBox="1"/>
          <p:nvPr/>
        </p:nvSpPr>
        <p:spPr>
          <a:xfrm>
            <a:off x="2746270" y="400410"/>
            <a:ext cx="23273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Discuss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7AD398C-BDFA-3817-864E-BACD692F55A8}"/>
              </a:ext>
            </a:extLst>
          </p:cNvPr>
          <p:cNvSpPr txBox="1"/>
          <p:nvPr/>
        </p:nvSpPr>
        <p:spPr>
          <a:xfrm>
            <a:off x="428053" y="1141371"/>
            <a:ext cx="397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Multi-Task Loss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work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C2B3A3-3A28-AED4-E789-246A3824F0CD}"/>
              </a:ext>
            </a:extLst>
          </p:cNvPr>
          <p:cNvSpPr txBox="1"/>
          <p:nvPr/>
        </p:nvSpPr>
        <p:spPr>
          <a:xfrm>
            <a:off x="428053" y="1543778"/>
            <a:ext cx="397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More Training Data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needed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D0F96A9-72D2-17D7-7B3D-E37D185272B8}"/>
              </a:ext>
            </a:extLst>
          </p:cNvPr>
          <p:cNvSpPr txBox="1"/>
          <p:nvPr/>
        </p:nvSpPr>
        <p:spPr>
          <a:xfrm>
            <a:off x="428053" y="1946185"/>
            <a:ext cx="397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SVMs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outperform</a:t>
            </a:r>
            <a:r>
              <a:rPr lang="en-US" altLang="zh-CN" dirty="0"/>
              <a:t> </a:t>
            </a:r>
            <a:r>
              <a:rPr lang="en-US" altLang="zh-CN" dirty="0" err="1"/>
              <a:t>Softmax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921CC3-A92B-95CF-1CD1-4D63F4AA69E1}"/>
              </a:ext>
            </a:extLst>
          </p:cNvPr>
          <p:cNvSpPr txBox="1"/>
          <p:nvPr/>
        </p:nvSpPr>
        <p:spPr>
          <a:xfrm>
            <a:off x="438149" y="2348592"/>
            <a:ext cx="397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More proposals always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better?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E020665-7477-1C88-B950-8EE60E4225C7}"/>
              </a:ext>
            </a:extLst>
          </p:cNvPr>
          <p:cNvSpPr txBox="1"/>
          <p:nvPr/>
        </p:nvSpPr>
        <p:spPr>
          <a:xfrm>
            <a:off x="438148" y="3186481"/>
            <a:ext cx="5080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But maybe there’s still something </a:t>
            </a:r>
            <a:r>
              <a:rPr lang="en-US" altLang="zh-CN" dirty="0">
                <a:solidFill>
                  <a:srgbClr val="FF0000"/>
                </a:solidFill>
              </a:rPr>
              <a:t>WRONG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A8479BB-200D-631C-22DC-B55189B1049A}"/>
              </a:ext>
            </a:extLst>
          </p:cNvPr>
          <p:cNvSpPr txBox="1"/>
          <p:nvPr/>
        </p:nvSpPr>
        <p:spPr>
          <a:xfrm>
            <a:off x="438148" y="4101190"/>
            <a:ext cx="19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Region Proposal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6BC058F-A58F-B24F-840D-AD8582A6604A}"/>
              </a:ext>
            </a:extLst>
          </p:cNvPr>
          <p:cNvSpPr txBox="1"/>
          <p:nvPr/>
        </p:nvSpPr>
        <p:spPr>
          <a:xfrm>
            <a:off x="3353186" y="4106713"/>
            <a:ext cx="2080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Feature Extraction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594146D-E88D-FA38-9134-BD8290E5FCBE}"/>
              </a:ext>
            </a:extLst>
          </p:cNvPr>
          <p:cNvSpPr txBox="1"/>
          <p:nvPr/>
        </p:nvSpPr>
        <p:spPr>
          <a:xfrm>
            <a:off x="8781267" y="4613628"/>
            <a:ext cx="160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Classification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CCA0CD-D86F-8C6A-D914-B9C17BD2049D}"/>
              </a:ext>
            </a:extLst>
          </p:cNvPr>
          <p:cNvSpPr txBox="1"/>
          <p:nvPr/>
        </p:nvSpPr>
        <p:spPr>
          <a:xfrm>
            <a:off x="8764917" y="4122390"/>
            <a:ext cx="2942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Bounding-box Regression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7B6EFA3-0FEB-4596-7486-E70E95735D29}"/>
              </a:ext>
            </a:extLst>
          </p:cNvPr>
          <p:cNvCxnSpPr>
            <a:cxnSpLocks/>
          </p:cNvCxnSpPr>
          <p:nvPr/>
        </p:nvCxnSpPr>
        <p:spPr>
          <a:xfrm>
            <a:off x="5491894" y="4307682"/>
            <a:ext cx="9440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87833BD-BDC7-7932-1A55-F3D52661EE50}"/>
              </a:ext>
            </a:extLst>
          </p:cNvPr>
          <p:cNvCxnSpPr>
            <a:cxnSpLocks/>
          </p:cNvCxnSpPr>
          <p:nvPr/>
        </p:nvCxnSpPr>
        <p:spPr>
          <a:xfrm>
            <a:off x="7824935" y="4307682"/>
            <a:ext cx="9563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4D47CAD-A076-1663-0A09-E12E06BF99FB}"/>
              </a:ext>
            </a:extLst>
          </p:cNvPr>
          <p:cNvSpPr txBox="1"/>
          <p:nvPr/>
        </p:nvSpPr>
        <p:spPr>
          <a:xfrm>
            <a:off x="6491186" y="4122390"/>
            <a:ext cx="199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accent5">
                    <a:lumMod val="75000"/>
                  </a:schemeClr>
                </a:solidFill>
              </a:rPr>
              <a:t>RoI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 Pooling</a:t>
            </a:r>
          </a:p>
        </p:txBody>
      </p: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479732EF-7350-FC34-A633-75FF6AFDC78A}"/>
              </a:ext>
            </a:extLst>
          </p:cNvPr>
          <p:cNvCxnSpPr>
            <a:cxnSpLocks/>
          </p:cNvCxnSpPr>
          <p:nvPr/>
        </p:nvCxnSpPr>
        <p:spPr>
          <a:xfrm>
            <a:off x="8232032" y="4307056"/>
            <a:ext cx="549235" cy="475849"/>
          </a:xfrm>
          <a:prstGeom prst="bentConnector3">
            <a:avLst>
              <a:gd name="adj1" fmla="val -1033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2654D8DC-CBA7-6AD3-5882-2CEDB39C6D9D}"/>
              </a:ext>
            </a:extLst>
          </p:cNvPr>
          <p:cNvCxnSpPr>
            <a:stCxn id="14" idx="0"/>
          </p:cNvCxnSpPr>
          <p:nvPr/>
        </p:nvCxnSpPr>
        <p:spPr>
          <a:xfrm rot="16200000" flipH="1">
            <a:off x="3597749" y="1940882"/>
            <a:ext cx="205866" cy="4526482"/>
          </a:xfrm>
          <a:prstGeom prst="bentConnector4">
            <a:avLst>
              <a:gd name="adj1" fmla="val -111043"/>
              <a:gd name="adj2" fmla="val 99949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07AF4F0-AEE4-162C-DAB0-00E3758025F2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2436733" y="4285856"/>
            <a:ext cx="916453" cy="55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2CB673FF-AF29-EAF0-5705-69B050AD8212}"/>
              </a:ext>
            </a:extLst>
          </p:cNvPr>
          <p:cNvSpPr txBox="1"/>
          <p:nvPr/>
        </p:nvSpPr>
        <p:spPr>
          <a:xfrm>
            <a:off x="2380430" y="3978079"/>
            <a:ext cx="1174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Projection</a:t>
            </a:r>
            <a:endParaRPr lang="zh-CN" altLang="en-US" sz="1400" dirty="0"/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1D0763B6-B19F-2FFA-915B-0D55DA334FEE}"/>
              </a:ext>
            </a:extLst>
          </p:cNvPr>
          <p:cNvCxnSpPr/>
          <p:nvPr/>
        </p:nvCxnSpPr>
        <p:spPr>
          <a:xfrm>
            <a:off x="527050" y="2946400"/>
            <a:ext cx="109537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289C52F9-CFE5-3AEA-0C7E-459B0F1A4B04}"/>
              </a:ext>
            </a:extLst>
          </p:cNvPr>
          <p:cNvSpPr txBox="1"/>
          <p:nvPr/>
        </p:nvSpPr>
        <p:spPr>
          <a:xfrm>
            <a:off x="505049" y="5144945"/>
            <a:ext cx="5155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Region Proposal</a:t>
            </a:r>
            <a:r>
              <a:rPr lang="zh-CN" altLang="en-US" sz="1600" dirty="0"/>
              <a:t>给出约</a:t>
            </a:r>
            <a:r>
              <a:rPr lang="en-US" altLang="zh-CN" sz="1600" dirty="0">
                <a:solidFill>
                  <a:srgbClr val="FF0000"/>
                </a:solidFill>
              </a:rPr>
              <a:t>2k</a:t>
            </a:r>
            <a:r>
              <a:rPr lang="zh-CN" altLang="en-US" sz="1600" dirty="0">
                <a:solidFill>
                  <a:srgbClr val="FF0000"/>
                </a:solidFill>
              </a:rPr>
              <a:t>个框</a:t>
            </a:r>
            <a:r>
              <a:rPr lang="zh-CN" altLang="en-US" sz="1600" dirty="0"/>
              <a:t>，是不是太多了？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C0C0338-94B6-D164-A2E6-03800B723A30}"/>
              </a:ext>
            </a:extLst>
          </p:cNvPr>
          <p:cNvSpPr txBox="1"/>
          <p:nvPr/>
        </p:nvSpPr>
        <p:spPr>
          <a:xfrm>
            <a:off x="505049" y="5547352"/>
            <a:ext cx="5930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Region Proposal</a:t>
            </a:r>
            <a:r>
              <a:rPr lang="zh-CN" altLang="en-US" sz="1600" dirty="0"/>
              <a:t>给的</a:t>
            </a:r>
            <a:r>
              <a:rPr lang="zh-CN" altLang="en-US" sz="1600" dirty="0">
                <a:solidFill>
                  <a:srgbClr val="FF0000"/>
                </a:solidFill>
              </a:rPr>
              <a:t>框不准</a:t>
            </a:r>
            <a:r>
              <a:rPr lang="zh-CN" altLang="en-US" sz="1600" dirty="0"/>
              <a:t>，后续精修费时又无法修的特别准？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4EE29E-145D-09BF-9F73-9B3A60233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190" y="1122443"/>
            <a:ext cx="7699370" cy="150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543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6" grpId="0"/>
      <p:bldP spid="17" grpId="0"/>
      <p:bldP spid="20" grpId="0"/>
      <p:bldP spid="24" grpId="0"/>
      <p:bldP spid="27" grpId="0"/>
      <p:bldP spid="2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C6915-8496-4DD9-CB33-0AB8A6FB0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7637D0C-C60C-6348-D98B-419CAEA4B0D6}"/>
              </a:ext>
            </a:extLst>
          </p:cNvPr>
          <p:cNvSpPr txBox="1"/>
          <p:nvPr/>
        </p:nvSpPr>
        <p:spPr>
          <a:xfrm>
            <a:off x="770186" y="747752"/>
            <a:ext cx="30224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Faster R-CNN</a:t>
            </a:r>
            <a:endParaRPr lang="zh-CN" altLang="en-US" sz="2800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DDF8BBB-EFD5-3480-AD0F-36812DF62F3B}"/>
              </a:ext>
            </a:extLst>
          </p:cNvPr>
          <p:cNvCxnSpPr>
            <a:cxnSpLocks/>
          </p:cNvCxnSpPr>
          <p:nvPr/>
        </p:nvCxnSpPr>
        <p:spPr>
          <a:xfrm>
            <a:off x="1937606" y="3026030"/>
            <a:ext cx="6505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84D3AA7-8271-2F80-F0EE-87FA0937C0A9}"/>
              </a:ext>
            </a:extLst>
          </p:cNvPr>
          <p:cNvSpPr txBox="1"/>
          <p:nvPr/>
        </p:nvSpPr>
        <p:spPr>
          <a:xfrm>
            <a:off x="2588119" y="2856753"/>
            <a:ext cx="5890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使用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RPN</a:t>
            </a:r>
            <a:r>
              <a:rPr lang="en-US" altLang="zh-CN" sz="1600" dirty="0"/>
              <a:t>…..</a:t>
            </a:r>
            <a:endParaRPr lang="zh-CN" altLang="en-US" sz="16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10AA4C0-FB08-E474-66C4-8D7719B3CA11}"/>
              </a:ext>
            </a:extLst>
          </p:cNvPr>
          <p:cNvSpPr txBox="1"/>
          <p:nvPr/>
        </p:nvSpPr>
        <p:spPr>
          <a:xfrm>
            <a:off x="3575139" y="778529"/>
            <a:ext cx="18083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优化提案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8F8DFB-EADA-40AD-CF3D-1185E1D6B6CB}"/>
              </a:ext>
            </a:extLst>
          </p:cNvPr>
          <p:cNvSpPr txBox="1"/>
          <p:nvPr/>
        </p:nvSpPr>
        <p:spPr>
          <a:xfrm>
            <a:off x="4050279" y="4754907"/>
            <a:ext cx="38754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See why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RPN </a:t>
            </a:r>
            <a:r>
              <a:rPr lang="en-US" altLang="zh-CN" sz="2400" dirty="0"/>
              <a:t>matters</a:t>
            </a:r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DC2EE37-08A6-0C24-67BE-E203D8DC0465}"/>
              </a:ext>
            </a:extLst>
          </p:cNvPr>
          <p:cNvSpPr txBox="1"/>
          <p:nvPr/>
        </p:nvSpPr>
        <p:spPr>
          <a:xfrm>
            <a:off x="1364443" y="1946516"/>
            <a:ext cx="5155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Region Proposal</a:t>
            </a:r>
            <a:r>
              <a:rPr lang="zh-CN" altLang="en-US" sz="1600" dirty="0"/>
              <a:t>给出约</a:t>
            </a:r>
            <a:r>
              <a:rPr lang="en-US" altLang="zh-CN" sz="1600" dirty="0">
                <a:solidFill>
                  <a:srgbClr val="FF0000"/>
                </a:solidFill>
              </a:rPr>
              <a:t>2k</a:t>
            </a:r>
            <a:r>
              <a:rPr lang="zh-CN" altLang="en-US" sz="1600" dirty="0">
                <a:solidFill>
                  <a:srgbClr val="FF0000"/>
                </a:solidFill>
              </a:rPr>
              <a:t>个框</a:t>
            </a:r>
            <a:r>
              <a:rPr lang="zh-CN" altLang="en-US" sz="1600" dirty="0"/>
              <a:t>，是不是太多了？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0FDC17-C7D3-FE32-5E22-4CBD454F6E52}"/>
              </a:ext>
            </a:extLst>
          </p:cNvPr>
          <p:cNvSpPr txBox="1"/>
          <p:nvPr/>
        </p:nvSpPr>
        <p:spPr>
          <a:xfrm>
            <a:off x="1364443" y="2348923"/>
            <a:ext cx="5930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Region Proposal</a:t>
            </a:r>
            <a:r>
              <a:rPr lang="zh-CN" altLang="en-US" sz="1600" dirty="0"/>
              <a:t>给的</a:t>
            </a:r>
            <a:r>
              <a:rPr lang="zh-CN" altLang="en-US" sz="1600" dirty="0">
                <a:solidFill>
                  <a:srgbClr val="FF0000"/>
                </a:solidFill>
              </a:rPr>
              <a:t>框不准</a:t>
            </a:r>
            <a:r>
              <a:rPr lang="zh-CN" altLang="en-US" sz="1600" dirty="0"/>
              <a:t>，后续精修费时又无法修的特别准？</a:t>
            </a:r>
          </a:p>
        </p:txBody>
      </p:sp>
    </p:spTree>
    <p:extLst>
      <p:ext uri="{BB962C8B-B14F-4D97-AF65-F5344CB8AC3E}">
        <p14:creationId xmlns:p14="http://schemas.microsoft.com/office/powerpoint/2010/main" val="1569200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05DB010-3B69-A19B-E07C-FD0FC726B404}"/>
              </a:ext>
            </a:extLst>
          </p:cNvPr>
          <p:cNvSpPr txBox="1"/>
          <p:nvPr/>
        </p:nvSpPr>
        <p:spPr>
          <a:xfrm>
            <a:off x="395834" y="262004"/>
            <a:ext cx="30224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Faster R-CNN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E83EAD-986C-D21E-F96A-519B28596F81}"/>
              </a:ext>
            </a:extLst>
          </p:cNvPr>
          <p:cNvSpPr txBox="1"/>
          <p:nvPr/>
        </p:nvSpPr>
        <p:spPr>
          <a:xfrm>
            <a:off x="2988202" y="410165"/>
            <a:ext cx="9911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Pipeline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4556E09-F55B-FE41-C358-D5EECE8DFCBC}"/>
              </a:ext>
            </a:extLst>
          </p:cNvPr>
          <p:cNvSpPr txBox="1"/>
          <p:nvPr/>
        </p:nvSpPr>
        <p:spPr>
          <a:xfrm>
            <a:off x="3737377" y="1567978"/>
            <a:ext cx="737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RPN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2CE72E-532E-2D2D-6B9B-61946FBA2B33}"/>
              </a:ext>
            </a:extLst>
          </p:cNvPr>
          <p:cNvSpPr txBox="1"/>
          <p:nvPr/>
        </p:nvSpPr>
        <p:spPr>
          <a:xfrm>
            <a:off x="518304" y="1567978"/>
            <a:ext cx="2080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Feature Extraction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DF0B1B-705E-F07D-2E7F-560F0265EF4B}"/>
              </a:ext>
            </a:extLst>
          </p:cNvPr>
          <p:cNvSpPr txBox="1"/>
          <p:nvPr/>
        </p:nvSpPr>
        <p:spPr>
          <a:xfrm>
            <a:off x="7767658" y="1576698"/>
            <a:ext cx="160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Classification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2E39FEC-5022-4081-5DCB-EDA96627FBB0}"/>
              </a:ext>
            </a:extLst>
          </p:cNvPr>
          <p:cNvCxnSpPr>
            <a:cxnSpLocks/>
          </p:cNvCxnSpPr>
          <p:nvPr/>
        </p:nvCxnSpPr>
        <p:spPr>
          <a:xfrm flipV="1">
            <a:off x="4370335" y="1766474"/>
            <a:ext cx="716270" cy="6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9AA603B-6B38-2B29-1A8C-CE639B6F3EDA}"/>
              </a:ext>
            </a:extLst>
          </p:cNvPr>
          <p:cNvCxnSpPr>
            <a:cxnSpLocks/>
          </p:cNvCxnSpPr>
          <p:nvPr/>
        </p:nvCxnSpPr>
        <p:spPr>
          <a:xfrm>
            <a:off x="6703376" y="1767100"/>
            <a:ext cx="9563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43C2665C-E199-5BBD-F9B6-D9D41583203A}"/>
              </a:ext>
            </a:extLst>
          </p:cNvPr>
          <p:cNvSpPr txBox="1"/>
          <p:nvPr/>
        </p:nvSpPr>
        <p:spPr>
          <a:xfrm>
            <a:off x="5132857" y="1576698"/>
            <a:ext cx="1399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75000"/>
                  </a:schemeClr>
                </a:solidFill>
              </a:rPr>
              <a:t>RoI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 Pooling</a:t>
            </a: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CDB50C81-5F15-8F12-5FD3-3B85AA083EDE}"/>
              </a:ext>
            </a:extLst>
          </p:cNvPr>
          <p:cNvCxnSpPr>
            <a:cxnSpLocks/>
            <a:stCxn id="14" idx="0"/>
            <a:endCxn id="10" idx="0"/>
          </p:cNvCxnSpPr>
          <p:nvPr/>
        </p:nvCxnSpPr>
        <p:spPr>
          <a:xfrm rot="5400000" flipH="1" flipV="1">
            <a:off x="4388308" y="308231"/>
            <a:ext cx="175946" cy="2712880"/>
          </a:xfrm>
          <a:prstGeom prst="bentConnector3">
            <a:avLst>
              <a:gd name="adj1" fmla="val 22992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F5565B8-5650-5BF9-F972-F65826767DB2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598721" y="1752644"/>
            <a:ext cx="10924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A5BA8867-ABF7-98B1-A1A3-348FD7712409}"/>
              </a:ext>
            </a:extLst>
          </p:cNvPr>
          <p:cNvSpPr txBox="1"/>
          <p:nvPr/>
        </p:nvSpPr>
        <p:spPr>
          <a:xfrm>
            <a:off x="2637446" y="1752644"/>
            <a:ext cx="9647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shearing</a:t>
            </a:r>
            <a:endParaRPr lang="zh-CN" altLang="en-US" sz="14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D8C3B53-82C6-1815-937B-8F0513591A53}"/>
              </a:ext>
            </a:extLst>
          </p:cNvPr>
          <p:cNvSpPr txBox="1"/>
          <p:nvPr/>
        </p:nvSpPr>
        <p:spPr>
          <a:xfrm>
            <a:off x="5452382" y="3747190"/>
            <a:ext cx="5930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RPN</a:t>
            </a:r>
            <a:r>
              <a:rPr lang="zh-CN" altLang="en-US" sz="1600" dirty="0"/>
              <a:t>与</a:t>
            </a:r>
            <a:r>
              <a:rPr lang="en-US" altLang="zh-CN" sz="1600" dirty="0"/>
              <a:t>CNN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共享</a:t>
            </a:r>
            <a:r>
              <a:rPr lang="zh-CN" altLang="en-US" sz="1600" dirty="0"/>
              <a:t>大部分权重，进一步减小计算</a:t>
            </a:r>
            <a:endParaRPr lang="en-US" altLang="zh-CN" sz="16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40948C7-3D29-145C-9055-28999A00E256}"/>
              </a:ext>
            </a:extLst>
          </p:cNvPr>
          <p:cNvSpPr txBox="1"/>
          <p:nvPr/>
        </p:nvSpPr>
        <p:spPr>
          <a:xfrm>
            <a:off x="5452382" y="450807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PRN</a:t>
            </a:r>
            <a:r>
              <a:rPr lang="zh-CN" altLang="en-US" sz="1600" dirty="0"/>
              <a:t>生成锚框数量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可控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67B8725-87B3-0203-33F9-51ED83CDE33F}"/>
              </a:ext>
            </a:extLst>
          </p:cNvPr>
          <p:cNvSpPr txBox="1"/>
          <p:nvPr/>
        </p:nvSpPr>
        <p:spPr>
          <a:xfrm>
            <a:off x="5452382" y="412763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PRN</a:t>
            </a:r>
            <a:r>
              <a:rPr lang="zh-CN" altLang="en-US" sz="1600" dirty="0"/>
              <a:t>使用锚框检测不同尺度目标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不依赖</a:t>
            </a:r>
            <a:r>
              <a:rPr lang="zh-CN" altLang="en-US" sz="1600" dirty="0"/>
              <a:t>多尺度图像（图像金字塔）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0269023-7F8A-10DA-E8FA-7EE70453C360}"/>
              </a:ext>
            </a:extLst>
          </p:cNvPr>
          <p:cNvSpPr txBox="1"/>
          <p:nvPr/>
        </p:nvSpPr>
        <p:spPr>
          <a:xfrm>
            <a:off x="7739565" y="2057657"/>
            <a:ext cx="2942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Bounding-box Regression</a:t>
            </a:r>
          </a:p>
        </p:txBody>
      </p:sp>
      <p:cxnSp>
        <p:nvCxnSpPr>
          <p:cNvPr id="49" name="连接符: 肘形 48">
            <a:extLst>
              <a:ext uri="{FF2B5EF4-FFF2-40B4-BE49-F238E27FC236}">
                <a16:creationId xmlns:a16="http://schemas.microsoft.com/office/drawing/2014/main" id="{D29FD24D-666B-A0BA-9B1E-EEF96E3DB01E}"/>
              </a:ext>
            </a:extLst>
          </p:cNvPr>
          <p:cNvCxnSpPr>
            <a:cxnSpLocks/>
          </p:cNvCxnSpPr>
          <p:nvPr/>
        </p:nvCxnSpPr>
        <p:spPr>
          <a:xfrm>
            <a:off x="7190330" y="1766474"/>
            <a:ext cx="549235" cy="475849"/>
          </a:xfrm>
          <a:prstGeom prst="bentConnector3">
            <a:avLst>
              <a:gd name="adj1" fmla="val -1033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182B7C53-1D47-E02C-B0C3-6904DB643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75" y="2473593"/>
            <a:ext cx="3617513" cy="364662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B9EAE70F-097E-9E0E-5B13-524BAED42514}"/>
              </a:ext>
            </a:extLst>
          </p:cNvPr>
          <p:cNvSpPr/>
          <p:nvPr/>
        </p:nvSpPr>
        <p:spPr>
          <a:xfrm>
            <a:off x="4404992" y="3429626"/>
            <a:ext cx="224388" cy="83413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C3BEE07-F594-BD2D-14CA-C84E7251CD38}"/>
              </a:ext>
            </a:extLst>
          </p:cNvPr>
          <p:cNvSpPr/>
          <p:nvPr/>
        </p:nvSpPr>
        <p:spPr>
          <a:xfrm>
            <a:off x="4141051" y="4296906"/>
            <a:ext cx="488330" cy="178868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BC06B86-79A8-3B83-09CC-B5577A6F961A}"/>
              </a:ext>
            </a:extLst>
          </p:cNvPr>
          <p:cNvSpPr/>
          <p:nvPr/>
        </p:nvSpPr>
        <p:spPr>
          <a:xfrm>
            <a:off x="4141051" y="3116911"/>
            <a:ext cx="488329" cy="28375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A21018-56CF-380A-F8AC-9B7FB21A9A33}"/>
              </a:ext>
            </a:extLst>
          </p:cNvPr>
          <p:cNvSpPr/>
          <p:nvPr/>
        </p:nvSpPr>
        <p:spPr>
          <a:xfrm>
            <a:off x="4141051" y="3429000"/>
            <a:ext cx="224388" cy="834758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02F5EDD-CEF9-33D0-36A0-909DB13650D0}"/>
              </a:ext>
            </a:extLst>
          </p:cNvPr>
          <p:cNvSpPr/>
          <p:nvPr/>
        </p:nvSpPr>
        <p:spPr>
          <a:xfrm>
            <a:off x="4644528" y="3116911"/>
            <a:ext cx="488329" cy="28375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A987718-60EE-2D8E-38F9-2EC752F810D2}"/>
              </a:ext>
            </a:extLst>
          </p:cNvPr>
          <p:cNvSpPr txBox="1"/>
          <p:nvPr/>
        </p:nvSpPr>
        <p:spPr>
          <a:xfrm>
            <a:off x="1015296" y="1866897"/>
            <a:ext cx="16986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VGG - 16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550F79C-8FE9-952F-D34F-448CCCE440CD}"/>
              </a:ext>
            </a:extLst>
          </p:cNvPr>
          <p:cNvSpPr txBox="1"/>
          <p:nvPr/>
        </p:nvSpPr>
        <p:spPr>
          <a:xfrm>
            <a:off x="5452382" y="3451716"/>
            <a:ext cx="31932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R</a:t>
            </a:r>
            <a:r>
              <a:rPr lang="en-US" altLang="zh-CN" sz="1600" dirty="0"/>
              <a:t>egion 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P</a:t>
            </a:r>
            <a:r>
              <a:rPr lang="en-US" altLang="zh-CN" sz="1600" dirty="0"/>
              <a:t>roposal 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N</a:t>
            </a:r>
            <a:r>
              <a:rPr lang="en-US" altLang="zh-CN" sz="1600" dirty="0"/>
              <a:t>etwork</a:t>
            </a:r>
          </a:p>
        </p:txBody>
      </p:sp>
    </p:spTree>
    <p:extLst>
      <p:ext uri="{BB962C8B-B14F-4D97-AF65-F5344CB8AC3E}">
        <p14:creationId xmlns:p14="http://schemas.microsoft.com/office/powerpoint/2010/main" val="1112903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6B922CA-6553-018D-942D-2584552BD63E}"/>
              </a:ext>
            </a:extLst>
          </p:cNvPr>
          <p:cNvSpPr txBox="1"/>
          <p:nvPr/>
        </p:nvSpPr>
        <p:spPr>
          <a:xfrm>
            <a:off x="395834" y="262004"/>
            <a:ext cx="30224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Faster R-CNN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105F0E-AF82-1A88-7C56-5158EDF735A5}"/>
              </a:ext>
            </a:extLst>
          </p:cNvPr>
          <p:cNvSpPr txBox="1"/>
          <p:nvPr/>
        </p:nvSpPr>
        <p:spPr>
          <a:xfrm>
            <a:off x="3044720" y="402220"/>
            <a:ext cx="15907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Anchor &amp;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RPN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8E457B-82BF-F0BD-1D58-9B47B0A11514}"/>
              </a:ext>
            </a:extLst>
          </p:cNvPr>
          <p:cNvSpPr/>
          <p:nvPr/>
        </p:nvSpPr>
        <p:spPr>
          <a:xfrm>
            <a:off x="622300" y="1527173"/>
            <a:ext cx="1733550" cy="161925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D961BF2-3F3F-8F26-643D-BEE956B81006}"/>
              </a:ext>
            </a:extLst>
          </p:cNvPr>
          <p:cNvSpPr/>
          <p:nvPr/>
        </p:nvSpPr>
        <p:spPr>
          <a:xfrm>
            <a:off x="1209675" y="2060573"/>
            <a:ext cx="558800" cy="55245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AD11AF8-BB2A-C5C5-7C72-A7BF59AACF13}"/>
              </a:ext>
            </a:extLst>
          </p:cNvPr>
          <p:cNvSpPr/>
          <p:nvPr/>
        </p:nvSpPr>
        <p:spPr>
          <a:xfrm>
            <a:off x="1330325" y="1857373"/>
            <a:ext cx="317500" cy="95885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0D44CC-B2FF-7498-B955-FE9D769EEDA6}"/>
              </a:ext>
            </a:extLst>
          </p:cNvPr>
          <p:cNvSpPr/>
          <p:nvPr/>
        </p:nvSpPr>
        <p:spPr>
          <a:xfrm rot="16200000">
            <a:off x="1330325" y="1857373"/>
            <a:ext cx="317500" cy="95885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6E0786-5909-EB98-F38F-1C8E94B6A0F6}"/>
              </a:ext>
            </a:extLst>
          </p:cNvPr>
          <p:cNvSpPr/>
          <p:nvPr/>
        </p:nvSpPr>
        <p:spPr>
          <a:xfrm>
            <a:off x="936625" y="1781173"/>
            <a:ext cx="1104900" cy="111125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B34CEFD-B1F0-4C64-8ABA-814DE48F03D1}"/>
              </a:ext>
            </a:extLst>
          </p:cNvPr>
          <p:cNvSpPr/>
          <p:nvPr/>
        </p:nvSpPr>
        <p:spPr>
          <a:xfrm>
            <a:off x="819150" y="1692273"/>
            <a:ext cx="1339850" cy="128905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7F52A1-A79C-36E8-6C31-2DD59590AE48}"/>
              </a:ext>
            </a:extLst>
          </p:cNvPr>
          <p:cNvSpPr/>
          <p:nvPr/>
        </p:nvSpPr>
        <p:spPr>
          <a:xfrm>
            <a:off x="2749550" y="2060573"/>
            <a:ext cx="558800" cy="55245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616ED45-9025-779C-20B0-DB5704C6F441}"/>
              </a:ext>
            </a:extLst>
          </p:cNvPr>
          <p:cNvSpPr/>
          <p:nvPr/>
        </p:nvSpPr>
        <p:spPr>
          <a:xfrm>
            <a:off x="3663951" y="1857373"/>
            <a:ext cx="317500" cy="95885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17C72CB-B694-8613-ADFA-6B7F88D17B3D}"/>
              </a:ext>
            </a:extLst>
          </p:cNvPr>
          <p:cNvSpPr/>
          <p:nvPr/>
        </p:nvSpPr>
        <p:spPr>
          <a:xfrm rot="16200000">
            <a:off x="4657727" y="1857373"/>
            <a:ext cx="317500" cy="95885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33CB7B7-5647-997C-192A-71E2BED0323B}"/>
              </a:ext>
            </a:extLst>
          </p:cNvPr>
          <p:cNvSpPr/>
          <p:nvPr/>
        </p:nvSpPr>
        <p:spPr>
          <a:xfrm>
            <a:off x="5629277" y="1781173"/>
            <a:ext cx="1104900" cy="111125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A281E41-BD1E-6140-97B1-0FE2144A3D92}"/>
              </a:ext>
            </a:extLst>
          </p:cNvPr>
          <p:cNvSpPr/>
          <p:nvPr/>
        </p:nvSpPr>
        <p:spPr>
          <a:xfrm>
            <a:off x="7188202" y="1692273"/>
            <a:ext cx="1339850" cy="128905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······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553BDB8-6FDE-929E-B891-97B49F823416}"/>
              </a:ext>
            </a:extLst>
          </p:cNvPr>
          <p:cNvSpPr/>
          <p:nvPr/>
        </p:nvSpPr>
        <p:spPr>
          <a:xfrm>
            <a:off x="742950" y="4388018"/>
            <a:ext cx="1298575" cy="129540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46A791-8BF1-FE7C-50E0-799442BD25E0}"/>
              </a:ext>
            </a:extLst>
          </p:cNvPr>
          <p:cNvSpPr/>
          <p:nvPr/>
        </p:nvSpPr>
        <p:spPr>
          <a:xfrm>
            <a:off x="1285875" y="4222918"/>
            <a:ext cx="965200" cy="95885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EB395BE-6C23-35DE-817B-824B623EA260}"/>
              </a:ext>
            </a:extLst>
          </p:cNvPr>
          <p:cNvSpPr/>
          <p:nvPr/>
        </p:nvSpPr>
        <p:spPr>
          <a:xfrm>
            <a:off x="742949" y="5683418"/>
            <a:ext cx="704851" cy="24765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outputs</a:t>
            </a:r>
            <a:endParaRPr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BA22328-483A-EA46-06D3-BEAA18A20A06}"/>
              </a:ext>
            </a:extLst>
          </p:cNvPr>
          <p:cNvSpPr txBox="1"/>
          <p:nvPr/>
        </p:nvSpPr>
        <p:spPr>
          <a:xfrm>
            <a:off x="2656017" y="4211988"/>
            <a:ext cx="16986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Outputs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AAC476B-4DD7-3D0C-4473-540A399F80BC}"/>
              </a:ext>
            </a:extLst>
          </p:cNvPr>
          <p:cNvSpPr txBox="1"/>
          <p:nvPr/>
        </p:nvSpPr>
        <p:spPr>
          <a:xfrm>
            <a:off x="2846411" y="4584465"/>
            <a:ext cx="16986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是否有物体</a:t>
            </a:r>
            <a:endParaRPr lang="en-US" altLang="zh-CN" sz="16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668C25-6E17-BFA4-A564-68AB99CBBF85}"/>
              </a:ext>
            </a:extLst>
          </p:cNvPr>
          <p:cNvSpPr txBox="1"/>
          <p:nvPr/>
        </p:nvSpPr>
        <p:spPr>
          <a:xfrm>
            <a:off x="2892448" y="4948504"/>
            <a:ext cx="16986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Δs</a:t>
            </a:r>
            <a:endParaRPr lang="en-US" altLang="zh-CN" sz="16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4B3EBCB-1915-5940-3E58-5E7D5CB88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81" t="40716" r="10027" b="49479"/>
          <a:stretch>
            <a:fillRect/>
          </a:stretch>
        </p:blipFill>
        <p:spPr>
          <a:xfrm>
            <a:off x="4648941" y="4614613"/>
            <a:ext cx="730293" cy="67244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DC397414-EB3B-6087-C2A8-AB17DB66C9EE}"/>
              </a:ext>
            </a:extLst>
          </p:cNvPr>
          <p:cNvSpPr txBox="1"/>
          <p:nvPr/>
        </p:nvSpPr>
        <p:spPr>
          <a:xfrm>
            <a:off x="536575" y="986921"/>
            <a:ext cx="16986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Anchor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36090A7-F75F-45CA-631B-B1CA80C55ABE}"/>
              </a:ext>
            </a:extLst>
          </p:cNvPr>
          <p:cNvSpPr txBox="1"/>
          <p:nvPr/>
        </p:nvSpPr>
        <p:spPr>
          <a:xfrm>
            <a:off x="536574" y="3569869"/>
            <a:ext cx="16986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RPN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462C85-B3A5-1E17-5B95-384454557545}"/>
              </a:ext>
            </a:extLst>
          </p:cNvPr>
          <p:cNvSpPr txBox="1"/>
          <p:nvPr/>
        </p:nvSpPr>
        <p:spPr>
          <a:xfrm>
            <a:off x="5468875" y="4276059"/>
            <a:ext cx="6586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在特征图上运算，该特征图为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共享</a:t>
            </a:r>
            <a:r>
              <a:rPr lang="zh-CN" altLang="en-US" sz="1600" dirty="0"/>
              <a:t>特征提取，</a:t>
            </a:r>
            <a:r>
              <a:rPr lang="en-US" altLang="zh-CN" sz="1600" dirty="0"/>
              <a:t>FC</a:t>
            </a:r>
            <a:r>
              <a:rPr lang="zh-CN" altLang="en-US" sz="1600" dirty="0"/>
              <a:t>层也是基于该特征图</a:t>
            </a:r>
            <a:endParaRPr lang="en-US" altLang="zh-CN" sz="16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5985F2D-B242-4C0B-42DA-25B6BC56FF35}"/>
              </a:ext>
            </a:extLst>
          </p:cNvPr>
          <p:cNvSpPr txBox="1"/>
          <p:nvPr/>
        </p:nvSpPr>
        <p:spPr>
          <a:xfrm>
            <a:off x="5468875" y="4790156"/>
            <a:ext cx="6586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锚框是不同尺寸的，相比于缩放图片有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优点</a:t>
            </a:r>
            <a:r>
              <a:rPr lang="zh-CN" altLang="en-US" sz="1600" dirty="0"/>
              <a:t>也有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缺点</a:t>
            </a:r>
            <a:endParaRPr lang="en-US" altLang="zh-CN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E8DE502-701E-66CA-F793-0475667F594D}"/>
              </a:ext>
            </a:extLst>
          </p:cNvPr>
          <p:cNvSpPr txBox="1"/>
          <p:nvPr/>
        </p:nvSpPr>
        <p:spPr>
          <a:xfrm>
            <a:off x="5468875" y="5293324"/>
            <a:ext cx="6586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相较于</a:t>
            </a:r>
            <a:r>
              <a:rPr lang="en-US" altLang="zh-CN" sz="1600" dirty="0"/>
              <a:t>SS</a:t>
            </a:r>
            <a:r>
              <a:rPr lang="zh-CN" altLang="en-US" sz="1600" dirty="0"/>
              <a:t>的框，</a:t>
            </a:r>
            <a:r>
              <a:rPr lang="en-US" altLang="zh-CN" sz="1600" dirty="0"/>
              <a:t>RPN</a:t>
            </a:r>
            <a:r>
              <a:rPr lang="zh-CN" altLang="en-US" sz="1600" dirty="0"/>
              <a:t>可以按阈值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挑选</a:t>
            </a:r>
            <a:r>
              <a:rPr lang="zh-CN" altLang="en-US" sz="1600" dirty="0"/>
              <a:t>框框</a:t>
            </a:r>
            <a:endParaRPr lang="en-US" altLang="zh-CN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A18D324-A6C8-CE80-DAAB-CCEDBFCF759B}"/>
              </a:ext>
            </a:extLst>
          </p:cNvPr>
          <p:cNvSpPr txBox="1"/>
          <p:nvPr/>
        </p:nvSpPr>
        <p:spPr>
          <a:xfrm>
            <a:off x="9642475" y="2197018"/>
            <a:ext cx="133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query?</a:t>
            </a:r>
          </a:p>
        </p:txBody>
      </p:sp>
    </p:spTree>
    <p:extLst>
      <p:ext uri="{BB962C8B-B14F-4D97-AF65-F5344CB8AC3E}">
        <p14:creationId xmlns:p14="http://schemas.microsoft.com/office/powerpoint/2010/main" val="2138996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/>
      <p:bldP spid="20" grpId="0"/>
      <p:bldP spid="21" grpId="0"/>
      <p:bldP spid="24" grpId="0"/>
      <p:bldP spid="25" grpId="0"/>
      <p:bldP spid="26" grpId="0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0E543A1-B734-F700-078E-222C7571E85D}"/>
              </a:ext>
            </a:extLst>
          </p:cNvPr>
          <p:cNvSpPr txBox="1"/>
          <p:nvPr/>
        </p:nvSpPr>
        <p:spPr>
          <a:xfrm>
            <a:off x="395834" y="262004"/>
            <a:ext cx="30224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Faster R-CNN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05F678A-1935-0BA8-3F34-A2D1CF86675A}"/>
              </a:ext>
            </a:extLst>
          </p:cNvPr>
          <p:cNvSpPr txBox="1"/>
          <p:nvPr/>
        </p:nvSpPr>
        <p:spPr>
          <a:xfrm>
            <a:off x="3044720" y="402220"/>
            <a:ext cx="15907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Discuss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252637-4C54-4112-538B-FAE5D1DF1C1D}"/>
              </a:ext>
            </a:extLst>
          </p:cNvPr>
          <p:cNvSpPr txBox="1"/>
          <p:nvPr/>
        </p:nvSpPr>
        <p:spPr>
          <a:xfrm>
            <a:off x="3829432" y="3942263"/>
            <a:ext cx="737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RPN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C16B95-6DDC-3322-8BC3-D68B9A134610}"/>
              </a:ext>
            </a:extLst>
          </p:cNvPr>
          <p:cNvSpPr txBox="1"/>
          <p:nvPr/>
        </p:nvSpPr>
        <p:spPr>
          <a:xfrm>
            <a:off x="610359" y="3942263"/>
            <a:ext cx="2080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Feature Extraction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30546E-4FEE-9DD3-471A-08693573A3A2}"/>
              </a:ext>
            </a:extLst>
          </p:cNvPr>
          <p:cNvSpPr txBox="1"/>
          <p:nvPr/>
        </p:nvSpPr>
        <p:spPr>
          <a:xfrm>
            <a:off x="7859713" y="3950983"/>
            <a:ext cx="160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Classification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5634176-F952-E0B7-B8F7-5E6B94D4818C}"/>
              </a:ext>
            </a:extLst>
          </p:cNvPr>
          <p:cNvCxnSpPr>
            <a:cxnSpLocks/>
          </p:cNvCxnSpPr>
          <p:nvPr/>
        </p:nvCxnSpPr>
        <p:spPr>
          <a:xfrm flipV="1">
            <a:off x="4462390" y="4140759"/>
            <a:ext cx="716270" cy="6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DB288EF-44C1-F029-E9C4-EAC9D9266807}"/>
              </a:ext>
            </a:extLst>
          </p:cNvPr>
          <p:cNvCxnSpPr>
            <a:cxnSpLocks/>
          </p:cNvCxnSpPr>
          <p:nvPr/>
        </p:nvCxnSpPr>
        <p:spPr>
          <a:xfrm>
            <a:off x="6795431" y="4141385"/>
            <a:ext cx="9563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5AC807B-5C9F-A051-0765-ADD381B0937D}"/>
              </a:ext>
            </a:extLst>
          </p:cNvPr>
          <p:cNvSpPr txBox="1"/>
          <p:nvPr/>
        </p:nvSpPr>
        <p:spPr>
          <a:xfrm>
            <a:off x="5224912" y="3950983"/>
            <a:ext cx="1399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75000"/>
                  </a:schemeClr>
                </a:solidFill>
              </a:rPr>
              <a:t>RoI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 Pooling</a:t>
            </a:r>
          </a:p>
        </p:txBody>
      </p: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7FF196D5-43A4-C806-AF95-7054C5116624}"/>
              </a:ext>
            </a:extLst>
          </p:cNvPr>
          <p:cNvCxnSpPr>
            <a:cxnSpLocks/>
            <a:stCxn id="12" idx="0"/>
            <a:endCxn id="9" idx="0"/>
          </p:cNvCxnSpPr>
          <p:nvPr/>
        </p:nvCxnSpPr>
        <p:spPr>
          <a:xfrm rot="5400000" flipH="1" flipV="1">
            <a:off x="4480363" y="2682516"/>
            <a:ext cx="175946" cy="2712880"/>
          </a:xfrm>
          <a:prstGeom prst="bentConnector3">
            <a:avLst>
              <a:gd name="adj1" fmla="val 22992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422164F-85DF-632E-36D8-9C654DE8F222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690776" y="4126929"/>
            <a:ext cx="10924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839E99F9-2056-C160-BB0F-24A239196BE3}"/>
              </a:ext>
            </a:extLst>
          </p:cNvPr>
          <p:cNvSpPr txBox="1"/>
          <p:nvPr/>
        </p:nvSpPr>
        <p:spPr>
          <a:xfrm>
            <a:off x="2729501" y="4126929"/>
            <a:ext cx="9647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shearing</a:t>
            </a:r>
            <a:endParaRPr lang="zh-CN" altLang="en-US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B4ADAB-2118-5F67-EE3C-3996D51EA644}"/>
              </a:ext>
            </a:extLst>
          </p:cNvPr>
          <p:cNvSpPr txBox="1"/>
          <p:nvPr/>
        </p:nvSpPr>
        <p:spPr>
          <a:xfrm>
            <a:off x="7831620" y="4431942"/>
            <a:ext cx="2942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Bounding-box Regression</a:t>
            </a:r>
          </a:p>
        </p:txBody>
      </p: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B4C46229-7303-7F72-BF2E-5D48B705EDAD}"/>
              </a:ext>
            </a:extLst>
          </p:cNvPr>
          <p:cNvCxnSpPr>
            <a:cxnSpLocks/>
          </p:cNvCxnSpPr>
          <p:nvPr/>
        </p:nvCxnSpPr>
        <p:spPr>
          <a:xfrm>
            <a:off x="7282385" y="4140759"/>
            <a:ext cx="549235" cy="475849"/>
          </a:xfrm>
          <a:prstGeom prst="bentConnector3">
            <a:avLst>
              <a:gd name="adj1" fmla="val -1033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09EFC70A-426A-EB4A-CA30-F79904210F5B}"/>
              </a:ext>
            </a:extLst>
          </p:cNvPr>
          <p:cNvSpPr txBox="1"/>
          <p:nvPr/>
        </p:nvSpPr>
        <p:spPr>
          <a:xfrm>
            <a:off x="395834" y="1257972"/>
            <a:ext cx="397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VGG16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better</a:t>
            </a:r>
            <a:r>
              <a:rPr lang="en-US" altLang="zh-CN" dirty="0"/>
              <a:t> than </a:t>
            </a:r>
            <a:r>
              <a:rPr lang="en-US" altLang="zh-CN" dirty="0" err="1"/>
              <a:t>AlexNet</a:t>
            </a:r>
            <a:r>
              <a:rPr lang="zh-CN" altLang="en-US" dirty="0"/>
              <a:t>？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85566E9-54AC-E378-3D5F-CC0EA8A9443F}"/>
              </a:ext>
            </a:extLst>
          </p:cNvPr>
          <p:cNvSpPr txBox="1"/>
          <p:nvPr/>
        </p:nvSpPr>
        <p:spPr>
          <a:xfrm>
            <a:off x="395834" y="1660379"/>
            <a:ext cx="397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Less proposals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still</a:t>
            </a:r>
            <a:r>
              <a:rPr lang="en-US" altLang="zh-CN" dirty="0"/>
              <a:t> perform well?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C23151C-7046-D9DC-0711-05E4A1D2A4E9}"/>
              </a:ext>
            </a:extLst>
          </p:cNvPr>
          <p:cNvSpPr txBox="1"/>
          <p:nvPr/>
        </p:nvSpPr>
        <p:spPr>
          <a:xfrm>
            <a:off x="395834" y="2062786"/>
            <a:ext cx="397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Shared features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matter</a:t>
            </a:r>
            <a:r>
              <a:rPr lang="en-US" altLang="zh-CN" dirty="0"/>
              <a:t>?</a:t>
            </a:r>
            <a:endParaRPr lang="zh-CN" altLang="en-US" dirty="0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5FE8640-C1F2-E675-A1D7-28B0EBF71AE7}"/>
              </a:ext>
            </a:extLst>
          </p:cNvPr>
          <p:cNvCxnSpPr/>
          <p:nvPr/>
        </p:nvCxnSpPr>
        <p:spPr>
          <a:xfrm>
            <a:off x="527050" y="2750019"/>
            <a:ext cx="109537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D1006351-7AB2-DC7D-5BAD-1A2558D1341A}"/>
              </a:ext>
            </a:extLst>
          </p:cNvPr>
          <p:cNvSpPr txBox="1"/>
          <p:nvPr/>
        </p:nvSpPr>
        <p:spPr>
          <a:xfrm>
            <a:off x="395834" y="2967760"/>
            <a:ext cx="5080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But maybe there’s still something </a:t>
            </a:r>
            <a:r>
              <a:rPr lang="en-US" altLang="zh-CN" dirty="0">
                <a:solidFill>
                  <a:srgbClr val="FF0000"/>
                </a:solidFill>
              </a:rPr>
              <a:t>WRONG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6CF7A7-857B-455F-BE03-B01A1D6544B5}"/>
              </a:ext>
            </a:extLst>
          </p:cNvPr>
          <p:cNvSpPr txBox="1"/>
          <p:nvPr/>
        </p:nvSpPr>
        <p:spPr>
          <a:xfrm>
            <a:off x="452808" y="5261474"/>
            <a:ext cx="5930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RoI</a:t>
            </a:r>
            <a:r>
              <a:rPr lang="zh-CN" altLang="en-US" sz="1600" dirty="0"/>
              <a:t> </a:t>
            </a:r>
            <a:r>
              <a:rPr lang="en-US" altLang="zh-CN" sz="1600" dirty="0"/>
              <a:t>Pooling</a:t>
            </a:r>
            <a:r>
              <a:rPr lang="zh-CN" altLang="en-US" sz="1600" dirty="0"/>
              <a:t>部分还是</a:t>
            </a:r>
            <a:r>
              <a:rPr lang="zh-CN" altLang="en-US" sz="1600" dirty="0">
                <a:solidFill>
                  <a:srgbClr val="FF0000"/>
                </a:solidFill>
              </a:rPr>
              <a:t>无法共享</a:t>
            </a:r>
            <a:r>
              <a:rPr lang="zh-CN" altLang="en-US" sz="1600" dirty="0"/>
              <a:t>，此处还是重复计算</a:t>
            </a:r>
            <a:endParaRPr lang="en-US" altLang="zh-CN" sz="16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B986E558-1F5B-63CD-E833-F8CB6A6DD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911" y="1043378"/>
            <a:ext cx="6084991" cy="1558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729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/>
      <p:bldP spid="12" grpId="0"/>
      <p:bldP spid="13" grpId="0"/>
      <p:bldP spid="20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EFA5E-7267-8980-12D6-8E696C001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1271D26-89B7-E073-0723-C31CE637E319}"/>
              </a:ext>
            </a:extLst>
          </p:cNvPr>
          <p:cNvSpPr txBox="1"/>
          <p:nvPr/>
        </p:nvSpPr>
        <p:spPr>
          <a:xfrm>
            <a:off x="770186" y="747752"/>
            <a:ext cx="30224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R-FCN</a:t>
            </a:r>
            <a:endParaRPr lang="zh-CN" altLang="en-US" sz="28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409154-43A7-3234-0E91-015F280E6411}"/>
              </a:ext>
            </a:extLst>
          </p:cNvPr>
          <p:cNvSpPr txBox="1"/>
          <p:nvPr/>
        </p:nvSpPr>
        <p:spPr>
          <a:xfrm>
            <a:off x="2588119" y="2856753"/>
            <a:ext cx="5890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使用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位置敏感得分图</a:t>
            </a:r>
            <a:r>
              <a:rPr lang="zh-CN" altLang="en-US" sz="1600" dirty="0"/>
              <a:t>，配合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全卷积</a:t>
            </a:r>
            <a:r>
              <a:rPr lang="en-US" altLang="zh-CN" sz="1600" dirty="0"/>
              <a:t>…..</a:t>
            </a:r>
            <a:endParaRPr lang="zh-CN" altLang="en-US" sz="16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07BEF08-4DE8-C332-B73D-DA4EB1B0E5A9}"/>
              </a:ext>
            </a:extLst>
          </p:cNvPr>
          <p:cNvSpPr txBox="1"/>
          <p:nvPr/>
        </p:nvSpPr>
        <p:spPr>
          <a:xfrm>
            <a:off x="2588119" y="790071"/>
            <a:ext cx="18083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全部共享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C8D7804-B056-5894-F77D-C1952094EC2C}"/>
              </a:ext>
            </a:extLst>
          </p:cNvPr>
          <p:cNvSpPr txBox="1"/>
          <p:nvPr/>
        </p:nvSpPr>
        <p:spPr>
          <a:xfrm>
            <a:off x="4050279" y="4754907"/>
            <a:ext cx="38754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SHEARING</a:t>
            </a:r>
            <a:r>
              <a:rPr lang="en-US" altLang="zh-CN" sz="2400" dirty="0"/>
              <a:t> Everything</a:t>
            </a:r>
            <a:endParaRPr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6CD270-F5D9-F77A-04CF-49F44F65B13E}"/>
              </a:ext>
            </a:extLst>
          </p:cNvPr>
          <p:cNvSpPr txBox="1"/>
          <p:nvPr/>
        </p:nvSpPr>
        <p:spPr>
          <a:xfrm>
            <a:off x="1262797" y="2264284"/>
            <a:ext cx="5930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RoI</a:t>
            </a:r>
            <a:r>
              <a:rPr lang="zh-CN" altLang="en-US" sz="1600" dirty="0"/>
              <a:t> </a:t>
            </a:r>
            <a:r>
              <a:rPr lang="en-US" altLang="zh-CN" sz="1600" dirty="0"/>
              <a:t>Pooling</a:t>
            </a:r>
            <a:r>
              <a:rPr lang="zh-CN" altLang="en-US" sz="1600" dirty="0"/>
              <a:t>部分还是</a:t>
            </a:r>
            <a:r>
              <a:rPr lang="zh-CN" altLang="en-US" sz="1600" dirty="0">
                <a:solidFill>
                  <a:srgbClr val="FF0000"/>
                </a:solidFill>
              </a:rPr>
              <a:t>无法共享</a:t>
            </a:r>
            <a:r>
              <a:rPr lang="zh-CN" altLang="en-US" sz="1600" dirty="0"/>
              <a:t>，此处还是重复计算</a:t>
            </a:r>
            <a:endParaRPr lang="en-US" altLang="zh-CN" sz="1600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95F7E80F-134E-DAB9-BFEE-6BFABAC4201B}"/>
              </a:ext>
            </a:extLst>
          </p:cNvPr>
          <p:cNvCxnSpPr>
            <a:cxnSpLocks/>
          </p:cNvCxnSpPr>
          <p:nvPr/>
        </p:nvCxnSpPr>
        <p:spPr>
          <a:xfrm>
            <a:off x="1937606" y="3026030"/>
            <a:ext cx="6505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99615FC2-47A9-7864-CDA7-72628C5E957F}"/>
              </a:ext>
            </a:extLst>
          </p:cNvPr>
          <p:cNvSpPr txBox="1"/>
          <p:nvPr/>
        </p:nvSpPr>
        <p:spPr>
          <a:xfrm>
            <a:off x="770186" y="1355610"/>
            <a:ext cx="5930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R</a:t>
            </a:r>
            <a:r>
              <a:rPr lang="en-US" altLang="zh-CN" dirty="0"/>
              <a:t>egion-based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F</a:t>
            </a:r>
            <a:r>
              <a:rPr lang="en-US" altLang="zh-CN" dirty="0"/>
              <a:t>ully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C</a:t>
            </a:r>
            <a:r>
              <a:rPr lang="en-US" altLang="zh-CN" dirty="0"/>
              <a:t>onvolutional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N</a:t>
            </a:r>
            <a:r>
              <a:rPr lang="en-US" altLang="zh-CN" dirty="0"/>
              <a:t>etwork</a:t>
            </a:r>
          </a:p>
        </p:txBody>
      </p:sp>
    </p:spTree>
    <p:extLst>
      <p:ext uri="{BB962C8B-B14F-4D97-AF65-F5344CB8AC3E}">
        <p14:creationId xmlns:p14="http://schemas.microsoft.com/office/powerpoint/2010/main" val="3202540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81A741E-6D8D-5FD7-FB6A-DE07248BB652}"/>
              </a:ext>
            </a:extLst>
          </p:cNvPr>
          <p:cNvSpPr txBox="1"/>
          <p:nvPr/>
        </p:nvSpPr>
        <p:spPr>
          <a:xfrm>
            <a:off x="395834" y="262004"/>
            <a:ext cx="30224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R-FCN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4883D8-B7C8-E78C-4955-7B068D97AD8F}"/>
              </a:ext>
            </a:extLst>
          </p:cNvPr>
          <p:cNvSpPr txBox="1"/>
          <p:nvPr/>
        </p:nvSpPr>
        <p:spPr>
          <a:xfrm>
            <a:off x="1862555" y="354337"/>
            <a:ext cx="9911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Pipeline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5221F62-1E91-B70A-225F-578C8236F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459" y="3626613"/>
            <a:ext cx="5918896" cy="269322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8EFA79B-6F44-FEF0-8D7D-11DBEC1D091A}"/>
              </a:ext>
            </a:extLst>
          </p:cNvPr>
          <p:cNvSpPr txBox="1"/>
          <p:nvPr/>
        </p:nvSpPr>
        <p:spPr>
          <a:xfrm>
            <a:off x="4202154" y="1242020"/>
            <a:ext cx="688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RPN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E0A5CBB-39E3-7AB9-1C8D-7C2BCA1C7057}"/>
              </a:ext>
            </a:extLst>
          </p:cNvPr>
          <p:cNvSpPr txBox="1"/>
          <p:nvPr/>
        </p:nvSpPr>
        <p:spPr>
          <a:xfrm>
            <a:off x="463073" y="1242022"/>
            <a:ext cx="2080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Feature Extraction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E9684A-4C33-7E54-A040-891B4150E231}"/>
              </a:ext>
            </a:extLst>
          </p:cNvPr>
          <p:cNvSpPr txBox="1"/>
          <p:nvPr/>
        </p:nvSpPr>
        <p:spPr>
          <a:xfrm>
            <a:off x="8737817" y="1242020"/>
            <a:ext cx="160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Vote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4A5F8A2-CD5B-3F9D-BD76-C1BA30273F6F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4890973" y="1426686"/>
            <a:ext cx="131980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4AFF01F-765D-3485-C48F-70B8D58F8CFF}"/>
              </a:ext>
            </a:extLst>
          </p:cNvPr>
          <p:cNvCxnSpPr>
            <a:cxnSpLocks/>
            <a:stCxn id="11" idx="3"/>
            <a:endCxn id="8" idx="1"/>
          </p:cNvCxnSpPr>
          <p:nvPr/>
        </p:nvCxnSpPr>
        <p:spPr>
          <a:xfrm>
            <a:off x="7610503" y="1426686"/>
            <a:ext cx="11273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1353CC69-39D9-53D2-90D0-4D90FB95B26B}"/>
              </a:ext>
            </a:extLst>
          </p:cNvPr>
          <p:cNvSpPr txBox="1"/>
          <p:nvPr/>
        </p:nvSpPr>
        <p:spPr>
          <a:xfrm>
            <a:off x="6210775" y="1242020"/>
            <a:ext cx="1399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75000"/>
                  </a:schemeClr>
                </a:solidFill>
              </a:rPr>
              <a:t>RoI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 Pooling</a:t>
            </a: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7C69B914-60FB-ECC1-C6AD-E3D05654543A}"/>
              </a:ext>
            </a:extLst>
          </p:cNvPr>
          <p:cNvCxnSpPr>
            <a:cxnSpLocks/>
            <a:endCxn id="17" idx="1"/>
          </p:cNvCxnSpPr>
          <p:nvPr/>
        </p:nvCxnSpPr>
        <p:spPr>
          <a:xfrm rot="16200000" flipH="1">
            <a:off x="2938642" y="1555732"/>
            <a:ext cx="557571" cy="29948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EAC010-F39E-49D1-885A-6168E51DBB24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 flipV="1">
            <a:off x="2543490" y="1426686"/>
            <a:ext cx="1658664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1306B0F8-F2A8-1289-BC81-070D2814ABAB}"/>
              </a:ext>
            </a:extLst>
          </p:cNvPr>
          <p:cNvSpPr txBox="1"/>
          <p:nvPr/>
        </p:nvSpPr>
        <p:spPr>
          <a:xfrm>
            <a:off x="8767740" y="1799593"/>
            <a:ext cx="2942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Bounding-box Regression</a:t>
            </a:r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0AE752CE-D875-AA48-F535-36EE0536EE2F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8108678" y="1426686"/>
            <a:ext cx="659062" cy="557573"/>
          </a:xfrm>
          <a:prstGeom prst="bentConnector3">
            <a:avLst>
              <a:gd name="adj1" fmla="val 716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642FF02A-E461-18CC-D9B1-8926FEBF70C1}"/>
              </a:ext>
            </a:extLst>
          </p:cNvPr>
          <p:cNvSpPr txBox="1"/>
          <p:nvPr/>
        </p:nvSpPr>
        <p:spPr>
          <a:xfrm>
            <a:off x="3367168" y="1799593"/>
            <a:ext cx="3328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Position Sensitive Score Maps</a:t>
            </a:r>
          </a:p>
        </p:txBody>
      </p: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1F38AF24-C7D5-4407-41FD-0003FEF3665F}"/>
              </a:ext>
            </a:extLst>
          </p:cNvPr>
          <p:cNvCxnSpPr>
            <a:stCxn id="17" idx="3"/>
            <a:endCxn id="11" idx="2"/>
          </p:cNvCxnSpPr>
          <p:nvPr/>
        </p:nvCxnSpPr>
        <p:spPr>
          <a:xfrm flipV="1">
            <a:off x="6695591" y="1611352"/>
            <a:ext cx="215048" cy="37290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7D88114D-B891-B508-BD34-423C7C701A4B}"/>
              </a:ext>
            </a:extLst>
          </p:cNvPr>
          <p:cNvSpPr/>
          <p:nvPr/>
        </p:nvSpPr>
        <p:spPr>
          <a:xfrm>
            <a:off x="4461536" y="2975495"/>
            <a:ext cx="963495" cy="595383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68339AF-3A39-3DB0-B9F5-FBCB5DC2293B}"/>
              </a:ext>
            </a:extLst>
          </p:cNvPr>
          <p:cNvSpPr/>
          <p:nvPr/>
        </p:nvSpPr>
        <p:spPr>
          <a:xfrm>
            <a:off x="558458" y="2975496"/>
            <a:ext cx="2209290" cy="59538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F02F3FE-DB7E-A3AF-6624-0432D28E5B17}"/>
              </a:ext>
            </a:extLst>
          </p:cNvPr>
          <p:cNvSpPr/>
          <p:nvPr/>
        </p:nvSpPr>
        <p:spPr>
          <a:xfrm>
            <a:off x="5483798" y="2975495"/>
            <a:ext cx="612202" cy="28375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9A5929B-6DD5-4043-73A5-BFFC7166A893}"/>
              </a:ext>
            </a:extLst>
          </p:cNvPr>
          <p:cNvSpPr/>
          <p:nvPr/>
        </p:nvSpPr>
        <p:spPr>
          <a:xfrm>
            <a:off x="2818797" y="3287120"/>
            <a:ext cx="1579396" cy="283758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2F339F3-81AF-5CD9-B272-9DB9051A1254}"/>
              </a:ext>
            </a:extLst>
          </p:cNvPr>
          <p:cNvSpPr/>
          <p:nvPr/>
        </p:nvSpPr>
        <p:spPr>
          <a:xfrm>
            <a:off x="5483798" y="3301054"/>
            <a:ext cx="612202" cy="28375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2A47B7D-08E0-6DD9-1BF1-52750101509E}"/>
              </a:ext>
            </a:extLst>
          </p:cNvPr>
          <p:cNvSpPr/>
          <p:nvPr/>
        </p:nvSpPr>
        <p:spPr>
          <a:xfrm>
            <a:off x="2818797" y="2982462"/>
            <a:ext cx="1574820" cy="283758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7041399-7E6E-AA4B-3F34-C7AA4E9A719D}"/>
              </a:ext>
            </a:extLst>
          </p:cNvPr>
          <p:cNvSpPr txBox="1"/>
          <p:nvPr/>
        </p:nvSpPr>
        <p:spPr>
          <a:xfrm>
            <a:off x="7548404" y="3673961"/>
            <a:ext cx="4394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想办法不在</a:t>
            </a:r>
            <a:r>
              <a:rPr lang="en-US" altLang="zh-CN" sz="1600" dirty="0" err="1"/>
              <a:t>RoI</a:t>
            </a:r>
            <a:r>
              <a:rPr lang="en-US" altLang="zh-CN" sz="1600" dirty="0"/>
              <a:t> Pooling</a:t>
            </a:r>
            <a:r>
              <a:rPr lang="zh-CN" altLang="en-US" sz="1600" dirty="0"/>
              <a:t>后做任何网络计算</a:t>
            </a:r>
            <a:endParaRPr lang="en-US" altLang="zh-CN" sz="16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F812494-76C8-382A-E0B4-D03EF0602F27}"/>
              </a:ext>
            </a:extLst>
          </p:cNvPr>
          <p:cNvSpPr txBox="1"/>
          <p:nvPr/>
        </p:nvSpPr>
        <p:spPr>
          <a:xfrm>
            <a:off x="6766971" y="3301054"/>
            <a:ext cx="4525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RoI</a:t>
            </a:r>
            <a:r>
              <a:rPr lang="en-US" altLang="zh-CN" sz="1600" dirty="0"/>
              <a:t> Pooling</a:t>
            </a:r>
            <a:r>
              <a:rPr lang="zh-CN" altLang="en-US" sz="1600" dirty="0"/>
              <a:t>不可避免</a:t>
            </a:r>
            <a:r>
              <a:rPr lang="en-US" altLang="zh-CN" sz="1600" dirty="0"/>
              <a:t>per region</a:t>
            </a:r>
            <a:r>
              <a:rPr lang="zh-CN" altLang="en-US" sz="1600" dirty="0"/>
              <a:t>计算</a:t>
            </a:r>
            <a:endParaRPr lang="en-US" altLang="zh-CN" sz="1600" dirty="0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A3A71383-0EFE-FDC7-FA26-EF885C306BEA}"/>
              </a:ext>
            </a:extLst>
          </p:cNvPr>
          <p:cNvCxnSpPr>
            <a:cxnSpLocks/>
          </p:cNvCxnSpPr>
          <p:nvPr/>
        </p:nvCxnSpPr>
        <p:spPr>
          <a:xfrm>
            <a:off x="6897891" y="3845908"/>
            <a:ext cx="6505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1A252CEE-0930-5B5D-223E-BFBEB4EDC0FD}"/>
              </a:ext>
            </a:extLst>
          </p:cNvPr>
          <p:cNvSpPr txBox="1"/>
          <p:nvPr/>
        </p:nvSpPr>
        <p:spPr>
          <a:xfrm>
            <a:off x="805288" y="1551689"/>
            <a:ext cx="16986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ResNet</a:t>
            </a:r>
            <a:r>
              <a:rPr lang="en-US" altLang="zh-CN" sz="1600" dirty="0"/>
              <a:t> - 101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D398763-C860-A304-030B-F7FF2832081C}"/>
              </a:ext>
            </a:extLst>
          </p:cNvPr>
          <p:cNvSpPr txBox="1"/>
          <p:nvPr/>
        </p:nvSpPr>
        <p:spPr>
          <a:xfrm>
            <a:off x="7159733" y="4775312"/>
            <a:ext cx="4394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Position Sensitive Score Maps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Matters</a:t>
            </a:r>
          </a:p>
        </p:txBody>
      </p:sp>
    </p:spTree>
    <p:extLst>
      <p:ext uri="{BB962C8B-B14F-4D97-AF65-F5344CB8AC3E}">
        <p14:creationId xmlns:p14="http://schemas.microsoft.com/office/powerpoint/2010/main" val="3506805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>
            <a:extLst>
              <a:ext uri="{FF2B5EF4-FFF2-40B4-BE49-F238E27FC236}">
                <a16:creationId xmlns:a16="http://schemas.microsoft.com/office/drawing/2014/main" id="{0034861C-126C-80E1-49A1-B705C9C296C2}"/>
              </a:ext>
            </a:extLst>
          </p:cNvPr>
          <p:cNvSpPr/>
          <p:nvPr/>
        </p:nvSpPr>
        <p:spPr>
          <a:xfrm>
            <a:off x="5946010" y="2309172"/>
            <a:ext cx="730700" cy="69653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solidFill>
              <a:srgbClr val="67431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背景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A9B17C3-CC1E-D883-6784-85BE3E9AB58A}"/>
              </a:ext>
            </a:extLst>
          </p:cNvPr>
          <p:cNvSpPr/>
          <p:nvPr/>
        </p:nvSpPr>
        <p:spPr>
          <a:xfrm>
            <a:off x="5895658" y="2379660"/>
            <a:ext cx="730700" cy="69653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solidFill>
              <a:srgbClr val="67431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船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C79ABA9-527D-505F-90E6-3CA52732EB5A}"/>
              </a:ext>
            </a:extLst>
          </p:cNvPr>
          <p:cNvSpPr/>
          <p:nvPr/>
        </p:nvSpPr>
        <p:spPr>
          <a:xfrm>
            <a:off x="5843250" y="2443555"/>
            <a:ext cx="730700" cy="69653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solidFill>
              <a:srgbClr val="67431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车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37043B-C34A-AFE3-E925-72044A9E692C}"/>
              </a:ext>
            </a:extLst>
          </p:cNvPr>
          <p:cNvSpPr/>
          <p:nvPr/>
        </p:nvSpPr>
        <p:spPr>
          <a:xfrm>
            <a:off x="10002711" y="931139"/>
            <a:ext cx="730700" cy="69653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solidFill>
              <a:srgbClr val="67431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3E22645-9521-DB8C-66C0-20880E2D86D4}"/>
              </a:ext>
            </a:extLst>
          </p:cNvPr>
          <p:cNvSpPr/>
          <p:nvPr/>
        </p:nvSpPr>
        <p:spPr>
          <a:xfrm>
            <a:off x="9935570" y="1015312"/>
            <a:ext cx="730700" cy="69653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solidFill>
              <a:srgbClr val="67431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00C5934-2F5C-DBBE-9AB9-D82E61339E49}"/>
              </a:ext>
            </a:extLst>
          </p:cNvPr>
          <p:cNvSpPr txBox="1"/>
          <p:nvPr/>
        </p:nvSpPr>
        <p:spPr>
          <a:xfrm>
            <a:off x="395834" y="262004"/>
            <a:ext cx="14667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R-FCN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87465E-F9A1-E466-7EF0-E9B413D914FD}"/>
              </a:ext>
            </a:extLst>
          </p:cNvPr>
          <p:cNvSpPr txBox="1"/>
          <p:nvPr/>
        </p:nvSpPr>
        <p:spPr>
          <a:xfrm>
            <a:off x="1862554" y="354337"/>
            <a:ext cx="32494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Position Sensitive Score Maps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DBA3EA8-B51E-A729-84A8-9AADB3EC2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68" y="1021264"/>
            <a:ext cx="5202498" cy="508986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705D356-1F69-8CFB-0C54-1FF80B5F6386}"/>
              </a:ext>
            </a:extLst>
          </p:cNvPr>
          <p:cNvSpPr txBox="1"/>
          <p:nvPr/>
        </p:nvSpPr>
        <p:spPr>
          <a:xfrm>
            <a:off x="7146277" y="5803517"/>
            <a:ext cx="2662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Multi-head Attention?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1FA898-283C-8F66-EBE9-CAFCDF04FA4A}"/>
                  </a:ext>
                </a:extLst>
              </p:cNvPr>
              <p:cNvSpPr txBox="1"/>
              <p:nvPr/>
            </p:nvSpPr>
            <p:spPr>
              <a:xfrm>
                <a:off x="6219267" y="866165"/>
                <a:ext cx="10472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1FA898-283C-8F66-EBE9-CAFCDF04F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9267" y="866165"/>
                <a:ext cx="1047210" cy="276999"/>
              </a:xfrm>
              <a:prstGeom prst="rect">
                <a:avLst/>
              </a:prstGeom>
              <a:blipFill>
                <a:blip r:embed="rId3"/>
                <a:stretch>
                  <a:fillRect l="-5233" r="-7558" b="-34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7E7FAA4F-43E7-8E80-A77A-20D424E85C08}"/>
              </a:ext>
            </a:extLst>
          </p:cNvPr>
          <p:cNvSpPr/>
          <p:nvPr/>
        </p:nvSpPr>
        <p:spPr>
          <a:xfrm>
            <a:off x="8210900" y="692891"/>
            <a:ext cx="730700" cy="69653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41BBA2-E07F-1426-CBE7-FC7A982F13B0}"/>
              </a:ext>
            </a:extLst>
          </p:cNvPr>
          <p:cNvSpPr/>
          <p:nvPr/>
        </p:nvSpPr>
        <p:spPr>
          <a:xfrm>
            <a:off x="8276870" y="752355"/>
            <a:ext cx="730700" cy="6965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362449B-0E67-48B1-08B5-0229B5456166}"/>
              </a:ext>
            </a:extLst>
          </p:cNvPr>
          <p:cNvSpPr/>
          <p:nvPr/>
        </p:nvSpPr>
        <p:spPr>
          <a:xfrm>
            <a:off x="8342840" y="831904"/>
            <a:ext cx="730700" cy="6965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B8DC2F-FFF9-FB97-A70D-F86E85381FD5}"/>
              </a:ext>
            </a:extLst>
          </p:cNvPr>
          <p:cNvSpPr/>
          <p:nvPr/>
        </p:nvSpPr>
        <p:spPr>
          <a:xfrm>
            <a:off x="8411325" y="890341"/>
            <a:ext cx="730700" cy="6965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A042C5-8151-9794-7865-100F74AEA58E}"/>
              </a:ext>
            </a:extLst>
          </p:cNvPr>
          <p:cNvSpPr/>
          <p:nvPr/>
        </p:nvSpPr>
        <p:spPr>
          <a:xfrm>
            <a:off x="8477295" y="949805"/>
            <a:ext cx="730700" cy="69653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CB41859-7D59-70D1-974C-57612069AC8E}"/>
              </a:ext>
            </a:extLst>
          </p:cNvPr>
          <p:cNvSpPr/>
          <p:nvPr/>
        </p:nvSpPr>
        <p:spPr>
          <a:xfrm>
            <a:off x="8543265" y="1029354"/>
            <a:ext cx="730700" cy="69653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B0CDB0D-84ED-A4DE-9A87-3220B87A5E28}"/>
              </a:ext>
            </a:extLst>
          </p:cNvPr>
          <p:cNvSpPr/>
          <p:nvPr/>
        </p:nvSpPr>
        <p:spPr>
          <a:xfrm>
            <a:off x="8609235" y="1099597"/>
            <a:ext cx="730700" cy="69653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3314CD9-B876-9446-226C-CE1BDFDA8FB2}"/>
              </a:ext>
            </a:extLst>
          </p:cNvPr>
          <p:cNvSpPr/>
          <p:nvPr/>
        </p:nvSpPr>
        <p:spPr>
          <a:xfrm>
            <a:off x="8675205" y="1159061"/>
            <a:ext cx="730700" cy="69653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ECA3844-C415-9FFE-74FE-8C7C626EC66A}"/>
              </a:ext>
            </a:extLst>
          </p:cNvPr>
          <p:cNvSpPr/>
          <p:nvPr/>
        </p:nvSpPr>
        <p:spPr>
          <a:xfrm>
            <a:off x="8741175" y="1238610"/>
            <a:ext cx="730700" cy="69653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EFB5C57-5CFE-B822-51FF-4F34CFEADBD6}"/>
              </a:ext>
            </a:extLst>
          </p:cNvPr>
          <p:cNvSpPr txBox="1"/>
          <p:nvPr/>
        </p:nvSpPr>
        <p:spPr>
          <a:xfrm>
            <a:off x="6153296" y="1321151"/>
            <a:ext cx="1435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k=3, C=21</a:t>
            </a:r>
            <a:endParaRPr lang="zh-CN" altLang="en-US" dirty="0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C93435A-5A9B-67D4-B1BA-430FEFE51967}"/>
              </a:ext>
            </a:extLst>
          </p:cNvPr>
          <p:cNvCxnSpPr/>
          <p:nvPr/>
        </p:nvCxnSpPr>
        <p:spPr>
          <a:xfrm>
            <a:off x="8144369" y="1438416"/>
            <a:ext cx="533911" cy="556341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C1F4FB03-A15B-7345-656B-539C691991C9}"/>
              </a:ext>
            </a:extLst>
          </p:cNvPr>
          <p:cNvSpPr txBox="1"/>
          <p:nvPr/>
        </p:nvSpPr>
        <p:spPr>
          <a:xfrm rot="2812131">
            <a:off x="7816072" y="1713321"/>
            <a:ext cx="1094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k x k=9</a:t>
            </a:r>
            <a:r>
              <a:rPr lang="zh-CN" altLang="en-US" sz="1200" dirty="0"/>
              <a:t>区域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2BD9ECE-DEC6-CC3C-72DA-C62107DAE23F}"/>
              </a:ext>
            </a:extLst>
          </p:cNvPr>
          <p:cNvSpPr/>
          <p:nvPr/>
        </p:nvSpPr>
        <p:spPr>
          <a:xfrm>
            <a:off x="9870771" y="1090146"/>
            <a:ext cx="730700" cy="69653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solidFill>
              <a:srgbClr val="67431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C2DEB84-A580-C5D8-818E-D33D17C75C6C}"/>
              </a:ext>
            </a:extLst>
          </p:cNvPr>
          <p:cNvCxnSpPr/>
          <p:nvPr/>
        </p:nvCxnSpPr>
        <p:spPr>
          <a:xfrm flipV="1">
            <a:off x="9870771" y="931139"/>
            <a:ext cx="131940" cy="159007"/>
          </a:xfrm>
          <a:prstGeom prst="line">
            <a:avLst/>
          </a:prstGeom>
          <a:ln>
            <a:solidFill>
              <a:srgbClr val="674319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060A6E5-AE17-0BDC-5948-789BC1C7B3CD}"/>
              </a:ext>
            </a:extLst>
          </p:cNvPr>
          <p:cNvCxnSpPr/>
          <p:nvPr/>
        </p:nvCxnSpPr>
        <p:spPr>
          <a:xfrm flipV="1">
            <a:off x="10601471" y="1627678"/>
            <a:ext cx="131940" cy="159007"/>
          </a:xfrm>
          <a:prstGeom prst="line">
            <a:avLst/>
          </a:prstGeom>
          <a:ln>
            <a:solidFill>
              <a:srgbClr val="674319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2083ABC-D71C-36A8-AA09-0F3EDABB8ED2}"/>
              </a:ext>
            </a:extLst>
          </p:cNvPr>
          <p:cNvCxnSpPr/>
          <p:nvPr/>
        </p:nvCxnSpPr>
        <p:spPr>
          <a:xfrm flipV="1">
            <a:off x="10599517" y="931139"/>
            <a:ext cx="131940" cy="159007"/>
          </a:xfrm>
          <a:prstGeom prst="line">
            <a:avLst/>
          </a:prstGeom>
          <a:ln>
            <a:solidFill>
              <a:srgbClr val="674319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87A1D69F-CA2C-F32A-5EE8-B422832AEEB7}"/>
              </a:ext>
            </a:extLst>
          </p:cNvPr>
          <p:cNvCxnSpPr>
            <a:cxnSpLocks/>
          </p:cNvCxnSpPr>
          <p:nvPr/>
        </p:nvCxnSpPr>
        <p:spPr>
          <a:xfrm flipV="1">
            <a:off x="10665487" y="1648811"/>
            <a:ext cx="122422" cy="147213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1139D252-E7CE-8EA5-E806-C43ED735FB4F}"/>
              </a:ext>
            </a:extLst>
          </p:cNvPr>
          <p:cNvSpPr txBox="1"/>
          <p:nvPr/>
        </p:nvSpPr>
        <p:spPr>
          <a:xfrm>
            <a:off x="10787909" y="1547309"/>
            <a:ext cx="901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20+1</a:t>
            </a:r>
            <a:r>
              <a:rPr lang="zh-CN" altLang="en-US" sz="1600" dirty="0"/>
              <a:t>类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5A90BEE-43B8-A9F7-BCCB-5E48268B0DB8}"/>
              </a:ext>
            </a:extLst>
          </p:cNvPr>
          <p:cNvSpPr/>
          <p:nvPr/>
        </p:nvSpPr>
        <p:spPr>
          <a:xfrm>
            <a:off x="7233722" y="2410277"/>
            <a:ext cx="730700" cy="69653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solidFill>
              <a:srgbClr val="67431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人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AA2DA95-FB3B-6F81-F102-BD836147FF57}"/>
              </a:ext>
            </a:extLst>
          </p:cNvPr>
          <p:cNvSpPr/>
          <p:nvPr/>
        </p:nvSpPr>
        <p:spPr>
          <a:xfrm>
            <a:off x="8090700" y="2408818"/>
            <a:ext cx="730700" cy="69653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solidFill>
              <a:srgbClr val="67431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车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165B4E1-47A5-6EC4-1E75-888ADDD23C68}"/>
              </a:ext>
            </a:extLst>
          </p:cNvPr>
          <p:cNvSpPr/>
          <p:nvPr/>
        </p:nvSpPr>
        <p:spPr>
          <a:xfrm>
            <a:off x="8919166" y="2408818"/>
            <a:ext cx="730700" cy="69653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solidFill>
              <a:srgbClr val="67431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船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41274B5-2BC5-95B9-BBD1-62B36CD33D6C}"/>
              </a:ext>
            </a:extLst>
          </p:cNvPr>
          <p:cNvSpPr/>
          <p:nvPr/>
        </p:nvSpPr>
        <p:spPr>
          <a:xfrm>
            <a:off x="11065466" y="2410045"/>
            <a:ext cx="730700" cy="69653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solidFill>
              <a:srgbClr val="67431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背景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32B8751-ED50-3FEE-D237-ACECD98E8B22}"/>
              </a:ext>
            </a:extLst>
          </p:cNvPr>
          <p:cNvSpPr txBox="1"/>
          <p:nvPr/>
        </p:nvSpPr>
        <p:spPr>
          <a:xfrm>
            <a:off x="10105167" y="2530313"/>
            <a:ext cx="862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…..</a:t>
            </a:r>
            <a:endParaRPr lang="zh-CN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74949C0-91E9-508E-D048-08CC57E308D0}"/>
              </a:ext>
            </a:extLst>
          </p:cNvPr>
          <p:cNvSpPr/>
          <p:nvPr/>
        </p:nvSpPr>
        <p:spPr>
          <a:xfrm>
            <a:off x="8076370" y="3525983"/>
            <a:ext cx="730700" cy="69653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中上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D8B6CAD-9A71-6B0A-7BAC-727D35E819A9}"/>
              </a:ext>
            </a:extLst>
          </p:cNvPr>
          <p:cNvSpPr/>
          <p:nvPr/>
        </p:nvSpPr>
        <p:spPr>
          <a:xfrm>
            <a:off x="7235934" y="3525983"/>
            <a:ext cx="730700" cy="69653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左上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A224A91-A5D1-06D6-D7BF-8ECE452CE1FC}"/>
              </a:ext>
            </a:extLst>
          </p:cNvPr>
          <p:cNvSpPr/>
          <p:nvPr/>
        </p:nvSpPr>
        <p:spPr>
          <a:xfrm>
            <a:off x="8908615" y="3525982"/>
            <a:ext cx="730700" cy="69653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50000"/>
                  </a:schemeClr>
                </a:solidFill>
              </a:rPr>
              <a:t>右上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44A1C71-0DC1-B75E-6D2F-8805825B1582}"/>
              </a:ext>
            </a:extLst>
          </p:cNvPr>
          <p:cNvSpPr/>
          <p:nvPr/>
        </p:nvSpPr>
        <p:spPr>
          <a:xfrm>
            <a:off x="11051136" y="3454579"/>
            <a:ext cx="730700" cy="69653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右下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BDE75F7-0B51-BE99-39D6-A132A8C949B1}"/>
              </a:ext>
            </a:extLst>
          </p:cNvPr>
          <p:cNvSpPr txBox="1"/>
          <p:nvPr/>
        </p:nvSpPr>
        <p:spPr>
          <a:xfrm>
            <a:off x="10090837" y="3574847"/>
            <a:ext cx="862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…..</a:t>
            </a:r>
            <a:endParaRPr lang="zh-CN" altLang="en-US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94C6B4B-8964-0A45-3A62-0A7D5F0E1411}"/>
              </a:ext>
            </a:extLst>
          </p:cNvPr>
          <p:cNvSpPr/>
          <p:nvPr/>
        </p:nvSpPr>
        <p:spPr>
          <a:xfrm>
            <a:off x="9778132" y="831903"/>
            <a:ext cx="1026897" cy="1053959"/>
          </a:xfrm>
          <a:prstGeom prst="rect">
            <a:avLst/>
          </a:prstGeom>
          <a:noFill/>
          <a:ln w="9525" cap="flat" cmpd="sng" algn="ctr">
            <a:solidFill>
              <a:srgbClr val="674319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85A0B9C5-F3ED-4D08-A6AE-0BF937A05E61}"/>
              </a:ext>
            </a:extLst>
          </p:cNvPr>
          <p:cNvCxnSpPr/>
          <p:nvPr/>
        </p:nvCxnSpPr>
        <p:spPr>
          <a:xfrm flipV="1">
            <a:off x="9471875" y="831903"/>
            <a:ext cx="306257" cy="406707"/>
          </a:xfrm>
          <a:prstGeom prst="line">
            <a:avLst/>
          </a:prstGeom>
          <a:ln>
            <a:solidFill>
              <a:srgbClr val="674319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EF8F039D-FFF4-B69B-556B-6A11FADF747B}"/>
              </a:ext>
            </a:extLst>
          </p:cNvPr>
          <p:cNvCxnSpPr>
            <a:cxnSpLocks/>
          </p:cNvCxnSpPr>
          <p:nvPr/>
        </p:nvCxnSpPr>
        <p:spPr>
          <a:xfrm flipV="1">
            <a:off x="9468800" y="1879809"/>
            <a:ext cx="306257" cy="55340"/>
          </a:xfrm>
          <a:prstGeom prst="line">
            <a:avLst/>
          </a:prstGeom>
          <a:ln>
            <a:solidFill>
              <a:srgbClr val="674319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5739A937-7D5C-829C-59AE-4CE775601749}"/>
              </a:ext>
            </a:extLst>
          </p:cNvPr>
          <p:cNvSpPr/>
          <p:nvPr/>
        </p:nvSpPr>
        <p:spPr>
          <a:xfrm>
            <a:off x="5792689" y="2506633"/>
            <a:ext cx="730700" cy="69653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solidFill>
              <a:srgbClr val="67431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人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E70A7B6-BC12-32B8-6727-860E72B8485F}"/>
              </a:ext>
            </a:extLst>
          </p:cNvPr>
          <p:cNvSpPr/>
          <p:nvPr/>
        </p:nvSpPr>
        <p:spPr>
          <a:xfrm>
            <a:off x="6089661" y="3458221"/>
            <a:ext cx="214755" cy="22060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9D7B467-D13D-C57E-4AAD-69A080A8D381}"/>
              </a:ext>
            </a:extLst>
          </p:cNvPr>
          <p:cNvSpPr/>
          <p:nvPr/>
        </p:nvSpPr>
        <p:spPr>
          <a:xfrm>
            <a:off x="5788280" y="3458221"/>
            <a:ext cx="214755" cy="22060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B62D38A-6A27-E516-BD5A-DE6EB73375A7}"/>
              </a:ext>
            </a:extLst>
          </p:cNvPr>
          <p:cNvSpPr/>
          <p:nvPr/>
        </p:nvSpPr>
        <p:spPr>
          <a:xfrm>
            <a:off x="6395040" y="3458221"/>
            <a:ext cx="214755" cy="22060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4AFAF8E-C545-C433-26F6-7D5D28BE3A35}"/>
              </a:ext>
            </a:extLst>
          </p:cNvPr>
          <p:cNvSpPr/>
          <p:nvPr/>
        </p:nvSpPr>
        <p:spPr>
          <a:xfrm>
            <a:off x="6406744" y="4064220"/>
            <a:ext cx="214755" cy="22060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1E32BFF-57C1-1EAF-6536-71A13F5FC938}"/>
              </a:ext>
            </a:extLst>
          </p:cNvPr>
          <p:cNvSpPr/>
          <p:nvPr/>
        </p:nvSpPr>
        <p:spPr>
          <a:xfrm>
            <a:off x="6083778" y="4064220"/>
            <a:ext cx="214755" cy="2206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9A13C86-3D86-E529-48C6-E2B00B7A3B95}"/>
              </a:ext>
            </a:extLst>
          </p:cNvPr>
          <p:cNvSpPr/>
          <p:nvPr/>
        </p:nvSpPr>
        <p:spPr>
          <a:xfrm>
            <a:off x="5785029" y="4064220"/>
            <a:ext cx="214755" cy="2206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6DF2DB9-45EE-A579-E583-3CC9FAEE72BA}"/>
              </a:ext>
            </a:extLst>
          </p:cNvPr>
          <p:cNvSpPr/>
          <p:nvPr/>
        </p:nvSpPr>
        <p:spPr>
          <a:xfrm>
            <a:off x="6402585" y="3769556"/>
            <a:ext cx="214755" cy="2206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6570D5B-AECF-C9FA-FDDF-D72191D527C5}"/>
              </a:ext>
            </a:extLst>
          </p:cNvPr>
          <p:cNvSpPr/>
          <p:nvPr/>
        </p:nvSpPr>
        <p:spPr>
          <a:xfrm>
            <a:off x="6089660" y="3769556"/>
            <a:ext cx="214755" cy="22060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337E6C1-6E52-E2F4-9F0F-C336933FDAC8}"/>
              </a:ext>
            </a:extLst>
          </p:cNvPr>
          <p:cNvSpPr/>
          <p:nvPr/>
        </p:nvSpPr>
        <p:spPr>
          <a:xfrm>
            <a:off x="5788280" y="3775072"/>
            <a:ext cx="214755" cy="22060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4B7808D8-BB3D-3367-E24D-63D85762C156}"/>
              </a:ext>
            </a:extLst>
          </p:cNvPr>
          <p:cNvSpPr txBox="1"/>
          <p:nvPr/>
        </p:nvSpPr>
        <p:spPr>
          <a:xfrm>
            <a:off x="5655684" y="4711107"/>
            <a:ext cx="4394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为什么左上得分图就表示左上？</a:t>
            </a:r>
            <a:endParaRPr lang="en-US" altLang="zh-CN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9CAD485-EBFB-9118-B08C-67C13DA92B23}"/>
              </a:ext>
            </a:extLst>
          </p:cNvPr>
          <p:cNvSpPr txBox="1"/>
          <p:nvPr/>
        </p:nvSpPr>
        <p:spPr>
          <a:xfrm>
            <a:off x="6180555" y="5089640"/>
            <a:ext cx="5456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每次取部分特征作为左上进行合成，训练之后</a:t>
            </a:r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自动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学会关注左上</a:t>
            </a:r>
            <a:endParaRPr lang="en-US" altLang="zh-CN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D2B06D4E-2125-B1D6-21F4-300868A4AA5F}"/>
              </a:ext>
            </a:extLst>
          </p:cNvPr>
          <p:cNvCxnSpPr>
            <a:endCxn id="66" idx="1"/>
          </p:cNvCxnSpPr>
          <p:nvPr/>
        </p:nvCxnSpPr>
        <p:spPr>
          <a:xfrm>
            <a:off x="5751375" y="5243528"/>
            <a:ext cx="42918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121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4" grpId="0" animBg="1"/>
      <p:bldP spid="53" grpId="0" animBg="1"/>
      <p:bldP spid="6" grpId="0"/>
      <p:bldP spid="35" grpId="0" animBg="1"/>
      <p:bldP spid="36" grpId="0" animBg="1"/>
      <p:bldP spid="37" grpId="0" animBg="1"/>
      <p:bldP spid="38" grpId="0" animBg="1"/>
      <p:bldP spid="39" grpId="0"/>
      <p:bldP spid="40" grpId="0" animBg="1"/>
      <p:bldP spid="41" grpId="0" animBg="1"/>
      <p:bldP spid="42" grpId="0" animBg="1"/>
      <p:bldP spid="43" grpId="0" animBg="1"/>
      <p:bldP spid="44" grpId="0"/>
      <p:bldP spid="52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/>
      <p:bldP spid="6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70E87C2-003C-1FFF-C488-3F37162D1CE8}"/>
              </a:ext>
            </a:extLst>
          </p:cNvPr>
          <p:cNvSpPr txBox="1"/>
          <p:nvPr/>
        </p:nvSpPr>
        <p:spPr>
          <a:xfrm>
            <a:off x="428053" y="1141371"/>
            <a:ext cx="397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Backbone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Matters</a:t>
            </a:r>
            <a:r>
              <a:rPr lang="en-US" altLang="zh-CN" dirty="0"/>
              <a:t>?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4848593-3324-2B11-61CB-94D41C55756C}"/>
              </a:ext>
            </a:extLst>
          </p:cNvPr>
          <p:cNvCxnSpPr/>
          <p:nvPr/>
        </p:nvCxnSpPr>
        <p:spPr>
          <a:xfrm>
            <a:off x="477954" y="2811388"/>
            <a:ext cx="109537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80022AF-5F89-AB96-0733-2AF03118A3B4}"/>
              </a:ext>
            </a:extLst>
          </p:cNvPr>
          <p:cNvSpPr txBox="1"/>
          <p:nvPr/>
        </p:nvSpPr>
        <p:spPr>
          <a:xfrm>
            <a:off x="395834" y="262004"/>
            <a:ext cx="14667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R-FCN</a:t>
            </a:r>
            <a:endParaRPr lang="zh-CN" altLang="en-US" sz="28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B0DC46-DAED-BF8F-2828-7A4EE124CCBA}"/>
              </a:ext>
            </a:extLst>
          </p:cNvPr>
          <p:cNvSpPr txBox="1"/>
          <p:nvPr/>
        </p:nvSpPr>
        <p:spPr>
          <a:xfrm>
            <a:off x="1862554" y="354337"/>
            <a:ext cx="32494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Discuss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6E04B3-CD85-0476-F96A-7C3903A20EE6}"/>
              </a:ext>
            </a:extLst>
          </p:cNvPr>
          <p:cNvSpPr txBox="1"/>
          <p:nvPr/>
        </p:nvSpPr>
        <p:spPr>
          <a:xfrm>
            <a:off x="428053" y="2132136"/>
            <a:ext cx="397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and so on….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DB0D947-DDD4-A08C-913B-6FA6648B9AB7}"/>
              </a:ext>
            </a:extLst>
          </p:cNvPr>
          <p:cNvSpPr txBox="1"/>
          <p:nvPr/>
        </p:nvSpPr>
        <p:spPr>
          <a:xfrm>
            <a:off x="428053" y="3061897"/>
            <a:ext cx="5080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Is there still anything </a:t>
            </a:r>
            <a:r>
              <a:rPr lang="en-US" altLang="zh-CN" dirty="0">
                <a:solidFill>
                  <a:srgbClr val="FF0000"/>
                </a:solidFill>
              </a:rPr>
              <a:t>WRONG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898F1F3-1A27-1E70-4EDA-63BB0CD085A5}"/>
              </a:ext>
            </a:extLst>
          </p:cNvPr>
          <p:cNvSpPr txBox="1"/>
          <p:nvPr/>
        </p:nvSpPr>
        <p:spPr>
          <a:xfrm>
            <a:off x="4217035" y="3747580"/>
            <a:ext cx="688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RPN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FDB71C7-06EB-9281-6786-2E35E740D2F1}"/>
              </a:ext>
            </a:extLst>
          </p:cNvPr>
          <p:cNvSpPr txBox="1"/>
          <p:nvPr/>
        </p:nvSpPr>
        <p:spPr>
          <a:xfrm>
            <a:off x="477954" y="3747582"/>
            <a:ext cx="2080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Feature Extraction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F3B88D8-9443-7B73-6617-5587D876DA27}"/>
              </a:ext>
            </a:extLst>
          </p:cNvPr>
          <p:cNvSpPr txBox="1"/>
          <p:nvPr/>
        </p:nvSpPr>
        <p:spPr>
          <a:xfrm>
            <a:off x="8752698" y="3747580"/>
            <a:ext cx="160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Vote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BBB01C1-F85D-9A5F-2C8C-D460A1A5299B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>
            <a:off x="4905854" y="3932246"/>
            <a:ext cx="131980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DD8077A-7863-15FA-861B-E6D1D70A63A8}"/>
              </a:ext>
            </a:extLst>
          </p:cNvPr>
          <p:cNvCxnSpPr>
            <a:cxnSpLocks/>
            <a:stCxn id="18" idx="3"/>
            <a:endCxn id="15" idx="1"/>
          </p:cNvCxnSpPr>
          <p:nvPr/>
        </p:nvCxnSpPr>
        <p:spPr>
          <a:xfrm>
            <a:off x="7625384" y="3932246"/>
            <a:ext cx="11273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3E6A7B85-5525-BE58-462D-A48A5D05F3DB}"/>
              </a:ext>
            </a:extLst>
          </p:cNvPr>
          <p:cNvSpPr txBox="1"/>
          <p:nvPr/>
        </p:nvSpPr>
        <p:spPr>
          <a:xfrm>
            <a:off x="6225656" y="3747580"/>
            <a:ext cx="1399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75000"/>
                  </a:schemeClr>
                </a:solidFill>
              </a:rPr>
              <a:t>RoI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 Pooling</a:t>
            </a:r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D27E5695-7185-CD33-937C-1AAB7B042699}"/>
              </a:ext>
            </a:extLst>
          </p:cNvPr>
          <p:cNvCxnSpPr>
            <a:cxnSpLocks/>
            <a:endCxn id="23" idx="1"/>
          </p:cNvCxnSpPr>
          <p:nvPr/>
        </p:nvCxnSpPr>
        <p:spPr>
          <a:xfrm rot="16200000" flipH="1">
            <a:off x="2953523" y="4061292"/>
            <a:ext cx="557571" cy="29948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A347E7DB-7700-0447-2A9C-C56D9B8BD3F1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 flipV="1">
            <a:off x="2558371" y="3932246"/>
            <a:ext cx="1658664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7FF225BE-A63A-A9C2-7673-4B59E95676E8}"/>
              </a:ext>
            </a:extLst>
          </p:cNvPr>
          <p:cNvSpPr txBox="1"/>
          <p:nvPr/>
        </p:nvSpPr>
        <p:spPr>
          <a:xfrm>
            <a:off x="8782621" y="4305153"/>
            <a:ext cx="2942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Bounding-box Regression</a:t>
            </a:r>
          </a:p>
        </p:txBody>
      </p: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EB23B769-5F4D-ECAD-6D34-34D30D59C4DA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8123559" y="3932246"/>
            <a:ext cx="659062" cy="557573"/>
          </a:xfrm>
          <a:prstGeom prst="bentConnector3">
            <a:avLst>
              <a:gd name="adj1" fmla="val 716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19879CBE-1DF6-DC6A-DFD5-DCD8A4B13843}"/>
              </a:ext>
            </a:extLst>
          </p:cNvPr>
          <p:cNvSpPr txBox="1"/>
          <p:nvPr/>
        </p:nvSpPr>
        <p:spPr>
          <a:xfrm>
            <a:off x="3382049" y="4305153"/>
            <a:ext cx="3328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Position Sensitive Score Maps</a:t>
            </a:r>
          </a:p>
        </p:txBody>
      </p: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25C01562-26CB-7C18-2146-6AEDA16FCBEE}"/>
              </a:ext>
            </a:extLst>
          </p:cNvPr>
          <p:cNvCxnSpPr>
            <a:stCxn id="23" idx="3"/>
            <a:endCxn id="18" idx="2"/>
          </p:cNvCxnSpPr>
          <p:nvPr/>
        </p:nvCxnSpPr>
        <p:spPr>
          <a:xfrm flipV="1">
            <a:off x="6710472" y="4116912"/>
            <a:ext cx="215048" cy="37290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1A8D3E21-DAB2-8D5E-36DB-D1EBA2C0C8A7}"/>
              </a:ext>
            </a:extLst>
          </p:cNvPr>
          <p:cNvSpPr txBox="1"/>
          <p:nvPr/>
        </p:nvSpPr>
        <p:spPr>
          <a:xfrm>
            <a:off x="428053" y="1642388"/>
            <a:ext cx="397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Is MS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COCO</a:t>
            </a:r>
            <a:r>
              <a:rPr lang="en-US" altLang="zh-CN" dirty="0"/>
              <a:t> very hard?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C417C2F-6670-B360-4F36-B0B6ECD5EF1B}"/>
              </a:ext>
            </a:extLst>
          </p:cNvPr>
          <p:cNvSpPr txBox="1"/>
          <p:nvPr/>
        </p:nvSpPr>
        <p:spPr>
          <a:xfrm>
            <a:off x="452808" y="5261474"/>
            <a:ext cx="5930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Can Bounding-box be more </a:t>
            </a:r>
            <a:r>
              <a:rPr lang="en-US" altLang="zh-CN" sz="1600" dirty="0">
                <a:solidFill>
                  <a:srgbClr val="FF0000"/>
                </a:solidFill>
              </a:rPr>
              <a:t>accurate</a:t>
            </a:r>
            <a:r>
              <a:rPr lang="zh-CN" altLang="en-US" sz="1600" dirty="0"/>
              <a:t>？</a:t>
            </a:r>
            <a:endParaRPr lang="en-US" altLang="zh-CN" sz="1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D91FA4E-4DE1-A03A-F0D9-3EF6C2797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397" y="590362"/>
            <a:ext cx="7823973" cy="178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905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8" grpId="0"/>
      <p:bldP spid="21" grpId="0"/>
      <p:bldP spid="23" grpId="0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3D3A8-1D38-4D23-EB38-CC99B652D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29FC3E4-924F-206C-E9D6-6643CCD405D4}"/>
              </a:ext>
            </a:extLst>
          </p:cNvPr>
          <p:cNvSpPr txBox="1"/>
          <p:nvPr/>
        </p:nvSpPr>
        <p:spPr>
          <a:xfrm>
            <a:off x="770186" y="747752"/>
            <a:ext cx="30224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Cascade RCNN</a:t>
            </a:r>
            <a:endParaRPr lang="zh-CN" altLang="en-US" sz="28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7C3754D-0619-402E-C578-411BC09EE8B3}"/>
              </a:ext>
            </a:extLst>
          </p:cNvPr>
          <p:cNvSpPr txBox="1"/>
          <p:nvPr/>
        </p:nvSpPr>
        <p:spPr>
          <a:xfrm>
            <a:off x="2588119" y="2856753"/>
            <a:ext cx="5890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使用</a:t>
            </a:r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逐级</a:t>
            </a:r>
            <a:r>
              <a:rPr lang="zh-CN" altLang="en-US" sz="1600" dirty="0"/>
              <a:t>精确策略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E19924-C9A3-738E-10F4-7FB7BEBD6995}"/>
              </a:ext>
            </a:extLst>
          </p:cNvPr>
          <p:cNvSpPr txBox="1"/>
          <p:nvPr/>
        </p:nvSpPr>
        <p:spPr>
          <a:xfrm>
            <a:off x="3600710" y="778529"/>
            <a:ext cx="18083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逐级精确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F9D3136-EC4D-741F-5383-C81BBB02D1E2}"/>
              </a:ext>
            </a:extLst>
          </p:cNvPr>
          <p:cNvSpPr txBox="1"/>
          <p:nvPr/>
        </p:nvSpPr>
        <p:spPr>
          <a:xfrm>
            <a:off x="4050279" y="4754907"/>
            <a:ext cx="38754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What’s the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DETAILS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B43C862F-2363-EDA2-A088-915A8A0A6C6C}"/>
              </a:ext>
            </a:extLst>
          </p:cNvPr>
          <p:cNvCxnSpPr>
            <a:cxnSpLocks/>
          </p:cNvCxnSpPr>
          <p:nvPr/>
        </p:nvCxnSpPr>
        <p:spPr>
          <a:xfrm>
            <a:off x="1937606" y="3026030"/>
            <a:ext cx="6505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66DE787E-9FE2-0476-2F36-BEDC33E0A624}"/>
              </a:ext>
            </a:extLst>
          </p:cNvPr>
          <p:cNvSpPr txBox="1"/>
          <p:nvPr/>
        </p:nvSpPr>
        <p:spPr>
          <a:xfrm>
            <a:off x="770186" y="1355610"/>
            <a:ext cx="5930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Delving into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High Quality </a:t>
            </a:r>
            <a:r>
              <a:rPr lang="en-US" altLang="zh-CN" dirty="0"/>
              <a:t>Object Detection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127338D-71C9-AB6A-1EC9-97DBB1C36EC6}"/>
              </a:ext>
            </a:extLst>
          </p:cNvPr>
          <p:cNvSpPr txBox="1"/>
          <p:nvPr/>
        </p:nvSpPr>
        <p:spPr>
          <a:xfrm>
            <a:off x="1795100" y="2518199"/>
            <a:ext cx="5930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Bounding-box</a:t>
            </a:r>
            <a:r>
              <a:rPr lang="zh-CN" altLang="en-US" sz="1600" dirty="0"/>
              <a:t>还可以更进一步</a:t>
            </a:r>
            <a:r>
              <a:rPr lang="zh-CN" altLang="en-US" sz="1600" dirty="0">
                <a:solidFill>
                  <a:srgbClr val="FF0000"/>
                </a:solidFill>
              </a:rPr>
              <a:t>精确</a:t>
            </a:r>
            <a:r>
              <a:rPr lang="zh-CN" altLang="en-US" sz="1600" dirty="0"/>
              <a:t>吗？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918577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D576F1EE-5588-1226-28F8-DA1BB8994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522" y="1901182"/>
            <a:ext cx="1817020" cy="3230259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6DABFD9-02A9-139A-C179-2B061CDF17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43" y="1901183"/>
            <a:ext cx="1817020" cy="323025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BCD11F1-AE1F-77B5-28D3-DA3078373E33}"/>
              </a:ext>
            </a:extLst>
          </p:cNvPr>
          <p:cNvSpPr txBox="1"/>
          <p:nvPr/>
        </p:nvSpPr>
        <p:spPr>
          <a:xfrm>
            <a:off x="395834" y="262004"/>
            <a:ext cx="30224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Cascade R-CNN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E70416-FBC7-F075-A89C-2546CB4B5960}"/>
              </a:ext>
            </a:extLst>
          </p:cNvPr>
          <p:cNvSpPr txBox="1"/>
          <p:nvPr/>
        </p:nvSpPr>
        <p:spPr>
          <a:xfrm>
            <a:off x="3418260" y="354337"/>
            <a:ext cx="25956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Figure Out What Matters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BF2640-D40A-4C02-49F8-09FCD74BFCC1}"/>
              </a:ext>
            </a:extLst>
          </p:cNvPr>
          <p:cNvSpPr/>
          <p:nvPr/>
        </p:nvSpPr>
        <p:spPr>
          <a:xfrm>
            <a:off x="646776" y="2114168"/>
            <a:ext cx="1551429" cy="2632759"/>
          </a:xfrm>
          <a:prstGeom prst="rect">
            <a:avLst/>
          </a:prstGeom>
          <a:noFill/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9AEDCCB-D713-0676-35E1-268F9F30474F}"/>
              </a:ext>
            </a:extLst>
          </p:cNvPr>
          <p:cNvSpPr/>
          <p:nvPr/>
        </p:nvSpPr>
        <p:spPr>
          <a:xfrm>
            <a:off x="786902" y="1969684"/>
            <a:ext cx="1551429" cy="2632759"/>
          </a:xfrm>
          <a:prstGeom prst="rect">
            <a:avLst/>
          </a:prstGeom>
          <a:noFill/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0C3C1C-0EF5-2EB6-DE2F-414E58EBA42E}"/>
              </a:ext>
            </a:extLst>
          </p:cNvPr>
          <p:cNvSpPr/>
          <p:nvPr/>
        </p:nvSpPr>
        <p:spPr>
          <a:xfrm>
            <a:off x="716839" y="2199934"/>
            <a:ext cx="1551429" cy="2632759"/>
          </a:xfrm>
          <a:prstGeom prst="rect">
            <a:avLst/>
          </a:prstGeom>
          <a:noFill/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32B888-D6E8-073C-8B29-59C56426A2A8}"/>
              </a:ext>
            </a:extLst>
          </p:cNvPr>
          <p:cNvSpPr/>
          <p:nvPr/>
        </p:nvSpPr>
        <p:spPr>
          <a:xfrm>
            <a:off x="547543" y="2027290"/>
            <a:ext cx="1551429" cy="2632759"/>
          </a:xfrm>
          <a:prstGeom prst="rect">
            <a:avLst/>
          </a:prstGeom>
          <a:noFill/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8E3397B-3A77-715D-5BF0-257B9B2BB604}"/>
              </a:ext>
            </a:extLst>
          </p:cNvPr>
          <p:cNvSpPr/>
          <p:nvPr/>
        </p:nvSpPr>
        <p:spPr>
          <a:xfrm>
            <a:off x="448310" y="2252668"/>
            <a:ext cx="1551429" cy="2632759"/>
          </a:xfrm>
          <a:prstGeom prst="rect">
            <a:avLst/>
          </a:prstGeom>
          <a:noFill/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DFDB1F-5C59-3DBF-F8B3-731E61C2CFC3}"/>
              </a:ext>
            </a:extLst>
          </p:cNvPr>
          <p:cNvSpPr/>
          <p:nvPr/>
        </p:nvSpPr>
        <p:spPr>
          <a:xfrm>
            <a:off x="3021930" y="1901182"/>
            <a:ext cx="1551429" cy="2632759"/>
          </a:xfrm>
          <a:prstGeom prst="rect">
            <a:avLst/>
          </a:prstGeom>
          <a:noFill/>
          <a:ln w="19050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E04C90-223C-18FB-E701-E1BEB25645C2}"/>
              </a:ext>
            </a:extLst>
          </p:cNvPr>
          <p:cNvSpPr/>
          <p:nvPr/>
        </p:nvSpPr>
        <p:spPr>
          <a:xfrm>
            <a:off x="2951867" y="2131432"/>
            <a:ext cx="1551429" cy="2632759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D9AAA47-3FF8-888C-F60A-6C18CCF74395}"/>
              </a:ext>
            </a:extLst>
          </p:cNvPr>
          <p:cNvSpPr/>
          <p:nvPr/>
        </p:nvSpPr>
        <p:spPr>
          <a:xfrm>
            <a:off x="2782571" y="1958788"/>
            <a:ext cx="1551429" cy="2632759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17588DA-4AF8-4CA4-D83F-5BC887A0D0EF}"/>
              </a:ext>
            </a:extLst>
          </p:cNvPr>
          <p:cNvSpPr/>
          <p:nvPr/>
        </p:nvSpPr>
        <p:spPr>
          <a:xfrm>
            <a:off x="2683338" y="2184166"/>
            <a:ext cx="1551429" cy="2632759"/>
          </a:xfrm>
          <a:prstGeom prst="rect">
            <a:avLst/>
          </a:prstGeom>
          <a:noFill/>
          <a:ln w="1905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0843B28-3492-1022-EB0B-EB71AECF36A3}"/>
              </a:ext>
            </a:extLst>
          </p:cNvPr>
          <p:cNvSpPr/>
          <p:nvPr/>
        </p:nvSpPr>
        <p:spPr>
          <a:xfrm>
            <a:off x="2881804" y="2045666"/>
            <a:ext cx="1551429" cy="2632759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76291BD-22FA-8BA6-8008-74A30E3CEDE7}"/>
              </a:ext>
            </a:extLst>
          </p:cNvPr>
          <p:cNvSpPr txBox="1"/>
          <p:nvPr/>
        </p:nvSpPr>
        <p:spPr>
          <a:xfrm>
            <a:off x="448310" y="1199943"/>
            <a:ext cx="5930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训练阶段，大量相近的</a:t>
            </a:r>
            <a:r>
              <a:rPr lang="en-US" altLang="zh-CN" sz="1600" dirty="0"/>
              <a:t>FP</a:t>
            </a:r>
            <a:r>
              <a:rPr lang="zh-CN" altLang="en-US" sz="1600" dirty="0"/>
              <a:t>影响最终效果</a:t>
            </a:r>
            <a:endParaRPr lang="en-US" altLang="zh-CN" sz="16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DF4F8DB-A4B7-8854-FBB5-66981C0BC917}"/>
              </a:ext>
            </a:extLst>
          </p:cNvPr>
          <p:cNvSpPr txBox="1"/>
          <p:nvPr/>
        </p:nvSpPr>
        <p:spPr>
          <a:xfrm>
            <a:off x="4768887" y="2767280"/>
            <a:ext cx="6500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IoU</a:t>
            </a:r>
            <a:endParaRPr lang="en-US" altLang="zh-CN" sz="1600" dirty="0"/>
          </a:p>
          <a:p>
            <a:r>
              <a:rPr lang="en-US" altLang="zh-CN" sz="1600" dirty="0">
                <a:solidFill>
                  <a:srgbClr val="FF0000"/>
                </a:solidFill>
              </a:rPr>
              <a:t>0.9</a:t>
            </a:r>
          </a:p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</a:rPr>
              <a:t>0.8</a:t>
            </a:r>
          </a:p>
          <a:p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0.8</a:t>
            </a:r>
          </a:p>
          <a:p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</a:rPr>
              <a:t>0.7</a:t>
            </a:r>
          </a:p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0.7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970BFCAA-D604-164A-6845-1A4D279A65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185" y="1813721"/>
            <a:ext cx="2943636" cy="2572109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2F4D5F06-0B8D-2A37-C185-9CA243D71026}"/>
              </a:ext>
            </a:extLst>
          </p:cNvPr>
          <p:cNvSpPr txBox="1"/>
          <p:nvPr/>
        </p:nvSpPr>
        <p:spPr>
          <a:xfrm>
            <a:off x="6344744" y="4813116"/>
            <a:ext cx="5060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对于</a:t>
            </a:r>
            <a:r>
              <a:rPr lang="en-US" altLang="zh-CN" sz="1600" dirty="0"/>
              <a:t>regressor</a:t>
            </a:r>
            <a:r>
              <a:rPr lang="zh-CN" altLang="en-US" sz="1600" dirty="0"/>
              <a:t>来说，在较低</a:t>
            </a:r>
            <a:r>
              <a:rPr lang="en-US" altLang="zh-CN" sz="1600" dirty="0" err="1"/>
              <a:t>IoU</a:t>
            </a:r>
            <a:r>
              <a:rPr lang="zh-CN" altLang="en-US" sz="1600" dirty="0"/>
              <a:t>时总能起到正面效果</a:t>
            </a:r>
            <a:endParaRPr lang="en-US" altLang="zh-CN" sz="16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9F28CAE-FADE-A8DE-9601-BC297C72A579}"/>
              </a:ext>
            </a:extLst>
          </p:cNvPr>
          <p:cNvSpPr txBox="1"/>
          <p:nvPr/>
        </p:nvSpPr>
        <p:spPr>
          <a:xfrm>
            <a:off x="1754285" y="5607833"/>
            <a:ext cx="180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Quality</a:t>
            </a:r>
            <a:r>
              <a:rPr lang="en-US" altLang="zh-CN" sz="1600" dirty="0"/>
              <a:t> Matters !</a:t>
            </a:r>
          </a:p>
        </p:txBody>
      </p:sp>
    </p:spTree>
    <p:extLst>
      <p:ext uri="{BB962C8B-B14F-4D97-AF65-F5344CB8AC3E}">
        <p14:creationId xmlns:p14="http://schemas.microsoft.com/office/powerpoint/2010/main" val="3470562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49EEB52-C114-3A3B-6124-576B15507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281" y="4375016"/>
            <a:ext cx="3232411" cy="194279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E87FCA4-2B25-FD94-F7C5-CCBF3AF814BA}"/>
              </a:ext>
            </a:extLst>
          </p:cNvPr>
          <p:cNvSpPr txBox="1"/>
          <p:nvPr/>
        </p:nvSpPr>
        <p:spPr>
          <a:xfrm>
            <a:off x="395834" y="262004"/>
            <a:ext cx="30224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Cascade R-CNN</a:t>
            </a:r>
            <a:endParaRPr lang="zh-CN" altLang="en-US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D5B097-A078-CC48-9D00-5782C2C93073}"/>
              </a:ext>
            </a:extLst>
          </p:cNvPr>
          <p:cNvSpPr txBox="1"/>
          <p:nvPr/>
        </p:nvSpPr>
        <p:spPr>
          <a:xfrm>
            <a:off x="3418260" y="354337"/>
            <a:ext cx="25956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Pipeline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1F10653-22F4-890B-90DD-3F88DDFEC1E0}"/>
              </a:ext>
            </a:extLst>
          </p:cNvPr>
          <p:cNvSpPr txBox="1"/>
          <p:nvPr/>
        </p:nvSpPr>
        <p:spPr>
          <a:xfrm>
            <a:off x="3737377" y="1567978"/>
            <a:ext cx="737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RPN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1D97570-55C7-B073-C4AB-30D03A2AED64}"/>
              </a:ext>
            </a:extLst>
          </p:cNvPr>
          <p:cNvSpPr txBox="1"/>
          <p:nvPr/>
        </p:nvSpPr>
        <p:spPr>
          <a:xfrm>
            <a:off x="518304" y="1567978"/>
            <a:ext cx="2080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Feature Extraction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09B941-4466-74BB-DE54-8558713A5ADB}"/>
              </a:ext>
            </a:extLst>
          </p:cNvPr>
          <p:cNvSpPr txBox="1"/>
          <p:nvPr/>
        </p:nvSpPr>
        <p:spPr>
          <a:xfrm>
            <a:off x="7767658" y="1576698"/>
            <a:ext cx="160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Classification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1FFC266B-BB41-9354-C0F2-C12001D3C20B}"/>
              </a:ext>
            </a:extLst>
          </p:cNvPr>
          <p:cNvCxnSpPr>
            <a:cxnSpLocks/>
          </p:cNvCxnSpPr>
          <p:nvPr/>
        </p:nvCxnSpPr>
        <p:spPr>
          <a:xfrm flipV="1">
            <a:off x="4370335" y="1766474"/>
            <a:ext cx="716270" cy="6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CE05CA63-606A-2C68-88A8-9E44581C360E}"/>
              </a:ext>
            </a:extLst>
          </p:cNvPr>
          <p:cNvCxnSpPr>
            <a:cxnSpLocks/>
          </p:cNvCxnSpPr>
          <p:nvPr/>
        </p:nvCxnSpPr>
        <p:spPr>
          <a:xfrm>
            <a:off x="6703376" y="1767100"/>
            <a:ext cx="9563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88149F38-A9BA-2E03-CBE2-3A6A0AB6E325}"/>
              </a:ext>
            </a:extLst>
          </p:cNvPr>
          <p:cNvSpPr txBox="1"/>
          <p:nvPr/>
        </p:nvSpPr>
        <p:spPr>
          <a:xfrm>
            <a:off x="5132857" y="1576698"/>
            <a:ext cx="1399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75000"/>
                  </a:schemeClr>
                </a:solidFill>
              </a:rPr>
              <a:t>RoI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 Pooling</a:t>
            </a:r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A253B25B-C3AC-B7D2-F73F-C148635C0236}"/>
              </a:ext>
            </a:extLst>
          </p:cNvPr>
          <p:cNvCxnSpPr>
            <a:cxnSpLocks/>
            <a:endCxn id="24" idx="0"/>
          </p:cNvCxnSpPr>
          <p:nvPr/>
        </p:nvCxnSpPr>
        <p:spPr>
          <a:xfrm rot="5400000" flipH="1" flipV="1">
            <a:off x="4388308" y="308231"/>
            <a:ext cx="175946" cy="2712880"/>
          </a:xfrm>
          <a:prstGeom prst="bentConnector3">
            <a:avLst>
              <a:gd name="adj1" fmla="val 22992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4A8022D-DFFE-46C2-EF8D-A4D42F9E72E4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2598721" y="1752644"/>
            <a:ext cx="10924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F816CC33-76B3-B836-50D0-2E6BC2E5C680}"/>
              </a:ext>
            </a:extLst>
          </p:cNvPr>
          <p:cNvSpPr txBox="1"/>
          <p:nvPr/>
        </p:nvSpPr>
        <p:spPr>
          <a:xfrm>
            <a:off x="7739565" y="2057657"/>
            <a:ext cx="2942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Bounding-box Regression</a:t>
            </a:r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03BBCE8A-688F-CDC1-F5D4-6B3BCEC2DFBE}"/>
              </a:ext>
            </a:extLst>
          </p:cNvPr>
          <p:cNvCxnSpPr>
            <a:cxnSpLocks/>
          </p:cNvCxnSpPr>
          <p:nvPr/>
        </p:nvCxnSpPr>
        <p:spPr>
          <a:xfrm>
            <a:off x="7190330" y="1766474"/>
            <a:ext cx="549235" cy="475849"/>
          </a:xfrm>
          <a:prstGeom prst="bentConnector3">
            <a:avLst>
              <a:gd name="adj1" fmla="val -1033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0819A0FF-2FEC-14B7-D5CF-22735098E1E1}"/>
              </a:ext>
            </a:extLst>
          </p:cNvPr>
          <p:cNvCxnSpPr>
            <a:stCxn id="28" idx="3"/>
            <a:endCxn id="24" idx="2"/>
          </p:cNvCxnSpPr>
          <p:nvPr/>
        </p:nvCxnSpPr>
        <p:spPr>
          <a:xfrm flipH="1" flipV="1">
            <a:off x="5832721" y="1946030"/>
            <a:ext cx="4849487" cy="296293"/>
          </a:xfrm>
          <a:prstGeom prst="bentConnector4">
            <a:avLst>
              <a:gd name="adj1" fmla="val -4714"/>
              <a:gd name="adj2" fmla="val -148319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1A9E6360-4C3E-D85A-2376-909FE42C10BB}"/>
              </a:ext>
            </a:extLst>
          </p:cNvPr>
          <p:cNvCxnSpPr>
            <a:stCxn id="21" idx="3"/>
            <a:endCxn id="28" idx="3"/>
          </p:cNvCxnSpPr>
          <p:nvPr/>
        </p:nvCxnSpPr>
        <p:spPr>
          <a:xfrm>
            <a:off x="9370419" y="1761364"/>
            <a:ext cx="1311789" cy="480959"/>
          </a:xfrm>
          <a:prstGeom prst="bentConnector3">
            <a:avLst>
              <a:gd name="adj1" fmla="val 117427"/>
            </a:avLst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4EA528E6-B8EC-4DF3-61AF-98CBF1AD8B29}"/>
              </a:ext>
            </a:extLst>
          </p:cNvPr>
          <p:cNvCxnSpPr>
            <a:cxnSpLocks/>
          </p:cNvCxnSpPr>
          <p:nvPr/>
        </p:nvCxnSpPr>
        <p:spPr>
          <a:xfrm>
            <a:off x="10902462" y="1761364"/>
            <a:ext cx="62718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FE4BEB69-9B5F-E6E0-532B-03FAD4C232C4}"/>
              </a:ext>
            </a:extLst>
          </p:cNvPr>
          <p:cNvSpPr/>
          <p:nvPr/>
        </p:nvSpPr>
        <p:spPr>
          <a:xfrm rot="5400000">
            <a:off x="2493611" y="3522338"/>
            <a:ext cx="224388" cy="83413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F2A4F2C-BEF2-19C3-EC47-F0A36ED408BB}"/>
              </a:ext>
            </a:extLst>
          </p:cNvPr>
          <p:cNvSpPr/>
          <p:nvPr/>
        </p:nvSpPr>
        <p:spPr>
          <a:xfrm rot="5400000">
            <a:off x="1021010" y="2912232"/>
            <a:ext cx="494940" cy="178868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EC5C001-7175-6EFE-ADED-5AA2174857A9}"/>
              </a:ext>
            </a:extLst>
          </p:cNvPr>
          <p:cNvSpPr/>
          <p:nvPr/>
        </p:nvSpPr>
        <p:spPr>
          <a:xfrm rot="5400000">
            <a:off x="2959169" y="3670168"/>
            <a:ext cx="488329" cy="28375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CB41D94-BBD6-7B9A-62E5-C5355B4C3D9A}"/>
              </a:ext>
            </a:extLst>
          </p:cNvPr>
          <p:cNvSpPr/>
          <p:nvPr/>
        </p:nvSpPr>
        <p:spPr>
          <a:xfrm rot="5400000">
            <a:off x="2493924" y="3262697"/>
            <a:ext cx="224388" cy="834758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B775B67-CCFA-2165-12AC-20A57616294D}"/>
              </a:ext>
            </a:extLst>
          </p:cNvPr>
          <p:cNvSpPr/>
          <p:nvPr/>
        </p:nvSpPr>
        <p:spPr>
          <a:xfrm rot="5400000">
            <a:off x="3366639" y="2985041"/>
            <a:ext cx="224388" cy="83475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0835450-7826-1EB0-8A79-9316F8816254}"/>
              </a:ext>
            </a:extLst>
          </p:cNvPr>
          <p:cNvSpPr/>
          <p:nvPr/>
        </p:nvSpPr>
        <p:spPr>
          <a:xfrm rot="5400000">
            <a:off x="3534109" y="3414670"/>
            <a:ext cx="224389" cy="499816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0C95362-C5F3-CA0D-ABFD-F37B9C24AE83}"/>
              </a:ext>
            </a:extLst>
          </p:cNvPr>
          <p:cNvSpPr/>
          <p:nvPr/>
        </p:nvSpPr>
        <p:spPr>
          <a:xfrm rot="5400000">
            <a:off x="3845108" y="3392512"/>
            <a:ext cx="488329" cy="28375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5CB7B64-9AD0-270F-F03A-BFB2C4BDE41F}"/>
              </a:ext>
            </a:extLst>
          </p:cNvPr>
          <p:cNvSpPr/>
          <p:nvPr/>
        </p:nvSpPr>
        <p:spPr>
          <a:xfrm rot="5400000">
            <a:off x="4222092" y="2725262"/>
            <a:ext cx="224388" cy="83475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CE4E2AD-5B8C-2C3A-5506-37F9E4DBF3B0}"/>
              </a:ext>
            </a:extLst>
          </p:cNvPr>
          <p:cNvSpPr/>
          <p:nvPr/>
        </p:nvSpPr>
        <p:spPr>
          <a:xfrm rot="5400000">
            <a:off x="4389562" y="3154891"/>
            <a:ext cx="224389" cy="499816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F0A23C7-BBAC-9732-1542-972B517CADFB}"/>
              </a:ext>
            </a:extLst>
          </p:cNvPr>
          <p:cNvSpPr/>
          <p:nvPr/>
        </p:nvSpPr>
        <p:spPr>
          <a:xfrm rot="5400000">
            <a:off x="4700561" y="3132733"/>
            <a:ext cx="488329" cy="28375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C700963B-4BA0-8B16-0C92-D9BB6C5CBE80}"/>
              </a:ext>
            </a:extLst>
          </p:cNvPr>
          <p:cNvCxnSpPr>
            <a:cxnSpLocks/>
          </p:cNvCxnSpPr>
          <p:nvPr/>
        </p:nvCxnSpPr>
        <p:spPr>
          <a:xfrm>
            <a:off x="3418260" y="3944815"/>
            <a:ext cx="7434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CD31FCAF-A790-787F-BB5A-DFBACA646A40}"/>
              </a:ext>
            </a:extLst>
          </p:cNvPr>
          <p:cNvCxnSpPr>
            <a:cxnSpLocks/>
          </p:cNvCxnSpPr>
          <p:nvPr/>
        </p:nvCxnSpPr>
        <p:spPr>
          <a:xfrm>
            <a:off x="4323183" y="3663462"/>
            <a:ext cx="7434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39CFEC28-A217-76BD-1B3C-9186DA3C90E2}"/>
              </a:ext>
            </a:extLst>
          </p:cNvPr>
          <p:cNvCxnSpPr>
            <a:cxnSpLocks/>
          </p:cNvCxnSpPr>
          <p:nvPr/>
        </p:nvCxnSpPr>
        <p:spPr>
          <a:xfrm>
            <a:off x="5184829" y="3290226"/>
            <a:ext cx="7434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F5F73090-4DBC-3FC7-28CD-CE35D8A62477}"/>
              </a:ext>
            </a:extLst>
          </p:cNvPr>
          <p:cNvSpPr txBox="1"/>
          <p:nvPr/>
        </p:nvSpPr>
        <p:spPr>
          <a:xfrm>
            <a:off x="6703376" y="3580275"/>
            <a:ext cx="39144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5">
                    <a:lumMod val="75000"/>
                  </a:schemeClr>
                </a:solidFill>
              </a:rPr>
              <a:t>级联，逐级</a:t>
            </a:r>
            <a:r>
              <a:rPr lang="zh-CN" altLang="en-US" sz="1600" dirty="0"/>
              <a:t>精确检测框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6EB790D-4F37-BC7E-8809-6DB8E0ECA408}"/>
              </a:ext>
            </a:extLst>
          </p:cNvPr>
          <p:cNvSpPr txBox="1"/>
          <p:nvPr/>
        </p:nvSpPr>
        <p:spPr>
          <a:xfrm>
            <a:off x="7480898" y="3970598"/>
            <a:ext cx="38355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将“精修”做得更大</a:t>
            </a:r>
            <a:endParaRPr lang="en-US" altLang="zh-CN" sz="1600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4BCC96C-F109-505C-DC11-1F562F83E5E0}"/>
              </a:ext>
            </a:extLst>
          </p:cNvPr>
          <p:cNvCxnSpPr>
            <a:cxnSpLocks/>
          </p:cNvCxnSpPr>
          <p:nvPr/>
        </p:nvCxnSpPr>
        <p:spPr>
          <a:xfrm>
            <a:off x="6830385" y="4142545"/>
            <a:ext cx="6505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513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754E546-94E4-FD88-C0B1-62DD9E1E908C}"/>
              </a:ext>
            </a:extLst>
          </p:cNvPr>
          <p:cNvSpPr txBox="1"/>
          <p:nvPr/>
        </p:nvSpPr>
        <p:spPr>
          <a:xfrm>
            <a:off x="360624" y="1363634"/>
            <a:ext cx="4407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Model or Data</a:t>
            </a:r>
            <a:r>
              <a:rPr lang="en-US" altLang="zh-CN" dirty="0"/>
              <a:t>? This is a question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A23690C-4D50-DBA1-33D3-200B3F27D375}"/>
              </a:ext>
            </a:extLst>
          </p:cNvPr>
          <p:cNvCxnSpPr/>
          <p:nvPr/>
        </p:nvCxnSpPr>
        <p:spPr>
          <a:xfrm>
            <a:off x="395834" y="3543718"/>
            <a:ext cx="109537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78233BB4-03E9-0984-1A31-6136E4CD8538}"/>
              </a:ext>
            </a:extLst>
          </p:cNvPr>
          <p:cNvSpPr txBox="1"/>
          <p:nvPr/>
        </p:nvSpPr>
        <p:spPr>
          <a:xfrm>
            <a:off x="395834" y="262004"/>
            <a:ext cx="30224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Cascade R-CNN</a:t>
            </a:r>
            <a:endParaRPr lang="zh-CN" altLang="en-US" sz="28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6293274-5435-992B-0077-099D193CE4E8}"/>
              </a:ext>
            </a:extLst>
          </p:cNvPr>
          <p:cNvSpPr txBox="1"/>
          <p:nvPr/>
        </p:nvSpPr>
        <p:spPr>
          <a:xfrm>
            <a:off x="3418260" y="354337"/>
            <a:ext cx="25956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Discuss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488203D-3B1F-E6CC-80D1-3F2C92C0B361}"/>
              </a:ext>
            </a:extLst>
          </p:cNvPr>
          <p:cNvSpPr txBox="1"/>
          <p:nvPr/>
        </p:nvSpPr>
        <p:spPr>
          <a:xfrm>
            <a:off x="498377" y="3705360"/>
            <a:ext cx="5080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Can Object Detection be more </a:t>
            </a:r>
            <a:r>
              <a:rPr lang="en-US" altLang="zh-CN" dirty="0">
                <a:solidFill>
                  <a:srgbClr val="FF0000"/>
                </a:solidFill>
              </a:rPr>
              <a:t>ELEGANT?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4F7D7EE-CFDD-D7AC-56DE-3C52553E0A20}"/>
              </a:ext>
            </a:extLst>
          </p:cNvPr>
          <p:cNvSpPr txBox="1"/>
          <p:nvPr/>
        </p:nvSpPr>
        <p:spPr>
          <a:xfrm>
            <a:off x="449282" y="5600846"/>
            <a:ext cx="39144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</a:rPr>
              <a:t>IoU</a:t>
            </a:r>
            <a:r>
              <a:rPr lang="en-US" altLang="zh-CN" sz="1600" dirty="0">
                <a:solidFill>
                  <a:srgbClr val="FF0000"/>
                </a:solidFill>
              </a:rPr>
              <a:t> threshold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CN" sz="1600" dirty="0"/>
              <a:t>is a big trouble?</a:t>
            </a:r>
            <a:endParaRPr lang="zh-CN" altLang="en-US" sz="16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70AFA75-E1C7-4932-0F53-2C327428C3F2}"/>
              </a:ext>
            </a:extLst>
          </p:cNvPr>
          <p:cNvSpPr txBox="1"/>
          <p:nvPr/>
        </p:nvSpPr>
        <p:spPr>
          <a:xfrm>
            <a:off x="449282" y="5960594"/>
            <a:ext cx="4358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Is </a:t>
            </a:r>
            <a:r>
              <a:rPr lang="en-US" altLang="zh-CN" sz="1600" dirty="0">
                <a:solidFill>
                  <a:srgbClr val="FF0000"/>
                </a:solidFill>
              </a:rPr>
              <a:t>stacking different modules</a:t>
            </a:r>
            <a:r>
              <a:rPr lang="en-US" altLang="zh-CN" sz="1600" dirty="0"/>
              <a:t> a good design?</a:t>
            </a:r>
            <a:endParaRPr lang="zh-CN" altLang="en-US" sz="16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7B8824C-96F7-6B81-DE04-7FC9ECC0FC83}"/>
              </a:ext>
            </a:extLst>
          </p:cNvPr>
          <p:cNvSpPr txBox="1"/>
          <p:nvPr/>
        </p:nvSpPr>
        <p:spPr>
          <a:xfrm>
            <a:off x="3777365" y="4560770"/>
            <a:ext cx="737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RPN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0BF093-776F-7EE6-23E1-57C04E66C0A0}"/>
              </a:ext>
            </a:extLst>
          </p:cNvPr>
          <p:cNvSpPr txBox="1"/>
          <p:nvPr/>
        </p:nvSpPr>
        <p:spPr>
          <a:xfrm>
            <a:off x="558292" y="4560770"/>
            <a:ext cx="2080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Feature Extraction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0C3ADA-A339-5CAC-425C-872249CEC5C7}"/>
              </a:ext>
            </a:extLst>
          </p:cNvPr>
          <p:cNvSpPr txBox="1"/>
          <p:nvPr/>
        </p:nvSpPr>
        <p:spPr>
          <a:xfrm>
            <a:off x="7807646" y="4569490"/>
            <a:ext cx="1602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Classification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2C01014-4CA3-04A9-7FF7-B9AE8A4CABC0}"/>
              </a:ext>
            </a:extLst>
          </p:cNvPr>
          <p:cNvCxnSpPr>
            <a:cxnSpLocks/>
          </p:cNvCxnSpPr>
          <p:nvPr/>
        </p:nvCxnSpPr>
        <p:spPr>
          <a:xfrm flipV="1">
            <a:off x="4410323" y="4759266"/>
            <a:ext cx="716270" cy="6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14B9A79-FDDB-ADF6-B797-31A805665974}"/>
              </a:ext>
            </a:extLst>
          </p:cNvPr>
          <p:cNvCxnSpPr>
            <a:cxnSpLocks/>
          </p:cNvCxnSpPr>
          <p:nvPr/>
        </p:nvCxnSpPr>
        <p:spPr>
          <a:xfrm>
            <a:off x="6743364" y="4759892"/>
            <a:ext cx="9563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D311AAFB-0B1E-DA01-D067-6A263D627425}"/>
              </a:ext>
            </a:extLst>
          </p:cNvPr>
          <p:cNvSpPr txBox="1"/>
          <p:nvPr/>
        </p:nvSpPr>
        <p:spPr>
          <a:xfrm>
            <a:off x="5172845" y="4569490"/>
            <a:ext cx="1399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accent6">
                    <a:lumMod val="75000"/>
                  </a:schemeClr>
                </a:solidFill>
              </a:rPr>
              <a:t>RoI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 Pooling</a:t>
            </a:r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9A2D5F86-5ACA-D261-A206-5EBC49F8A42E}"/>
              </a:ext>
            </a:extLst>
          </p:cNvPr>
          <p:cNvCxnSpPr>
            <a:cxnSpLocks/>
            <a:endCxn id="18" idx="0"/>
          </p:cNvCxnSpPr>
          <p:nvPr/>
        </p:nvCxnSpPr>
        <p:spPr>
          <a:xfrm rot="5400000" flipH="1" flipV="1">
            <a:off x="4428296" y="3301023"/>
            <a:ext cx="175946" cy="2712880"/>
          </a:xfrm>
          <a:prstGeom prst="bentConnector3">
            <a:avLst>
              <a:gd name="adj1" fmla="val 22992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EBDDC1E-D937-48ED-1555-A866223557EE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2638709" y="4745436"/>
            <a:ext cx="10924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0BE50830-882E-AC60-7C7B-193EAB6BC4A2}"/>
              </a:ext>
            </a:extLst>
          </p:cNvPr>
          <p:cNvSpPr txBox="1"/>
          <p:nvPr/>
        </p:nvSpPr>
        <p:spPr>
          <a:xfrm>
            <a:off x="7779553" y="5050449"/>
            <a:ext cx="2942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Bounding-box Regression</a:t>
            </a:r>
          </a:p>
        </p:txBody>
      </p: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349C06A1-2FC2-8259-D603-17BAF5DFBC79}"/>
              </a:ext>
            </a:extLst>
          </p:cNvPr>
          <p:cNvCxnSpPr>
            <a:cxnSpLocks/>
          </p:cNvCxnSpPr>
          <p:nvPr/>
        </p:nvCxnSpPr>
        <p:spPr>
          <a:xfrm>
            <a:off x="7230318" y="4759266"/>
            <a:ext cx="549235" cy="475849"/>
          </a:xfrm>
          <a:prstGeom prst="bentConnector3">
            <a:avLst>
              <a:gd name="adj1" fmla="val -1033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88CBBB9C-FBA7-9A1C-D981-E7CA5A730375}"/>
              </a:ext>
            </a:extLst>
          </p:cNvPr>
          <p:cNvCxnSpPr>
            <a:stCxn id="21" idx="3"/>
            <a:endCxn id="18" idx="2"/>
          </p:cNvCxnSpPr>
          <p:nvPr/>
        </p:nvCxnSpPr>
        <p:spPr>
          <a:xfrm flipH="1" flipV="1">
            <a:off x="5872709" y="4938822"/>
            <a:ext cx="4849487" cy="296293"/>
          </a:xfrm>
          <a:prstGeom prst="bentConnector4">
            <a:avLst>
              <a:gd name="adj1" fmla="val -4714"/>
              <a:gd name="adj2" fmla="val -148319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2AEFB6E0-5244-F4A8-5B5B-3EF0C81B13EF}"/>
              </a:ext>
            </a:extLst>
          </p:cNvPr>
          <p:cNvCxnSpPr>
            <a:stCxn id="15" idx="3"/>
            <a:endCxn id="21" idx="3"/>
          </p:cNvCxnSpPr>
          <p:nvPr/>
        </p:nvCxnSpPr>
        <p:spPr>
          <a:xfrm>
            <a:off x="9410407" y="4754156"/>
            <a:ext cx="1311789" cy="480959"/>
          </a:xfrm>
          <a:prstGeom prst="bentConnector3">
            <a:avLst>
              <a:gd name="adj1" fmla="val 117427"/>
            </a:avLst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FCF810E-468F-C846-9082-906416B517CB}"/>
              </a:ext>
            </a:extLst>
          </p:cNvPr>
          <p:cNvCxnSpPr>
            <a:cxnSpLocks/>
          </p:cNvCxnSpPr>
          <p:nvPr/>
        </p:nvCxnSpPr>
        <p:spPr>
          <a:xfrm>
            <a:off x="10942450" y="4754156"/>
            <a:ext cx="62718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8D607900-083F-6D3B-F03E-D6D42F696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880" y="829052"/>
            <a:ext cx="7398725" cy="256398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741A7F4-6EE7-B808-B2FB-E8128E730FAA}"/>
              </a:ext>
            </a:extLst>
          </p:cNvPr>
          <p:cNvSpPr txBox="1"/>
          <p:nvPr/>
        </p:nvSpPr>
        <p:spPr>
          <a:xfrm>
            <a:off x="417363" y="1979737"/>
            <a:ext cx="397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and so on….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95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8" grpId="0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403AC99-159B-851C-C9A9-3AE1C171F160}"/>
              </a:ext>
            </a:extLst>
          </p:cNvPr>
          <p:cNvSpPr txBox="1"/>
          <p:nvPr/>
        </p:nvSpPr>
        <p:spPr>
          <a:xfrm>
            <a:off x="1402287" y="1342100"/>
            <a:ext cx="38754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Much more </a:t>
            </a: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</a:rPr>
              <a:t>elegant</a:t>
            </a:r>
            <a:r>
              <a:rPr lang="en-US" altLang="zh-CN" sz="2800" dirty="0"/>
              <a:t>…..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CA0303-54EC-439B-94BD-F044D2617ACF}"/>
              </a:ext>
            </a:extLst>
          </p:cNvPr>
          <p:cNvSpPr txBox="1"/>
          <p:nvPr/>
        </p:nvSpPr>
        <p:spPr>
          <a:xfrm>
            <a:off x="5445491" y="2782669"/>
            <a:ext cx="17040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accent2">
                    <a:lumMod val="75000"/>
                  </a:schemeClr>
                </a:solidFill>
              </a:rPr>
              <a:t>DETR</a:t>
            </a:r>
            <a:endParaRPr lang="zh-CN" altLang="en-US" sz="36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270A13-BA46-9451-5251-C33E65F6FB4C}"/>
              </a:ext>
            </a:extLst>
          </p:cNvPr>
          <p:cNvSpPr txBox="1"/>
          <p:nvPr/>
        </p:nvSpPr>
        <p:spPr>
          <a:xfrm>
            <a:off x="4246744" y="3429000"/>
            <a:ext cx="50261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</a:rPr>
              <a:t>De</a:t>
            </a:r>
            <a:r>
              <a:rPr lang="en-US" altLang="zh-CN" sz="2800" dirty="0"/>
              <a:t>tection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</a:rPr>
              <a:t> Tr</a:t>
            </a:r>
            <a:r>
              <a:rPr lang="en-US" altLang="zh-CN" sz="2800" dirty="0"/>
              <a:t>ansformer</a:t>
            </a:r>
          </a:p>
        </p:txBody>
      </p:sp>
    </p:spTree>
    <p:extLst>
      <p:ext uri="{BB962C8B-B14F-4D97-AF65-F5344CB8AC3E}">
        <p14:creationId xmlns:p14="http://schemas.microsoft.com/office/powerpoint/2010/main" val="4276413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9411338-98D5-4188-C3CB-76D3DC822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875" y="302755"/>
            <a:ext cx="2924749" cy="292474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BDC3678-91CD-9A73-3DB1-1D6B11227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2522" y="302754"/>
            <a:ext cx="2924749" cy="292474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0398DE6-129C-BA1C-13E1-E324C43A4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875" y="3429000"/>
            <a:ext cx="2924749" cy="292474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D11CB69-4B0E-F3C5-4280-DA3B374DD7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2522" y="3429000"/>
            <a:ext cx="2924749" cy="292474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188A612-5973-51F3-DC09-B531EED96F57}"/>
              </a:ext>
            </a:extLst>
          </p:cNvPr>
          <p:cNvSpPr txBox="1"/>
          <p:nvPr/>
        </p:nvSpPr>
        <p:spPr>
          <a:xfrm>
            <a:off x="818792" y="5241149"/>
            <a:ext cx="4246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看起来该模型学习到了“交叉”模式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936924D-FECE-CB9A-18CE-2F6FF5E85C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081" y="1247519"/>
            <a:ext cx="4806169" cy="292943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7986380-EF57-2A94-BE07-A02094EA63CA}"/>
              </a:ext>
            </a:extLst>
          </p:cNvPr>
          <p:cNvSpPr txBox="1"/>
          <p:nvPr/>
        </p:nvSpPr>
        <p:spPr>
          <a:xfrm>
            <a:off x="1749019" y="675111"/>
            <a:ext cx="2924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增加了若干负样本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94D9BBE-02C2-B34C-C05A-A8091260093F}"/>
              </a:ext>
            </a:extLst>
          </p:cNvPr>
          <p:cNvCxnSpPr/>
          <p:nvPr/>
        </p:nvCxnSpPr>
        <p:spPr>
          <a:xfrm>
            <a:off x="4842024" y="5425815"/>
            <a:ext cx="8591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56E48714-02A5-235D-EBA4-2B9C994FAF1C}"/>
              </a:ext>
            </a:extLst>
          </p:cNvPr>
          <p:cNvSpPr/>
          <p:nvPr/>
        </p:nvSpPr>
        <p:spPr>
          <a:xfrm>
            <a:off x="5817793" y="190244"/>
            <a:ext cx="6321020" cy="6296468"/>
          </a:xfrm>
          <a:prstGeom prst="rect">
            <a:avLst/>
          </a:prstGeom>
          <a:noFill/>
          <a:ln w="19050" cap="flat" cmpd="sng" algn="ctr">
            <a:solidFill>
              <a:schemeClr val="accent5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3867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A688FFE-FFB3-3FA1-DDE6-6D676A176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87" y="205108"/>
            <a:ext cx="6999959" cy="344624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50CC1AD-4FBA-6F66-0238-DD444AB64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321" y="3577035"/>
            <a:ext cx="10995305" cy="307585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C13E247-445D-AC82-5C88-E37327EC760F}"/>
              </a:ext>
            </a:extLst>
          </p:cNvPr>
          <p:cNvSpPr txBox="1"/>
          <p:nvPr/>
        </p:nvSpPr>
        <p:spPr>
          <a:xfrm>
            <a:off x="7634319" y="828483"/>
            <a:ext cx="1564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Loss</a:t>
            </a:r>
            <a:r>
              <a:rPr lang="en-US" altLang="zh-CN" dirty="0"/>
              <a:t> Matters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55A70F6-9A5D-E0D6-5C75-42DD6AF8118B}"/>
              </a:ext>
            </a:extLst>
          </p:cNvPr>
          <p:cNvSpPr txBox="1"/>
          <p:nvPr/>
        </p:nvSpPr>
        <p:spPr>
          <a:xfrm>
            <a:off x="7634318" y="1222457"/>
            <a:ext cx="2552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</a:rPr>
              <a:t>Multi-scale</a:t>
            </a:r>
            <a:r>
              <a:rPr lang="en-US" altLang="zh-CN" dirty="0"/>
              <a:t> Matters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A9680A-085E-3C90-3F94-CF0396BF9CC7}"/>
              </a:ext>
            </a:extLst>
          </p:cNvPr>
          <p:cNvSpPr txBox="1"/>
          <p:nvPr/>
        </p:nvSpPr>
        <p:spPr>
          <a:xfrm>
            <a:off x="7634317" y="1636440"/>
            <a:ext cx="2552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高斯核的缺点</a:t>
            </a:r>
          </a:p>
        </p:txBody>
      </p:sp>
    </p:spTree>
    <p:extLst>
      <p:ext uri="{BB962C8B-B14F-4D97-AF65-F5344CB8AC3E}">
        <p14:creationId xmlns:p14="http://schemas.microsoft.com/office/powerpoint/2010/main" val="2281476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纸张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2375</TotalTime>
  <Words>1565</Words>
  <Application>Microsoft Office PowerPoint</Application>
  <PresentationFormat>宽屏</PresentationFormat>
  <Paragraphs>413</Paragraphs>
  <Slides>30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6" baseType="lpstr">
      <vt:lpstr>等线</vt:lpstr>
      <vt:lpstr>Arial</vt:lpstr>
      <vt:lpstr>Cambria Math</vt:lpstr>
      <vt:lpstr>Rockwell</vt:lpstr>
      <vt:lpstr>Tw Cen MT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浩宇 曹</dc:creator>
  <cp:lastModifiedBy>浩宇 曹</cp:lastModifiedBy>
  <cp:revision>1192</cp:revision>
  <dcterms:created xsi:type="dcterms:W3CDTF">2025-11-03T03:05:48Z</dcterms:created>
  <dcterms:modified xsi:type="dcterms:W3CDTF">2025-11-23T10:58:41Z</dcterms:modified>
</cp:coreProperties>
</file>