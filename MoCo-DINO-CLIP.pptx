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273" r:id="rId3"/>
    <p:sldId id="276" r:id="rId4"/>
    <p:sldId id="274" r:id="rId5"/>
    <p:sldId id="278" r:id="rId6"/>
    <p:sldId id="279" r:id="rId7"/>
    <p:sldId id="283" r:id="rId8"/>
    <p:sldId id="284" r:id="rId9"/>
    <p:sldId id="277" r:id="rId10"/>
    <p:sldId id="286" r:id="rId11"/>
    <p:sldId id="282" r:id="rId12"/>
    <p:sldId id="281" r:id="rId13"/>
    <p:sldId id="285" r:id="rId14"/>
    <p:sldId id="287" r:id="rId15"/>
    <p:sldId id="288" r:id="rId16"/>
    <p:sldId id="275" r:id="rId17"/>
    <p:sldId id="289" r:id="rId18"/>
    <p:sldId id="290" r:id="rId19"/>
    <p:sldId id="291" r:id="rId20"/>
    <p:sldId id="271" r:id="rId21"/>
  </p:sldIdLst>
  <p:sldSz cx="18288000" cy="10287000"/>
  <p:notesSz cx="6858000" cy="9144000"/>
  <p:embeddedFontLst>
    <p:embeddedFont>
      <p:font typeface="Cambria Math" panose="02040503050406030204" pitchFamily="18" charset="0"/>
      <p:regular r:id="rId24"/>
    </p:embeddedFont>
    <p:embeddedFont>
      <p:font typeface="等线" panose="02010600030101010101" pitchFamily="2" charset="-122"/>
      <p:regular r:id="rId25"/>
      <p:bold r:id="rId26"/>
    </p:embeddedFont>
    <p:embeddedFont>
      <p:font typeface="微软雅黑" panose="020B0503020204020204" pitchFamily="34" charset="-122"/>
      <p:regular r:id="rId27"/>
      <p:bold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3" autoAdjust="0"/>
    <p:restoredTop sz="92648" autoAdjust="0"/>
  </p:normalViewPr>
  <p:slideViewPr>
    <p:cSldViewPr>
      <p:cViewPr>
        <p:scale>
          <a:sx n="66" d="100"/>
          <a:sy n="66" d="100"/>
        </p:scale>
        <p:origin x="412" y="-1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notesViewPr>
    <p:cSldViewPr>
      <p:cViewPr varScale="1">
        <p:scale>
          <a:sx n="77" d="100"/>
          <a:sy n="77" d="100"/>
        </p:scale>
        <p:origin x="3196" y="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62BE3163-EF13-2E42-9B99-059139B268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CEC3E51-0273-2440-3835-EC25E84CCA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B39196-184C-434E-9772-CE7C607CBD80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659AB9B-C257-8EF0-5FE8-4C0F98EA2AD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EB3529D-537A-369A-1161-5AF7E5240C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33AE11-47A6-42E4-8645-E7C059E349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047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C9F9D5-4B0B-4D26-8B03-2FACCEEE4A9A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44FFD7-DD7C-496F-93CE-101236A68E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9439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20000" y="-1708981"/>
            <a:ext cx="12098391" cy="19893220"/>
            <a:chOff x="0" y="0"/>
            <a:chExt cx="16131187" cy="26524293"/>
          </a:xfrm>
        </p:grpSpPr>
        <p:grpSp>
          <p:nvGrpSpPr>
            <p:cNvPr id="3" name="Group 3"/>
            <p:cNvGrpSpPr/>
            <p:nvPr/>
          </p:nvGrpSpPr>
          <p:grpSpPr>
            <a:xfrm rot="5446382">
              <a:off x="-5091318" y="5373342"/>
              <a:ext cx="26313823" cy="15777609"/>
              <a:chOff x="0" y="0"/>
              <a:chExt cx="24650700" cy="1478041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4650700" cy="15079036"/>
              </a:xfrm>
              <a:custGeom>
                <a:avLst/>
                <a:gdLst/>
                <a:ahLst/>
                <a:cxnLst/>
                <a:rect l="l" t="t" r="r" b="b"/>
                <a:pathLst>
                  <a:path w="24650700" h="15079036">
                    <a:moveTo>
                      <a:pt x="38100" y="197076"/>
                    </a:moveTo>
                    <a:lnTo>
                      <a:pt x="0" y="11627494"/>
                    </a:lnTo>
                    <a:cubicBezTo>
                      <a:pt x="1600200" y="10324602"/>
                      <a:pt x="4445000" y="7510792"/>
                      <a:pt x="7353300" y="8014431"/>
                    </a:cubicBezTo>
                    <a:cubicBezTo>
                      <a:pt x="10261600" y="8518070"/>
                      <a:pt x="14566900" y="14003358"/>
                      <a:pt x="17449800" y="14649329"/>
                    </a:cubicBezTo>
                    <a:cubicBezTo>
                      <a:pt x="20332700" y="15079036"/>
                      <a:pt x="22402800" y="13423077"/>
                      <a:pt x="24650700" y="11890263"/>
                    </a:cubicBezTo>
                    <a:lnTo>
                      <a:pt x="24574500" y="0"/>
                    </a:lnTo>
                    <a:lnTo>
                      <a:pt x="38100" y="197076"/>
                    </a:lnTo>
                    <a:close/>
                  </a:path>
                </a:pathLst>
              </a:custGeom>
              <a:solidFill>
                <a:srgbClr val="FFFFFF">
                  <a:alpha val="42745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 rot="5446382">
              <a:off x="495564" y="6766782"/>
              <a:ext cx="19326365" cy="11587971"/>
              <a:chOff x="0" y="0"/>
              <a:chExt cx="24650700" cy="1478041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4650700" cy="15079036"/>
              </a:xfrm>
              <a:custGeom>
                <a:avLst/>
                <a:gdLst/>
                <a:ahLst/>
                <a:cxnLst/>
                <a:rect l="l" t="t" r="r" b="b"/>
                <a:pathLst>
                  <a:path w="24650700" h="15079036">
                    <a:moveTo>
                      <a:pt x="38100" y="197076"/>
                    </a:moveTo>
                    <a:lnTo>
                      <a:pt x="0" y="11627494"/>
                    </a:lnTo>
                    <a:cubicBezTo>
                      <a:pt x="1600200" y="10324602"/>
                      <a:pt x="4445000" y="7510792"/>
                      <a:pt x="7353300" y="8014431"/>
                    </a:cubicBezTo>
                    <a:cubicBezTo>
                      <a:pt x="10261600" y="8518070"/>
                      <a:pt x="14566900" y="14003358"/>
                      <a:pt x="17449800" y="14649329"/>
                    </a:cubicBezTo>
                    <a:cubicBezTo>
                      <a:pt x="20332700" y="15079036"/>
                      <a:pt x="22402800" y="13423077"/>
                      <a:pt x="24650700" y="11890263"/>
                    </a:cubicBezTo>
                    <a:lnTo>
                      <a:pt x="24574500" y="0"/>
                    </a:lnTo>
                    <a:lnTo>
                      <a:pt x="38100" y="197076"/>
                    </a:lnTo>
                    <a:close/>
                  </a:path>
                </a:pathLst>
              </a:custGeom>
              <a:solidFill>
                <a:srgbClr val="2F3E6B">
                  <a:alpha val="27843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 rot="5446382">
              <a:off x="3112336" y="8104553"/>
              <a:ext cx="15299441" cy="8848135"/>
              <a:chOff x="0" y="0"/>
              <a:chExt cx="24650700" cy="1425625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4650700" cy="14554881"/>
              </a:xfrm>
              <a:custGeom>
                <a:avLst/>
                <a:gdLst/>
                <a:ahLst/>
                <a:cxnLst/>
                <a:rect l="l" t="t" r="r" b="b"/>
                <a:pathLst>
                  <a:path w="24650700" h="14554881">
                    <a:moveTo>
                      <a:pt x="38100" y="190087"/>
                    </a:moveTo>
                    <a:lnTo>
                      <a:pt x="0" y="11215150"/>
                    </a:lnTo>
                    <a:cubicBezTo>
                      <a:pt x="1600200" y="9958462"/>
                      <a:pt x="4445000" y="7244438"/>
                      <a:pt x="7353300" y="7730217"/>
                    </a:cubicBezTo>
                    <a:cubicBezTo>
                      <a:pt x="10261600" y="8215995"/>
                      <a:pt x="14566900" y="13506759"/>
                      <a:pt x="17449800" y="14129821"/>
                    </a:cubicBezTo>
                    <a:cubicBezTo>
                      <a:pt x="20332700" y="14554881"/>
                      <a:pt x="22402800" y="12947056"/>
                      <a:pt x="24650700" y="11468600"/>
                    </a:cubicBezTo>
                    <a:lnTo>
                      <a:pt x="24574500" y="0"/>
                    </a:lnTo>
                    <a:lnTo>
                      <a:pt x="38100" y="190087"/>
                    </a:lnTo>
                    <a:close/>
                  </a:path>
                </a:pathLst>
              </a:custGeom>
              <a:solidFill>
                <a:srgbClr val="2F3E6B">
                  <a:alpha val="64706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5446382">
              <a:off x="4242112" y="8591595"/>
              <a:ext cx="14273890" cy="8558538"/>
              <a:chOff x="0" y="0"/>
              <a:chExt cx="24650700" cy="1478041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4650700" cy="15079036"/>
              </a:xfrm>
              <a:custGeom>
                <a:avLst/>
                <a:gdLst/>
                <a:ahLst/>
                <a:cxnLst/>
                <a:rect l="l" t="t" r="r" b="b"/>
                <a:pathLst>
                  <a:path w="24650700" h="15079036">
                    <a:moveTo>
                      <a:pt x="38100" y="197076"/>
                    </a:moveTo>
                    <a:lnTo>
                      <a:pt x="0" y="11627494"/>
                    </a:lnTo>
                    <a:cubicBezTo>
                      <a:pt x="1600200" y="10324602"/>
                      <a:pt x="4445000" y="7510792"/>
                      <a:pt x="7353300" y="8014431"/>
                    </a:cubicBezTo>
                    <a:cubicBezTo>
                      <a:pt x="10261600" y="8518070"/>
                      <a:pt x="14566900" y="14003358"/>
                      <a:pt x="17449800" y="14649329"/>
                    </a:cubicBezTo>
                    <a:cubicBezTo>
                      <a:pt x="20332700" y="15079036"/>
                      <a:pt x="22402800" y="13423077"/>
                      <a:pt x="24650700" y="11890263"/>
                    </a:cubicBezTo>
                    <a:lnTo>
                      <a:pt x="24574500" y="0"/>
                    </a:lnTo>
                    <a:lnTo>
                      <a:pt x="38100" y="197076"/>
                    </a:lnTo>
                    <a:close/>
                  </a:path>
                </a:pathLst>
              </a:custGeom>
              <a:solidFill>
                <a:srgbClr val="2F3E6B"/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9" name="TextBox 19"/>
          <p:cNvSpPr txBox="1"/>
          <p:nvPr/>
        </p:nvSpPr>
        <p:spPr>
          <a:xfrm>
            <a:off x="533400" y="7840084"/>
            <a:ext cx="3906515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07"/>
              </a:lnSpc>
            </a:pPr>
            <a:r>
              <a:rPr lang="zh-CN" altLang="en-US" sz="320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"/>
                <a:sym typeface="思源黑体 1"/>
              </a:rPr>
              <a:t>汇报人</a:t>
            </a:r>
            <a:r>
              <a:rPr lang="en-US" sz="320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"/>
                <a:sym typeface="思源黑体 1"/>
              </a:rPr>
              <a:t>姓名：韩腾毅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828241" y="4000500"/>
            <a:ext cx="6382559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5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grandir Wide Bold"/>
                <a:sym typeface="Agrandir Wide Bold"/>
              </a:rPr>
              <a:t>MoCo,DINO,CLIP</a:t>
            </a:r>
            <a:endParaRPr lang="en-US" sz="5221" b="1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grandir Wide Bold"/>
              <a:sym typeface="Agrandir Wide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978513" y="7840084"/>
            <a:ext cx="3548958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07"/>
              </a:lnSpc>
            </a:pPr>
            <a:r>
              <a:rPr lang="en-US" sz="320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"/>
                <a:sym typeface="思源黑体 1"/>
              </a:rPr>
              <a:t>指导老师：刘芳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FF402BBB-15E9-3BEB-23DC-F38F78E7E6FB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98449D9A-729D-9F8F-40DF-51812D2DA86D}"/>
              </a:ext>
            </a:extLst>
          </p:cNvPr>
          <p:cNvSpPr txBox="1"/>
          <p:nvPr/>
        </p:nvSpPr>
        <p:spPr>
          <a:xfrm>
            <a:off x="457200" y="727214"/>
            <a:ext cx="7391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Self-Supervised Learning</a:t>
            </a:r>
            <a:endParaRPr lang="zh-CN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A71B6AC-D1E4-DB7D-A72A-DE51330C9590}"/>
              </a:ext>
            </a:extLst>
          </p:cNvPr>
          <p:cNvSpPr txBox="1"/>
          <p:nvPr/>
        </p:nvSpPr>
        <p:spPr>
          <a:xfrm>
            <a:off x="1295400" y="2082799"/>
            <a:ext cx="14249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自监督：是无监督方式的一种，主要目的是学到一种通用的特征用于下游任务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5F81A24-7ED2-76D1-0A36-CA40AA7348A6}"/>
              </a:ext>
            </a:extLst>
          </p:cNvPr>
          <p:cNvSpPr/>
          <p:nvPr/>
        </p:nvSpPr>
        <p:spPr>
          <a:xfrm>
            <a:off x="990600" y="4610100"/>
            <a:ext cx="3352800" cy="19050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/>
              <a:t>Pre-Train</a:t>
            </a:r>
          </a:p>
          <a:p>
            <a:pPr algn="ctr"/>
            <a:r>
              <a:rPr lang="en-US" altLang="zh-CN" sz="3200"/>
              <a:t>(unlabeled data)</a:t>
            </a:r>
            <a:endParaRPr lang="zh-CN" altLang="en-US" sz="320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8F9C690B-4F6A-C105-62A5-88A2E09F0FCF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4343400" y="5562600"/>
            <a:ext cx="685800" cy="0"/>
          </a:xfrm>
          <a:prstGeom prst="straightConnector1">
            <a:avLst/>
          </a:prstGeom>
          <a:ln w="762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93ABA53-50C4-6EEB-805E-4D5C9BD95AFC}"/>
              </a:ext>
            </a:extLst>
          </p:cNvPr>
          <p:cNvSpPr/>
          <p:nvPr/>
        </p:nvSpPr>
        <p:spPr>
          <a:xfrm>
            <a:off x="5029200" y="4610100"/>
            <a:ext cx="2819400" cy="19050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/>
              <a:t>representation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9387C163-3062-F947-2102-004E1A99568B}"/>
              </a:ext>
            </a:extLst>
          </p:cNvPr>
          <p:cNvCxnSpPr>
            <a:cxnSpLocks/>
          </p:cNvCxnSpPr>
          <p:nvPr/>
        </p:nvCxnSpPr>
        <p:spPr>
          <a:xfrm flipV="1">
            <a:off x="7848600" y="4076700"/>
            <a:ext cx="1905000" cy="1394460"/>
          </a:xfrm>
          <a:prstGeom prst="straightConnector1">
            <a:avLst/>
          </a:prstGeom>
          <a:ln w="762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4AC331A-DB30-17E3-D54B-D0A726B9CF60}"/>
              </a:ext>
            </a:extLst>
          </p:cNvPr>
          <p:cNvSpPr/>
          <p:nvPr/>
        </p:nvSpPr>
        <p:spPr>
          <a:xfrm>
            <a:off x="9784080" y="3508994"/>
            <a:ext cx="3352800" cy="119635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/>
              <a:t>Fine-tune</a:t>
            </a:r>
          </a:p>
          <a:p>
            <a:pPr algn="ctr"/>
            <a:r>
              <a:rPr lang="en-US" altLang="zh-CN" sz="3200"/>
              <a:t>(Labeled data)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AB1EAB6-9199-173E-A33C-2C4089882474}"/>
              </a:ext>
            </a:extLst>
          </p:cNvPr>
          <p:cNvSpPr/>
          <p:nvPr/>
        </p:nvSpPr>
        <p:spPr>
          <a:xfrm>
            <a:off x="9799320" y="4964424"/>
            <a:ext cx="3352800" cy="119635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/>
              <a:t>Fine-tune</a:t>
            </a:r>
          </a:p>
          <a:p>
            <a:pPr algn="ctr"/>
            <a:r>
              <a:rPr lang="en-US" altLang="zh-CN" sz="3200"/>
              <a:t>(Labeled data)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F21FC2EB-9AC8-8DF3-4860-085AB8C6DBA1}"/>
              </a:ext>
            </a:extLst>
          </p:cNvPr>
          <p:cNvCxnSpPr>
            <a:cxnSpLocks/>
            <a:stCxn id="11" idx="3"/>
            <a:endCxn id="18" idx="1"/>
          </p:cNvCxnSpPr>
          <p:nvPr/>
        </p:nvCxnSpPr>
        <p:spPr>
          <a:xfrm>
            <a:off x="7848600" y="5562600"/>
            <a:ext cx="1950720" cy="0"/>
          </a:xfrm>
          <a:prstGeom prst="straightConnector1">
            <a:avLst/>
          </a:prstGeom>
          <a:ln w="762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91C1AAD4-0318-B350-618E-91FFA8F0550B}"/>
              </a:ext>
            </a:extLst>
          </p:cNvPr>
          <p:cNvSpPr/>
          <p:nvPr/>
        </p:nvSpPr>
        <p:spPr>
          <a:xfrm>
            <a:off x="9799320" y="6419854"/>
            <a:ext cx="3352800" cy="119635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/>
              <a:t>Fine-tune</a:t>
            </a:r>
          </a:p>
          <a:p>
            <a:pPr algn="ctr"/>
            <a:r>
              <a:rPr lang="en-US" altLang="zh-CN" sz="3200"/>
              <a:t>(Labeled data)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E1E4FBB5-DBB7-C523-B540-CEA088524610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7848600" y="5623560"/>
            <a:ext cx="1950720" cy="1394470"/>
          </a:xfrm>
          <a:prstGeom prst="straightConnector1">
            <a:avLst/>
          </a:prstGeom>
          <a:ln w="762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椭圆 27">
            <a:extLst>
              <a:ext uri="{FF2B5EF4-FFF2-40B4-BE49-F238E27FC236}">
                <a16:creationId xmlns:a16="http://schemas.microsoft.com/office/drawing/2014/main" id="{2D9ED13D-8BB7-0500-C22D-538CFA0649C8}"/>
              </a:ext>
            </a:extLst>
          </p:cNvPr>
          <p:cNvSpPr/>
          <p:nvPr/>
        </p:nvSpPr>
        <p:spPr>
          <a:xfrm>
            <a:off x="10287000" y="8115300"/>
            <a:ext cx="228600" cy="2286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DB788827-9A06-43AC-E16B-7D6669D0BC14}"/>
              </a:ext>
            </a:extLst>
          </p:cNvPr>
          <p:cNvSpPr/>
          <p:nvPr/>
        </p:nvSpPr>
        <p:spPr>
          <a:xfrm>
            <a:off x="11361420" y="8115300"/>
            <a:ext cx="228600" cy="2286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8C2C177A-8B96-501B-2692-43E7DDD02BE8}"/>
              </a:ext>
            </a:extLst>
          </p:cNvPr>
          <p:cNvSpPr/>
          <p:nvPr/>
        </p:nvSpPr>
        <p:spPr>
          <a:xfrm>
            <a:off x="12435840" y="8115300"/>
            <a:ext cx="228600" cy="2286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CE1E25CB-7C61-FFB0-A3AF-0C0C7B6AEE4B}"/>
              </a:ext>
            </a:extLst>
          </p:cNvPr>
          <p:cNvCxnSpPr>
            <a:cxnSpLocks/>
          </p:cNvCxnSpPr>
          <p:nvPr/>
        </p:nvCxnSpPr>
        <p:spPr>
          <a:xfrm>
            <a:off x="7848600" y="5730239"/>
            <a:ext cx="2057400" cy="2473962"/>
          </a:xfrm>
          <a:prstGeom prst="straightConnector1">
            <a:avLst/>
          </a:prstGeom>
          <a:ln w="762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92D78DFF-80C5-921D-8B54-1CF2E1E344A6}"/>
              </a:ext>
            </a:extLst>
          </p:cNvPr>
          <p:cNvSpPr txBox="1"/>
          <p:nvPr/>
        </p:nvSpPr>
        <p:spPr>
          <a:xfrm>
            <a:off x="13563600" y="3695700"/>
            <a:ext cx="4038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Downstream task1</a:t>
            </a:r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3B7572DF-C5D6-0C9E-3E1A-3C8201F436D1}"/>
              </a:ext>
            </a:extLst>
          </p:cNvPr>
          <p:cNvSpPr txBox="1"/>
          <p:nvPr/>
        </p:nvSpPr>
        <p:spPr>
          <a:xfrm>
            <a:off x="13525500" y="5178772"/>
            <a:ext cx="4038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Downstream task2</a:t>
            </a:r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634B412-1F61-14E0-7B54-8E15B4458DA5}"/>
              </a:ext>
            </a:extLst>
          </p:cNvPr>
          <p:cNvSpPr txBox="1"/>
          <p:nvPr/>
        </p:nvSpPr>
        <p:spPr>
          <a:xfrm>
            <a:off x="13563600" y="6661844"/>
            <a:ext cx="4038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Downstream task3</a:t>
            </a:r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21713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03E62-CDFD-E235-5EE3-26B74EF3E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316291DF-D0AE-B058-3CBD-B70AA1F7CC1F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C8DA718-507E-D9D4-E49F-B15EBE95573F}"/>
              </a:ext>
            </a:extLst>
          </p:cNvPr>
          <p:cNvSpPr txBox="1"/>
          <p:nvPr/>
        </p:nvSpPr>
        <p:spPr>
          <a:xfrm>
            <a:off x="457200" y="727214"/>
            <a:ext cx="56917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Contrastive Loss</a:t>
            </a:r>
            <a:endParaRPr lang="zh-CN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5BB2078-9FB2-0D94-1D78-25623E5CA77F}"/>
              </a:ext>
            </a:extLst>
          </p:cNvPr>
          <p:cNvSpPr txBox="1"/>
          <p:nvPr/>
        </p:nvSpPr>
        <p:spPr>
          <a:xfrm>
            <a:off x="1930276" y="2253039"/>
            <a:ext cx="117853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Main idea:</a:t>
            </a:r>
          </a:p>
          <a:p>
            <a:r>
              <a:rPr lang="en-US" altLang="zh-CN" sz="32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1).</a:t>
            </a:r>
            <a:r>
              <a:rPr lang="zh-CN" altLang="en-US" sz="32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相近的样本距离越近越好</a:t>
            </a:r>
            <a:endParaRPr lang="en-US" altLang="zh-CN" sz="320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32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2).</a:t>
            </a:r>
            <a:r>
              <a:rPr lang="zh-CN" altLang="en-US" sz="32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不相似的样本，如果距离小于阈值</a:t>
            </a:r>
            <a:r>
              <a:rPr lang="en-US" altLang="zh-CN" sz="32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M,</a:t>
            </a:r>
            <a:r>
              <a:rPr lang="zh-CN" altLang="en-US" sz="32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则希望他们的距离变大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29FF6336-5CC2-3626-D14E-DE17AA3C7E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4479097"/>
            <a:ext cx="11378707" cy="1328806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CCC896B2-9860-D036-0022-2DEA6DD116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6133" y="6058008"/>
            <a:ext cx="7857427" cy="3437162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79515D6C-1C71-F211-CC01-FF6261B6F78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79"/>
          <a:stretch>
            <a:fillRect/>
          </a:stretch>
        </p:blipFill>
        <p:spPr>
          <a:xfrm>
            <a:off x="1219200" y="6210300"/>
            <a:ext cx="7857427" cy="317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073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0C976B6-4686-93FD-9138-AE1E761A8A35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45848FFC-FA18-2804-4C67-E2C4DE0B8EB7}"/>
              </a:ext>
            </a:extLst>
          </p:cNvPr>
          <p:cNvSpPr txBox="1"/>
          <p:nvPr/>
        </p:nvSpPr>
        <p:spPr>
          <a:xfrm>
            <a:off x="457200" y="727214"/>
            <a:ext cx="464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MoCo v1</a:t>
            </a:r>
            <a:endParaRPr lang="zh-CN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8534EAA-D6E8-6D24-3B6A-4E56F86808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2511" y="1915204"/>
            <a:ext cx="3447631" cy="1939049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6F9DB48F-DB96-4489-EB68-222B99938B53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5460142" y="2884729"/>
            <a:ext cx="2667000" cy="0"/>
          </a:xfrm>
          <a:prstGeom prst="straightConnector1">
            <a:avLst/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D0D7B347-74C9-2CBF-9992-2554E6DFC0F5}"/>
              </a:ext>
            </a:extLst>
          </p:cNvPr>
          <p:cNvSpPr txBox="1"/>
          <p:nvPr/>
        </p:nvSpPr>
        <p:spPr>
          <a:xfrm>
            <a:off x="5669692" y="2163456"/>
            <a:ext cx="2247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Data augmentation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A5F24480-1FE7-9BCE-8795-B8B461882A53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61" t="21172" r="27230" b="18965"/>
          <a:stretch>
            <a:fillRect/>
          </a:stretch>
        </p:blipFill>
        <p:spPr>
          <a:xfrm>
            <a:off x="8305800" y="1915204"/>
            <a:ext cx="2667000" cy="193905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61C5256D-3568-E2B6-8385-7340AF4CCDCE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61" t="21172" r="27230" b="18965"/>
          <a:stretch>
            <a:fillRect/>
          </a:stretch>
        </p:blipFill>
        <p:spPr>
          <a:xfrm flipH="1">
            <a:off x="11746644" y="1901817"/>
            <a:ext cx="2667000" cy="193905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B36C8392-D3DE-D64B-57B9-BBC926A8EAF0}"/>
              </a:ext>
            </a:extLst>
          </p:cNvPr>
          <p:cNvSpPr txBox="1"/>
          <p:nvPr/>
        </p:nvSpPr>
        <p:spPr>
          <a:xfrm>
            <a:off x="9574942" y="3919263"/>
            <a:ext cx="533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/>
              <a:t>A</a:t>
            </a:r>
            <a:endParaRPr lang="zh-CN" altLang="en-US" sz="400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4208475-2333-F4D2-EC64-546874C2B6AF}"/>
              </a:ext>
            </a:extLst>
          </p:cNvPr>
          <p:cNvSpPr txBox="1"/>
          <p:nvPr/>
        </p:nvSpPr>
        <p:spPr>
          <a:xfrm>
            <a:off x="12770318" y="3919263"/>
            <a:ext cx="533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/>
              <a:t>B</a:t>
            </a:r>
            <a:endParaRPr lang="zh-CN" altLang="en-US" sz="400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D45F7A8-3A70-425B-CB33-E3BFBD17523A}"/>
              </a:ext>
            </a:extLst>
          </p:cNvPr>
          <p:cNvSpPr txBox="1"/>
          <p:nvPr/>
        </p:nvSpPr>
        <p:spPr>
          <a:xfrm>
            <a:off x="2029355" y="4729551"/>
            <a:ext cx="533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/>
              <a:t>A</a:t>
            </a:r>
            <a:endParaRPr lang="zh-CN" altLang="en-US" sz="400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DCF9C0A-1726-56D3-F127-FD0AC414F49B}"/>
              </a:ext>
            </a:extLst>
          </p:cNvPr>
          <p:cNvSpPr txBox="1"/>
          <p:nvPr/>
        </p:nvSpPr>
        <p:spPr>
          <a:xfrm>
            <a:off x="2029355" y="6014789"/>
            <a:ext cx="533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/>
              <a:t>B</a:t>
            </a:r>
            <a:endParaRPr lang="zh-CN" altLang="en-US" sz="4000"/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75F278C4-4AC8-464F-E73A-D9BC348308A5}"/>
              </a:ext>
            </a:extLst>
          </p:cNvPr>
          <p:cNvCxnSpPr>
            <a:cxnSpLocks/>
          </p:cNvCxnSpPr>
          <p:nvPr/>
        </p:nvCxnSpPr>
        <p:spPr>
          <a:xfrm>
            <a:off x="2562755" y="5083494"/>
            <a:ext cx="1028700" cy="0"/>
          </a:xfrm>
          <a:prstGeom prst="straightConnector1">
            <a:avLst/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81CAE72B-D3A6-5312-4799-A6C9D2F143AF}"/>
              </a:ext>
            </a:extLst>
          </p:cNvPr>
          <p:cNvCxnSpPr>
            <a:cxnSpLocks/>
          </p:cNvCxnSpPr>
          <p:nvPr/>
        </p:nvCxnSpPr>
        <p:spPr>
          <a:xfrm>
            <a:off x="2562755" y="6368732"/>
            <a:ext cx="1028700" cy="0"/>
          </a:xfrm>
          <a:prstGeom prst="straightConnector1">
            <a:avLst/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7C3836E8-0346-67AD-9BC7-21CFB1468773}"/>
              </a:ext>
            </a:extLst>
          </p:cNvPr>
          <p:cNvSpPr/>
          <p:nvPr/>
        </p:nvSpPr>
        <p:spPr>
          <a:xfrm>
            <a:off x="3743855" y="4794565"/>
            <a:ext cx="1905000" cy="63067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/>
              <a:t>Encoder</a:t>
            </a:r>
            <a:endParaRPr lang="zh-CN" altLang="en-US" sz="2400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31C721C0-35D1-1054-78B9-AEC7AA58ABFC}"/>
              </a:ext>
            </a:extLst>
          </p:cNvPr>
          <p:cNvSpPr/>
          <p:nvPr/>
        </p:nvSpPr>
        <p:spPr>
          <a:xfrm>
            <a:off x="3764692" y="5914542"/>
            <a:ext cx="1905000" cy="89187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/>
              <a:t>Momentum</a:t>
            </a:r>
          </a:p>
          <a:p>
            <a:pPr algn="ctr"/>
            <a:r>
              <a:rPr lang="en-US" altLang="zh-CN" sz="2400"/>
              <a:t>Encoder</a:t>
            </a:r>
            <a:endParaRPr lang="zh-CN" altLang="en-US" sz="2400"/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9921DE40-8D80-E0D0-BD37-F7044DFF01E5}"/>
              </a:ext>
            </a:extLst>
          </p:cNvPr>
          <p:cNvCxnSpPr>
            <a:cxnSpLocks/>
          </p:cNvCxnSpPr>
          <p:nvPr/>
        </p:nvCxnSpPr>
        <p:spPr>
          <a:xfrm>
            <a:off x="5801255" y="5083494"/>
            <a:ext cx="1028700" cy="0"/>
          </a:xfrm>
          <a:prstGeom prst="straightConnector1">
            <a:avLst/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3AF512CF-E065-ED30-0237-CFEA91645571}"/>
              </a:ext>
            </a:extLst>
          </p:cNvPr>
          <p:cNvCxnSpPr>
            <a:cxnSpLocks/>
          </p:cNvCxnSpPr>
          <p:nvPr/>
        </p:nvCxnSpPr>
        <p:spPr>
          <a:xfrm>
            <a:off x="5801255" y="6360481"/>
            <a:ext cx="1028700" cy="0"/>
          </a:xfrm>
          <a:prstGeom prst="straightConnector1">
            <a:avLst/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99506C6B-A5C2-5F7E-B603-892DAD41D0FA}"/>
              </a:ext>
            </a:extLst>
          </p:cNvPr>
          <p:cNvSpPr txBox="1"/>
          <p:nvPr/>
        </p:nvSpPr>
        <p:spPr>
          <a:xfrm>
            <a:off x="6906155" y="4759673"/>
            <a:ext cx="1752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Query q</a:t>
            </a:r>
            <a:endParaRPr lang="zh-CN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8174EDA-47A3-C87A-6D1D-84EB65044F7C}"/>
              </a:ext>
            </a:extLst>
          </p:cNvPr>
          <p:cNvSpPr txBox="1"/>
          <p:nvPr/>
        </p:nvSpPr>
        <p:spPr>
          <a:xfrm>
            <a:off x="6907758" y="6053395"/>
            <a:ext cx="1626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Key k</a:t>
            </a:r>
            <a:endParaRPr lang="zh-CN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9471DC6A-D255-4CCE-32E0-EF79F2E59B6F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8875266" y="5179799"/>
            <a:ext cx="1700463" cy="573380"/>
          </a:xfrm>
          <a:prstGeom prst="straightConnector1">
            <a:avLst/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C409AB7D-95C7-A2F6-B7B0-4DE6E315B809}"/>
              </a:ext>
            </a:extLst>
          </p:cNvPr>
          <p:cNvCxnSpPr>
            <a:cxnSpLocks/>
            <a:endCxn id="39" idx="1"/>
          </p:cNvCxnSpPr>
          <p:nvPr/>
        </p:nvCxnSpPr>
        <p:spPr>
          <a:xfrm flipV="1">
            <a:off x="8826796" y="5753179"/>
            <a:ext cx="1748933" cy="615553"/>
          </a:xfrm>
          <a:prstGeom prst="straightConnector1">
            <a:avLst/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76E0A14A-BBC8-0F86-63C4-627894491B78}"/>
              </a:ext>
            </a:extLst>
          </p:cNvPr>
          <p:cNvSpPr txBox="1"/>
          <p:nvPr/>
        </p:nvSpPr>
        <p:spPr>
          <a:xfrm>
            <a:off x="10575729" y="5491569"/>
            <a:ext cx="1752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similarity</a:t>
            </a:r>
            <a:endParaRPr lang="zh-CN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381F66B9-BBFF-EAA1-8AC5-B62EFB222D26}"/>
              </a:ext>
            </a:extLst>
          </p:cNvPr>
          <p:cNvCxnSpPr>
            <a:cxnSpLocks/>
          </p:cNvCxnSpPr>
          <p:nvPr/>
        </p:nvCxnSpPr>
        <p:spPr>
          <a:xfrm>
            <a:off x="12189968" y="5803079"/>
            <a:ext cx="1028700" cy="0"/>
          </a:xfrm>
          <a:prstGeom prst="straightConnector1">
            <a:avLst/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2F7340A7-8E0F-E0AD-6AE8-BF9BD1A428F4}"/>
              </a:ext>
            </a:extLst>
          </p:cNvPr>
          <p:cNvSpPr txBox="1"/>
          <p:nvPr/>
        </p:nvSpPr>
        <p:spPr>
          <a:xfrm>
            <a:off x="13371066" y="5487960"/>
            <a:ext cx="33929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Contrastive loss l1</a:t>
            </a:r>
            <a:endParaRPr lang="zh-CN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BE27DE4E-DBBC-BEA5-BBE3-16B2CAC387C4}"/>
              </a:ext>
            </a:extLst>
          </p:cNvPr>
          <p:cNvSpPr txBox="1"/>
          <p:nvPr/>
        </p:nvSpPr>
        <p:spPr>
          <a:xfrm>
            <a:off x="6904016" y="6738075"/>
            <a:ext cx="1752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Query q</a:t>
            </a:r>
            <a:endParaRPr lang="zh-CN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823776D4-A18D-9F79-B116-E22F4E0A9CC2}"/>
              </a:ext>
            </a:extLst>
          </p:cNvPr>
          <p:cNvSpPr txBox="1"/>
          <p:nvPr/>
        </p:nvSpPr>
        <p:spPr>
          <a:xfrm>
            <a:off x="2651360" y="7914796"/>
            <a:ext cx="9514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Dictionary Key k1</a:t>
            </a:r>
            <a:r>
              <a:rPr lang="zh-CN" altLang="en-US" sz="2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k2 k3 k4 k5……kn </a:t>
            </a:r>
            <a:endParaRPr lang="zh-CN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723D806F-CF38-4BEA-58DF-E017C10E44D3}"/>
              </a:ext>
            </a:extLst>
          </p:cNvPr>
          <p:cNvCxnSpPr>
            <a:cxnSpLocks/>
            <a:endCxn id="52" idx="1"/>
          </p:cNvCxnSpPr>
          <p:nvPr/>
        </p:nvCxnSpPr>
        <p:spPr>
          <a:xfrm>
            <a:off x="8765941" y="6988220"/>
            <a:ext cx="1785725" cy="565165"/>
          </a:xfrm>
          <a:prstGeom prst="straightConnector1">
            <a:avLst/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BB18C7F6-7A7D-E772-7732-8C7AA4200EE7}"/>
              </a:ext>
            </a:extLst>
          </p:cNvPr>
          <p:cNvCxnSpPr>
            <a:cxnSpLocks/>
            <a:endCxn id="52" idx="1"/>
          </p:cNvCxnSpPr>
          <p:nvPr/>
        </p:nvCxnSpPr>
        <p:spPr>
          <a:xfrm flipV="1">
            <a:off x="8690115" y="7553385"/>
            <a:ext cx="1861551" cy="650408"/>
          </a:xfrm>
          <a:prstGeom prst="straightConnector1">
            <a:avLst/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332FB386-CB34-C138-8DCC-A45D79845F29}"/>
              </a:ext>
            </a:extLst>
          </p:cNvPr>
          <p:cNvSpPr txBox="1"/>
          <p:nvPr/>
        </p:nvSpPr>
        <p:spPr>
          <a:xfrm>
            <a:off x="10551666" y="7291775"/>
            <a:ext cx="1752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similarity</a:t>
            </a:r>
            <a:endParaRPr lang="zh-CN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D53ABF09-C6B8-F25F-F46E-862AB1F192F4}"/>
              </a:ext>
            </a:extLst>
          </p:cNvPr>
          <p:cNvCxnSpPr>
            <a:cxnSpLocks/>
          </p:cNvCxnSpPr>
          <p:nvPr/>
        </p:nvCxnSpPr>
        <p:spPr>
          <a:xfrm>
            <a:off x="12165905" y="7603285"/>
            <a:ext cx="1028700" cy="0"/>
          </a:xfrm>
          <a:prstGeom prst="straightConnector1">
            <a:avLst/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39B6B37B-FC5C-9F9B-162E-079F874EC144}"/>
              </a:ext>
            </a:extLst>
          </p:cNvPr>
          <p:cNvSpPr txBox="1"/>
          <p:nvPr/>
        </p:nvSpPr>
        <p:spPr>
          <a:xfrm>
            <a:off x="13347003" y="7288166"/>
            <a:ext cx="3877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Contrastive loss l2</a:t>
            </a:r>
            <a:endParaRPr lang="zh-CN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2C72639D-5733-EBBD-713C-B04D6D7C5E66}"/>
              </a:ext>
            </a:extLst>
          </p:cNvPr>
          <p:cNvSpPr txBox="1"/>
          <p:nvPr/>
        </p:nvSpPr>
        <p:spPr>
          <a:xfrm>
            <a:off x="2651360" y="8837437"/>
            <a:ext cx="6114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Dictionary Key k1 k2 k3 k4 k5……kn </a:t>
            </a:r>
            <a:endParaRPr lang="zh-CN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7FE0444A-5D15-BC6D-E972-A0F5BD7BD3F3}"/>
              </a:ext>
            </a:extLst>
          </p:cNvPr>
          <p:cNvCxnSpPr>
            <a:cxnSpLocks/>
          </p:cNvCxnSpPr>
          <p:nvPr/>
        </p:nvCxnSpPr>
        <p:spPr>
          <a:xfrm>
            <a:off x="8656616" y="9105900"/>
            <a:ext cx="1028700" cy="0"/>
          </a:xfrm>
          <a:prstGeom prst="straightConnector1">
            <a:avLst/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66E05723-1EE2-5D36-C06F-293F107F8F69}"/>
              </a:ext>
            </a:extLst>
          </p:cNvPr>
          <p:cNvSpPr txBox="1"/>
          <p:nvPr/>
        </p:nvSpPr>
        <p:spPr>
          <a:xfrm>
            <a:off x="9679701" y="8816768"/>
            <a:ext cx="6114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k2 k3 k4 k5……kn k </a:t>
            </a:r>
            <a:endParaRPr lang="zh-CN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55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FA9FC-B72F-D646-5A14-3C012E991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B5FD544-3A1C-252D-123E-D5E2F4ECAB7E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07604BB2-13F9-1B69-1006-607AEAA0A2EF}"/>
              </a:ext>
            </a:extLst>
          </p:cNvPr>
          <p:cNvSpPr txBox="1"/>
          <p:nvPr/>
        </p:nvSpPr>
        <p:spPr>
          <a:xfrm>
            <a:off x="457200" y="727214"/>
            <a:ext cx="464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MoCo v1</a:t>
            </a:r>
            <a:endParaRPr lang="zh-CN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9C30583-DE58-AF86-B58A-9078494316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2404680"/>
            <a:ext cx="5058481" cy="547763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2B28D5D-B6FA-3416-89F4-8E2F5DEFA6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160" y="4002637"/>
            <a:ext cx="6771327" cy="170870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6F22F2E0-9A46-27C8-2917-4EB27958B899}"/>
              </a:ext>
            </a:extLst>
          </p:cNvPr>
          <p:cNvSpPr txBox="1"/>
          <p:nvPr/>
        </p:nvSpPr>
        <p:spPr>
          <a:xfrm>
            <a:off x="7391400" y="3452896"/>
            <a:ext cx="5058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InfoNCE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型的</a:t>
            </a:r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contrastive loss:</a:t>
            </a:r>
            <a:endParaRPr lang="zh-CN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9C2FDE8-2387-D285-FF16-11DED8FC28F4}"/>
              </a:ext>
            </a:extLst>
          </p:cNvPr>
          <p:cNvSpPr txBox="1"/>
          <p:nvPr/>
        </p:nvSpPr>
        <p:spPr>
          <a:xfrm>
            <a:off x="7467600" y="5753100"/>
            <a:ext cx="8763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Momentum encoder 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的更新方式：</a:t>
            </a:r>
            <a:endParaRPr lang="en-US" altLang="zh-CN" sz="2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EMA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（</a:t>
            </a:r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Exponential Moving Average Target Network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AA5AB806-3D8C-E21F-9337-9CD7BDE9DB37}"/>
                  </a:ext>
                </a:extLst>
              </p:cNvPr>
              <p:cNvSpPr txBox="1"/>
              <p:nvPr/>
            </p:nvSpPr>
            <p:spPr>
              <a:xfrm>
                <a:off x="6781800" y="6807409"/>
                <a:ext cx="9144000" cy="21498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3200" i="0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zh-CN" altLang="en-US" sz="3200" i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zh-CN" altLang="en-US" sz="3200" i="1">
                          <a:latin typeface="Cambria Math" panose="02040503050406030204" pitchFamily="18" charset="0"/>
                        </a:rPr>
                        <m:t>𝑚</m:t>
                      </m:r>
                      <m:sSub>
                        <m:sSubPr>
                          <m:ctrlPr>
                            <a:rPr lang="zh-CN" alt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3200" i="0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zh-CN" altLang="en-US" sz="3200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zh-CN" alt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3200" i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zh-CN" altLang="en-US" sz="32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sSub>
                        <m:sSubPr>
                          <m:ctrlPr>
                            <a:rPr lang="zh-CN" alt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3200" i="0">
                              <a:latin typeface="Cambria Math" panose="02040503050406030204" pitchFamily="18" charset="0"/>
                            </a:rPr>
                            <m:t>q</m:t>
                          </m:r>
                        </m:sub>
                      </m:sSub>
                      <m:r>
                        <a:rPr lang="zh-CN" altLang="en-US" sz="3200" i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sz="32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CN" sz="32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zh-CN" altLang="en-US" sz="3200">
                    <a:latin typeface="Arial" panose="020B0604020202020204" pitchFamily="34" charset="0"/>
                    <a:cs typeface="Arial" panose="020B0604020202020204" pitchFamily="34" charset="0"/>
                  </a:rPr>
                  <a:t>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zh-CN" altLang="en-US" sz="320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en-US" altLang="zh-CN" sz="3200">
                    <a:latin typeface="Arial" panose="020B0604020202020204" pitchFamily="34" charset="0"/>
                    <a:cs typeface="Arial" panose="020B0604020202020204" pitchFamily="34" charset="0"/>
                  </a:rPr>
                  <a:t>moment encoder</a:t>
                </a:r>
                <a:r>
                  <a:rPr lang="zh-CN" altLang="en-US" sz="3200">
                    <a:latin typeface="Arial" panose="020B0604020202020204" pitchFamily="34" charset="0"/>
                    <a:cs typeface="Arial" panose="020B0604020202020204" pitchFamily="34" charset="0"/>
                  </a:rPr>
                  <a:t>的参数</a:t>
                </a:r>
                <a:endParaRPr lang="en-US" altLang="zh-CN" sz="320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3200">
                    <a:latin typeface="Arial" panose="020B0604020202020204" pitchFamily="34" charset="0"/>
                    <a:cs typeface="Arial" panose="020B0604020202020204" pitchFamily="34" charset="0"/>
                  </a:rPr>
                  <a:t>	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zh-CN" altLang="en-US" sz="3200">
                            <a:latin typeface="Cambria Math" panose="02040503050406030204" pitchFamily="18" charset="0"/>
                          </a:rPr>
                          <m:t>q</m:t>
                        </m:r>
                      </m:sub>
                    </m:sSub>
                  </m:oMath>
                </a14:m>
                <a:r>
                  <a:rPr lang="zh-CN" altLang="en-US" sz="3200">
                    <a:latin typeface="Arial" panose="020B0604020202020204" pitchFamily="34" charset="0"/>
                    <a:cs typeface="Arial" panose="020B0604020202020204" pitchFamily="34" charset="0"/>
                  </a:rPr>
                  <a:t>为</a:t>
                </a:r>
                <a:r>
                  <a:rPr lang="en-US" altLang="zh-CN" sz="3200">
                    <a:latin typeface="Arial" panose="020B0604020202020204" pitchFamily="34" charset="0"/>
                    <a:cs typeface="Arial" panose="020B0604020202020204" pitchFamily="34" charset="0"/>
                  </a:rPr>
                  <a:t>encoder</a:t>
                </a:r>
                <a:r>
                  <a:rPr lang="zh-CN" altLang="en-US" sz="3200">
                    <a:latin typeface="Arial" panose="020B0604020202020204" pitchFamily="34" charset="0"/>
                    <a:cs typeface="Arial" panose="020B0604020202020204" pitchFamily="34" charset="0"/>
                  </a:rPr>
                  <a:t>的参数</a:t>
                </a: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AA5AB806-3D8C-E21F-9337-9CD7BDE9D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800" y="6807409"/>
                <a:ext cx="9144000" cy="2149819"/>
              </a:xfrm>
              <a:prstGeom prst="rect">
                <a:avLst/>
              </a:prstGeom>
              <a:blipFill>
                <a:blip r:embed="rId4"/>
                <a:stretch>
                  <a:fillRect b="-65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F587BE3-2CEA-999B-F464-B3A9C6E03384}"/>
                  </a:ext>
                </a:extLst>
              </p:cNvPr>
              <p:cNvSpPr txBox="1"/>
              <p:nvPr/>
            </p:nvSpPr>
            <p:spPr>
              <a:xfrm>
                <a:off x="7620000" y="1238897"/>
                <a:ext cx="5058481" cy="21932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L2</a:t>
                </a:r>
                <a:r>
                  <a:rPr lang="zh-CN" altLang="en-US" sz="280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归一化，转化为单位向量</a:t>
                </a:r>
                <a:r>
                  <a:rPr lang="en-US" altLang="zh-CN" sz="280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CN" altLang="en-US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800" i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zh-CN" altLang="en-US" sz="2800" i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e>
                              </m:d>
                            </m:e>
                            <m:sub>
                              <m:r>
                                <a:rPr lang="zh-CN" altLang="en-US" sz="2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limUpp>
                                <m:limUppPr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limUppPr>
                                <m:e>
                                  <m:limLow>
                                    <m:limLowPr>
                                      <m:ctrlPr>
                                        <a:rPr lang="zh-CN" alt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nary>
                                        <m:naryPr>
                                          <m:chr m:val="∑"/>
                                          <m:grow m:val="on"/>
                                          <m:subHide m:val="on"/>
                                          <m:supHide m:val="on"/>
                                          <m:ctrlPr>
                                            <a:rPr lang="zh-CN" alt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/>
                                        <m:sup/>
                                        <m:e>
                                          <m:r>
                                            <a:rPr lang="en-US" altLang="zh-CN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nary>
                                    </m:e>
                                    <m:lim>
                                      <m:r>
                                        <a:rPr lang="zh-CN" altLang="en-US" sz="2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zh-CN" altLang="en-US" sz="2800" i="0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lim>
                                  </m:limLow>
                                </m:e>
                                <m:lim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lim>
                              </m:limUpp>
                              <m:r>
                                <a:rPr lang="zh-CN" altLang="en-US" sz="2800" i="0">
                                  <a:latin typeface="Cambria Math" panose="02040503050406030204" pitchFamily="18" charset="0"/>
                                </a:rPr>
                                <m:t> </m:t>
                              </m:r>
                              <m:sSubSup>
                                <m:sSubSupPr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zh-CN" altLang="en-US" sz="28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sz="2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F587BE3-2CEA-999B-F464-B3A9C6E03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0" y="1238897"/>
                <a:ext cx="5058481" cy="2193293"/>
              </a:xfrm>
              <a:prstGeom prst="rect">
                <a:avLst/>
              </a:prstGeom>
              <a:blipFill>
                <a:blip r:embed="rId5"/>
                <a:stretch>
                  <a:fillRect l="-2410" t="-30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B4CDC11-5D90-7D68-07B3-990106C73663}"/>
                  </a:ext>
                </a:extLst>
              </p:cNvPr>
              <p:cNvSpPr txBox="1"/>
              <p:nvPr/>
            </p:nvSpPr>
            <p:spPr>
              <a:xfrm>
                <a:off x="14249400" y="3569527"/>
                <a:ext cx="19812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zh-CN" altLang="en-US">
                    <a:latin typeface="Arial" panose="020B0604020202020204" pitchFamily="34" charset="0"/>
                    <a:ea typeface="微软雅黑" panose="020B0503020204020204" pitchFamily="34" charset="-122"/>
                  </a:rPr>
                  <a:t>在</a:t>
                </a:r>
                <a:r>
                  <a:rPr lang="en-US" altLang="zh-CN">
                    <a:latin typeface="Arial" panose="020B0604020202020204" pitchFamily="34" charset="0"/>
                    <a:ea typeface="微软雅黑" panose="020B0503020204020204" pitchFamily="34" charset="-122"/>
                  </a:rPr>
                  <a:t>MoCo</a:t>
                </a:r>
                <a:r>
                  <a:rPr lang="zh-CN" altLang="en-US">
                    <a:latin typeface="Arial" panose="020B0604020202020204" pitchFamily="34" charset="0"/>
                    <a:ea typeface="微软雅黑" panose="020B0503020204020204" pitchFamily="34" charset="-122"/>
                  </a:rPr>
                  <a:t>中一般设置为固定值如</a:t>
                </a:r>
                <a:r>
                  <a:rPr lang="en-US" altLang="zh-CN">
                    <a:latin typeface="Arial" panose="020B0604020202020204" pitchFamily="34" charset="0"/>
                    <a:ea typeface="微软雅黑" panose="020B0503020204020204" pitchFamily="34" charset="-122"/>
                  </a:rPr>
                  <a:t>0.07</a:t>
                </a:r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B4CDC11-5D90-7D68-07B3-990106C73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49400" y="3569527"/>
                <a:ext cx="1981200" cy="923330"/>
              </a:xfrm>
              <a:prstGeom prst="rect">
                <a:avLst/>
              </a:prstGeom>
              <a:blipFill>
                <a:blip r:embed="rId6"/>
                <a:stretch>
                  <a:fillRect l="-2769" t="-3974" b="-99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2902D17E-07C2-71B9-3559-ED8B1C820DA8}"/>
              </a:ext>
            </a:extLst>
          </p:cNvPr>
          <p:cNvSpPr/>
          <p:nvPr/>
        </p:nvSpPr>
        <p:spPr>
          <a:xfrm>
            <a:off x="14249400" y="3525583"/>
            <a:ext cx="1981200" cy="954107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CF911969-42B1-A1CE-B9EA-E4AA97EA5336}"/>
              </a:ext>
            </a:extLst>
          </p:cNvPr>
          <p:cNvCxnSpPr>
            <a:stCxn id="7" idx="1"/>
          </p:cNvCxnSpPr>
          <p:nvPr/>
        </p:nvCxnSpPr>
        <p:spPr>
          <a:xfrm flipH="1">
            <a:off x="13106400" y="4002637"/>
            <a:ext cx="1143000" cy="4770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551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AA5E9-AB6D-B69E-AF4B-16CB676EC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89DAB87-37EC-3452-2DAB-7F71FA8A01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502" y="1435100"/>
            <a:ext cx="11254996" cy="4343599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854B122A-E748-B259-FD1D-90F5C03748F4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A0447136-C36B-389C-73D4-B7D686F51537}"/>
              </a:ext>
            </a:extLst>
          </p:cNvPr>
          <p:cNvSpPr txBox="1"/>
          <p:nvPr/>
        </p:nvSpPr>
        <p:spPr>
          <a:xfrm>
            <a:off x="457200" y="727214"/>
            <a:ext cx="464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MoCo v1</a:t>
            </a:r>
            <a:endParaRPr lang="zh-CN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026D27F-FCF6-F5B8-424F-7E756C5DF7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7725" y="6057900"/>
            <a:ext cx="6792549" cy="359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867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99CD5-56F2-80D3-BDFE-2E89EBD02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8F7B694-A5C9-AAF4-D5FF-253B403533D9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4629FB5D-28F2-251E-A1B8-12AD0DEB5018}"/>
              </a:ext>
            </a:extLst>
          </p:cNvPr>
          <p:cNvSpPr txBox="1"/>
          <p:nvPr/>
        </p:nvSpPr>
        <p:spPr>
          <a:xfrm>
            <a:off x="457200" y="727214"/>
            <a:ext cx="594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MoCo v2 projection head</a:t>
            </a:r>
            <a:endParaRPr lang="zh-CN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132660F-5CC4-A9BF-2C8E-22DB05C3BC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3082672"/>
            <a:ext cx="5181600" cy="380829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0BE1AE1-30C5-EDE4-E39E-92D165EA5B4D}"/>
              </a:ext>
            </a:extLst>
          </p:cNvPr>
          <p:cNvSpPr txBox="1"/>
          <p:nvPr/>
        </p:nvSpPr>
        <p:spPr>
          <a:xfrm>
            <a:off x="3403600" y="7181468"/>
            <a:ext cx="1701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latin typeface="Arial" panose="020B0604020202020204" pitchFamily="34" charset="0"/>
                <a:cs typeface="Arial" panose="020B0604020202020204" pitchFamily="34" charset="0"/>
              </a:rPr>
              <a:t>SimCLR</a:t>
            </a:r>
            <a:endParaRPr lang="zh-CN" alt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6B3DF7A-D5D2-7C0C-0E48-5889F5D904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4790" y="2723298"/>
            <a:ext cx="7316221" cy="215295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4766091-812C-CA9F-9A8C-CD0093DD546B}"/>
              </a:ext>
            </a:extLst>
          </p:cNvPr>
          <p:cNvSpPr txBox="1"/>
          <p:nvPr/>
        </p:nvSpPr>
        <p:spPr>
          <a:xfrm>
            <a:off x="8610600" y="1790700"/>
            <a:ext cx="6324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1.Projection Head=Linear 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层 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+ 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激活函数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6C82287-50E8-661F-2D28-78A56C95CB8D}"/>
              </a:ext>
            </a:extLst>
          </p:cNvPr>
          <p:cNvSpPr txBox="1"/>
          <p:nvPr/>
        </p:nvSpPr>
        <p:spPr>
          <a:xfrm>
            <a:off x="8458200" y="4986817"/>
            <a:ext cx="6324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2.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采用高斯模糊数据增强策略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1194665-FCC4-C261-A7F3-1FDB39A6846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5513" y="5780906"/>
            <a:ext cx="2194774" cy="4382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696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9F031-95EA-99A2-793C-132F52869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FCF7C69-B592-6B29-D932-323046F6B8E2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B051D03C-71DC-11AB-1362-079A7D94FC4F}"/>
              </a:ext>
            </a:extLst>
          </p:cNvPr>
          <p:cNvSpPr txBox="1"/>
          <p:nvPr/>
        </p:nvSpPr>
        <p:spPr>
          <a:xfrm>
            <a:off x="457200" y="727214"/>
            <a:ext cx="594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MoCo v3 </a:t>
            </a:r>
            <a:endParaRPr lang="zh-CN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9A4332A-D819-C1FC-8538-87745B513C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764432"/>
            <a:ext cx="6682433" cy="675813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7F20403-9F96-F457-2BE5-BE454463DB67}"/>
              </a:ext>
            </a:extLst>
          </p:cNvPr>
          <p:cNvSpPr txBox="1"/>
          <p:nvPr/>
        </p:nvSpPr>
        <p:spPr>
          <a:xfrm>
            <a:off x="9677400" y="2019300"/>
            <a:ext cx="655320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Arial" panose="020B0604020202020204" pitchFamily="34" charset="0"/>
                <a:ea typeface="微软雅黑" panose="020B0503020204020204" pitchFamily="34" charset="-122"/>
              </a:rPr>
              <a:t>在 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ViT </a:t>
            </a:r>
            <a:r>
              <a:rPr lang="zh-CN" altLang="en-US" sz="2400">
                <a:latin typeface="Arial" panose="020B0604020202020204" pitchFamily="34" charset="0"/>
                <a:ea typeface="微软雅黑" panose="020B0503020204020204" pitchFamily="34" charset="-122"/>
              </a:rPr>
              <a:t>中：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>
                <a:latin typeface="Arial" panose="020B0604020202020204" pitchFamily="34" charset="0"/>
                <a:ea typeface="微软雅黑" panose="020B0503020204020204" pitchFamily="34" charset="-122"/>
              </a:rPr>
              <a:t>一张图像被切成多个 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patches</a:t>
            </a:r>
            <a:r>
              <a:rPr lang="zh-CN" altLang="en-US" sz="2400">
                <a:latin typeface="Arial" panose="020B0604020202020204" pitchFamily="34" charset="0"/>
                <a:ea typeface="微软雅黑" panose="020B0503020204020204" pitchFamily="34" charset="-122"/>
              </a:rPr>
              <a:t>（比如 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16×16 </a:t>
            </a:r>
            <a:r>
              <a:rPr lang="zh-CN" altLang="en-US" sz="2400">
                <a:latin typeface="Arial" panose="020B0604020202020204" pitchFamily="34" charset="0"/>
                <a:ea typeface="微软雅黑" panose="020B0503020204020204" pitchFamily="34" charset="-122"/>
              </a:rPr>
              <a:t>的小块）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>
                <a:latin typeface="Arial" panose="020B0604020202020204" pitchFamily="34" charset="0"/>
                <a:ea typeface="微软雅黑" panose="020B0503020204020204" pitchFamily="34" charset="-122"/>
              </a:rPr>
              <a:t>每个 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patch </a:t>
            </a:r>
            <a:r>
              <a:rPr lang="zh-CN" altLang="en-US" sz="2400">
                <a:latin typeface="Arial" panose="020B0604020202020204" pitchFamily="34" charset="0"/>
                <a:ea typeface="微软雅黑" panose="020B0503020204020204" pitchFamily="34" charset="-122"/>
              </a:rPr>
              <a:t>被线性投影成一个向量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>
                <a:latin typeface="Arial" panose="020B0604020202020204" pitchFamily="34" charset="0"/>
                <a:ea typeface="微软雅黑" panose="020B0503020204020204" pitchFamily="34" charset="-122"/>
              </a:rPr>
              <a:t>加上位置编码后，送入 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Transformer </a:t>
            </a:r>
            <a:r>
              <a:rPr lang="zh-CN" altLang="en-US" sz="2400">
                <a:latin typeface="Arial" panose="020B0604020202020204" pitchFamily="34" charset="0"/>
                <a:ea typeface="微软雅黑" panose="020B0503020204020204" pitchFamily="34" charset="-122"/>
              </a:rPr>
              <a:t>编码器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>
                <a:latin typeface="Arial" panose="020B0604020202020204" pitchFamily="34" charset="0"/>
                <a:ea typeface="微软雅黑" panose="020B0503020204020204" pitchFamily="34" charset="-122"/>
              </a:rPr>
              <a:t>最终输出一个 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[CLS] token</a:t>
            </a:r>
            <a:r>
              <a:rPr lang="zh-CN" altLang="en-US" sz="2400">
                <a:latin typeface="Arial" panose="020B0604020202020204" pitchFamily="34" charset="0"/>
                <a:ea typeface="微软雅黑" panose="020B0503020204020204" pitchFamily="34" charset="-122"/>
              </a:rPr>
              <a:t>（全局表示）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+ </a:t>
            </a:r>
            <a:r>
              <a:rPr lang="zh-CN" altLang="en-US" sz="2400">
                <a:latin typeface="Arial" panose="020B0604020202020204" pitchFamily="34" charset="0"/>
                <a:ea typeface="微软雅黑" panose="020B0503020204020204" pitchFamily="34" charset="-122"/>
              </a:rPr>
              <a:t>每个 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patch </a:t>
            </a:r>
            <a:r>
              <a:rPr lang="zh-CN" altLang="en-US" sz="2400">
                <a:latin typeface="Arial" panose="020B0604020202020204" pitchFamily="34" charset="0"/>
                <a:ea typeface="微软雅黑" panose="020B0503020204020204" pitchFamily="34" charset="-122"/>
              </a:rPr>
              <a:t>的表示</a:t>
            </a:r>
          </a:p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F49D051-1B23-BCC8-3430-926DFAD4C74A}"/>
              </a:ext>
            </a:extLst>
          </p:cNvPr>
          <p:cNvSpPr/>
          <p:nvPr/>
        </p:nvSpPr>
        <p:spPr>
          <a:xfrm>
            <a:off x="11963400" y="3924300"/>
            <a:ext cx="17526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66EE786-B82D-8504-3055-921A3824A2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5524500"/>
            <a:ext cx="8340302" cy="419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666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5B5C3-E8D2-60C5-72A6-BBDBE55EC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125E1F3-1424-F54F-D051-9431E2E8EE05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CAC489A5-23DD-1E7C-DC62-3947EB896556}"/>
              </a:ext>
            </a:extLst>
          </p:cNvPr>
          <p:cNvSpPr txBox="1"/>
          <p:nvPr/>
        </p:nvSpPr>
        <p:spPr>
          <a:xfrm>
            <a:off x="457200" y="727214"/>
            <a:ext cx="464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BYOL</a:t>
            </a:r>
            <a:endParaRPr lang="zh-CN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8351AED-8F24-EDED-33A8-4974085D07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6069" y="1402080"/>
            <a:ext cx="13155861" cy="477269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31E79FA-F0E5-A381-1C7E-10F09C2853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9860" y="6520248"/>
            <a:ext cx="9688277" cy="306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487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45763-07D8-C2A1-FC76-81D197718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3B2D0B5-7551-692D-C8BA-A5E85CC6F439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132EE38D-6427-1D65-B367-97BB9007722E}"/>
              </a:ext>
            </a:extLst>
          </p:cNvPr>
          <p:cNvSpPr txBox="1"/>
          <p:nvPr/>
        </p:nvSpPr>
        <p:spPr>
          <a:xfrm>
            <a:off x="457200" y="727214"/>
            <a:ext cx="464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DINO</a:t>
            </a:r>
            <a:endParaRPr lang="zh-CN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A9FFC64-B4D3-0963-627C-0861162228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1909311"/>
            <a:ext cx="6363588" cy="646837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EB91DED-8F87-62DD-F5D0-BBCC5E0F8FA2}"/>
                  </a:ext>
                </a:extLst>
              </p:cNvPr>
              <p:cNvSpPr txBox="1"/>
              <p:nvPr/>
            </p:nvSpPr>
            <p:spPr>
              <a:xfrm>
                <a:off x="9372600" y="3674219"/>
                <a:ext cx="6363588" cy="29385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en-US" sz="3200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zh-CN" altLang="en-US" sz="3200">
                              <a:latin typeface="Cambria Math" panose="02040503050406030204" pitchFamily="18" charset="0"/>
                            </a:rPr>
                            <m:t>&amp;</m:t>
                          </m:r>
                          <m:limLow>
                            <m:limLowPr>
                              <m:ctrlPr>
                                <a:rPr lang="zh-CN" altLang="en-US" sz="3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3200" i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zh-CN" alt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3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zh-CN" altLang="en-US" sz="32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lim>
                          </m:limLow>
                          <m:r>
                            <a:rPr lang="zh-CN" altLang="en-US" sz="3200" i="0">
                              <a:latin typeface="Cambria Math" panose="02040503050406030204" pitchFamily="18" charset="0"/>
                            </a:rPr>
                            <m:t> </m:t>
                          </m:r>
                          <m:limLow>
                            <m:limLowPr>
                              <m:ctrlPr>
                                <a:rPr lang="zh-CN" altLang="en-US" sz="3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nary>
                                <m:naryPr>
                                  <m:chr m:val="∑"/>
                                  <m:grow m:val="on"/>
                                  <m:subHide m:val="on"/>
                                  <m:supHide m:val="on"/>
                                  <m:ctrlPr>
                                    <a:rPr lang="zh-CN" alt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nary>
                            </m:e>
                            <m:lim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zh-CN" altLang="en-US" sz="3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zh-CN" altLang="en-US" sz="3200" i="0">
                                        <a:latin typeface="Cambria Math" panose="02040503050406030204" pitchFamily="18" charset="0"/>
                                      </a:rPr>
                                      <m:t>∈{</m:t>
                                    </m:r>
                                    <m:sSubSup>
                                      <m:sSubSupPr>
                                        <m:ctrlPr>
                                          <a:rPr lang="zh-CN" altLang="en-US" sz="3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zh-CN" altLang="en-US" sz="32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zh-CN" altLang="en-US" sz="3200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zh-CN" altLang="en-US" sz="3200" i="1"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sup>
                                    </m:sSubSup>
                                    <m:r>
                                      <a:rPr lang="zh-CN" altLang="en-US" sz="3200" i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Sup>
                                      <m:sSubSupPr>
                                        <m:ctrlPr>
                                          <a:rPr lang="zh-CN" altLang="en-US" sz="3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zh-CN" altLang="en-US" sz="32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zh-CN" altLang="en-US" sz="3200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zh-CN" altLang="en-US" sz="3200" i="1"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sup>
                                    </m:sSubSup>
                                    <m:r>
                                      <a:rPr lang="zh-CN" altLang="en-US" sz="3200" i="0">
                                        <a:latin typeface="Cambria Math" panose="02040503050406030204" pitchFamily="18" charset="0"/>
                                      </a:rPr>
                                      <m:t>}</m:t>
                                    </m:r>
                                  </m:e>
                                </m:mr>
                              </m:m>
                            </m:lim>
                          </m:limLow>
                          <m:r>
                            <a:rPr lang="zh-CN" altLang="en-US" sz="3200" i="0">
                              <a:latin typeface="Cambria Math" panose="02040503050406030204" pitchFamily="18" charset="0"/>
                            </a:rPr>
                            <m:t> </m:t>
                          </m:r>
                          <m:limLow>
                            <m:limLowPr>
                              <m:ctrlPr>
                                <a:rPr lang="zh-CN" altLang="en-US" sz="3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nary>
                                <m:naryPr>
                                  <m:chr m:val="∑"/>
                                  <m:grow m:val="on"/>
                                  <m:subHide m:val="on"/>
                                  <m:supHide m:val="on"/>
                                  <m:ctrlPr>
                                    <a:rPr lang="zh-CN" alt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nary>
                            </m:e>
                            <m:lim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p>
                                      <m:sSupPr>
                                        <m:ctrlPr>
                                          <a:rPr lang="zh-CN" altLang="en-US" sz="3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sz="32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zh-CN" altLang="en-US" sz="3200" i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a:rPr lang="zh-CN" altLang="en-US" sz="3200" i="0"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zh-CN" altLang="en-US" sz="32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</m:mr>
                                <m:mr>
                                  <m:e>
                                    <m:sSup>
                                      <m:sSupPr>
                                        <m:ctrlPr>
                                          <a:rPr lang="zh-CN" altLang="en-US" sz="3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sz="32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zh-CN" altLang="en-US" sz="3200" i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a:rPr lang="zh-CN" altLang="en-US" sz="3200" i="0">
                                        <a:latin typeface="Cambria Math" panose="02040503050406030204" pitchFamily="18" charset="0"/>
                                      </a:rPr>
                                      <m:t>≠</m:t>
                                    </m:r>
                                    <m:r>
                                      <a:rPr lang="zh-CN" altLang="en-US" sz="3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mr>
                              </m:m>
                            </m:lim>
                          </m:limLow>
                          <m:r>
                            <a:rPr lang="zh-CN" altLang="en-US" sz="3200" i="0">
                              <a:latin typeface="Cambria Math" panose="02040503050406030204" pitchFamily="18" charset="0"/>
                            </a:rPr>
                            <m:t> </m:t>
                          </m:r>
                          <m:r>
                            <a:rPr lang="zh-CN" altLang="en-US" sz="3200" i="1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sepChr m:val=","/>
                              <m:ctrlPr>
                                <a:rPr lang="zh-CN" alt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32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zh-CN" altLang="en-US" sz="3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mo separator="true">,</m:mo>
                            <m:e>
                              <m:d>
                                <m:dPr>
                                  <m:ctrlPr>
                                    <a:rPr lang="zh-CN" alt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3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zh-CN" alt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32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zh-CN" altLang="en-US" sz="32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en-US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3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zh-CN" altLang="en-US" sz="3200" i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eqArr>
                    </m:oMath>
                  </m:oMathPara>
                </a14:m>
                <a:endParaRPr lang="en-US" altLang="zh-CN" sz="3200"/>
              </a:p>
              <a:p>
                <a14:m>
                  <m:oMath xmlns:m="http://schemas.openxmlformats.org/officeDocument/2006/math">
                    <m:r>
                      <a:rPr lang="zh-CN" altLang="en-US" sz="32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zh-CN" altLang="en-US" sz="3200"/>
                  <a:t>包含全景</a:t>
                </a:r>
                <a:r>
                  <a:rPr lang="en-US" altLang="zh-CN" sz="3200"/>
                  <a:t>view</a:t>
                </a:r>
                <a:r>
                  <a:rPr lang="zh-CN" altLang="en-US" sz="3200"/>
                  <a:t>和局部</a:t>
                </a:r>
                <a:r>
                  <a:rPr lang="en-US" altLang="zh-CN" sz="3200"/>
                  <a:t>view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3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32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zh-CN" altLang="en-US" sz="3200" i="1">
                            <a:latin typeface="Cambria Math" panose="02040503050406030204" pitchFamily="18" charset="0"/>
                          </a:rPr>
                          <m:t>𝑔</m:t>
                        </m:r>
                      </m:sup>
                    </m:sSubSup>
                    <m:r>
                      <a:rPr lang="zh-CN" altLang="en-US" sz="320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zh-CN" altLang="en-US" sz="3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32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zh-CN" altLang="en-US" sz="3200" i="1">
                            <a:latin typeface="Cambria Math" panose="02040503050406030204" pitchFamily="18" charset="0"/>
                          </a:rPr>
                          <m:t>𝑔</m:t>
                        </m:r>
                      </m:sup>
                    </m:sSubSup>
                    <m:r>
                      <a:rPr lang="zh-CN" altLang="en-US" sz="3200" i="1">
                        <a:latin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zh-CN" altLang="en-US" sz="3200"/>
                  <a:t>其中的全景</a:t>
                </a:r>
                <a:r>
                  <a:rPr lang="en-US" altLang="zh-CN" sz="3200"/>
                  <a:t>view</a:t>
                </a:r>
                <a:endParaRPr lang="zh-CN" altLang="en-US" sz="3200"/>
              </a:p>
            </p:txBody>
          </p:sp>
        </mc:Choice>
        <mc:Fallback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EB91DED-8F87-62DD-F5D0-BBCC5E0F8F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2600" y="3674219"/>
                <a:ext cx="6363588" cy="2938561"/>
              </a:xfrm>
              <a:prstGeom prst="rect">
                <a:avLst/>
              </a:prstGeom>
              <a:blipFill>
                <a:blip r:embed="rId3"/>
                <a:stretch>
                  <a:fillRect b="-56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79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C90D5-152E-EA13-CA35-89A5973E0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16304D3-C496-FB9A-AFE0-7F5A82D790D6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B291EA92-8E4E-A42D-4760-7F0DF12BC575}"/>
              </a:ext>
            </a:extLst>
          </p:cNvPr>
          <p:cNvSpPr txBox="1"/>
          <p:nvPr/>
        </p:nvSpPr>
        <p:spPr>
          <a:xfrm>
            <a:off x="457200" y="727214"/>
            <a:ext cx="464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DINO</a:t>
            </a:r>
            <a:endParaRPr lang="zh-CN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F90C6A8-57B6-C3ED-8443-D82934D50EA5}"/>
                  </a:ext>
                </a:extLst>
              </p:cNvPr>
              <p:cNvSpPr txBox="1"/>
              <p:nvPr/>
            </p:nvSpPr>
            <p:spPr>
              <a:xfrm>
                <a:off x="4191000" y="2019300"/>
                <a:ext cx="8915400" cy="76170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sSup>
                        <m:sSupPr>
                          <m:ctrlPr>
                            <a:rPr lang="zh-CN" altLang="zh-CN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zh-CN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d>
                            <m:dPr>
                              <m:ctrlPr>
                                <a:rPr lang="zh-CN" altLang="zh-CN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p>
                      <m:r>
                        <a:rPr lang="en-US" altLang="zh-CN" sz="32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3200">
                              <a:latin typeface="Cambria Math" panose="02040503050406030204" pitchFamily="18" charset="0"/>
                            </a:rPr>
                            <m:t>exp</m:t>
                          </m:r>
                          <m:d>
                            <m:dPr>
                              <m:ctrlPr>
                                <a:rPr lang="zh-CN" altLang="zh-CN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zh-CN" altLang="zh-CN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32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CN" sz="320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sub>
                              </m:sSub>
                              <m:sSup>
                                <m:sSupPr>
                                  <m:ctrlPr>
                                    <a:rPr lang="zh-CN" altLang="zh-CN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zh-CN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3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  <m:sup>
                                  <m:d>
                                    <m:dPr>
                                      <m:ctrlPr>
                                        <a:rPr lang="zh-CN" altLang="zh-CN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3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altLang="zh-CN" sz="320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zh-CN" altLang="zh-CN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ctrlPr>
                                <a:rPr lang="zh-CN" altLang="zh-CN" sz="3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320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en-US" altLang="zh-CN" sz="320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e>
                          </m:nary>
                          <m:d>
                            <m:dPr>
                              <m:ctrlPr>
                                <a:rPr lang="zh-CN" altLang="zh-CN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zh-CN" altLang="zh-CN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32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CN" sz="320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sub>
                              </m:sSub>
                              <m:sSup>
                                <m:sSupPr>
                                  <m:ctrlPr>
                                    <a:rPr lang="zh-CN" altLang="zh-CN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zh-CN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3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  <m:sup>
                                  <m:d>
                                    <m:dPr>
                                      <m:ctrlPr>
                                        <a:rPr lang="zh-CN" altLang="zh-CN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32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altLang="zh-CN" sz="320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zh-CN" altLang="zh-CN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sz="3200"/>
              </a:p>
              <a:p>
                <a:endParaRPr lang="en-US" altLang="zh-CN" sz="32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zh-CN" altLang="zh-CN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zh-CN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d>
                            <m:dPr>
                              <m:ctrlPr>
                                <a:rPr lang="zh-CN" altLang="zh-CN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p>
                      <m:r>
                        <a:rPr lang="en-US" altLang="zh-CN" sz="32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3200">
                              <a:latin typeface="Cambria Math" panose="02040503050406030204" pitchFamily="18" charset="0"/>
                            </a:rPr>
                            <m:t>exp</m:t>
                          </m:r>
                          <m:d>
                            <m:dPr>
                              <m:ctrlPr>
                                <a:rPr lang="zh-CN" altLang="zh-CN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zh-CN" altLang="zh-CN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32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CN" sz="32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sub>
                              </m:sSub>
                              <m:sSup>
                                <m:sSupPr>
                                  <m:ctrlPr>
                                    <a:rPr lang="zh-CN" altLang="zh-CN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zh-CN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3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  <m:sup>
                                  <m:d>
                                    <m:dPr>
                                      <m:ctrlPr>
                                        <a:rPr lang="zh-CN" altLang="zh-CN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3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altLang="zh-CN" sz="3200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3200" b="0" i="0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r>
                                <a:rPr lang="en-US" altLang="zh-CN" sz="3200" b="0" i="0" smtClean="0">
                                  <a:latin typeface="Cambria Math" panose="02040503050406030204" pitchFamily="18" charset="0"/>
                                </a:rPr>
                                <m:t>)/</m:t>
                              </m:r>
                              <m:sSub>
                                <m:sSubPr>
                                  <m:ctrlPr>
                                    <a:rPr lang="zh-CN" altLang="zh-CN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ctrlPr>
                                <a:rPr lang="zh-CN" altLang="zh-CN" sz="3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320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en-US" altLang="zh-CN" sz="320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e>
                          </m:nary>
                          <m:d>
                            <m:dPr>
                              <m:ctrlPr>
                                <a:rPr lang="zh-CN" altLang="zh-CN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zh-CN" altLang="zh-CN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32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CN" sz="32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sub>
                              </m:sSub>
                              <m:sSup>
                                <m:sSupPr>
                                  <m:ctrlPr>
                                    <a:rPr lang="zh-CN" altLang="zh-CN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zh-CN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3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  <m:sup>
                                  <m:d>
                                    <m:dPr>
                                      <m:ctrlPr>
                                        <a:rPr lang="zh-CN" altLang="zh-CN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32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altLang="zh-CN" sz="320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zh-CN" altLang="zh-CN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sz="3200"/>
              </a:p>
              <a:p>
                <a:endParaRPr lang="en-US" altLang="zh-CN" sz="32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zh-CN" altLang="zh-CN" sz="320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zh-CN" altLang="zh-CN" sz="320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sSub>
                            <m:sSubPr>
                              <m:ctrlPr>
                                <a:rPr lang="zh-CN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zh-CN" sz="32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zh-CN" altLang="zh-CN" sz="3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lim>
                      </m:limLow>
                      <m:r>
                        <a:rPr lang="zh-CN" altLang="zh-CN" sz="3200" i="0">
                          <a:latin typeface="Cambria Math" panose="02040503050406030204" pitchFamily="18" charset="0"/>
                        </a:rPr>
                        <m:t> </m:t>
                      </m:r>
                      <m:r>
                        <a:rPr lang="zh-CN" altLang="zh-CN" sz="320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zh-CN" altLang="zh-C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zh-CN" sz="32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zh-CN" altLang="zh-CN" sz="3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zh-CN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zh-CN" altLang="zh-CN" sz="3200" i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zh-CN" sz="32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zh-CN" altLang="zh-CN" sz="3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zh-CN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CN" sz="3200"/>
              </a:p>
              <a:p>
                <a:endParaRPr lang="en-US" altLang="zh-CN" sz="3200"/>
              </a:p>
              <a:p>
                <a:endParaRPr lang="en-US" altLang="zh-CN" sz="32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3200" b="0" i="0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zh-CN" sz="3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zh-CN" altLang="zh-CN" sz="3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zh-CN" sz="3200">
                              <a:latin typeface="Cambria Math" panose="02040503050406030204" pitchFamily="18" charset="0"/>
                            </a:rPr>
                            <m:t>∥</m:t>
                          </m:r>
                          <m:sSub>
                            <m:sSubPr>
                              <m:ctrlPr>
                                <a:rPr lang="zh-CN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zh-CN" sz="3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zh-CN" altLang="zh-CN" sz="3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3200" b="0" i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altLang="zh-CN" sz="3200" b="0" i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zh-CN" sz="3200" b="0" smtClean="0">
                          <a:latin typeface="Cambria Math" panose="02040503050406030204" pitchFamily="18" charset="0"/>
                        </a:rPr>
                        <m:t>CrossEntropy</m:t>
                      </m:r>
                      <m:d>
                        <m:dPr>
                          <m:ctrlPr>
                            <a:rPr lang="zh-CN" altLang="zh-CN" sz="3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32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zh-CN" sz="3200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zh-CN" altLang="zh-CN" sz="3200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zh-CN" sz="3200" b="0" i="0">
                              <a:latin typeface="Cambria Math" panose="02040503050406030204" pitchFamily="18" charset="0"/>
                            </a:rPr>
                            <m:t>∥</m:t>
                          </m:r>
                          <m:sSub>
                            <m:sSubPr>
                              <m:ctrlPr>
                                <a:rPr lang="zh-CN" altLang="zh-CN" sz="32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zh-CN" sz="3200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zh-CN" altLang="zh-CN" sz="3200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zh-CN" altLang="zh-CN" sz="3200" b="0" i="0">
                          <a:latin typeface="Cambria Math" panose="02040503050406030204" pitchFamily="18" charset="0"/>
                        </a:rPr>
                        <m:t>=−</m:t>
                      </m:r>
                      <m:limLow>
                        <m:limLowPr>
                          <m:ctrlPr>
                            <a:rPr lang="zh-CN" altLang="zh-CN" sz="3200" b="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zh-CN" altLang="zh-CN" sz="3200" b="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e>
                        <m:lim>
                          <m:r>
                            <a:rPr lang="zh-CN" altLang="zh-CN" sz="3200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lim>
                      </m:limLow>
                      <m:r>
                        <a:rPr lang="zh-CN" altLang="zh-CN" sz="3200" b="0" i="0">
                          <a:latin typeface="Cambria Math" panose="02040503050406030204" pitchFamily="18" charset="0"/>
                        </a:rPr>
                        <m:t> </m:t>
                      </m:r>
                      <m:sSubSup>
                        <m:sSubSupPr>
                          <m:ctrlPr>
                            <a:rPr lang="zh-CN" altLang="zh-CN" sz="3200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zh-CN" sz="3200" b="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zh-CN" altLang="zh-CN" sz="32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d>
                            <m:dPr>
                              <m:ctrlPr>
                                <a:rPr lang="zh-CN" altLang="zh-CN" sz="32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zh-CN" sz="32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bSup>
                      <m:r>
                        <a:rPr lang="zh-CN" altLang="zh-CN" sz="3200" b="0" i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zh-CN" altLang="zh-CN" sz="3200" b="0" i="0">
                          <a:latin typeface="Cambria Math" panose="02040503050406030204" pitchFamily="18" charset="0"/>
                        </a:rPr>
                        <m:t>log</m:t>
                      </m:r>
                      <m:sSubSup>
                        <m:sSubSupPr>
                          <m:ctrlPr>
                            <a:rPr lang="zh-CN" altLang="zh-CN" sz="3200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zh-CN" sz="3200" b="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zh-CN" altLang="zh-CN" sz="3200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zh-CN" altLang="zh-CN" sz="32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zh-CN" sz="32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zh-CN" altLang="zh-CN" sz="3200"/>
              </a:p>
              <a:p>
                <a:endParaRPr lang="zh-CN" altLang="en-US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F90C6A8-57B6-C3ED-8443-D82934D50E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2019300"/>
                <a:ext cx="8915400" cy="76170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F72F8C14-6AFE-2593-E89C-2F1F3228C722}"/>
              </a:ext>
            </a:extLst>
          </p:cNvPr>
          <p:cNvSpPr txBox="1"/>
          <p:nvPr/>
        </p:nvSpPr>
        <p:spPr>
          <a:xfrm>
            <a:off x="3619500" y="1866900"/>
            <a:ext cx="297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>
                <a:latin typeface="Arial" panose="020B0604020202020204" pitchFamily="34" charset="0"/>
                <a:cs typeface="Arial" panose="020B0604020202020204" pitchFamily="34" charset="0"/>
              </a:rPr>
              <a:t>Loss</a:t>
            </a:r>
            <a:r>
              <a:rPr lang="zh-CN" altLang="en-US" sz="3600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2813022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47B96-102A-E488-6435-685FAD9C2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B4F8B4F-6615-4F92-C59B-451EC32BC2A8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3129A9AC-8E12-B6F5-C6BC-8140F19FC227}"/>
              </a:ext>
            </a:extLst>
          </p:cNvPr>
          <p:cNvSpPr txBox="1"/>
          <p:nvPr/>
        </p:nvSpPr>
        <p:spPr>
          <a:xfrm>
            <a:off x="457200" y="727214"/>
            <a:ext cx="464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DINO</a:t>
            </a:r>
            <a:endParaRPr lang="zh-CN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6992040-3882-4574-E413-2C357E1367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9613" y="1638300"/>
            <a:ext cx="10328773" cy="7388086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A82A055-EBF8-32B2-315D-53369470C34A}"/>
              </a:ext>
            </a:extLst>
          </p:cNvPr>
          <p:cNvSpPr/>
          <p:nvPr/>
        </p:nvSpPr>
        <p:spPr>
          <a:xfrm>
            <a:off x="4572000" y="6819900"/>
            <a:ext cx="7543800" cy="3810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6EA159AF-A408-6EFD-C093-A9658274CA02}"/>
              </a:ext>
            </a:extLst>
          </p:cNvPr>
          <p:cNvCxnSpPr>
            <a:endCxn id="7" idx="1"/>
          </p:cNvCxnSpPr>
          <p:nvPr/>
        </p:nvCxnSpPr>
        <p:spPr>
          <a:xfrm>
            <a:off x="3657600" y="6438900"/>
            <a:ext cx="914400" cy="5715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2C0ABEA9-B0AC-D2D1-ACBF-C226F737F924}"/>
              </a:ext>
            </a:extLst>
          </p:cNvPr>
          <p:cNvSpPr/>
          <p:nvPr/>
        </p:nvSpPr>
        <p:spPr>
          <a:xfrm>
            <a:off x="609600" y="5963918"/>
            <a:ext cx="3048000" cy="1313178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Center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同样采用动量更新的方式，主要是为了防止模型仅仅关注几个维度</a:t>
            </a:r>
          </a:p>
        </p:txBody>
      </p:sp>
    </p:spTree>
    <p:extLst>
      <p:ext uri="{BB962C8B-B14F-4D97-AF65-F5344CB8AC3E}">
        <p14:creationId xmlns:p14="http://schemas.microsoft.com/office/powerpoint/2010/main" val="333758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23D48-C88F-25F2-1FB5-D3F8A45C9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3D6588E5-A87A-C57E-E4F1-B9C45B9DC70B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AE80DA1F-EFAE-582D-36E4-62438026C832}"/>
              </a:ext>
            </a:extLst>
          </p:cNvPr>
          <p:cNvSpPr txBox="1"/>
          <p:nvPr/>
        </p:nvSpPr>
        <p:spPr>
          <a:xfrm>
            <a:off x="457200" y="727214"/>
            <a:ext cx="464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IBOT</a:t>
            </a:r>
            <a:endParaRPr lang="zh-CN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80A6C45-CAF9-D246-138F-A420118A2F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40" y="1948322"/>
            <a:ext cx="18288000" cy="6390355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AE99FE1E-59E2-EB08-FF47-AB2B490EF079}"/>
              </a:ext>
            </a:extLst>
          </p:cNvPr>
          <p:cNvCxnSpPr>
            <a:cxnSpLocks/>
          </p:cNvCxnSpPr>
          <p:nvPr/>
        </p:nvCxnSpPr>
        <p:spPr>
          <a:xfrm flipH="1">
            <a:off x="3733800" y="2247900"/>
            <a:ext cx="990600" cy="1066800"/>
          </a:xfrm>
          <a:prstGeom prst="straightConnector1">
            <a:avLst/>
          </a:prstGeom>
          <a:ln w="571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8F877781-78F5-ACF6-8D48-F9B05107FD52}"/>
              </a:ext>
            </a:extLst>
          </p:cNvPr>
          <p:cNvSpPr/>
          <p:nvPr/>
        </p:nvSpPr>
        <p:spPr>
          <a:xfrm>
            <a:off x="4724400" y="1181104"/>
            <a:ext cx="2819400" cy="1554618"/>
          </a:xfrm>
          <a:prstGeom prst="rect">
            <a:avLst/>
          </a:prstGeom>
          <a:noFill/>
          <a:ln w="571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为了对齐，计算</a:t>
            </a:r>
            <a:r>
              <a:rPr lang="en-US" altLang="zh-CN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IBOT</a:t>
            </a:r>
            <a:r>
              <a:rPr lang="zh-CN" altLang="en-US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损失的时候</a:t>
            </a:r>
            <a:r>
              <a:rPr lang="en-US" altLang="zh-CN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teacher</a:t>
            </a:r>
            <a:r>
              <a:rPr lang="zh-CN" altLang="en-US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和</a:t>
            </a:r>
            <a:r>
              <a:rPr lang="en-US" altLang="zh-CN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student</a:t>
            </a:r>
            <a:r>
              <a:rPr lang="zh-CN" altLang="en-US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的输入都应为</a:t>
            </a:r>
            <a:r>
              <a:rPr lang="en-US" altLang="zh-CN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global view</a:t>
            </a:r>
            <a:endParaRPr lang="zh-CN" altLang="en-US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660AFEE-BCE0-68B3-6099-C3789624AA5B}"/>
                  </a:ext>
                </a:extLst>
              </p:cNvPr>
              <p:cNvSpPr txBox="1"/>
              <p:nvPr/>
            </p:nvSpPr>
            <p:spPr>
              <a:xfrm>
                <a:off x="3733800" y="8953500"/>
                <a:ext cx="9150350" cy="11750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𝑖𝐵𝑂𝑇</m:t>
                          </m:r>
                        </m:sub>
                      </m:sSub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=−</m:t>
                      </m:r>
                      <m:limLow>
                        <m:limLow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e>
                        <m:lim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lim>
                      </m:limLow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 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𝑡𝑖</m:t>
                          </m:r>
                        </m:sub>
                      </m:sSub>
                      <m:func>
                        <m:func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400" i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𝑠𝑖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zh-CN" altLang="en-US" sz="2400"/>
              </a:p>
            </p:txBody>
          </p:sp>
        </mc:Choice>
        <mc:Fallback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660AFEE-BCE0-68B3-6099-C3789624AA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800" y="8953500"/>
                <a:ext cx="9150350" cy="11750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4749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7E0B3-D2A0-1CF7-4C88-48DB0A247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FA8F5CF-5471-D744-43AC-957CE2B9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524501"/>
            <a:ext cx="7092463" cy="2286000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445F66D-8387-A6E7-9B21-C64BD19060DB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3DB83B9E-05CA-02FB-7DE8-908CCE5574DB}"/>
              </a:ext>
            </a:extLst>
          </p:cNvPr>
          <p:cNvSpPr txBox="1"/>
          <p:nvPr/>
        </p:nvSpPr>
        <p:spPr>
          <a:xfrm>
            <a:off x="457200" y="727214"/>
            <a:ext cx="464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DINO-v2</a:t>
            </a:r>
            <a:endParaRPr lang="zh-CN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36B23B4-827C-9032-63B1-406264BC16C5}"/>
              </a:ext>
            </a:extLst>
          </p:cNvPr>
          <p:cNvSpPr txBox="1"/>
          <p:nvPr/>
        </p:nvSpPr>
        <p:spPr>
          <a:xfrm>
            <a:off x="2743200" y="1943100"/>
            <a:ext cx="13868400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>
                <a:latin typeface="Arial" panose="020B0604020202020204" pitchFamily="34" charset="0"/>
                <a:ea typeface="微软雅黑" panose="020B0503020204020204" pitchFamily="34" charset="-122"/>
              </a:rPr>
              <a:t>主要改变：</a:t>
            </a:r>
            <a:endParaRPr lang="en-US" altLang="zh-CN" sz="4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sz="4800">
                <a:latin typeface="Arial" panose="020B0604020202020204" pitchFamily="34" charset="0"/>
                <a:ea typeface="微软雅黑" panose="020B0503020204020204" pitchFamily="34" charset="-122"/>
              </a:rPr>
              <a:t>1</a:t>
            </a:r>
            <a:r>
              <a:rPr lang="zh-CN" altLang="en-US" sz="4800">
                <a:latin typeface="Arial" panose="020B0604020202020204" pitchFamily="34" charset="0"/>
                <a:ea typeface="微软雅黑" panose="020B0503020204020204" pitchFamily="34" charset="-122"/>
              </a:rPr>
              <a:t>、创建了一个高质量的数据集，从</a:t>
            </a:r>
            <a:r>
              <a:rPr lang="en-US" altLang="zh-CN" sz="4800">
                <a:latin typeface="Arial" panose="020B0604020202020204" pitchFamily="34" charset="0"/>
                <a:ea typeface="微软雅黑" panose="020B0503020204020204" pitchFamily="34" charset="-122"/>
              </a:rPr>
              <a:t>12</a:t>
            </a:r>
            <a:r>
              <a:rPr lang="zh-CN" altLang="en-US" sz="4800">
                <a:latin typeface="Arial" panose="020B0604020202020204" pitchFamily="34" charset="0"/>
                <a:ea typeface="微软雅黑" panose="020B0503020204020204" pitchFamily="34" charset="-122"/>
              </a:rPr>
              <a:t>亿张图片中筛选出</a:t>
            </a:r>
            <a:r>
              <a:rPr lang="en-US" altLang="zh-CN" sz="4800">
                <a:latin typeface="Arial" panose="020B0604020202020204" pitchFamily="34" charset="0"/>
                <a:ea typeface="微软雅黑" panose="020B0503020204020204" pitchFamily="34" charset="-122"/>
              </a:rPr>
              <a:t>1.42</a:t>
            </a:r>
            <a:r>
              <a:rPr lang="zh-CN" altLang="en-US" sz="4800">
                <a:latin typeface="Arial" panose="020B0604020202020204" pitchFamily="34" charset="0"/>
                <a:ea typeface="微软雅黑" panose="020B0503020204020204" pitchFamily="34" charset="-122"/>
              </a:rPr>
              <a:t>亿张图片，争取每一类相似度高的图片的数量均衡</a:t>
            </a:r>
            <a:endParaRPr lang="en-US" altLang="zh-CN" sz="4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sz="4800">
                <a:latin typeface="Arial" panose="020B0604020202020204" pitchFamily="34" charset="0"/>
                <a:ea typeface="微软雅黑" panose="020B0503020204020204" pitchFamily="34" charset="-122"/>
              </a:rPr>
              <a:t>2</a:t>
            </a:r>
            <a:r>
              <a:rPr lang="zh-CN" altLang="en-US" sz="4800">
                <a:latin typeface="Arial" panose="020B0604020202020204" pitchFamily="34" charset="0"/>
                <a:ea typeface="微软雅黑" panose="020B0503020204020204" pitchFamily="34" charset="-122"/>
              </a:rPr>
              <a:t>、引入</a:t>
            </a:r>
            <a:r>
              <a:rPr lang="en-US" altLang="zh-CN" sz="4800">
                <a:latin typeface="Arial" panose="020B0604020202020204" pitchFamily="34" charset="0"/>
                <a:ea typeface="微软雅黑" panose="020B0503020204020204" pitchFamily="34" charset="-122"/>
              </a:rPr>
              <a:t>patch-level loss(iBOT)</a:t>
            </a:r>
            <a:r>
              <a:rPr lang="zh-CN" altLang="en-US" sz="4800">
                <a:latin typeface="Arial" panose="020B0604020202020204" pitchFamily="34" charset="0"/>
                <a:ea typeface="微软雅黑" panose="020B0503020204020204" pitchFamily="34" charset="-122"/>
              </a:rPr>
              <a:t>和</a:t>
            </a:r>
            <a:r>
              <a:rPr lang="en-US" altLang="zh-CN" sz="4800"/>
              <a:t>KoLeoLoss</a:t>
            </a:r>
            <a:endParaRPr lang="en-US" altLang="zh-CN" sz="4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4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4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4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4800">
                <a:latin typeface="Arial" panose="020B0604020202020204" pitchFamily="34" charset="0"/>
                <a:ea typeface="微软雅黑" panose="020B0503020204020204" pitchFamily="34" charset="-122"/>
              </a:rPr>
              <a:t>3</a:t>
            </a:r>
            <a:r>
              <a:rPr lang="zh-CN" altLang="en-US" sz="4800">
                <a:latin typeface="Arial" panose="020B0604020202020204" pitchFamily="34" charset="0"/>
                <a:ea typeface="微软雅黑" panose="020B0503020204020204" pitchFamily="34" charset="-122"/>
              </a:rPr>
              <a:t>、将同一批次所有的视图拼接到一起送图</a:t>
            </a:r>
            <a:r>
              <a:rPr lang="en-US" altLang="zh-CN" sz="4800">
                <a:latin typeface="Arial" panose="020B0604020202020204" pitchFamily="34" charset="0"/>
                <a:ea typeface="微软雅黑" panose="020B0503020204020204" pitchFamily="34" charset="-122"/>
              </a:rPr>
              <a:t>ViT</a:t>
            </a:r>
          </a:p>
          <a:p>
            <a:r>
              <a:rPr lang="en-US" altLang="zh-CN" sz="4800">
                <a:latin typeface="Arial" panose="020B0604020202020204" pitchFamily="34" charset="0"/>
                <a:ea typeface="微软雅黑" panose="020B0503020204020204" pitchFamily="34" charset="-122"/>
              </a:rPr>
              <a:t>4</a:t>
            </a:r>
            <a:r>
              <a:rPr lang="zh-CN" altLang="en-US" sz="4800">
                <a:latin typeface="Arial" panose="020B0604020202020204" pitchFamily="34" charset="0"/>
                <a:ea typeface="微软雅黑" panose="020B0503020204020204" pitchFamily="34" charset="-122"/>
              </a:rPr>
              <a:t>、多</a:t>
            </a:r>
            <a:r>
              <a:rPr lang="en-US" altLang="zh-CN" sz="4800">
                <a:latin typeface="Arial" panose="020B0604020202020204" pitchFamily="34" charset="0"/>
                <a:ea typeface="微软雅黑" panose="020B0503020204020204" pitchFamily="34" charset="-122"/>
              </a:rPr>
              <a:t>head</a:t>
            </a:r>
            <a:r>
              <a:rPr lang="zh-CN" altLang="en-US" sz="4800">
                <a:latin typeface="Arial" panose="020B0604020202020204" pitchFamily="34" charset="0"/>
                <a:ea typeface="微软雅黑" panose="020B0503020204020204" pitchFamily="34" charset="-122"/>
              </a:rPr>
              <a:t>结构（</a:t>
            </a:r>
            <a:r>
              <a:rPr lang="en-US" altLang="zh-CN" sz="4800">
                <a:latin typeface="Arial" panose="020B0604020202020204" pitchFamily="34" charset="0"/>
                <a:ea typeface="微软雅黑" panose="020B0503020204020204" pitchFamily="34" charset="-122"/>
              </a:rPr>
              <a:t>DINO head + iBOT head</a:t>
            </a:r>
            <a:r>
              <a:rPr lang="zh-CN" altLang="en-US" sz="4800">
                <a:latin typeface="Arial" panose="020B0604020202020204" pitchFamily="34" charset="0"/>
                <a:ea typeface="微软雅黑" panose="020B0503020204020204" pitchFamily="34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122909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17588-275F-1842-1E22-BBA84D19C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3B2C637-3795-18D7-28CA-2D53D1AC82D9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EBCB192F-AC04-DB43-2E12-ACAA3C4889A3}"/>
              </a:ext>
            </a:extLst>
          </p:cNvPr>
          <p:cNvSpPr txBox="1"/>
          <p:nvPr/>
        </p:nvSpPr>
        <p:spPr>
          <a:xfrm>
            <a:off x="457200" y="727214"/>
            <a:ext cx="464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DINO-v3</a:t>
            </a:r>
            <a:endParaRPr lang="zh-CN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F01F9EF-4784-185C-974D-F1EB805DFCED}"/>
                  </a:ext>
                </a:extLst>
              </p:cNvPr>
              <p:cNvSpPr txBox="1"/>
              <p:nvPr/>
            </p:nvSpPr>
            <p:spPr>
              <a:xfrm>
                <a:off x="1676400" y="1714500"/>
                <a:ext cx="15316200" cy="83333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>
                    <a:solidFill>
                      <a:schemeClr val="accent2">
                        <a:lumMod val="50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rPr>
                  <a:t>问题：</a:t>
                </a:r>
                <a:r>
                  <a:rPr lang="en-US" altLang="zh-CN" sz="3200">
                    <a:solidFill>
                      <a:schemeClr val="accent2">
                        <a:lumMod val="50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rPr>
                  <a:t>DINO v2</a:t>
                </a:r>
                <a:r>
                  <a:rPr lang="zh-CN" altLang="en-US" sz="3200">
                    <a:solidFill>
                      <a:schemeClr val="accent2">
                        <a:lumMod val="50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rPr>
                  <a:t>中存在密集特征的后期退化，简单来说就是全局任务性能（分类）会增强，而密集任务性能（如分割、深度估计）会下降，不相干的</a:t>
                </a:r>
                <a:r>
                  <a:rPr lang="en-US" altLang="zh-CN" sz="3200">
                    <a:solidFill>
                      <a:schemeClr val="accent2">
                        <a:lumMod val="50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rPr>
                  <a:t>patch</a:t>
                </a:r>
                <a:r>
                  <a:rPr lang="zh-CN" altLang="en-US" sz="3200">
                    <a:solidFill>
                      <a:schemeClr val="accent2">
                        <a:lumMod val="50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rPr>
                  <a:t>的特征向量之间有很高的相似度</a:t>
                </a:r>
                <a:endParaRPr lang="en-US" altLang="zh-CN" sz="3200">
                  <a:solidFill>
                    <a:schemeClr val="accent2">
                      <a:lumMod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endParaRPr lang="en-US" altLang="zh-CN" sz="320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r>
                  <a:rPr lang="en-US" altLang="zh-CN" sz="3200">
                    <a:latin typeface="Arial" panose="020B0604020202020204" pitchFamily="34" charset="0"/>
                    <a:ea typeface="微软雅黑" panose="020B0503020204020204" pitchFamily="34" charset="-122"/>
                  </a:rPr>
                  <a:t>DINOv3</a:t>
                </a:r>
                <a:r>
                  <a:rPr lang="zh-CN" altLang="en-US" sz="3200">
                    <a:latin typeface="Arial" panose="020B0604020202020204" pitchFamily="34" charset="0"/>
                    <a:ea typeface="微软雅黑" panose="020B0503020204020204" pitchFamily="34" charset="-122"/>
                  </a:rPr>
                  <a:t>引入了</a:t>
                </a:r>
                <a:r>
                  <a:rPr lang="en-US" altLang="zh-CN" sz="3200">
                    <a:latin typeface="Arial" panose="020B0604020202020204" pitchFamily="34" charset="0"/>
                    <a:ea typeface="微软雅黑" panose="020B0503020204020204" pitchFamily="34" charset="-122"/>
                  </a:rPr>
                  <a:t>Gram Anchoring </a:t>
                </a:r>
                <a:r>
                  <a:rPr lang="zh-CN" altLang="en-US" sz="3200">
                    <a:latin typeface="Arial" panose="020B0604020202020204" pitchFamily="34" charset="0"/>
                    <a:ea typeface="微软雅黑" panose="020B0503020204020204" pitchFamily="34" charset="-122"/>
                  </a:rPr>
                  <a:t>，在训练（</a:t>
                </a:r>
                <a:r>
                  <a:rPr lang="en-US" altLang="zh-CN" sz="3200">
                    <a:latin typeface="Arial" panose="020B0604020202020204" pitchFamily="34" charset="0"/>
                    <a:ea typeface="微软雅黑" panose="020B0503020204020204" pitchFamily="34" charset="-122"/>
                  </a:rPr>
                  <a:t>100</a:t>
                </a:r>
                <a:r>
                  <a:rPr lang="zh-CN" altLang="en-US" sz="3200">
                    <a:latin typeface="Arial" panose="020B0604020202020204" pitchFamily="34" charset="0"/>
                    <a:ea typeface="微软雅黑" panose="020B0503020204020204" pitchFamily="34" charset="-122"/>
                  </a:rPr>
                  <a:t>万次迭代后）结束后，进入一个精炼阶段，引入一个新的损失</a:t>
                </a:r>
                <a:r>
                  <a:rPr lang="en-US" altLang="zh-CN" sz="3200">
                    <a:latin typeface="Arial" panose="020B0604020202020204" pitchFamily="34" charset="0"/>
                    <a:ea typeface="微软雅黑" panose="020B0503020204020204" pitchFamily="34" charset="-122"/>
                  </a:rPr>
                  <a:t>L_Gram</a:t>
                </a:r>
                <a:r>
                  <a:rPr lang="zh-CN" altLang="en-US" sz="3200">
                    <a:latin typeface="Arial" panose="020B0604020202020204" pitchFamily="34" charset="0"/>
                    <a:ea typeface="微软雅黑" panose="020B0503020204020204" pitchFamily="34" charset="-122"/>
                  </a:rPr>
                  <a:t>：</a:t>
                </a:r>
                <a:endParaRPr lang="en-US" altLang="zh-CN" sz="320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endParaRPr lang="en-US" altLang="zh-CN" sz="320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r>
                  <a:rPr lang="zh-CN" altLang="en-US" sz="3200">
                    <a:latin typeface="Arial" panose="020B0604020202020204" pitchFamily="34" charset="0"/>
                    <a:ea typeface="微软雅黑" panose="020B0503020204020204" pitchFamily="34" charset="-122"/>
                  </a:rPr>
                  <a:t>给定一个 </a:t>
                </a:r>
                <a:r>
                  <a:rPr lang="en-US" altLang="zh-CN" sz="3200">
                    <a:effectLst/>
                    <a:latin typeface="Arial" panose="020B0604020202020204" pitchFamily="34" charset="0"/>
                    <a:ea typeface="微软雅黑" panose="020B0503020204020204" pitchFamily="34" charset="-122"/>
                  </a:rPr>
                  <a:t>patch token </a:t>
                </a:r>
                <a:r>
                  <a:rPr lang="zh-CN" altLang="en-US" sz="3200">
                    <a:effectLst/>
                    <a:latin typeface="Arial" panose="020B0604020202020204" pitchFamily="34" charset="0"/>
                    <a:ea typeface="微软雅黑" panose="020B0503020204020204" pitchFamily="34" charset="-122"/>
                  </a:rPr>
                  <a:t>特征矩阵 </a:t>
                </a:r>
                <a14:m>
                  <m:oMath xmlns:m="http://schemas.openxmlformats.org/officeDocument/2006/math">
                    <m:r>
                      <a:rPr lang="zh-CN" altLang="en-US" sz="3200" i="1"/>
                      <m:t>𝑋</m:t>
                    </m:r>
                    <m:r>
                      <a:rPr lang="zh-CN" altLang="en-US" sz="3200"/>
                      <m:t>∈</m:t>
                    </m:r>
                    <m:sSup>
                      <m:sSupPr>
                        <m:ctrlPr>
                          <a:rPr lang="ar-AE" altLang="zh-CN" sz="3200" i="1"/>
                        </m:ctrlPr>
                      </m:sSupPr>
                      <m:e>
                        <m:r>
                          <a:rPr lang="ar-AE" altLang="zh-CN" sz="3200"/>
                          <m:t>ℝ</m:t>
                        </m:r>
                      </m:e>
                      <m:sup>
                        <m:r>
                          <a:rPr lang="zh-CN" altLang="ar-AE" sz="3200" i="1"/>
                          <m:t>𝑁</m:t>
                        </m:r>
                        <m:r>
                          <a:rPr lang="ar-AE" altLang="zh-CN" sz="3200"/>
                          <m:t>×</m:t>
                        </m:r>
                        <m:r>
                          <a:rPr lang="zh-CN" altLang="ar-AE" sz="3200" i="1"/>
                          <m:t>𝐷</m:t>
                        </m:r>
                      </m:sup>
                    </m:sSup>
                  </m:oMath>
                </a14:m>
                <a:r>
                  <a:rPr lang="zh-CN" altLang="ar-AE" sz="3200">
                    <a:effectLst/>
                    <a:latin typeface="Arial" panose="020B0604020202020204" pitchFamily="34" charset="0"/>
                    <a:ea typeface="微软雅黑" panose="020B0503020204020204" pitchFamily="34" charset="-122"/>
                  </a:rPr>
                  <a:t>，</a:t>
                </a:r>
                <a:r>
                  <a:rPr lang="zh-CN" altLang="en-US" sz="3200">
                    <a:effectLst/>
                    <a:latin typeface="Arial" panose="020B0604020202020204" pitchFamily="34" charset="0"/>
                    <a:ea typeface="微软雅黑" panose="020B0503020204020204" pitchFamily="34" charset="-122"/>
                  </a:rPr>
                  <a:t>其中：</a:t>
                </a:r>
              </a:p>
              <a:p>
                <a14:m>
                  <m:oMath xmlns:m="http://schemas.openxmlformats.org/officeDocument/2006/math">
                    <m:r>
                      <a:rPr lang="zh-CN" altLang="en-US" sz="3200" i="1"/>
                      <m:t>𝑁</m:t>
                    </m:r>
                  </m:oMath>
                </a14:m>
                <a:r>
                  <a:rPr lang="zh-CN" altLang="en-US" sz="3200">
                    <a:effectLst/>
                    <a:latin typeface="Arial" panose="020B0604020202020204" pitchFamily="34" charset="0"/>
                    <a:ea typeface="微软雅黑" panose="020B0503020204020204" pitchFamily="34" charset="-122"/>
                  </a:rPr>
                  <a:t>：</a:t>
                </a:r>
                <a:r>
                  <a:rPr lang="en-US" altLang="zh-CN" sz="3200">
                    <a:effectLst/>
                    <a:latin typeface="Arial" panose="020B0604020202020204" pitchFamily="34" charset="0"/>
                    <a:ea typeface="微软雅黑" panose="020B0503020204020204" pitchFamily="34" charset="-122"/>
                  </a:rPr>
                  <a:t>patch </a:t>
                </a:r>
                <a:r>
                  <a:rPr lang="zh-CN" altLang="en-US" sz="3200">
                    <a:effectLst/>
                    <a:latin typeface="Arial" panose="020B0604020202020204" pitchFamily="34" charset="0"/>
                    <a:ea typeface="微软雅黑" panose="020B0503020204020204" pitchFamily="34" charset="-122"/>
                  </a:rPr>
                  <a:t>数（比如 </a:t>
                </a:r>
                <a:r>
                  <a:rPr lang="en-US" altLang="zh-CN" sz="3200">
                    <a:effectLst/>
                    <a:latin typeface="Arial" panose="020B0604020202020204" pitchFamily="34" charset="0"/>
                    <a:ea typeface="微软雅黑" panose="020B0503020204020204" pitchFamily="34" charset="-122"/>
                  </a:rPr>
                  <a:t>196</a:t>
                </a:r>
                <a:r>
                  <a:rPr lang="zh-CN" altLang="en-US" sz="3200">
                    <a:effectLst/>
                    <a:latin typeface="Arial" panose="020B0604020202020204" pitchFamily="34" charset="0"/>
                    <a:ea typeface="微软雅黑" panose="020B0503020204020204" pitchFamily="34" charset="-122"/>
                  </a:rPr>
                  <a:t>）</a:t>
                </a:r>
              </a:p>
              <a:p>
                <a14:m>
                  <m:oMath xmlns:m="http://schemas.openxmlformats.org/officeDocument/2006/math">
                    <m:r>
                      <a:rPr lang="zh-CN" altLang="en-US" sz="3200" i="1"/>
                      <m:t>𝐷</m:t>
                    </m:r>
                  </m:oMath>
                </a14:m>
                <a:r>
                  <a:rPr lang="zh-CN" altLang="en-US" sz="3200">
                    <a:effectLst/>
                    <a:latin typeface="Arial" panose="020B0604020202020204" pitchFamily="34" charset="0"/>
                    <a:ea typeface="微软雅黑" panose="020B0503020204020204" pitchFamily="34" charset="-122"/>
                  </a:rPr>
                  <a:t>：每个 </a:t>
                </a:r>
                <a:r>
                  <a:rPr lang="en-US" altLang="zh-CN" sz="3200">
                    <a:effectLst/>
                    <a:latin typeface="Arial" panose="020B0604020202020204" pitchFamily="34" charset="0"/>
                    <a:ea typeface="微软雅黑" panose="020B0503020204020204" pitchFamily="34" charset="-122"/>
                  </a:rPr>
                  <a:t>patch </a:t>
                </a:r>
                <a:r>
                  <a:rPr lang="zh-CN" altLang="en-US" sz="3200">
                    <a:effectLst/>
                    <a:latin typeface="Arial" panose="020B0604020202020204" pitchFamily="34" charset="0"/>
                    <a:ea typeface="微软雅黑" panose="020B0503020204020204" pitchFamily="34" charset="-122"/>
                  </a:rPr>
                  <a:t>的维度</a:t>
                </a:r>
              </a:p>
              <a:p>
                <a:r>
                  <a:rPr lang="zh-CN" altLang="en-US" sz="3200">
                    <a:effectLst/>
                    <a:latin typeface="Arial" panose="020B0604020202020204" pitchFamily="34" charset="0"/>
                    <a:ea typeface="微软雅黑" panose="020B0503020204020204" pitchFamily="34" charset="-122"/>
                  </a:rPr>
                  <a:t>那么它的 </a:t>
                </a:r>
                <a:r>
                  <a:rPr lang="en-US" altLang="zh-CN" sz="3200">
                    <a:effectLst/>
                    <a:latin typeface="Arial" panose="020B0604020202020204" pitchFamily="34" charset="0"/>
                    <a:ea typeface="微软雅黑" panose="020B0503020204020204" pitchFamily="34" charset="-122"/>
                  </a:rPr>
                  <a:t>Gram</a:t>
                </a:r>
                <a:r>
                  <a:rPr lang="en-US" altLang="zh-CN" sz="3200" b="1">
                    <a:effectLst/>
                    <a:latin typeface="Arial" panose="020B0604020202020204" pitchFamily="34" charset="0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>
                    <a:effectLst/>
                    <a:latin typeface="Arial" panose="020B0604020202020204" pitchFamily="34" charset="0"/>
                    <a:ea typeface="微软雅黑" panose="020B0503020204020204" pitchFamily="34" charset="-122"/>
                  </a:rPr>
                  <a:t>矩阵 是：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200" i="1"/>
                        <m:t>𝐺</m:t>
                      </m:r>
                      <m:r>
                        <a:rPr lang="en-US" altLang="zh-CN" sz="3200"/>
                        <m:t>=</m:t>
                      </m:r>
                      <m:r>
                        <a:rPr lang="zh-CN" altLang="en-US" sz="3200" i="1"/>
                        <m:t>𝑋</m:t>
                      </m:r>
                      <m:sSup>
                        <m:sSupPr>
                          <m:ctrlPr>
                            <a:rPr lang="ar-AE" altLang="zh-CN" sz="3200" i="1"/>
                          </m:ctrlPr>
                        </m:sSupPr>
                        <m:e>
                          <m:r>
                            <a:rPr lang="zh-CN" altLang="ar-AE" sz="3200" i="1"/>
                            <m:t>𝑋</m:t>
                          </m:r>
                        </m:e>
                        <m:sup>
                          <m:r>
                            <a:rPr lang="ar-AE" altLang="zh-CN" sz="3200"/>
                            <m:t>⊤</m:t>
                          </m:r>
                        </m:sup>
                      </m:sSup>
                      <m:r>
                        <a:rPr lang="ar-AE" altLang="zh-CN" sz="3200"/>
                        <m:t>∈</m:t>
                      </m:r>
                      <m:sSup>
                        <m:sSupPr>
                          <m:ctrlPr>
                            <a:rPr lang="ar-AE" altLang="zh-CN" sz="3200" i="1"/>
                          </m:ctrlPr>
                        </m:sSupPr>
                        <m:e>
                          <m:r>
                            <a:rPr lang="ar-AE" altLang="zh-CN" sz="3200"/>
                            <m:t>ℝ</m:t>
                          </m:r>
                        </m:e>
                        <m:sup>
                          <m:r>
                            <a:rPr lang="zh-CN" altLang="ar-AE" sz="3200" i="1"/>
                            <m:t>𝑁</m:t>
                          </m:r>
                          <m:r>
                            <a:rPr lang="ar-AE" altLang="zh-CN" sz="3200"/>
                            <m:t>×</m:t>
                          </m:r>
                          <m:r>
                            <a:rPr lang="zh-CN" altLang="ar-AE" sz="3200" i="1"/>
                            <m:t>𝑁</m:t>
                          </m:r>
                        </m:sup>
                      </m:sSup>
                    </m:oMath>
                  </m:oMathPara>
                </a14:m>
                <a:endParaRPr lang="ar-AE" altLang="zh-CN" sz="320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r>
                  <a:rPr lang="zh-CN" altLang="en-US" sz="3200">
                    <a:effectLst/>
                    <a:latin typeface="Arial" panose="020B0604020202020204" pitchFamily="34" charset="0"/>
                    <a:ea typeface="微软雅黑" panose="020B0503020204020204" pitchFamily="34" charset="-122"/>
                  </a:rPr>
                  <a:t>也就是说：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3200"/>
                        </m:ctrlPr>
                      </m:sSubPr>
                      <m:e>
                        <m:r>
                          <a:rPr lang="zh-CN" altLang="ar-AE" sz="3200" i="1"/>
                          <m:t>𝐺</m:t>
                        </m:r>
                      </m:e>
                      <m:sub>
                        <m:r>
                          <a:rPr lang="zh-CN" altLang="ar-AE" sz="3200" i="1"/>
                          <m:t>𝑖𝑗</m:t>
                        </m:r>
                      </m:sub>
                    </m:sSub>
                    <m:r>
                      <a:rPr lang="ar-AE" altLang="zh-CN" sz="3200"/>
                      <m:t>=</m:t>
                    </m:r>
                    <m:sSub>
                      <m:sSubPr>
                        <m:ctrlPr>
                          <a:rPr lang="ar-AE" altLang="zh-CN" sz="3200" i="1"/>
                        </m:ctrlPr>
                      </m:sSubPr>
                      <m:e>
                        <m:r>
                          <a:rPr lang="zh-CN" altLang="ar-AE" sz="3200" i="1"/>
                          <m:t>𝑥</m:t>
                        </m:r>
                      </m:e>
                      <m:sub>
                        <m:r>
                          <a:rPr lang="zh-CN" altLang="ar-AE" sz="3200" i="1"/>
                          <m:t>𝑖</m:t>
                        </m:r>
                      </m:sub>
                    </m:sSub>
                    <m:r>
                      <a:rPr lang="ar-AE" altLang="zh-CN" sz="3200"/>
                      <m:t>⋅</m:t>
                    </m:r>
                    <m:sSub>
                      <m:sSubPr>
                        <m:ctrlPr>
                          <a:rPr lang="ar-AE" altLang="zh-CN" sz="3200" i="1"/>
                        </m:ctrlPr>
                      </m:sSubPr>
                      <m:e>
                        <m:r>
                          <a:rPr lang="zh-CN" altLang="ar-AE" sz="3200" i="1"/>
                          <m:t>𝑥</m:t>
                        </m:r>
                      </m:e>
                      <m:sub>
                        <m:r>
                          <a:rPr lang="zh-CN" altLang="ar-AE" sz="3200" i="1"/>
                          <m:t>𝑗</m:t>
                        </m:r>
                      </m:sub>
                    </m:sSub>
                  </m:oMath>
                </a14:m>
                <a:r>
                  <a:rPr lang="zh-CN" altLang="ar-AE" sz="3200">
                    <a:effectLst/>
                    <a:latin typeface="Arial" panose="020B0604020202020204" pitchFamily="34" charset="0"/>
                    <a:ea typeface="微软雅黑" panose="020B0503020204020204" pitchFamily="34" charset="-122"/>
                  </a:rPr>
                  <a:t>：</a:t>
                </a:r>
                <a:r>
                  <a:rPr lang="zh-CN" altLang="en-US" sz="3200">
                    <a:effectLst/>
                    <a:latin typeface="Arial" panose="020B0604020202020204" pitchFamily="34" charset="0"/>
                    <a:ea typeface="微软雅黑" panose="020B0503020204020204" pitchFamily="34" charset="-122"/>
                  </a:rPr>
                  <a:t>表示第 </a:t>
                </a:r>
                <a14:m>
                  <m:oMath xmlns:m="http://schemas.openxmlformats.org/officeDocument/2006/math">
                    <m:r>
                      <a:rPr lang="zh-CN" altLang="en-US" sz="3200" i="1"/>
                      <m:t>𝑖</m:t>
                    </m:r>
                  </m:oMath>
                </a14:m>
                <a:r>
                  <a:rPr lang="zh-CN" altLang="en-US" sz="3200">
                    <a:effectLst/>
                    <a:latin typeface="Arial" panose="020B0604020202020204" pitchFamily="34" charset="0"/>
                    <a:ea typeface="微软雅黑" panose="020B0503020204020204" pitchFamily="34" charset="-122"/>
                  </a:rPr>
                  <a:t>个 </a:t>
                </a:r>
                <a:r>
                  <a:rPr lang="en-US" altLang="zh-CN" sz="3200">
                    <a:effectLst/>
                    <a:latin typeface="Arial" panose="020B0604020202020204" pitchFamily="34" charset="0"/>
                    <a:ea typeface="微软雅黑" panose="020B0503020204020204" pitchFamily="34" charset="-122"/>
                  </a:rPr>
                  <a:t>patch </a:t>
                </a:r>
                <a:r>
                  <a:rPr lang="zh-CN" altLang="en-US" sz="3200">
                    <a:effectLst/>
                    <a:latin typeface="Arial" panose="020B0604020202020204" pitchFamily="34" charset="0"/>
                    <a:ea typeface="微软雅黑" panose="020B0503020204020204" pitchFamily="34" charset="-122"/>
                  </a:rPr>
                  <a:t>和第 </a:t>
                </a:r>
                <a14:m>
                  <m:oMath xmlns:m="http://schemas.openxmlformats.org/officeDocument/2006/math">
                    <m:r>
                      <a:rPr lang="zh-CN" altLang="en-US" sz="3200" i="1"/>
                      <m:t>𝑗</m:t>
                    </m:r>
                  </m:oMath>
                </a14:m>
                <a:r>
                  <a:rPr lang="zh-CN" altLang="en-US" sz="3200">
                    <a:effectLst/>
                    <a:latin typeface="Arial" panose="020B0604020202020204" pitchFamily="34" charset="0"/>
                    <a:ea typeface="微软雅黑" panose="020B0503020204020204" pitchFamily="34" charset="-122"/>
                  </a:rPr>
                  <a:t>个 </a:t>
                </a:r>
                <a:r>
                  <a:rPr lang="en-US" altLang="zh-CN" sz="3200">
                    <a:effectLst/>
                    <a:latin typeface="Arial" panose="020B0604020202020204" pitchFamily="34" charset="0"/>
                    <a:ea typeface="微软雅黑" panose="020B0503020204020204" pitchFamily="34" charset="-122"/>
                  </a:rPr>
                  <a:t>patch </a:t>
                </a:r>
                <a:r>
                  <a:rPr lang="zh-CN" altLang="en-US" sz="3200">
                    <a:effectLst/>
                    <a:latin typeface="Arial" panose="020B0604020202020204" pitchFamily="34" charset="0"/>
                    <a:ea typeface="微软雅黑" panose="020B0503020204020204" pitchFamily="34" charset="-122"/>
                  </a:rPr>
                  <a:t>的相似度（点积）</a:t>
                </a:r>
                <a:endParaRPr lang="en-US" altLang="zh-CN" sz="320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3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Gram</m:t>
                          </m:r>
                        </m:sub>
                      </m:sSub>
                      <m:r>
                        <a:rPr lang="en-US" altLang="zh-CN" sz="32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=∥</m:t>
                      </m:r>
                      <m:sSub>
                        <m:sSubPr>
                          <m:ctrlPr>
                            <a:rPr lang="en-US" altLang="zh-CN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zh-CN" sz="32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Sup>
                        <m:sSubSupPr>
                          <m:ctrlPr>
                            <a:rPr lang="en-US" altLang="zh-CN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3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b>
                          <m:r>
                            <a:rPr lang="en-US" altLang="zh-CN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  <m:sup>
                          <m:r>
                            <a:rPr lang="en-US" altLang="zh-CN" sz="3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zh-CN" sz="320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r>
                  <a:rPr lang="zh-CN" altLang="en-US" sz="3200">
                    <a:latin typeface="Arial" panose="020B0604020202020204" pitchFamily="34" charset="0"/>
                    <a:ea typeface="微软雅黑" panose="020B0503020204020204" pitchFamily="34" charset="-122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zh-CN" altLang="en-US" sz="3200">
                    <a:latin typeface="Arial" panose="020B0604020202020204" pitchFamily="34" charset="0"/>
                    <a:ea typeface="微软雅黑" panose="020B0503020204020204" pitchFamily="34" charset="-122"/>
                  </a:rPr>
                  <a:t>当前</a:t>
                </a:r>
                <a:r>
                  <a:rPr lang="en-US" altLang="zh-CN" sz="3200">
                    <a:latin typeface="Arial" panose="020B0604020202020204" pitchFamily="34" charset="0"/>
                    <a:ea typeface="微软雅黑" panose="020B0503020204020204" pitchFamily="34" charset="-122"/>
                  </a:rPr>
                  <a:t>student</a:t>
                </a:r>
                <a:r>
                  <a:rPr lang="zh-CN" altLang="en-US" sz="3200">
                    <a:latin typeface="Arial" panose="020B0604020202020204" pitchFamily="34" charset="0"/>
                    <a:ea typeface="微软雅黑" panose="020B0503020204020204" pitchFamily="34" charset="-122"/>
                  </a:rPr>
                  <a:t>的</a:t>
                </a:r>
                <a:r>
                  <a:rPr lang="en-US" altLang="zh-CN" sz="3200">
                    <a:latin typeface="Arial" panose="020B0604020202020204" pitchFamily="34" charset="0"/>
                    <a:ea typeface="微软雅黑" panose="020B0503020204020204" pitchFamily="34" charset="-122"/>
                  </a:rPr>
                  <a:t>Gram</a:t>
                </a:r>
                <a:r>
                  <a:rPr lang="zh-CN" altLang="en-US" sz="3200">
                    <a:latin typeface="Arial" panose="020B0604020202020204" pitchFamily="34" charset="0"/>
                    <a:ea typeface="微软雅黑" panose="020B0503020204020204" pitchFamily="34" charset="-122"/>
                  </a:rPr>
                  <a:t>矩阵，</a:t>
                </a:r>
                <a:r>
                  <a:rPr lang="en-US" altLang="zh-CN" sz="3200">
                    <a:latin typeface="Arial" panose="020B0604020202020204" pitchFamily="34" charset="0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en-US" sz="3200">
                    <a:latin typeface="Arial" panose="020B0604020202020204" pitchFamily="34" charset="0"/>
                    <a:ea typeface="微软雅黑" panose="020B0503020204020204" pitchFamily="34" charset="-122"/>
                  </a:rPr>
                  <a:t>早期</a:t>
                </a:r>
                <a:r>
                  <a:rPr lang="en-US" altLang="zh-CN" sz="3200">
                    <a:latin typeface="Arial" panose="020B0604020202020204" pitchFamily="34" charset="0"/>
                    <a:ea typeface="微软雅黑" panose="020B0503020204020204" pitchFamily="34" charset="-122"/>
                  </a:rPr>
                  <a:t>teacher</a:t>
                </a:r>
                <a:r>
                  <a:rPr lang="zh-CN" altLang="en-US" sz="3200">
                    <a:latin typeface="Arial" panose="020B0604020202020204" pitchFamily="34" charset="0"/>
                    <a:ea typeface="微软雅黑" panose="020B0503020204020204" pitchFamily="34" charset="-122"/>
                  </a:rPr>
                  <a:t>的</a:t>
                </a:r>
                <a:r>
                  <a:rPr lang="en-US" altLang="zh-CN" sz="3200">
                    <a:latin typeface="Arial" panose="020B0604020202020204" pitchFamily="34" charset="0"/>
                    <a:ea typeface="微软雅黑" panose="020B0503020204020204" pitchFamily="34" charset="-122"/>
                  </a:rPr>
                  <a:t>Gram</a:t>
                </a:r>
                <a:r>
                  <a:rPr lang="zh-CN" altLang="en-US" sz="3200">
                    <a:latin typeface="Arial" panose="020B0604020202020204" pitchFamily="34" charset="0"/>
                    <a:ea typeface="微软雅黑" panose="020B0503020204020204" pitchFamily="34" charset="-122"/>
                  </a:rPr>
                  <a:t>矩阵</a:t>
                </a:r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F01F9EF-4784-185C-974D-F1EB805DFC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1714500"/>
                <a:ext cx="15316200" cy="8333307"/>
              </a:xfrm>
              <a:prstGeom prst="rect">
                <a:avLst/>
              </a:prstGeom>
              <a:blipFill>
                <a:blip r:embed="rId2"/>
                <a:stretch>
                  <a:fillRect l="-995" t="-1024" b="-14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12500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A30AB-088E-9CA4-ED40-01E59761C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F5CC1A51-1BDA-010B-0482-B6ABE0B603E8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D26CB723-E043-6751-D619-D5F3F483D1C5}"/>
              </a:ext>
            </a:extLst>
          </p:cNvPr>
          <p:cNvSpPr txBox="1"/>
          <p:nvPr/>
        </p:nvSpPr>
        <p:spPr>
          <a:xfrm>
            <a:off x="457200" y="727214"/>
            <a:ext cx="464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CLIP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AF293F6-5DF1-8B80-1EE2-AEFF290318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1435100"/>
            <a:ext cx="10811714" cy="7796085"/>
          </a:xfrm>
          <a:prstGeom prst="rect">
            <a:avLst/>
          </a:prstGeom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73E94CF6-23C5-3E86-3870-74312FD9DA68}"/>
              </a:ext>
            </a:extLst>
          </p:cNvPr>
          <p:cNvCxnSpPr/>
          <p:nvPr/>
        </p:nvCxnSpPr>
        <p:spPr>
          <a:xfrm flipH="1">
            <a:off x="8001000" y="2019300"/>
            <a:ext cx="1447800" cy="762000"/>
          </a:xfrm>
          <a:prstGeom prst="straightConnector1">
            <a:avLst/>
          </a:prstGeom>
          <a:ln w="5715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B5FDC79B-EC9A-FAE1-2733-8C6AB5F77594}"/>
              </a:ext>
            </a:extLst>
          </p:cNvPr>
          <p:cNvSpPr/>
          <p:nvPr/>
        </p:nvSpPr>
        <p:spPr>
          <a:xfrm>
            <a:off x="8229600" y="1311413"/>
            <a:ext cx="2514600" cy="707886"/>
          </a:xfrm>
          <a:prstGeom prst="rect">
            <a:avLst/>
          </a:prstGeom>
          <a:noFill/>
          <a:ln w="571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9B5A18-DC98-84A7-CA0F-DCE7FDBD8A50}"/>
              </a:ext>
            </a:extLst>
          </p:cNvPr>
          <p:cNvSpPr txBox="1"/>
          <p:nvPr/>
        </p:nvSpPr>
        <p:spPr>
          <a:xfrm>
            <a:off x="8305800" y="1081157"/>
            <a:ext cx="228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zh-CN">
              <a:solidFill>
                <a:schemeClr val="accent4">
                  <a:lumMod val="75000"/>
                </a:schemeClr>
              </a:solidFill>
            </a:endParaRPr>
          </a:p>
          <a:p>
            <a:pPr algn="ctr"/>
            <a:r>
              <a:rPr lang="en-US" altLang="zh-CN">
                <a:solidFill>
                  <a:schemeClr val="accent4">
                    <a:lumMod val="75000"/>
                  </a:schemeClr>
                </a:solidFill>
              </a:rPr>
              <a:t>CBOW</a:t>
            </a:r>
            <a:r>
              <a:rPr lang="zh-CN" altLang="en-US">
                <a:solidFill>
                  <a:schemeClr val="accent4">
                    <a:lumMod val="75000"/>
                  </a:schemeClr>
                </a:solidFill>
              </a:rPr>
              <a:t>、</a:t>
            </a:r>
            <a:endParaRPr lang="en-US" altLang="zh-CN">
              <a:solidFill>
                <a:schemeClr val="accent4">
                  <a:lumMod val="75000"/>
                </a:schemeClr>
              </a:solidFill>
            </a:endParaRPr>
          </a:p>
          <a:p>
            <a:pPr algn="ctr"/>
            <a:r>
              <a:rPr lang="en-US" altLang="zh-CN">
                <a:solidFill>
                  <a:schemeClr val="accent4">
                    <a:lumMod val="75000"/>
                  </a:schemeClr>
                </a:solidFill>
              </a:rPr>
              <a:t>Transformer</a:t>
            </a:r>
            <a:r>
              <a:rPr lang="zh-CN" altLang="en-US">
                <a:solidFill>
                  <a:schemeClr val="accent4">
                    <a:lumMod val="75000"/>
                  </a:schemeClr>
                </a:solidFill>
              </a:rPr>
              <a:t>编码器</a:t>
            </a:r>
            <a:endParaRPr lang="en-US" altLang="zh-CN">
              <a:solidFill>
                <a:schemeClr val="accent4">
                  <a:lumMod val="75000"/>
                </a:schemeClr>
              </a:solidFill>
            </a:endParaRPr>
          </a:p>
          <a:p>
            <a:endParaRPr lang="zh-CN" altLang="en-US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0CB9ED9E-8B4D-B389-DCFD-09237682676A}"/>
              </a:ext>
            </a:extLst>
          </p:cNvPr>
          <p:cNvCxnSpPr>
            <a:cxnSpLocks/>
          </p:cNvCxnSpPr>
          <p:nvPr/>
        </p:nvCxnSpPr>
        <p:spPr>
          <a:xfrm flipV="1">
            <a:off x="5334000" y="8267700"/>
            <a:ext cx="1219200" cy="584200"/>
          </a:xfrm>
          <a:prstGeom prst="straightConnector1">
            <a:avLst/>
          </a:prstGeom>
          <a:ln w="571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05F581FC-8B1E-05C5-E9F3-5EA9517811BF}"/>
              </a:ext>
            </a:extLst>
          </p:cNvPr>
          <p:cNvSpPr/>
          <p:nvPr/>
        </p:nvSpPr>
        <p:spPr>
          <a:xfrm>
            <a:off x="4076700" y="8862728"/>
            <a:ext cx="2514600" cy="707886"/>
          </a:xfrm>
          <a:prstGeom prst="rect">
            <a:avLst/>
          </a:prstGeom>
          <a:noFill/>
          <a:ln w="571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D012C1E-02C2-B7C1-D4CF-84223B620E80}"/>
              </a:ext>
            </a:extLst>
          </p:cNvPr>
          <p:cNvSpPr txBox="1"/>
          <p:nvPr/>
        </p:nvSpPr>
        <p:spPr>
          <a:xfrm>
            <a:off x="4103169" y="8881979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solidFill>
                  <a:schemeClr val="accent3">
                    <a:lumMod val="75000"/>
                  </a:schemeClr>
                </a:solidFill>
              </a:rPr>
              <a:t>ResNet</a:t>
            </a:r>
            <a:r>
              <a:rPr lang="zh-CN" altLang="en-US">
                <a:solidFill>
                  <a:schemeClr val="accent3">
                    <a:lumMod val="75000"/>
                  </a:schemeClr>
                </a:solidFill>
              </a:rPr>
              <a:t>、</a:t>
            </a:r>
            <a:endParaRPr lang="en-US" altLang="zh-CN">
              <a:solidFill>
                <a:schemeClr val="accent3">
                  <a:lumMod val="75000"/>
                </a:schemeClr>
              </a:solidFill>
            </a:endParaRPr>
          </a:p>
          <a:p>
            <a:pPr algn="ctr"/>
            <a:r>
              <a:rPr lang="en-US" altLang="zh-CN">
                <a:solidFill>
                  <a:schemeClr val="accent3">
                    <a:lumMod val="75000"/>
                  </a:schemeClr>
                </a:solidFill>
              </a:rPr>
              <a:t>ViT</a:t>
            </a:r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82928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BE3AF-6944-3E40-E34B-1FE6921D8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EB6837A-8484-2850-AB7C-B89EA84CF741}"/>
              </a:ext>
            </a:extLst>
          </p:cNvPr>
          <p:cNvSpPr txBox="1"/>
          <p:nvPr/>
        </p:nvSpPr>
        <p:spPr>
          <a:xfrm>
            <a:off x="457200" y="727214"/>
            <a:ext cx="464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CLIP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E16A110-08D5-8C83-6AFD-E11F5DF26A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1866900"/>
            <a:ext cx="11635677" cy="7812153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9E82C6AF-77E1-CCC6-4FD5-E5D00827D12B}"/>
              </a:ext>
            </a:extLst>
          </p:cNvPr>
          <p:cNvCxnSpPr/>
          <p:nvPr/>
        </p:nvCxnSpPr>
        <p:spPr>
          <a:xfrm>
            <a:off x="4876800" y="3238500"/>
            <a:ext cx="0" cy="45720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A67A3F29-E44C-6F06-D5E6-71D3B48C8751}"/>
              </a:ext>
            </a:extLst>
          </p:cNvPr>
          <p:cNvSpPr/>
          <p:nvPr/>
        </p:nvSpPr>
        <p:spPr>
          <a:xfrm>
            <a:off x="4162426" y="2700867"/>
            <a:ext cx="1428748" cy="53763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77B0619-C032-9F0C-929A-248C63B4C043}"/>
              </a:ext>
            </a:extLst>
          </p:cNvPr>
          <p:cNvSpPr txBox="1"/>
          <p:nvPr/>
        </p:nvSpPr>
        <p:spPr>
          <a:xfrm>
            <a:off x="4179359" y="2667685"/>
            <a:ext cx="1333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更丰富的语义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15D9AFB-55DD-F7E7-AD46-AA031A18B834}"/>
              </a:ext>
            </a:extLst>
          </p:cNvPr>
          <p:cNvSpPr txBox="1"/>
          <p:nvPr/>
        </p:nvSpPr>
        <p:spPr>
          <a:xfrm>
            <a:off x="10820400" y="20955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Cat</a:t>
            </a:r>
            <a:endParaRPr lang="zh-CN" altLang="en-US"/>
          </a:p>
        </p:txBody>
      </p: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85959630-9769-74FC-70DC-EBF75D464E16}"/>
              </a:ext>
            </a:extLst>
          </p:cNvPr>
          <p:cNvCxnSpPr>
            <a:cxnSpLocks/>
          </p:cNvCxnSpPr>
          <p:nvPr/>
        </p:nvCxnSpPr>
        <p:spPr>
          <a:xfrm flipV="1">
            <a:off x="12192000" y="1435100"/>
            <a:ext cx="1207738" cy="431799"/>
          </a:xfrm>
          <a:prstGeom prst="bentConnector3">
            <a:avLst>
              <a:gd name="adj1" fmla="val -100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连接符: 肘形 22">
            <a:extLst>
              <a:ext uri="{FF2B5EF4-FFF2-40B4-BE49-F238E27FC236}">
                <a16:creationId xmlns:a16="http://schemas.microsoft.com/office/drawing/2014/main" id="{24AFD733-338C-6195-6FAF-CF8FA762718D}"/>
              </a:ext>
            </a:extLst>
          </p:cNvPr>
          <p:cNvCxnSpPr>
            <a:cxnSpLocks/>
          </p:cNvCxnSpPr>
          <p:nvPr/>
        </p:nvCxnSpPr>
        <p:spPr>
          <a:xfrm flipV="1">
            <a:off x="11506200" y="1871017"/>
            <a:ext cx="1893538" cy="409148"/>
          </a:xfrm>
          <a:prstGeom prst="bentConnector3">
            <a:avLst>
              <a:gd name="adj1" fmla="val 3627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27D2D7CD-3B72-244C-E8A4-DF177AD6A19A}"/>
              </a:ext>
            </a:extLst>
          </p:cNvPr>
          <p:cNvCxnSpPr>
            <a:cxnSpLocks/>
          </p:cNvCxnSpPr>
          <p:nvPr/>
        </p:nvCxnSpPr>
        <p:spPr>
          <a:xfrm>
            <a:off x="12192000" y="2280166"/>
            <a:ext cx="1219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048460A8-3546-10CD-FB00-9630993B1588}"/>
              </a:ext>
            </a:extLst>
          </p:cNvPr>
          <p:cNvCxnSpPr>
            <a:cxnSpLocks/>
          </p:cNvCxnSpPr>
          <p:nvPr/>
        </p:nvCxnSpPr>
        <p:spPr>
          <a:xfrm>
            <a:off x="12192000" y="2280166"/>
            <a:ext cx="1219200" cy="431800"/>
          </a:xfrm>
          <a:prstGeom prst="bentConnector3">
            <a:avLst>
              <a:gd name="adj1" fmla="val -5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C50D692C-4D4F-C4EE-CA4E-B9C7F0949AD8}"/>
              </a:ext>
            </a:extLst>
          </p:cNvPr>
          <p:cNvSpPr txBox="1"/>
          <p:nvPr/>
        </p:nvSpPr>
        <p:spPr>
          <a:xfrm>
            <a:off x="13563600" y="1194199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A photo of cat</a:t>
            </a:r>
            <a:endParaRPr lang="zh-CN" altLang="en-US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836F2523-4861-C37E-1034-EB4930785ACC}"/>
              </a:ext>
            </a:extLst>
          </p:cNvPr>
          <p:cNvSpPr txBox="1"/>
          <p:nvPr/>
        </p:nvSpPr>
        <p:spPr>
          <a:xfrm>
            <a:off x="13541141" y="1682233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A picture of cat</a:t>
            </a:r>
            <a:endParaRPr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CA84CD33-8045-EE26-9C70-86E646590932}"/>
              </a:ext>
            </a:extLst>
          </p:cNvPr>
          <p:cNvSpPr txBox="1"/>
          <p:nvPr/>
        </p:nvSpPr>
        <p:spPr>
          <a:xfrm>
            <a:off x="13563600" y="2126734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A cat in the wild</a:t>
            </a:r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E7FE395F-4FB6-3573-83BE-85C6B3426AF5}"/>
              </a:ext>
            </a:extLst>
          </p:cNvPr>
          <p:cNvSpPr txBox="1"/>
          <p:nvPr/>
        </p:nvSpPr>
        <p:spPr>
          <a:xfrm>
            <a:off x="13563599" y="2516201"/>
            <a:ext cx="2234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A cat playing happily</a:t>
            </a:r>
            <a:endParaRPr lang="zh-CN" altLang="en-US"/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021B658A-B006-93D0-715A-F377BD6D72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5869" y="4082171"/>
            <a:ext cx="4702680" cy="434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1443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780AF-FCDC-033F-1CFA-05FA32B42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5EEF66AA-2701-1CA7-2456-952370FA84ED}"/>
              </a:ext>
            </a:extLst>
          </p:cNvPr>
          <p:cNvSpPr txBox="1"/>
          <p:nvPr/>
        </p:nvSpPr>
        <p:spPr>
          <a:xfrm>
            <a:off x="457200" y="727214"/>
            <a:ext cx="464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CLIP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133928F-D36C-AA46-0046-1A7268BA2D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1776250"/>
            <a:ext cx="8356377" cy="7739019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C3C79D74-9042-6B91-ED85-905DABB428C8}"/>
              </a:ext>
            </a:extLst>
          </p:cNvPr>
          <p:cNvSpPr txBox="1"/>
          <p:nvPr/>
        </p:nvSpPr>
        <p:spPr>
          <a:xfrm>
            <a:off x="10972800" y="4127837"/>
            <a:ext cx="4343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思考：</a:t>
            </a:r>
            <a:endParaRPr lang="en-US" altLang="zh-CN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Text_encoder</a:t>
            </a:r>
            <a:r>
              <a:rPr lang="zh-CN" altLang="en-US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是否就相当于一个动态的分类头呢？</a:t>
            </a:r>
            <a:endParaRPr lang="en-US" altLang="zh-CN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我觉得</a:t>
            </a:r>
            <a:r>
              <a:rPr lang="en-US" altLang="zh-CN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image_encoder</a:t>
            </a:r>
            <a:r>
              <a:rPr lang="zh-CN" altLang="en-US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最后输出的</a:t>
            </a:r>
            <a:r>
              <a:rPr lang="en-US" altLang="zh-CN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embedding</a:t>
            </a:r>
            <a:r>
              <a:rPr lang="zh-CN" altLang="en-US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要去与每一个</a:t>
            </a:r>
            <a:r>
              <a:rPr lang="en-US" altLang="zh-CN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text_encoder</a:t>
            </a:r>
            <a:r>
              <a:rPr lang="zh-CN" altLang="en-US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输出的</a:t>
            </a:r>
            <a:r>
              <a:rPr lang="en-US" altLang="zh-CN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embedding</a:t>
            </a:r>
            <a:r>
              <a:rPr lang="zh-CN" altLang="en-US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进行匹配计算点积，其实就和一个线性分类器很类似。</a:t>
            </a:r>
          </a:p>
        </p:txBody>
      </p:sp>
    </p:spTree>
    <p:extLst>
      <p:ext uri="{BB962C8B-B14F-4D97-AF65-F5344CB8AC3E}">
        <p14:creationId xmlns:p14="http://schemas.microsoft.com/office/powerpoint/2010/main" val="4867542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BE358-39C9-1AD7-D845-378CA79B1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9B61FC9-6CCA-9B86-2747-FF7ACB7B99CF}"/>
              </a:ext>
            </a:extLst>
          </p:cNvPr>
          <p:cNvSpPr txBox="1"/>
          <p:nvPr/>
        </p:nvSpPr>
        <p:spPr>
          <a:xfrm>
            <a:off x="457200" y="727214"/>
            <a:ext cx="464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CLIP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2075603-9F6E-47C8-F636-3A9A6EEC75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1147204"/>
            <a:ext cx="7701473" cy="840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0251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57755" y="-4591274"/>
            <a:ext cx="12098391" cy="19893220"/>
            <a:chOff x="0" y="0"/>
            <a:chExt cx="16131187" cy="26524293"/>
          </a:xfrm>
        </p:grpSpPr>
        <p:grpSp>
          <p:nvGrpSpPr>
            <p:cNvPr id="3" name="Group 3"/>
            <p:cNvGrpSpPr/>
            <p:nvPr/>
          </p:nvGrpSpPr>
          <p:grpSpPr>
            <a:xfrm rot="5446382">
              <a:off x="-5091318" y="5373342"/>
              <a:ext cx="26313823" cy="15777609"/>
              <a:chOff x="0" y="0"/>
              <a:chExt cx="24650700" cy="1478041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4650700" cy="15079036"/>
              </a:xfrm>
              <a:custGeom>
                <a:avLst/>
                <a:gdLst/>
                <a:ahLst/>
                <a:cxnLst/>
                <a:rect l="l" t="t" r="r" b="b"/>
                <a:pathLst>
                  <a:path w="24650700" h="15079036">
                    <a:moveTo>
                      <a:pt x="38100" y="197076"/>
                    </a:moveTo>
                    <a:lnTo>
                      <a:pt x="0" y="11627494"/>
                    </a:lnTo>
                    <a:cubicBezTo>
                      <a:pt x="1600200" y="10324602"/>
                      <a:pt x="4445000" y="7510792"/>
                      <a:pt x="7353300" y="8014431"/>
                    </a:cubicBezTo>
                    <a:cubicBezTo>
                      <a:pt x="10261600" y="8518070"/>
                      <a:pt x="14566900" y="14003358"/>
                      <a:pt x="17449800" y="14649329"/>
                    </a:cubicBezTo>
                    <a:cubicBezTo>
                      <a:pt x="20332700" y="15079036"/>
                      <a:pt x="22402800" y="13423077"/>
                      <a:pt x="24650700" y="11890263"/>
                    </a:cubicBezTo>
                    <a:lnTo>
                      <a:pt x="24574500" y="0"/>
                    </a:lnTo>
                    <a:lnTo>
                      <a:pt x="38100" y="197076"/>
                    </a:lnTo>
                    <a:close/>
                  </a:path>
                </a:pathLst>
              </a:custGeom>
              <a:solidFill>
                <a:srgbClr val="FFFFFF">
                  <a:alpha val="42745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 rot="5446382">
              <a:off x="495564" y="6766782"/>
              <a:ext cx="19326365" cy="11587971"/>
              <a:chOff x="0" y="0"/>
              <a:chExt cx="24650700" cy="1478041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4650700" cy="15079036"/>
              </a:xfrm>
              <a:custGeom>
                <a:avLst/>
                <a:gdLst/>
                <a:ahLst/>
                <a:cxnLst/>
                <a:rect l="l" t="t" r="r" b="b"/>
                <a:pathLst>
                  <a:path w="24650700" h="15079036">
                    <a:moveTo>
                      <a:pt x="38100" y="197076"/>
                    </a:moveTo>
                    <a:lnTo>
                      <a:pt x="0" y="11627494"/>
                    </a:lnTo>
                    <a:cubicBezTo>
                      <a:pt x="1600200" y="10324602"/>
                      <a:pt x="4445000" y="7510792"/>
                      <a:pt x="7353300" y="8014431"/>
                    </a:cubicBezTo>
                    <a:cubicBezTo>
                      <a:pt x="10261600" y="8518070"/>
                      <a:pt x="14566900" y="14003358"/>
                      <a:pt x="17449800" y="14649329"/>
                    </a:cubicBezTo>
                    <a:cubicBezTo>
                      <a:pt x="20332700" y="15079036"/>
                      <a:pt x="22402800" y="13423077"/>
                      <a:pt x="24650700" y="11890263"/>
                    </a:cubicBezTo>
                    <a:lnTo>
                      <a:pt x="24574500" y="0"/>
                    </a:lnTo>
                    <a:lnTo>
                      <a:pt x="38100" y="197076"/>
                    </a:lnTo>
                    <a:close/>
                  </a:path>
                </a:pathLst>
              </a:custGeom>
              <a:solidFill>
                <a:srgbClr val="2F3E6B">
                  <a:alpha val="27843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 rot="5446382">
              <a:off x="3112336" y="8104553"/>
              <a:ext cx="15299441" cy="8848135"/>
              <a:chOff x="0" y="0"/>
              <a:chExt cx="24650700" cy="1425625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4650700" cy="14554881"/>
              </a:xfrm>
              <a:custGeom>
                <a:avLst/>
                <a:gdLst/>
                <a:ahLst/>
                <a:cxnLst/>
                <a:rect l="l" t="t" r="r" b="b"/>
                <a:pathLst>
                  <a:path w="24650700" h="14554881">
                    <a:moveTo>
                      <a:pt x="38100" y="190087"/>
                    </a:moveTo>
                    <a:lnTo>
                      <a:pt x="0" y="11215150"/>
                    </a:lnTo>
                    <a:cubicBezTo>
                      <a:pt x="1600200" y="9958462"/>
                      <a:pt x="4445000" y="7244438"/>
                      <a:pt x="7353300" y="7730217"/>
                    </a:cubicBezTo>
                    <a:cubicBezTo>
                      <a:pt x="10261600" y="8215995"/>
                      <a:pt x="14566900" y="13506759"/>
                      <a:pt x="17449800" y="14129821"/>
                    </a:cubicBezTo>
                    <a:cubicBezTo>
                      <a:pt x="20332700" y="14554881"/>
                      <a:pt x="22402800" y="12947056"/>
                      <a:pt x="24650700" y="11468600"/>
                    </a:cubicBezTo>
                    <a:lnTo>
                      <a:pt x="24574500" y="0"/>
                    </a:lnTo>
                    <a:lnTo>
                      <a:pt x="38100" y="190087"/>
                    </a:lnTo>
                    <a:close/>
                  </a:path>
                </a:pathLst>
              </a:custGeom>
              <a:solidFill>
                <a:srgbClr val="2F3E6B">
                  <a:alpha val="64706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5446382">
              <a:off x="4242112" y="8591595"/>
              <a:ext cx="14273890" cy="8558538"/>
              <a:chOff x="0" y="0"/>
              <a:chExt cx="24650700" cy="1478041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4650700" cy="15079036"/>
              </a:xfrm>
              <a:custGeom>
                <a:avLst/>
                <a:gdLst/>
                <a:ahLst/>
                <a:cxnLst/>
                <a:rect l="l" t="t" r="r" b="b"/>
                <a:pathLst>
                  <a:path w="24650700" h="15079036">
                    <a:moveTo>
                      <a:pt x="38100" y="197076"/>
                    </a:moveTo>
                    <a:lnTo>
                      <a:pt x="0" y="11627494"/>
                    </a:lnTo>
                    <a:cubicBezTo>
                      <a:pt x="1600200" y="10324602"/>
                      <a:pt x="4445000" y="7510792"/>
                      <a:pt x="7353300" y="8014431"/>
                    </a:cubicBezTo>
                    <a:cubicBezTo>
                      <a:pt x="10261600" y="8518070"/>
                      <a:pt x="14566900" y="14003358"/>
                      <a:pt x="17449800" y="14649329"/>
                    </a:cubicBezTo>
                    <a:cubicBezTo>
                      <a:pt x="20332700" y="15079036"/>
                      <a:pt x="22402800" y="13423077"/>
                      <a:pt x="24650700" y="11890263"/>
                    </a:cubicBezTo>
                    <a:lnTo>
                      <a:pt x="24574500" y="0"/>
                    </a:lnTo>
                    <a:lnTo>
                      <a:pt x="38100" y="197076"/>
                    </a:lnTo>
                    <a:close/>
                  </a:path>
                </a:pathLst>
              </a:custGeom>
              <a:solidFill>
                <a:srgbClr val="2F3E6B"/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1" name="TextBox 21"/>
          <p:cNvSpPr txBox="1"/>
          <p:nvPr/>
        </p:nvSpPr>
        <p:spPr>
          <a:xfrm>
            <a:off x="2740746" y="3162300"/>
            <a:ext cx="12806508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36"/>
              </a:lnSpc>
            </a:pPr>
            <a:r>
              <a:rPr lang="en-US" sz="6600" b="1">
                <a:solidFill>
                  <a:srgbClr val="2F3E6B"/>
                </a:solidFill>
                <a:latin typeface="Arial" panose="020B0604020202020204" pitchFamily="34" charset="0"/>
                <a:ea typeface="Agrandir Wide Bold"/>
                <a:cs typeface="Arial" panose="020B0604020202020204" pitchFamily="34" charset="0"/>
                <a:sym typeface="Agrandir Wide Bold"/>
              </a:rPr>
              <a:t>THANK YOU FOR WATCHING</a:t>
            </a:r>
          </a:p>
        </p:txBody>
      </p:sp>
      <p:sp>
        <p:nvSpPr>
          <p:cNvPr id="25" name="TextBox 19">
            <a:extLst>
              <a:ext uri="{FF2B5EF4-FFF2-40B4-BE49-F238E27FC236}">
                <a16:creationId xmlns:a16="http://schemas.microsoft.com/office/drawing/2014/main" id="{497F0EDA-CBF9-6E7B-9CAD-714BFD14D75D}"/>
              </a:ext>
            </a:extLst>
          </p:cNvPr>
          <p:cNvSpPr txBox="1"/>
          <p:nvPr/>
        </p:nvSpPr>
        <p:spPr>
          <a:xfrm>
            <a:off x="833301" y="7943430"/>
            <a:ext cx="3548958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07"/>
              </a:lnSpc>
            </a:pPr>
            <a:r>
              <a:rPr lang="en-US" sz="320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"/>
                <a:sym typeface="思源黑体 1"/>
              </a:rPr>
              <a:t>学生姓名：韩腾毅</a:t>
            </a:r>
          </a:p>
        </p:txBody>
      </p:sp>
      <p:sp>
        <p:nvSpPr>
          <p:cNvPr id="26" name="TextBox 22">
            <a:extLst>
              <a:ext uri="{FF2B5EF4-FFF2-40B4-BE49-F238E27FC236}">
                <a16:creationId xmlns:a16="http://schemas.microsoft.com/office/drawing/2014/main" id="{9FFCCFE1-F088-8877-1386-625B9D74CC45}"/>
              </a:ext>
            </a:extLst>
          </p:cNvPr>
          <p:cNvSpPr txBox="1"/>
          <p:nvPr/>
        </p:nvSpPr>
        <p:spPr>
          <a:xfrm>
            <a:off x="4920857" y="7943430"/>
            <a:ext cx="3548958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07"/>
              </a:lnSpc>
            </a:pPr>
            <a:r>
              <a:rPr lang="en-US" sz="320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"/>
                <a:sym typeface="思源黑体 1"/>
              </a:rPr>
              <a:t>指导老师：刘芳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5764</TotalTime>
  <Words>735</Words>
  <Application>Microsoft Office PowerPoint</Application>
  <PresentationFormat>自定义</PresentationFormat>
  <Paragraphs>127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6" baseType="lpstr">
      <vt:lpstr>等线</vt:lpstr>
      <vt:lpstr>Cambria Math</vt:lpstr>
      <vt:lpstr>Calibri</vt:lpstr>
      <vt:lpstr>微软雅黑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蓝色简约学术风大学生开题报告毕业答辩演示文稿</dc:title>
  <cp:lastModifiedBy>modelian NY</cp:lastModifiedBy>
  <cp:revision>23</cp:revision>
  <dcterms:created xsi:type="dcterms:W3CDTF">2006-08-16T00:00:00Z</dcterms:created>
  <dcterms:modified xsi:type="dcterms:W3CDTF">2025-12-23T14:25:45Z</dcterms:modified>
  <dc:identifier>DAG2zJH7p6Y</dc:identifier>
</cp:coreProperties>
</file>