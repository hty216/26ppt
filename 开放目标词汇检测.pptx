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75" r:id="rId3"/>
    <p:sldId id="276" r:id="rId4"/>
    <p:sldId id="277" r:id="rId5"/>
    <p:sldId id="280" r:id="rId6"/>
    <p:sldId id="278" r:id="rId7"/>
    <p:sldId id="279" r:id="rId8"/>
    <p:sldId id="281" r:id="rId9"/>
    <p:sldId id="300" r:id="rId10"/>
    <p:sldId id="284" r:id="rId11"/>
    <p:sldId id="283" r:id="rId12"/>
    <p:sldId id="291" r:id="rId13"/>
    <p:sldId id="287" r:id="rId14"/>
    <p:sldId id="292" r:id="rId15"/>
    <p:sldId id="293" r:id="rId16"/>
    <p:sldId id="286" r:id="rId17"/>
    <p:sldId id="288" r:id="rId18"/>
    <p:sldId id="290" r:id="rId19"/>
    <p:sldId id="294" r:id="rId20"/>
    <p:sldId id="295" r:id="rId21"/>
    <p:sldId id="296" r:id="rId22"/>
    <p:sldId id="297" r:id="rId23"/>
    <p:sldId id="298" r:id="rId24"/>
    <p:sldId id="299" r:id="rId25"/>
    <p:sldId id="271" r:id="rId26"/>
  </p:sldIdLst>
  <p:sldSz cx="18288000" cy="10287000"/>
  <p:notesSz cx="6858000" cy="9144000"/>
  <p:embeddedFontLst>
    <p:embeddedFont>
      <p:font typeface="Cambria Math" panose="02040503050406030204" pitchFamily="18" charset="0"/>
      <p:regular r:id="rId29"/>
    </p:embeddedFont>
    <p:embeddedFont>
      <p:font typeface="等线" panose="02010600030101010101" pitchFamily="2" charset="-122"/>
      <p:regular r:id="rId30"/>
      <p:bold r:id="rId31"/>
    </p:embeddedFont>
    <p:embeddedFont>
      <p:font typeface="微软雅黑" panose="020B0503020204020204" pitchFamily="34" charset="-122"/>
      <p:regular r:id="rId32"/>
      <p:bold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2648" autoAdjust="0"/>
  </p:normalViewPr>
  <p:slideViewPr>
    <p:cSldViewPr>
      <p:cViewPr>
        <p:scale>
          <a:sx n="33" d="100"/>
          <a:sy n="33" d="100"/>
        </p:scale>
        <p:origin x="36" y="10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notesViewPr>
    <p:cSldViewPr>
      <p:cViewPr varScale="1">
        <p:scale>
          <a:sx n="77" d="100"/>
          <a:sy n="77" d="100"/>
        </p:scale>
        <p:origin x="3196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2BE3163-EF13-2E42-9B99-059139B268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EC3E51-0273-2440-3835-EC25E84CCA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39196-184C-434E-9772-CE7C607CBD80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59AB9B-C257-8EF0-5FE8-4C0F98EA2A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B3529D-537A-369A-1161-5AF7E5240C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33AE11-47A6-42E4-8645-E7C059E349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04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9F9D5-4B0B-4D26-8B03-2FACCEEE4A9A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4FFD7-DD7C-496F-93CE-101236A68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439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B1712-4686-B842-2AA7-8B4DF71E4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1D76DD-7EEF-C392-BEB2-36FB9EBBD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C87352-1F7C-0CA0-B3FE-3EE6A5962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BCF950-8768-8052-F390-33AA64FB5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FD7-DD7C-496F-93CE-101236A68E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271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1EAAB-C861-211E-5831-C9B83589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40761F-0959-A21B-8D11-C1A6AC329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D95D2A-3494-F45E-F3F1-FBAC4D2B6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48D564-CFE8-BC8B-5BA3-7A0358566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FD7-DD7C-496F-93CE-101236A68E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347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5B478-914E-D68F-BDD3-6BAAAA87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D60837-EA38-3DA5-0D90-BD07A3B96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4AA376-C0C2-D5BD-8634-026B2676C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5F1149-7ACC-D6B3-3ABC-A2C44464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FD7-DD7C-496F-93CE-101236A68E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41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6F910-07C4-E44E-F87B-88D98901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A1195C-5A04-765D-FFD4-2DB2DB96C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2912EA-95B9-AF19-AC36-367DBC666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9D9930-0905-A4A9-A896-E9C5C8E75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4FFD7-DD7C-496F-93CE-101236A68E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04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00" y="-1708981"/>
            <a:ext cx="12098391" cy="19893220"/>
            <a:chOff x="0" y="0"/>
            <a:chExt cx="16131187" cy="26524293"/>
          </a:xfrm>
        </p:grpSpPr>
        <p:grpSp>
          <p:nvGrpSpPr>
            <p:cNvPr id="3" name="Group 3"/>
            <p:cNvGrpSpPr/>
            <p:nvPr/>
          </p:nvGrpSpPr>
          <p:grpSpPr>
            <a:xfrm rot="5446382">
              <a:off x="-5091318" y="5373342"/>
              <a:ext cx="26313823" cy="15777609"/>
              <a:chOff x="0" y="0"/>
              <a:chExt cx="24650700" cy="1478041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FFFFFF">
                  <a:alpha val="42745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 rot="5446382">
              <a:off x="495564" y="6766782"/>
              <a:ext cx="19326365" cy="11587971"/>
              <a:chOff x="0" y="0"/>
              <a:chExt cx="24650700" cy="1478041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2F3E6B">
                  <a:alpha val="27843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5446382">
              <a:off x="3112336" y="8104553"/>
              <a:ext cx="15299441" cy="8848135"/>
              <a:chOff x="0" y="0"/>
              <a:chExt cx="24650700" cy="1425625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650700" cy="14554881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4554881">
                    <a:moveTo>
                      <a:pt x="38100" y="190087"/>
                    </a:moveTo>
                    <a:lnTo>
                      <a:pt x="0" y="11215150"/>
                    </a:lnTo>
                    <a:cubicBezTo>
                      <a:pt x="1600200" y="9958462"/>
                      <a:pt x="4445000" y="7244438"/>
                      <a:pt x="7353300" y="7730217"/>
                    </a:cubicBezTo>
                    <a:cubicBezTo>
                      <a:pt x="10261600" y="8215995"/>
                      <a:pt x="14566900" y="13506759"/>
                      <a:pt x="17449800" y="14129821"/>
                    </a:cubicBezTo>
                    <a:cubicBezTo>
                      <a:pt x="20332700" y="14554881"/>
                      <a:pt x="22402800" y="12947056"/>
                      <a:pt x="24650700" y="11468600"/>
                    </a:cubicBezTo>
                    <a:lnTo>
                      <a:pt x="24574500" y="0"/>
                    </a:lnTo>
                    <a:lnTo>
                      <a:pt x="38100" y="190087"/>
                    </a:lnTo>
                    <a:close/>
                  </a:path>
                </a:pathLst>
              </a:custGeom>
              <a:solidFill>
                <a:srgbClr val="2F3E6B">
                  <a:alpha val="64706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5446382">
              <a:off x="4242112" y="8591595"/>
              <a:ext cx="14273890" cy="8558538"/>
              <a:chOff x="0" y="0"/>
              <a:chExt cx="24650700" cy="1478041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2F3E6B"/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533400" y="7840084"/>
            <a:ext cx="3906515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zh-CN" alt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汇报人</a:t>
            </a:r>
            <a:r>
              <a:rPr 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姓名：韩腾毅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7200" y="2933700"/>
            <a:ext cx="1203960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zh-CN" altLang="en-US" sz="5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grandir Wide Bold"/>
                <a:sym typeface="Agrandir Wide Bold"/>
              </a:rPr>
              <a:t>遥感小目标检测、基于</a:t>
            </a:r>
            <a:r>
              <a:rPr lang="en-US" altLang="zh-CN" sz="5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grandir Wide Bold"/>
                <a:sym typeface="Agrandir Wide Bold"/>
              </a:rPr>
              <a:t>CLIP</a:t>
            </a:r>
            <a:r>
              <a:rPr lang="zh-CN" altLang="en-US" sz="5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grandir Wide Bold"/>
                <a:sym typeface="Agrandir Wide Bold"/>
              </a:rPr>
              <a:t>的目标检测</a:t>
            </a:r>
            <a:endParaRPr lang="en-US" sz="5221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grandir Wide Bold"/>
              <a:sym typeface="Agrandir Wide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978513" y="7840084"/>
            <a:ext cx="3548958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指导老师：刘芳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30AB-088E-9CA4-ED40-01E59761C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5CC1A51-1BDA-010B-0482-B6ABE0B603E8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26CB723-E043-6751-D619-D5F3F483D1C5}"/>
              </a:ext>
            </a:extLst>
          </p:cNvPr>
          <p:cNvSpPr txBox="1"/>
          <p:nvPr/>
        </p:nvSpPr>
        <p:spPr>
          <a:xfrm>
            <a:off x="457200" y="727214"/>
            <a:ext cx="464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Optical</a:t>
            </a:r>
            <a:r>
              <a:rPr lang="zh-CN" altLang="en-US" sz="400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SAR</a:t>
            </a:r>
            <a:r>
              <a:rPr lang="zh-CN" altLang="en-US" sz="4000">
                <a:latin typeface="Arial" panose="020B0604020202020204" pitchFamily="34" charset="0"/>
                <a:cs typeface="Arial" panose="020B0604020202020204" pitchFamily="34" charset="0"/>
              </a:rPr>
              <a:t>图像</a:t>
            </a:r>
            <a:endParaRPr lang="en-US" altLang="zh-CN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27D11BE-2E18-A065-78FA-7D59EC0DF85D}"/>
              </a:ext>
            </a:extLst>
          </p:cNvPr>
          <p:cNvSpPr txBox="1"/>
          <p:nvPr/>
        </p:nvSpPr>
        <p:spPr>
          <a:xfrm>
            <a:off x="838200" y="2400300"/>
            <a:ext cx="16992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光学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(optical)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遥感图像：传感器通过测量地面反射的可见光来对地面信息进行捕获。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合成孔径雷达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(SAR)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图像：利用雷达波束向地面发射微波信号，通过测量信号反射回来的时间和强度来获取影像数据。特点为：全天候、不受天气、光照的影响；对地表物体有一定的穿透能力。一般对建筑物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金属结构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、岩石、干燥的地面有较高的反射率；对水体、湿润土壤、柔软植被有较低的反射率。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F0C77A-3372-6091-9416-FB9D418F5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6" r="41500"/>
          <a:stretch>
            <a:fillRect/>
          </a:stretch>
        </p:blipFill>
        <p:spPr>
          <a:xfrm>
            <a:off x="4419600" y="4838700"/>
            <a:ext cx="8941024" cy="515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92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0D84E-F481-40F6-28DA-C7361A113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DD85570-1064-0F00-B707-83D3EE16E0DA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ECFC73A-7464-2619-9934-AB144224CB41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Position Guided Dynamic Receptive Field Network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879E14-5CDF-3A8E-50C4-7903B4056D76}"/>
              </a:ext>
            </a:extLst>
          </p:cNvPr>
          <p:cNvSpPr txBox="1"/>
          <p:nvPr/>
        </p:nvSpPr>
        <p:spPr>
          <a:xfrm>
            <a:off x="914400" y="1714500"/>
            <a:ext cx="142494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Main idea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通过设计位置引导逻辑图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gl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来为小目标提供额外的监督信息。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Dynamic Receptive Field  </a:t>
            </a:r>
          </a:p>
          <a:p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800"/>
              <a:t>Multi-Layer Feature Fusion and Reweighting</a:t>
            </a:r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FF031CE-ED39-83DF-A8A8-6966A3F4F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695700"/>
            <a:ext cx="6781800" cy="56004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9F9A226-180F-26F9-9D52-6D6C2F472C5F}"/>
              </a:ext>
            </a:extLst>
          </p:cNvPr>
          <p:cNvSpPr txBox="1"/>
          <p:nvPr/>
        </p:nvSpPr>
        <p:spPr>
          <a:xfrm>
            <a:off x="4267200" y="42291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即对不同分辨率的特征层的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Loss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占比进行一个调整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D7EE5FA-83FA-88F0-5053-227224066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5067300"/>
            <a:ext cx="11658600" cy="431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65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157AD-D50C-0897-250C-84B99FD5C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A288796-0735-B3E5-EA0B-A157E3501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619500"/>
            <a:ext cx="9206750" cy="571680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E8CDD1F-5CAC-6E53-A965-8B19BB93D5AD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035B64F-EE8E-7139-707C-07A4259E6F23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Position Guided Dynamic Receptive Field Network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23ACBF-A22B-A5F8-AEAE-CE8F59190E76}"/>
              </a:ext>
            </a:extLst>
          </p:cNvPr>
          <p:cNvSpPr txBox="1"/>
          <p:nvPr/>
        </p:nvSpPr>
        <p:spPr>
          <a:xfrm>
            <a:off x="914400" y="1714500"/>
            <a:ext cx="142494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Position Guided Relationship  </a:t>
            </a:r>
          </a:p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Step1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. 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对于所有面积小于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S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（所设阈值）的标签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,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将他们收集起来，作为小目标；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Step2.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对于一个尺度特征图，计算统计所有与小目标中心距离小于一定值的网格中心点，将其标记为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，即做一个二分类，最后生成位置引导逻辑图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gl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C24EBE-90D2-AB1A-A8D5-595473A18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9" t="11313"/>
          <a:stretch>
            <a:fillRect/>
          </a:stretch>
        </p:blipFill>
        <p:spPr>
          <a:xfrm>
            <a:off x="1066800" y="5905500"/>
            <a:ext cx="6269122" cy="185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76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14C7B-D490-D8B5-438A-22E99B0A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F756E7D-3E5C-D1F4-78FC-ACAE27CF7B53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6E6FE42-7A9C-48BE-7C7C-0D0056190EFC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Position Guided Dynamic Receptive Field Network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A19934-1457-3D85-670B-5F96BC54DC83}"/>
              </a:ext>
            </a:extLst>
          </p:cNvPr>
          <p:cNvSpPr txBox="1"/>
          <p:nvPr/>
        </p:nvSpPr>
        <p:spPr>
          <a:xfrm>
            <a:off x="914400" y="1714500"/>
            <a:ext cx="142494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Dynamic Perception  </a:t>
            </a:r>
          </a:p>
          <a:p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639EE8-101E-A629-4006-148273F7F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2781300"/>
            <a:ext cx="9449736" cy="681884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7C2FD0F-CCDC-EB73-FEE5-EB9F82D01E44}"/>
              </a:ext>
            </a:extLst>
          </p:cNvPr>
          <p:cNvSpPr txBox="1"/>
          <p:nvPr/>
        </p:nvSpPr>
        <p:spPr>
          <a:xfrm>
            <a:off x="990600" y="3238500"/>
            <a:ext cx="609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）对上级特征图标记为的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key position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grid cell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投影到下一层，然后把每个投影形成的块堆叠起来，作者还保留了局部语义信息。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just"/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b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）对上级特征图做一个切割，相当于是把四周不包含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key position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的背景削去了。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just"/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just"/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目的是减少计算量，作者的第一种方式因为采用了堆叠的方案，空间位置关系的信息会有所缺失，所以还是选择了第二种。</a:t>
            </a:r>
          </a:p>
        </p:txBody>
      </p:sp>
    </p:spTree>
    <p:extLst>
      <p:ext uri="{BB962C8B-B14F-4D97-AF65-F5344CB8AC3E}">
        <p14:creationId xmlns:p14="http://schemas.microsoft.com/office/powerpoint/2010/main" val="232511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5FF1-47D8-C648-E8DD-5436A4A4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86C6F73-1253-EEBF-7B85-94FEE8AD1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3771900"/>
            <a:ext cx="5943600" cy="727113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81DF2E6-81DE-F9C7-C3D7-3E9A14CC3760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396C3B5-450D-05A9-3B48-86B2338C87C1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Position Guided Dynamic Receptive Field Network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74CAEC-6496-25D4-4EA1-AC4CDA4335C6}"/>
              </a:ext>
            </a:extLst>
          </p:cNvPr>
          <p:cNvSpPr txBox="1"/>
          <p:nvPr/>
        </p:nvSpPr>
        <p:spPr>
          <a:xfrm>
            <a:off x="914400" y="1714500"/>
            <a:ext cx="14249400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  Combination Head</a:t>
            </a:r>
          </a:p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针对不同的特征层，作者设计了三种检测头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Basic Head: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用于最深层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F5,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仅输出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OBB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CLS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类别分数。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Position Guided Head: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用于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F4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F3,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除了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OBB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CLS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以外，还会生成预测的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gl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图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,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在训练时会计算对应的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Focal Loss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E6C3C18-774A-EECA-4925-150B1F94B7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5448300"/>
            <a:ext cx="8839200" cy="460579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C813975-4E7B-5A18-2DB0-9E6B2C653B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4642058"/>
            <a:ext cx="3733800" cy="52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214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55BDA-1692-7BAA-B4C3-A7F88CCDF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7F8B0DC-9FB4-BB33-387C-0381FE0A1CFB}"/>
              </a:ext>
            </a:extLst>
          </p:cNvPr>
          <p:cNvSpPr txBox="1"/>
          <p:nvPr/>
        </p:nvSpPr>
        <p:spPr>
          <a:xfrm>
            <a:off x="914400" y="1562100"/>
            <a:ext cx="142494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Combination Head</a:t>
            </a: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Dynamic perception head</a:t>
            </a:r>
          </a:p>
          <a:p>
            <a:pPr marL="514350" indent="-514350">
              <a:buFont typeface="+mj-lt"/>
              <a:buAutoNum type="alphaLcParenR"/>
            </a:pP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Loss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Quality Focal Loss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其中</a:t>
            </a:r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b)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输入的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6E398A7-23C9-F704-0AD6-BCE54459EEEC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44C6994-FFE7-BCCE-048B-9E2018036600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Position Guided Dynamic Receptive Field Network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3BA540-F23F-9063-4A0D-FF92D9345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3695700"/>
            <a:ext cx="11545401" cy="7181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BC45AB8-FC1A-9090-29D7-553F0EFB0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4686300"/>
            <a:ext cx="3400698" cy="48936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1732733-CFD3-7438-0168-989C423113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5372100"/>
            <a:ext cx="9349611" cy="463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24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15D4-8E78-19DE-7474-73B3394E4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393C430F-A512-8E02-E867-0AAB2EFB4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3"/>
          <a:stretch>
            <a:fillRect/>
          </a:stretch>
        </p:blipFill>
        <p:spPr>
          <a:xfrm>
            <a:off x="3200400" y="1104900"/>
            <a:ext cx="10363200" cy="6781209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11690C3-250C-DB3B-88CC-22B7B155E6D4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B0C16DF-AC3A-E771-4845-39DDD55D1A3B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CLIP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52A65EB-5528-844C-AB91-97815F31CC40}"/>
              </a:ext>
            </a:extLst>
          </p:cNvPr>
          <p:cNvSpPr txBox="1"/>
          <p:nvPr/>
        </p:nvSpPr>
        <p:spPr>
          <a:xfrm>
            <a:off x="2438400" y="7886700"/>
            <a:ext cx="1371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已知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CLIP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是一种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zero-shot(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零样本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分类方法，而目标检测是检测出很多局部区域然后进行分类，那该如何把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CLIP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利用到目标检测上呢？</a:t>
            </a:r>
          </a:p>
        </p:txBody>
      </p:sp>
    </p:spTree>
    <p:extLst>
      <p:ext uri="{BB962C8B-B14F-4D97-AF65-F5344CB8AC3E}">
        <p14:creationId xmlns:p14="http://schemas.microsoft.com/office/powerpoint/2010/main" val="2066418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86FCC-AA21-26F1-7413-842C2C440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486D464-CB92-9653-973C-4CA81DA26B69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1767CC5-253C-4BFE-9FE1-1BDE6790E8B1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Open-vocabulary Object Detection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87B0A7-8574-7E2A-647F-A2D2964E7877}"/>
              </a:ext>
            </a:extLst>
          </p:cNvPr>
          <p:cNvSpPr txBox="1"/>
          <p:nvPr/>
        </p:nvSpPr>
        <p:spPr>
          <a:xfrm>
            <a:off x="609600" y="2476500"/>
            <a:ext cx="166878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</a:rPr>
              <a:t>、定义</a:t>
            </a:r>
            <a:endParaRPr lang="en-US" altLang="zh-CN" sz="32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Open-vocabulary Object Detection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OVD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）是指：</a:t>
            </a:r>
            <a:endParaRPr lang="en-US" altLang="zh-CN" sz="32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在训练阶段只使用有限的、封闭的类别集合进行有监督检测训练</a:t>
            </a:r>
            <a:endParaRPr lang="en-US" altLang="zh-CN" sz="32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在推理阶段能够无需重新训练，仅通过文本或语义描述就可以对训练中未出现过的类别进行定位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识别。</a:t>
            </a:r>
            <a:endParaRPr lang="en-US" altLang="zh-CN" sz="32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、相关数据集</a:t>
            </a:r>
            <a:endParaRPr lang="en-US" altLang="zh-CN" sz="32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Detection 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数据集，每个目标都有框和类别标签，比如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COCO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Object365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DOTA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DIOR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等</a:t>
            </a:r>
            <a:endParaRPr lang="en-US" altLang="zh-CN" sz="32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Grounding 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数据集，每个样本包含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image,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文本短语、句子和对应框，如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Visual Genome</a:t>
            </a:r>
          </a:p>
          <a:p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Image-Text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数据集，每个样本仅包含图像和文本，如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LAION</a:t>
            </a:r>
            <a:r>
              <a:rPr lang="zh-CN" altLang="en-US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3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CC3M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412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ED93-9B53-610C-2A8E-1D2B05F97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8FA93EC-7A7A-81A3-4D6A-FA6F658188D8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508543CF-FF6E-187A-FFD6-ED547A4AFB59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RPN</a:t>
            </a:r>
            <a:r>
              <a:rPr lang="zh-CN" altLang="en-US" sz="400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ROI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4A4401-1F28-C6A4-B4DF-F89B54A02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781300"/>
            <a:ext cx="13716000" cy="414807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8840594-85B7-3DF2-8A05-137598D81855}"/>
              </a:ext>
            </a:extLst>
          </p:cNvPr>
          <p:cNvSpPr/>
          <p:nvPr/>
        </p:nvSpPr>
        <p:spPr>
          <a:xfrm>
            <a:off x="13639800" y="5524500"/>
            <a:ext cx="35052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BADC8A-D04B-4F93-30F3-42CC69898A9B}"/>
              </a:ext>
            </a:extLst>
          </p:cNvPr>
          <p:cNvSpPr txBox="1"/>
          <p:nvPr/>
        </p:nvSpPr>
        <p:spPr>
          <a:xfrm>
            <a:off x="2514600" y="7505700"/>
            <a:ext cx="1310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其中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RPN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区域负责出框并给每个框打分，对于打分高的框会再把它们一并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resize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为同一输入尺度喂入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ROI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进行边界框二次修正和分类</a:t>
            </a:r>
          </a:p>
        </p:txBody>
      </p:sp>
    </p:spTree>
    <p:extLst>
      <p:ext uri="{BB962C8B-B14F-4D97-AF65-F5344CB8AC3E}">
        <p14:creationId xmlns:p14="http://schemas.microsoft.com/office/powerpoint/2010/main" val="1121234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DC086-ACC2-6BC4-2920-C0B9D0226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48D596A-25BB-9B42-60FA-F7750FCC25FC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472B8BD-B5F7-097E-8A40-9C5038BDF764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ViLD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EB3EAA-6DEE-A33E-D787-30AD166D38F8}"/>
              </a:ext>
            </a:extLst>
          </p:cNvPr>
          <p:cNvSpPr txBox="1"/>
          <p:nvPr/>
        </p:nvSpPr>
        <p:spPr>
          <a:xfrm>
            <a:off x="1219200" y="1866900"/>
            <a:ext cx="153924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Main idea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：利用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Frozen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CLIP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视觉编码器和文本编码器作为监督，以蒸馏的方式训练两阶段检测器的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ROI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3B3A0A7-4A4A-C146-D965-D9B412576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086100"/>
            <a:ext cx="2397515" cy="691095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D204C08-F6BA-2183-8EAD-3521CD0FE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3238500"/>
            <a:ext cx="4865591" cy="66156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EA70400-8030-4DDD-1EF5-4A1EC50FD7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467100"/>
            <a:ext cx="5863179" cy="641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73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30399-16A0-83AE-D03F-39EE9EDB3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70DF281-5119-1BA7-A678-9CC58B376CE3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CE1CDB3-E8E4-DA4E-BC4A-134A1C4B8C94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ViLD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0E7A69-7284-06B1-5E6B-DA890DBEB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638300"/>
            <a:ext cx="12573000" cy="62103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BE66962-A589-B474-1977-9EEF3CC96002}"/>
              </a:ext>
            </a:extLst>
          </p:cNvPr>
          <p:cNvSpPr txBox="1"/>
          <p:nvPr/>
        </p:nvSpPr>
        <p:spPr>
          <a:xfrm>
            <a:off x="2743200" y="8267700"/>
            <a:ext cx="12115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ViLD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存在一个问题就是，训练的检测头学习的是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CLIP,CLIP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是针对图片和对应完整文本描述训练的模型，而非尺寸较小，上下文信息较少的局部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region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，因此用学习图片的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CLIP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视觉编码器当做教师，其方向性是有偏差的。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zh-CN" altLang="en-US" sz="2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4726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4BF16-722F-920E-F4B8-1D0E63D5E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175F6F7-2433-494F-B178-A4854FDF1ABA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F6D3F1D-2285-6520-A2D0-9C6F0000C60A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RegionCLIP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1A7C49-31FF-DD0A-17D0-E2D358DAFA1A}"/>
              </a:ext>
            </a:extLst>
          </p:cNvPr>
          <p:cNvSpPr txBox="1"/>
          <p:nvPr/>
        </p:nvSpPr>
        <p:spPr>
          <a:xfrm>
            <a:off x="2057400" y="2019300"/>
            <a:ext cx="14411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Main idea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：既然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CLIP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visual encoder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不适用局部区域，不妨就去训练一个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RegionCLIP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？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8FF2BEC-AC41-F31E-CD61-D68783034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857500"/>
            <a:ext cx="14689908" cy="701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865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B88B-B4C8-66D9-1F3B-8A1FD651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50E3290-BA05-5278-2C44-C9DCE62C905F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5AC3F864-0339-E773-CE54-A7E64E743762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Detic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80A024-3939-A805-F99D-EF06EF2AA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24100"/>
            <a:ext cx="8522731" cy="59436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131ED9C-46C1-2E98-D0A6-C2BAE0A6FFCC}"/>
              </a:ext>
            </a:extLst>
          </p:cNvPr>
          <p:cNvSpPr txBox="1"/>
          <p:nvPr/>
        </p:nvSpPr>
        <p:spPr>
          <a:xfrm>
            <a:off x="10134600" y="2552700"/>
            <a:ext cx="6553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其中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LVIS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是一个包含一千多个类别、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120k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张图像的目标检测数据集，而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ImageNet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是一个包含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21k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个类别、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1400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万张图像的分类数据集。所以如果可以把分类数据集用于检测，那么可以大幅提升检测器的泛化能力。</a:t>
            </a:r>
          </a:p>
        </p:txBody>
      </p:sp>
    </p:spTree>
    <p:extLst>
      <p:ext uri="{BB962C8B-B14F-4D97-AF65-F5344CB8AC3E}">
        <p14:creationId xmlns:p14="http://schemas.microsoft.com/office/powerpoint/2010/main" val="3343745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8516A-523A-2335-349F-25038F2C0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8B61222-E79E-2B5F-9616-C126AB5C18CC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C3F1E91-514A-066D-ED04-966076FB9CC0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Detic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2C0E070-0B26-A6DC-8D13-887AB374A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485900"/>
            <a:ext cx="16877953" cy="352697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61CEA52-DEEA-53C3-B253-AA3354A19D25}"/>
              </a:ext>
            </a:extLst>
          </p:cNvPr>
          <p:cNvSpPr txBox="1"/>
          <p:nvPr/>
        </p:nvSpPr>
        <p:spPr>
          <a:xfrm>
            <a:off x="1066800" y="5524500"/>
            <a:ext cx="16154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作者提出了三个利用分类数据集的策略：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）把原图放入两阶段的检测器的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ROI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，直接做一个分类训练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）把原图中提取出来的最大后选框取出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,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然后第二阶段再进行一个分类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）把原图提取出来的置信度分数最高的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proposa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取出，然后第二阶段进行一个分类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DB29B51-895E-8ED8-BFC3-B53D7334BA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7778810"/>
            <a:ext cx="8686800" cy="169138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F179F73-3A6C-9C5D-80C0-6D664F16AAFC}"/>
              </a:ext>
            </a:extLst>
          </p:cNvPr>
          <p:cNvSpPr txBox="1"/>
          <p:nvPr/>
        </p:nvSpPr>
        <p:spPr>
          <a:xfrm>
            <a:off x="10972800" y="7962900"/>
            <a:ext cx="5715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这篇文章中的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CLIP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仅作为一个对齐视觉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embedding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的文本分类器</a:t>
            </a:r>
          </a:p>
        </p:txBody>
      </p:sp>
    </p:spTree>
    <p:extLst>
      <p:ext uri="{BB962C8B-B14F-4D97-AF65-F5344CB8AC3E}">
        <p14:creationId xmlns:p14="http://schemas.microsoft.com/office/powerpoint/2010/main" val="5709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4F208-8C9E-62FC-2D30-1B273F8DD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4DF4FC0-2972-D5C1-2829-12B242D58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781300"/>
            <a:ext cx="14293502" cy="5801705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E3C0204-3DD3-5F67-0565-468945359238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8E545E5-D38F-BCFA-CA8C-E8A17133BA27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GLIP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96C184-2412-1CA8-391E-4FFB4EBC6EF0}"/>
              </a:ext>
            </a:extLst>
          </p:cNvPr>
          <p:cNvSpPr txBox="1"/>
          <p:nvPr/>
        </p:nvSpPr>
        <p:spPr>
          <a:xfrm>
            <a:off x="2438400" y="1790700"/>
            <a:ext cx="11658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Main idea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：在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embedding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生成的过程中就去把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prompt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就和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region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进行相互学习，而并不只在生成完之后进行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embedding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匹配</a:t>
            </a:r>
            <a:endParaRPr lang="en-US" altLang="zh-CN" sz="2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212525-47E7-F025-BF1B-77A21F32FA26}"/>
              </a:ext>
            </a:extLst>
          </p:cNvPr>
          <p:cNvSpPr txBox="1"/>
          <p:nvPr/>
        </p:nvSpPr>
        <p:spPr>
          <a:xfrm>
            <a:off x="2057400" y="8648700"/>
            <a:ext cx="127254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其中</a:t>
            </a:r>
            <a:r>
              <a:rPr lang="en-US" altLang="zh-CN" sz="2800"/>
              <a:t>visual encoder</a:t>
            </a:r>
            <a:r>
              <a:rPr lang="zh-CN" altLang="en-US" sz="2800"/>
              <a:t>为</a:t>
            </a:r>
            <a:r>
              <a:rPr lang="en-US" altLang="zh-CN" sz="2800"/>
              <a:t>DyHead,text encoder</a:t>
            </a:r>
            <a:r>
              <a:rPr lang="zh-CN" altLang="en-US" sz="2800"/>
              <a:t>为</a:t>
            </a:r>
            <a:r>
              <a:rPr lang="en-US" altLang="zh-CN" sz="2800"/>
              <a:t>BERT</a:t>
            </a:r>
            <a:r>
              <a:rPr lang="zh-CN" altLang="en-US" sz="2800"/>
              <a:t>，</a:t>
            </a:r>
            <a:r>
              <a:rPr lang="en-US" altLang="zh-CN" sz="2800"/>
              <a:t>BERT</a:t>
            </a:r>
            <a:r>
              <a:rPr lang="zh-CN" altLang="en-US" sz="2800"/>
              <a:t>是一种分词编码器，所以输入的一句</a:t>
            </a:r>
            <a:r>
              <a:rPr lang="en-US" altLang="zh-CN" sz="2800"/>
              <a:t>prompt</a:t>
            </a:r>
            <a:r>
              <a:rPr lang="zh-CN" altLang="en-US" sz="2800"/>
              <a:t>包含一张图片之中的所有类别。</a:t>
            </a:r>
            <a:endParaRPr lang="en-US" altLang="zh-CN" sz="2800"/>
          </a:p>
          <a:p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1A46F71-0292-01EC-ECC4-F47D8EC5EDC7}"/>
              </a:ext>
            </a:extLst>
          </p:cNvPr>
          <p:cNvCxnSpPr>
            <a:cxnSpLocks/>
          </p:cNvCxnSpPr>
          <p:nvPr/>
        </p:nvCxnSpPr>
        <p:spPr>
          <a:xfrm flipH="1">
            <a:off x="14935200" y="4457700"/>
            <a:ext cx="1143000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E7ACC2A-A6BB-6098-F69F-F2546485CAB6}"/>
              </a:ext>
            </a:extLst>
          </p:cNvPr>
          <p:cNvSpPr txBox="1"/>
          <p:nvPr/>
        </p:nvSpPr>
        <p:spPr>
          <a:xfrm>
            <a:off x="16078200" y="3771900"/>
            <a:ext cx="1752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Hair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dryer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被分成了两个词，所以在匹配的时候都是正样本。</a:t>
            </a:r>
          </a:p>
        </p:txBody>
      </p:sp>
    </p:spTree>
    <p:extLst>
      <p:ext uri="{BB962C8B-B14F-4D97-AF65-F5344CB8AC3E}">
        <p14:creationId xmlns:p14="http://schemas.microsoft.com/office/powerpoint/2010/main" val="1368671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39AC8-0E7D-24F7-D2EB-8C6E580E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1FD49B7A-9042-7ACB-1EC7-C044D4342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7581900"/>
            <a:ext cx="8536436" cy="19724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5A5537F-B7A2-3E2B-9F6B-A1940D7A2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5448300"/>
            <a:ext cx="7547240" cy="190500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3B69B0F-EEBC-A0F8-FE04-748ABB137754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22A2FDD-8BF9-A5C7-44DC-80B02DE051EC}"/>
              </a:ext>
            </a:extLst>
          </p:cNvPr>
          <p:cNvSpPr txBox="1"/>
          <p:nvPr/>
        </p:nvSpPr>
        <p:spPr>
          <a:xfrm>
            <a:off x="457200" y="727214"/>
            <a:ext cx="1295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GLIP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18AFEB-90F3-F0E5-99BF-DB2C7FF309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104900"/>
            <a:ext cx="10700715" cy="43434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2DF7814-B536-D226-5F3E-E390292F6064}"/>
              </a:ext>
            </a:extLst>
          </p:cNvPr>
          <p:cNvSpPr txBox="1"/>
          <p:nvPr/>
        </p:nvSpPr>
        <p:spPr>
          <a:xfrm>
            <a:off x="3657600" y="5600700"/>
            <a:ext cx="10896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 sz="2800"/>
              <a:t>其中</a:t>
            </a:r>
            <a:r>
              <a:rPr lang="en-US" altLang="zh-CN" sz="2800"/>
              <a:t>X-MHA</a:t>
            </a:r>
            <a:r>
              <a:rPr lang="zh-CN" altLang="en-US" sz="2800"/>
              <a:t>为：</a:t>
            </a:r>
            <a:endParaRPr lang="en-US" altLang="zh-CN" sz="2800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254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FC7A2-F939-857B-1665-04C1DBED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2B96B8D-0F0F-3D91-31FE-6F69C43FE028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5D67BF3-E23E-18E6-83DD-9546589611DF}"/>
              </a:ext>
            </a:extLst>
          </p:cNvPr>
          <p:cNvSpPr txBox="1"/>
          <p:nvPr/>
        </p:nvSpPr>
        <p:spPr>
          <a:xfrm>
            <a:off x="457200" y="727214"/>
            <a:ext cx="1859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DINO:DETR with Improved DeNoising Anchor Boxes for End-to-End Object Detection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9BF9D2-A644-9EB7-0DA6-E193DB502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857500"/>
            <a:ext cx="10778116" cy="558086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20E3B8C-ED8C-467A-29B4-AD3E4E0D46E7}"/>
              </a:ext>
            </a:extLst>
          </p:cNvPr>
          <p:cNvSpPr txBox="1"/>
          <p:nvPr/>
        </p:nvSpPr>
        <p:spPr>
          <a:xfrm>
            <a:off x="838200" y="186690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en-US" altLang="zh-CN" sz="2800"/>
              <a:t>Mixed Query Selection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87CA4D-C53A-D792-ED6A-19CA53059471}"/>
              </a:ext>
            </a:extLst>
          </p:cNvPr>
          <p:cNvSpPr txBox="1"/>
          <p:nvPr/>
        </p:nvSpPr>
        <p:spPr>
          <a:xfrm>
            <a:off x="2819400" y="8801100"/>
            <a:ext cx="609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以上为</a:t>
            </a: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Deformable DETR</a:t>
            </a:r>
            <a:r>
              <a:rPr lang="zh-CN" altLang="en-US" sz="20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Transformer</a:t>
            </a:r>
            <a:r>
              <a:rPr lang="zh-CN" altLang="en-US" sz="20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模型结构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54ACFD9-FB6F-499C-45EE-3F988E17A600}"/>
              </a:ext>
            </a:extLst>
          </p:cNvPr>
          <p:cNvCxnSpPr>
            <a:cxnSpLocks/>
          </p:cNvCxnSpPr>
          <p:nvPr/>
        </p:nvCxnSpPr>
        <p:spPr>
          <a:xfrm flipV="1">
            <a:off x="5410200" y="8267700"/>
            <a:ext cx="0" cy="533400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029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390FF-803C-AC77-3C0C-631D9544E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0A6EED4-64D4-05F3-74B5-2D18324B5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5562600"/>
            <a:ext cx="12502956" cy="472440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2092AC3-9535-2EAA-45FF-1FC2C365A4AF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9491311-6F36-8D24-3D06-356E1608DCBB}"/>
              </a:ext>
            </a:extLst>
          </p:cNvPr>
          <p:cNvSpPr txBox="1"/>
          <p:nvPr/>
        </p:nvSpPr>
        <p:spPr>
          <a:xfrm>
            <a:off x="457200" y="727214"/>
            <a:ext cx="1859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DINO:DETR with Improved DeNoising Anchor Boxes for End-to-End Object Detection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2649E1-DC8B-A7D4-4BE5-2C5E886D3C13}"/>
              </a:ext>
            </a:extLst>
          </p:cNvPr>
          <p:cNvSpPr txBox="1"/>
          <p:nvPr/>
        </p:nvSpPr>
        <p:spPr>
          <a:xfrm>
            <a:off x="838200" y="1866900"/>
            <a:ext cx="670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Contrastive DeNoising Training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13382E3-BF66-02F5-604F-BEB7D8F118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552700"/>
            <a:ext cx="6858000" cy="313759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C0541D3-648E-F355-F6C7-7278809C34B2}"/>
              </a:ext>
            </a:extLst>
          </p:cNvPr>
          <p:cNvSpPr txBox="1"/>
          <p:nvPr/>
        </p:nvSpPr>
        <p:spPr>
          <a:xfrm>
            <a:off x="1752600" y="3009900"/>
            <a:ext cx="6629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作者把一定数量的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GT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</a:rPr>
              <a:t>做不同程度的干扰，也就是移动原始标签的位置，一部分干扰较小的边界框希望他在解码的过程中不断修正，而另外一部分干扰较大的边界框，则希望最后预测的结果是</a:t>
            </a:r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No Obcjet.</a:t>
            </a:r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0771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F1BDF-E60C-C49E-514F-B5A03F1D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046FC5B-5DC4-BAC8-FCCA-77AFFB8654A5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4783133-0EED-B274-1979-EDFD292EA36B}"/>
              </a:ext>
            </a:extLst>
          </p:cNvPr>
          <p:cNvSpPr txBox="1"/>
          <p:nvPr/>
        </p:nvSpPr>
        <p:spPr>
          <a:xfrm>
            <a:off x="457200" y="727214"/>
            <a:ext cx="1859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Grounding DINO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7BD713-9FA1-BEC1-D9E1-1C8D2913E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933700"/>
            <a:ext cx="13487400" cy="488107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43F63A6-8A9E-7974-3DC6-4A0DF5F75EB5}"/>
              </a:ext>
            </a:extLst>
          </p:cNvPr>
          <p:cNvSpPr txBox="1"/>
          <p:nvPr/>
        </p:nvSpPr>
        <p:spPr>
          <a:xfrm>
            <a:off x="1143000" y="2019300"/>
            <a:ext cx="1341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(1).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文本信息处理方式的改变，即会对不相干的的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word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之间作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mask</a:t>
            </a:r>
            <a:endParaRPr lang="zh-CN" altLang="en-US" sz="28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zh-CN" altLang="en-US" sz="2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8685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65BDF-CE70-EE1B-0E89-8460DCC6E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C832D48-D8A6-CF21-8DFE-01D45BDF3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257300"/>
            <a:ext cx="12634295" cy="838200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9AB67CF-586B-C974-A59E-ED803087CF5E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32BCFA7-4542-7BCE-BD4C-61ED6F05F7FC}"/>
              </a:ext>
            </a:extLst>
          </p:cNvPr>
          <p:cNvSpPr txBox="1"/>
          <p:nvPr/>
        </p:nvSpPr>
        <p:spPr>
          <a:xfrm>
            <a:off x="457200" y="727214"/>
            <a:ext cx="1859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Grounding DINO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57D619-DCB1-DBCC-A22A-4ADBDDC46BB9}"/>
              </a:ext>
            </a:extLst>
          </p:cNvPr>
          <p:cNvSpPr txBox="1"/>
          <p:nvPr/>
        </p:nvSpPr>
        <p:spPr>
          <a:xfrm>
            <a:off x="1143000" y="2019300"/>
            <a:ext cx="1028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Overall Structure</a:t>
            </a:r>
            <a:endParaRPr lang="zh-CN" altLang="en-US" sz="2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0446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BDEC4-07F8-7860-606A-E65E7025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AF9E0D4-BFAF-DC42-0518-51DA9A48C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257300"/>
            <a:ext cx="12634295" cy="838200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6C32C78-7AE4-F55D-8061-A18D95B1AC6F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AB62DAE-DDFE-1FC5-458A-BEFD19C4AD2B}"/>
              </a:ext>
            </a:extLst>
          </p:cNvPr>
          <p:cNvSpPr txBox="1"/>
          <p:nvPr/>
        </p:nvSpPr>
        <p:spPr>
          <a:xfrm>
            <a:off x="457200" y="727214"/>
            <a:ext cx="1859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Grounding DINO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6E880A-2C81-2623-B89A-18C5125C27FB}"/>
              </a:ext>
            </a:extLst>
          </p:cNvPr>
          <p:cNvSpPr txBox="1"/>
          <p:nvPr/>
        </p:nvSpPr>
        <p:spPr>
          <a:xfrm>
            <a:off x="1143000" y="2019300"/>
            <a:ext cx="1028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280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lang="en-US" altLang="zh-CN" sz="2800">
                <a:latin typeface="Arial" panose="020B0604020202020204" pitchFamily="34" charset="0"/>
                <a:ea typeface="微软雅黑" panose="020B0503020204020204" pitchFamily="34" charset="-122"/>
              </a:rPr>
              <a:t>Overall Structure</a:t>
            </a:r>
            <a:endParaRPr lang="zh-CN" altLang="en-US" sz="2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5978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01D73-157C-EC1A-7AC1-AF082339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904B715-B5A0-DFAC-E533-D0C8E3E139C2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9599109-D49D-EB78-4B4F-4FB061482491}"/>
              </a:ext>
            </a:extLst>
          </p:cNvPr>
          <p:cNvSpPr txBox="1"/>
          <p:nvPr/>
        </p:nvSpPr>
        <p:spPr>
          <a:xfrm>
            <a:off x="457200" y="727214"/>
            <a:ext cx="1859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YOLO-WORLD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B8785F-ED84-95BF-2BF4-A8BB88B6D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324100"/>
            <a:ext cx="17099761" cy="715427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C1BB326-AA20-9F71-90C7-66BE6E7D0E5A}"/>
              </a:ext>
            </a:extLst>
          </p:cNvPr>
          <p:cNvSpPr txBox="1"/>
          <p:nvPr/>
        </p:nvSpPr>
        <p:spPr>
          <a:xfrm>
            <a:off x="838200" y="1714500"/>
            <a:ext cx="464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</a:rPr>
              <a:t>Overall Structure</a:t>
            </a:r>
            <a:endParaRPr lang="zh-CN" altLang="en-US" sz="2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597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1EB99-A30E-6033-C4EA-7A7659289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D918421C-8F14-D7AA-4306-312A24585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6286500"/>
            <a:ext cx="6321468" cy="481254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5B20673-D6D2-2B53-56DD-4248F2C723D5}"/>
              </a:ext>
            </a:extLst>
          </p:cNvPr>
          <p:cNvCxnSpPr/>
          <p:nvPr/>
        </p:nvCxnSpPr>
        <p:spPr>
          <a:xfrm>
            <a:off x="0" y="1435100"/>
            <a:ext cx="3048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24F30FE-96DE-C622-DD57-C0C459F4A8E3}"/>
              </a:ext>
            </a:extLst>
          </p:cNvPr>
          <p:cNvSpPr txBox="1"/>
          <p:nvPr/>
        </p:nvSpPr>
        <p:spPr>
          <a:xfrm>
            <a:off x="457200" y="727214"/>
            <a:ext cx="1859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YOLO-WORLD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1DC0D4-FBD7-CD5C-1A3F-03CC72673A90}"/>
              </a:ext>
            </a:extLst>
          </p:cNvPr>
          <p:cNvSpPr txBox="1"/>
          <p:nvPr/>
        </p:nvSpPr>
        <p:spPr>
          <a:xfrm>
            <a:off x="838200" y="1714500"/>
            <a:ext cx="464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</a:rPr>
              <a:t>Vision Language PAN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4E3B9EB-7C6A-7D36-5C4B-AE520C0B9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171700"/>
            <a:ext cx="8730200" cy="72517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DE2C814-B924-FF6B-7BC4-C016FFED6D7A}"/>
                  </a:ext>
                </a:extLst>
              </p:cNvPr>
              <p:cNvSpPr txBox="1"/>
              <p:nvPr/>
            </p:nvSpPr>
            <p:spPr>
              <a:xfrm>
                <a:off x="914400" y="2781300"/>
                <a:ext cx="5105400" cy="5685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）</a:t>
                </a:r>
                <a:r>
                  <a:rPr lang="en-US" altLang="zh-CN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T-CSPLayer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2400" i="1"/>
                          </m:ctrlPr>
                        </m:sSubSupPr>
                        <m:e>
                          <m:r>
                            <a:rPr lang="en-US" altLang="zh-CN" sz="2400" i="1"/>
                            <m:t>𝑋</m:t>
                          </m:r>
                        </m:e>
                        <m:sub>
                          <m:r>
                            <a:rPr lang="en-US" altLang="zh-CN" sz="2400" i="1"/>
                            <m:t>𝑙</m:t>
                          </m:r>
                        </m:sub>
                        <m:sup>
                          <m:r>
                            <a:rPr lang="en-US" altLang="zh-CN" sz="2400" i="1"/>
                            <m:t>′</m:t>
                          </m:r>
                        </m:sup>
                      </m:sSubSup>
                      <m:r>
                        <a:rPr lang="en-US" altLang="zh-CN" sz="2400"/>
                        <m:t>=</m:t>
                      </m:r>
                      <m:sSub>
                        <m:sSubPr>
                          <m:ctrlPr>
                            <a:rPr lang="zh-CN" altLang="zh-CN" sz="2400" i="1"/>
                          </m:ctrlPr>
                        </m:sSubPr>
                        <m:e>
                          <m:r>
                            <a:rPr lang="en-US" altLang="zh-CN" sz="2400" i="1"/>
                            <m:t>𝑋</m:t>
                          </m:r>
                        </m:e>
                        <m:sub>
                          <m:r>
                            <a:rPr lang="en-US" altLang="zh-CN" sz="2400" i="1"/>
                            <m:t>𝑙</m:t>
                          </m:r>
                        </m:sub>
                      </m:sSub>
                      <m:r>
                        <a:rPr lang="en-US" altLang="zh-CN" sz="2400"/>
                        <m:t>⋅</m:t>
                      </m:r>
                      <m:r>
                        <a:rPr lang="en-US" altLang="zh-CN" sz="2400" i="1"/>
                        <m:t>𝛿</m:t>
                      </m:r>
                      <m:sSup>
                        <m:sSupPr>
                          <m:ctrlPr>
                            <a:rPr lang="zh-CN" altLang="zh-CN" sz="2400" i="1"/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400" i="1"/>
                              </m:ctrlPr>
                            </m:dPr>
                            <m:e>
                              <m:limLow>
                                <m:limLowPr>
                                  <m:ctrlPr>
                                    <a:rPr lang="zh-CN" altLang="zh-CN" sz="2400" i="1"/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/>
                                    <m:t>max</m:t>
                                  </m:r>
                                </m:e>
                                <m:lim>
                                  <m:r>
                                    <a:rPr lang="en-US" altLang="zh-CN" sz="2400" i="1"/>
                                    <m:t>𝑗</m:t>
                                  </m:r>
                                  <m:r>
                                    <a:rPr lang="en-US" altLang="zh-CN" sz="2400"/>
                                    <m:t>∈{</m:t>
                                  </m:r>
                                  <m:r>
                                    <a:rPr lang="en-US" altLang="zh-CN" sz="2400" i="1"/>
                                    <m:t>1</m:t>
                                  </m:r>
                                  <m:r>
                                    <a:rPr lang="en-US" altLang="zh-CN" sz="2400"/>
                                    <m:t>..</m:t>
                                  </m:r>
                                  <m:r>
                                    <a:rPr lang="en-US" altLang="zh-CN" sz="2400" i="1"/>
                                    <m:t>𝐶</m:t>
                                  </m:r>
                                  <m:r>
                                    <a:rPr lang="en-US" altLang="zh-CN" sz="2400"/>
                                    <m:t>}</m:t>
                                  </m:r>
                                </m:lim>
                              </m:limLow>
                              <m:d>
                                <m:dPr>
                                  <m:ctrlPr>
                                    <a:rPr lang="zh-CN" altLang="zh-CN" sz="2400" i="1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/>
                                      </m:ctrlPr>
                                    </m:sSubPr>
                                    <m:e>
                                      <m:r>
                                        <a:rPr lang="en-US" altLang="zh-CN" sz="2400" i="1"/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400" i="1"/>
                                        <m:t>𝑙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zh-CN" altLang="zh-CN" sz="2400" i="1"/>
                                      </m:ctrlPr>
                                    </m:sSubSupPr>
                                    <m:e>
                                      <m:r>
                                        <a:rPr lang="en-US" altLang="zh-CN" sz="2400" i="1"/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CN" sz="2400" i="1"/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altLang="zh-CN" sz="2400"/>
                                        <m:t>⊤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400"/>
                            <m:t>⊤</m:t>
                          </m:r>
                        </m:sup>
                      </m:sSup>
                      <m:r>
                        <a:rPr lang="en-US" altLang="zh-CN" sz="2400"/>
                        <m:t>,</m:t>
                      </m:r>
                    </m:oMath>
                  </m:oMathPara>
                </a14:m>
                <a:endParaRPr lang="zh-CN" altLang="zh-CN" sz="24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r>
                  <a:rPr lang="zh-CN" altLang="en-US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2400" i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zh-CN" altLang="en-US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，</a:t>
                </a:r>
                <a:endParaRPr lang="en-US" altLang="zh-CN" sz="24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/>
                <a:r>
                  <a:rPr lang="en-US" altLang="zh-CN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</m:oMath>
                </a14:m>
                <a:r>
                  <a:rPr lang="en-US" altLang="zh-CN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endParaRPr lang="en-US" altLang="zh-CN" sz="24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r>
                  <a:rPr lang="zh-CN" altLang="en-US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含义为对和文本编码器余弦相似度大的</a:t>
                </a:r>
                <a:r>
                  <a:rPr lang="en-US" altLang="zh-CN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token</a:t>
                </a:r>
                <a:r>
                  <a:rPr lang="zh-CN" altLang="en-US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特征进行增强，小的特征进行削弱</a:t>
                </a:r>
                <a:endParaRPr lang="en-US" altLang="zh-CN" sz="24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r>
                  <a:rPr lang="zh-CN" altLang="en-US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）</a:t>
                </a:r>
                <a:r>
                  <a:rPr lang="en-US" altLang="zh-CN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I-Pooling Attention</a:t>
                </a:r>
              </a:p>
              <a:p>
                <a:endParaRPr lang="en-US" altLang="zh-CN" sz="24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endParaRPr lang="en-US" altLang="zh-CN" sz="24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r>
                  <a:rPr lang="zh-CN" altLang="en-US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  其中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240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2400" i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27×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zh-CN" altLang="en-US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，是将三个维度进行</a:t>
                </a:r>
                <a:r>
                  <a:rPr lang="en-US" altLang="zh-CN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3*3</a:t>
                </a:r>
                <a:r>
                  <a:rPr lang="zh-CN" altLang="en-US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最大池化得到的</a:t>
                </a:r>
                <a:endParaRPr lang="en-US" altLang="zh-CN" sz="24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r>
                  <a:rPr lang="zh-CN" altLang="en-US" sz="2400">
                    <a:latin typeface="Arial" panose="020B0604020202020204" pitchFamily="34" charset="0"/>
                    <a:ea typeface="微软雅黑" panose="020B0503020204020204" pitchFamily="34" charset="-122"/>
                  </a:rPr>
                  <a:t>第一个实现图像对文本的整体学习，第二个实现文本对图像的整体学习</a:t>
                </a:r>
                <a:endParaRPr lang="en-US" altLang="zh-CN" sz="240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DE2C814-B924-FF6B-7BC4-C016FFED6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781300"/>
                <a:ext cx="5105400" cy="5685146"/>
              </a:xfrm>
              <a:prstGeom prst="rect">
                <a:avLst/>
              </a:prstGeom>
              <a:blipFill>
                <a:blip r:embed="rId4"/>
                <a:stretch>
                  <a:fillRect l="-1790" t="-857" r="-1432" b="-15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3033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57755" y="-4591274"/>
            <a:ext cx="12098391" cy="19893220"/>
            <a:chOff x="0" y="0"/>
            <a:chExt cx="16131187" cy="26524293"/>
          </a:xfrm>
        </p:grpSpPr>
        <p:grpSp>
          <p:nvGrpSpPr>
            <p:cNvPr id="3" name="Group 3"/>
            <p:cNvGrpSpPr/>
            <p:nvPr/>
          </p:nvGrpSpPr>
          <p:grpSpPr>
            <a:xfrm rot="5446382">
              <a:off x="-5091318" y="5373342"/>
              <a:ext cx="26313823" cy="15777609"/>
              <a:chOff x="0" y="0"/>
              <a:chExt cx="24650700" cy="1478041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FFFFFF">
                  <a:alpha val="42745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 rot="5446382">
              <a:off x="495564" y="6766782"/>
              <a:ext cx="19326365" cy="11587971"/>
              <a:chOff x="0" y="0"/>
              <a:chExt cx="24650700" cy="1478041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2F3E6B">
                  <a:alpha val="27843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5446382">
              <a:off x="3112336" y="8104553"/>
              <a:ext cx="15299441" cy="8848135"/>
              <a:chOff x="0" y="0"/>
              <a:chExt cx="24650700" cy="1425625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650700" cy="14554881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4554881">
                    <a:moveTo>
                      <a:pt x="38100" y="190087"/>
                    </a:moveTo>
                    <a:lnTo>
                      <a:pt x="0" y="11215150"/>
                    </a:lnTo>
                    <a:cubicBezTo>
                      <a:pt x="1600200" y="9958462"/>
                      <a:pt x="4445000" y="7244438"/>
                      <a:pt x="7353300" y="7730217"/>
                    </a:cubicBezTo>
                    <a:cubicBezTo>
                      <a:pt x="10261600" y="8215995"/>
                      <a:pt x="14566900" y="13506759"/>
                      <a:pt x="17449800" y="14129821"/>
                    </a:cubicBezTo>
                    <a:cubicBezTo>
                      <a:pt x="20332700" y="14554881"/>
                      <a:pt x="22402800" y="12947056"/>
                      <a:pt x="24650700" y="11468600"/>
                    </a:cubicBezTo>
                    <a:lnTo>
                      <a:pt x="24574500" y="0"/>
                    </a:lnTo>
                    <a:lnTo>
                      <a:pt x="38100" y="190087"/>
                    </a:lnTo>
                    <a:close/>
                  </a:path>
                </a:pathLst>
              </a:custGeom>
              <a:solidFill>
                <a:srgbClr val="2F3E6B">
                  <a:alpha val="64706"/>
                </a:srgbClr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5446382">
              <a:off x="4242112" y="8591595"/>
              <a:ext cx="14273890" cy="8558538"/>
              <a:chOff x="0" y="0"/>
              <a:chExt cx="24650700" cy="1478041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4650700" cy="15079036"/>
              </a:xfrm>
              <a:custGeom>
                <a:avLst/>
                <a:gdLst/>
                <a:ahLst/>
                <a:cxnLst/>
                <a:rect l="l" t="t" r="r" b="b"/>
                <a:pathLst>
                  <a:path w="24650700" h="15079036">
                    <a:moveTo>
                      <a:pt x="38100" y="197076"/>
                    </a:moveTo>
                    <a:lnTo>
                      <a:pt x="0" y="11627494"/>
                    </a:lnTo>
                    <a:cubicBezTo>
                      <a:pt x="1600200" y="10324602"/>
                      <a:pt x="4445000" y="7510792"/>
                      <a:pt x="7353300" y="8014431"/>
                    </a:cubicBezTo>
                    <a:cubicBezTo>
                      <a:pt x="10261600" y="8518070"/>
                      <a:pt x="14566900" y="14003358"/>
                      <a:pt x="17449800" y="14649329"/>
                    </a:cubicBezTo>
                    <a:cubicBezTo>
                      <a:pt x="20332700" y="15079036"/>
                      <a:pt x="22402800" y="13423077"/>
                      <a:pt x="24650700" y="11890263"/>
                    </a:cubicBezTo>
                    <a:lnTo>
                      <a:pt x="24574500" y="0"/>
                    </a:lnTo>
                    <a:lnTo>
                      <a:pt x="38100" y="197076"/>
                    </a:lnTo>
                    <a:close/>
                  </a:path>
                </a:pathLst>
              </a:custGeom>
              <a:solidFill>
                <a:srgbClr val="2F3E6B"/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2740746" y="3162300"/>
            <a:ext cx="12806508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6"/>
              </a:lnSpc>
            </a:pPr>
            <a:r>
              <a:rPr lang="en-US" sz="6600" b="1">
                <a:solidFill>
                  <a:srgbClr val="2F3E6B"/>
                </a:solidFill>
                <a:latin typeface="Arial" panose="020B0604020202020204" pitchFamily="34" charset="0"/>
                <a:ea typeface="Agrandir Wide Bold"/>
                <a:cs typeface="Arial" panose="020B0604020202020204" pitchFamily="34" charset="0"/>
                <a:sym typeface="Agrandir Wide Bold"/>
              </a:rPr>
              <a:t>THANK YOU FOR WATCHING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497F0EDA-CBF9-6E7B-9CAD-714BFD14D75D}"/>
              </a:ext>
            </a:extLst>
          </p:cNvPr>
          <p:cNvSpPr txBox="1"/>
          <p:nvPr/>
        </p:nvSpPr>
        <p:spPr>
          <a:xfrm>
            <a:off x="833301" y="7943430"/>
            <a:ext cx="3548958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学生姓名：韩腾毅</a:t>
            </a: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9FFCCFE1-F088-8877-1386-625B9D74CC45}"/>
              </a:ext>
            </a:extLst>
          </p:cNvPr>
          <p:cNvSpPr txBox="1"/>
          <p:nvPr/>
        </p:nvSpPr>
        <p:spPr>
          <a:xfrm>
            <a:off x="4920857" y="7943430"/>
            <a:ext cx="3548958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320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指导老师：刘芳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8140</TotalTime>
  <Words>1274</Words>
  <Application>Microsoft Office PowerPoint</Application>
  <PresentationFormat>自定义</PresentationFormat>
  <Paragraphs>145</Paragraphs>
  <Slides>25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等线</vt:lpstr>
      <vt:lpstr>Cambria Math</vt:lpstr>
      <vt:lpstr>Calibri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蓝色简约学术风大学生开题报告毕业答辩演示文稿</dc:title>
  <cp:lastModifiedBy>modelian NY</cp:lastModifiedBy>
  <cp:revision>47</cp:revision>
  <dcterms:created xsi:type="dcterms:W3CDTF">2006-08-16T00:00:00Z</dcterms:created>
  <dcterms:modified xsi:type="dcterms:W3CDTF">2026-01-22T04:30:22Z</dcterms:modified>
  <dc:identifier>DAG2zJH7p6Y</dc:identifier>
</cp:coreProperties>
</file>